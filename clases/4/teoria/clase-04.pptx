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1"/>
  </p:sldMasterIdLst>
  <p:notesMasterIdLst>
    <p:notesMasterId r:id="rId34"/>
  </p:notesMasterIdLst>
  <p:sldIdLst>
    <p:sldId id="281" r:id="rId2"/>
    <p:sldId id="309" r:id="rId3"/>
    <p:sldId id="364" r:id="rId4"/>
    <p:sldId id="306" r:id="rId5"/>
    <p:sldId id="396" r:id="rId6"/>
    <p:sldId id="368" r:id="rId7"/>
    <p:sldId id="397" r:id="rId8"/>
    <p:sldId id="280" r:id="rId9"/>
    <p:sldId id="323" r:id="rId10"/>
    <p:sldId id="317" r:id="rId11"/>
    <p:sldId id="319" r:id="rId12"/>
    <p:sldId id="320" r:id="rId13"/>
    <p:sldId id="315" r:id="rId14"/>
    <p:sldId id="321" r:id="rId15"/>
    <p:sldId id="322" r:id="rId16"/>
    <p:sldId id="324" r:id="rId17"/>
    <p:sldId id="325" r:id="rId18"/>
    <p:sldId id="326" r:id="rId19"/>
    <p:sldId id="327" r:id="rId20"/>
    <p:sldId id="328" r:id="rId21"/>
    <p:sldId id="330" r:id="rId22"/>
    <p:sldId id="394" r:id="rId23"/>
    <p:sldId id="333" r:id="rId24"/>
    <p:sldId id="334" r:id="rId25"/>
    <p:sldId id="398" r:id="rId26"/>
    <p:sldId id="399" r:id="rId27"/>
    <p:sldId id="400" r:id="rId28"/>
    <p:sldId id="401" r:id="rId29"/>
    <p:sldId id="402" r:id="rId30"/>
    <p:sldId id="403" r:id="rId31"/>
    <p:sldId id="310" r:id="rId32"/>
    <p:sldId id="277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9" autoAdjust="0"/>
    <p:restoredTop sz="94684" autoAdjust="0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4617D2-EBA5-43D3-A846-ABD7019008A4}" type="doc">
      <dgm:prSet loTypeId="urn:microsoft.com/office/officeart/2005/8/layout/chevron2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s-CO"/>
        </a:p>
      </dgm:t>
    </dgm:pt>
    <dgm:pt modelId="{0F6E169A-367E-48F6-8A0F-9538EF72E803}">
      <dgm:prSet phldrT="[Texto]" custT="1"/>
      <dgm:spPr/>
      <dgm:t>
        <a:bodyPr/>
        <a:lstStyle/>
        <a:p>
          <a:r>
            <a:rPr lang="es-CO" sz="1600" dirty="0">
              <a:latin typeface="Century Gothic" panose="020B0502020202020204" pitchFamily="34" charset="0"/>
            </a:rPr>
            <a:t>1</a:t>
          </a:r>
          <a:endParaRPr lang="es-CO" sz="1200" dirty="0">
            <a:latin typeface="Century Gothic" panose="020B0502020202020204" pitchFamily="34" charset="0"/>
          </a:endParaRPr>
        </a:p>
      </dgm:t>
    </dgm:pt>
    <dgm:pt modelId="{214810CF-0E9F-420E-9F44-94CA29248781}" type="parTrans" cxnId="{1D7BCF56-E33F-4A42-8129-E524DE8CA73C}">
      <dgm:prSet/>
      <dgm:spPr/>
      <dgm:t>
        <a:bodyPr/>
        <a:lstStyle/>
        <a:p>
          <a:endParaRPr lang="es-CO" sz="1600"/>
        </a:p>
      </dgm:t>
    </dgm:pt>
    <dgm:pt modelId="{9E3845BF-94AB-444E-AB21-A0DA1B4B1270}" type="sibTrans" cxnId="{1D7BCF56-E33F-4A42-8129-E524DE8CA73C}">
      <dgm:prSet/>
      <dgm:spPr/>
      <dgm:t>
        <a:bodyPr/>
        <a:lstStyle/>
        <a:p>
          <a:endParaRPr lang="es-CO" sz="1600"/>
        </a:p>
      </dgm:t>
    </dgm:pt>
    <dgm:pt modelId="{676AA4D5-22F4-47B3-B0E8-95C3D9C99480}">
      <dgm:prSet phldrT="[Texto]" custT="1"/>
      <dgm:spPr/>
      <dgm:t>
        <a:bodyPr/>
        <a:lstStyle/>
        <a:p>
          <a:pPr>
            <a:buNone/>
          </a:pPr>
          <a:r>
            <a:rPr lang="es-CO" sz="2000" dirty="0">
              <a:latin typeface="Century Gothic" panose="020B0502020202020204" pitchFamily="34" charset="0"/>
            </a:rPr>
            <a:t>Entender el problema</a:t>
          </a:r>
        </a:p>
      </dgm:t>
    </dgm:pt>
    <dgm:pt modelId="{65AE6963-95E3-417E-9DBC-C327427667A9}" type="parTrans" cxnId="{E402CAF0-5AAA-416F-BAF4-3854EF253EE5}">
      <dgm:prSet/>
      <dgm:spPr/>
      <dgm:t>
        <a:bodyPr/>
        <a:lstStyle/>
        <a:p>
          <a:endParaRPr lang="es-CO" sz="1600"/>
        </a:p>
      </dgm:t>
    </dgm:pt>
    <dgm:pt modelId="{BBDCCB86-71C3-422E-959C-8FA92A9124DF}" type="sibTrans" cxnId="{E402CAF0-5AAA-416F-BAF4-3854EF253EE5}">
      <dgm:prSet/>
      <dgm:spPr/>
      <dgm:t>
        <a:bodyPr/>
        <a:lstStyle/>
        <a:p>
          <a:endParaRPr lang="es-CO" sz="1600"/>
        </a:p>
      </dgm:t>
    </dgm:pt>
    <dgm:pt modelId="{9C3C57BE-AD01-47F6-9592-98EF2608A6EF}">
      <dgm:prSet phldrT="[Texto]" custT="1"/>
      <dgm:spPr/>
      <dgm:t>
        <a:bodyPr/>
        <a:lstStyle/>
        <a:p>
          <a:r>
            <a:rPr lang="es-CO" sz="1800" dirty="0">
              <a:latin typeface="Century Gothic" panose="020B0502020202020204" pitchFamily="34" charset="0"/>
            </a:rPr>
            <a:t>2</a:t>
          </a:r>
          <a:endParaRPr lang="es-CO" sz="2400" dirty="0">
            <a:latin typeface="Century Gothic" panose="020B0502020202020204" pitchFamily="34" charset="0"/>
          </a:endParaRPr>
        </a:p>
      </dgm:t>
    </dgm:pt>
    <dgm:pt modelId="{33D25418-EA10-4491-90C6-5683712BE055}" type="parTrans" cxnId="{FBB864E0-2027-4A45-B5D7-110F765EFD96}">
      <dgm:prSet/>
      <dgm:spPr/>
      <dgm:t>
        <a:bodyPr/>
        <a:lstStyle/>
        <a:p>
          <a:endParaRPr lang="es-CO" sz="1600"/>
        </a:p>
      </dgm:t>
    </dgm:pt>
    <dgm:pt modelId="{0019765E-5748-4647-85C8-6E8054C68086}" type="sibTrans" cxnId="{FBB864E0-2027-4A45-B5D7-110F765EFD96}">
      <dgm:prSet/>
      <dgm:spPr/>
      <dgm:t>
        <a:bodyPr/>
        <a:lstStyle/>
        <a:p>
          <a:endParaRPr lang="es-CO" sz="1600"/>
        </a:p>
      </dgm:t>
    </dgm:pt>
    <dgm:pt modelId="{C59A2A35-6BBC-4F81-BD74-40520AACD6AB}">
      <dgm:prSet phldrT="[Texto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Diseñar un plan</a:t>
          </a:r>
        </a:p>
      </dgm:t>
    </dgm:pt>
    <dgm:pt modelId="{EDE363E4-7EA3-41D2-8DB9-A0871D9DA325}" type="parTrans" cxnId="{3B1F784D-95DD-4194-A52D-9A5B55BC5BD7}">
      <dgm:prSet/>
      <dgm:spPr/>
      <dgm:t>
        <a:bodyPr/>
        <a:lstStyle/>
        <a:p>
          <a:endParaRPr lang="es-CO" sz="1600"/>
        </a:p>
      </dgm:t>
    </dgm:pt>
    <dgm:pt modelId="{C31DDF04-103F-4600-9F78-0BDCC0BF907B}" type="sibTrans" cxnId="{3B1F784D-95DD-4194-A52D-9A5B55BC5BD7}">
      <dgm:prSet/>
      <dgm:spPr/>
      <dgm:t>
        <a:bodyPr/>
        <a:lstStyle/>
        <a:p>
          <a:endParaRPr lang="es-CO" sz="1600"/>
        </a:p>
      </dgm:t>
    </dgm:pt>
    <dgm:pt modelId="{9AB424BA-7E8B-4D0B-8A3C-3748A54646B8}">
      <dgm:prSet phldrT="[Texto]" custT="1"/>
      <dgm:spPr/>
      <dgm:t>
        <a:bodyPr/>
        <a:lstStyle/>
        <a:p>
          <a:r>
            <a:rPr lang="es-CO" sz="2000" dirty="0">
              <a:latin typeface="Century Gothic" panose="020B0502020202020204" pitchFamily="34" charset="0"/>
            </a:rPr>
            <a:t>3</a:t>
          </a:r>
        </a:p>
      </dgm:t>
    </dgm:pt>
    <dgm:pt modelId="{E543BFA9-86DB-499C-8E83-B32D00A97FD8}" type="parTrans" cxnId="{9DB9632F-E2AC-48EE-840F-D6A88C411EEA}">
      <dgm:prSet/>
      <dgm:spPr/>
      <dgm:t>
        <a:bodyPr/>
        <a:lstStyle/>
        <a:p>
          <a:endParaRPr lang="es-CO" sz="1600"/>
        </a:p>
      </dgm:t>
    </dgm:pt>
    <dgm:pt modelId="{DDCD6E76-3560-4CAA-96A8-94ACFF130E9B}" type="sibTrans" cxnId="{9DB9632F-E2AC-48EE-840F-D6A88C411EEA}">
      <dgm:prSet/>
      <dgm:spPr/>
      <dgm:t>
        <a:bodyPr/>
        <a:lstStyle/>
        <a:p>
          <a:endParaRPr lang="es-CO" sz="1600"/>
        </a:p>
      </dgm:t>
    </dgm:pt>
    <dgm:pt modelId="{BEC04423-D6B7-4792-AEB9-C3D7F81A98AC}">
      <dgm:prSet phldrT="[Texto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Implementar el plan</a:t>
          </a:r>
        </a:p>
      </dgm:t>
    </dgm:pt>
    <dgm:pt modelId="{F135D138-85FF-4087-B751-5F159F842289}" type="parTrans" cxnId="{5B0A26F8-5ACB-43D3-A171-6C62CAD4E7BE}">
      <dgm:prSet/>
      <dgm:spPr/>
      <dgm:t>
        <a:bodyPr/>
        <a:lstStyle/>
        <a:p>
          <a:endParaRPr lang="es-CO" sz="1600"/>
        </a:p>
      </dgm:t>
    </dgm:pt>
    <dgm:pt modelId="{AB02689B-5109-4C4C-A9DD-EF332B395FC7}" type="sibTrans" cxnId="{5B0A26F8-5ACB-43D3-A171-6C62CAD4E7BE}">
      <dgm:prSet/>
      <dgm:spPr/>
      <dgm:t>
        <a:bodyPr/>
        <a:lstStyle/>
        <a:p>
          <a:endParaRPr lang="es-CO" sz="1600"/>
        </a:p>
      </dgm:t>
    </dgm:pt>
    <dgm:pt modelId="{6F3FB39C-3E1D-4D2D-849B-EA0299C466C8}">
      <dgm:prSet phldrT="[Texto]" custT="1"/>
      <dgm:spPr/>
      <dgm:t>
        <a:bodyPr/>
        <a:lstStyle/>
        <a:p>
          <a:r>
            <a:rPr lang="es-CO" sz="2000" dirty="0">
              <a:latin typeface="Century Gothic" panose="020B0502020202020204" pitchFamily="34" charset="0"/>
            </a:rPr>
            <a:t>4</a:t>
          </a:r>
        </a:p>
      </dgm:t>
    </dgm:pt>
    <dgm:pt modelId="{F344B892-AD67-4863-B1DB-FFEAC6AE3C6A}" type="parTrans" cxnId="{F85ACEEE-F8C0-443C-BAAF-021763D37073}">
      <dgm:prSet/>
      <dgm:spPr/>
      <dgm:t>
        <a:bodyPr/>
        <a:lstStyle/>
        <a:p>
          <a:endParaRPr lang="es-CO" sz="1600"/>
        </a:p>
      </dgm:t>
    </dgm:pt>
    <dgm:pt modelId="{2E86F725-3FD8-4480-8AF6-6A89E142D77A}" type="sibTrans" cxnId="{F85ACEEE-F8C0-443C-BAAF-021763D37073}">
      <dgm:prSet/>
      <dgm:spPr/>
      <dgm:t>
        <a:bodyPr/>
        <a:lstStyle/>
        <a:p>
          <a:endParaRPr lang="es-CO" sz="1600"/>
        </a:p>
      </dgm:t>
    </dgm:pt>
    <dgm:pt modelId="{DCCFDBD5-3BD5-4368-8E74-2BE430318114}">
      <dgm:prSet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Revisar el plan</a:t>
          </a:r>
        </a:p>
      </dgm:t>
    </dgm:pt>
    <dgm:pt modelId="{E9C3A1B1-6767-4D4A-B32D-4EDACFE1C0F4}" type="parTrans" cxnId="{95C514DE-3460-4712-B0CD-D954FE76DB64}">
      <dgm:prSet/>
      <dgm:spPr/>
      <dgm:t>
        <a:bodyPr/>
        <a:lstStyle/>
        <a:p>
          <a:endParaRPr lang="es-CO" sz="1600"/>
        </a:p>
      </dgm:t>
    </dgm:pt>
    <dgm:pt modelId="{159A55EA-C5B7-4F9E-8222-A763BEB4D99B}" type="sibTrans" cxnId="{95C514DE-3460-4712-B0CD-D954FE76DB64}">
      <dgm:prSet/>
      <dgm:spPr/>
      <dgm:t>
        <a:bodyPr/>
        <a:lstStyle/>
        <a:p>
          <a:endParaRPr lang="es-CO" sz="1600"/>
        </a:p>
      </dgm:t>
    </dgm:pt>
    <dgm:pt modelId="{C30EB98C-BF8E-47B5-A59F-A3E708D5551C}" type="pres">
      <dgm:prSet presAssocID="{234617D2-EBA5-43D3-A846-ABD7019008A4}" presName="linearFlow" presStyleCnt="0">
        <dgm:presLayoutVars>
          <dgm:dir/>
          <dgm:animLvl val="lvl"/>
          <dgm:resizeHandles val="exact"/>
        </dgm:presLayoutVars>
      </dgm:prSet>
      <dgm:spPr/>
    </dgm:pt>
    <dgm:pt modelId="{B5976899-2FC4-4A3E-891A-B74C8C23C8B5}" type="pres">
      <dgm:prSet presAssocID="{0F6E169A-367E-48F6-8A0F-9538EF72E803}" presName="composite" presStyleCnt="0"/>
      <dgm:spPr/>
    </dgm:pt>
    <dgm:pt modelId="{416A876F-5FA3-42F9-A923-4E2C334EF9BC}" type="pres">
      <dgm:prSet presAssocID="{0F6E169A-367E-48F6-8A0F-9538EF72E803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344A86B1-48E8-448F-9C6D-71580BFB5F83}" type="pres">
      <dgm:prSet presAssocID="{0F6E169A-367E-48F6-8A0F-9538EF72E803}" presName="descendantText" presStyleLbl="alignAcc1" presStyleIdx="0" presStyleCnt="4">
        <dgm:presLayoutVars>
          <dgm:bulletEnabled val="1"/>
        </dgm:presLayoutVars>
      </dgm:prSet>
      <dgm:spPr/>
    </dgm:pt>
    <dgm:pt modelId="{19B3EDEB-1CF9-4423-9037-F0221A01EBBA}" type="pres">
      <dgm:prSet presAssocID="{9E3845BF-94AB-444E-AB21-A0DA1B4B1270}" presName="sp" presStyleCnt="0"/>
      <dgm:spPr/>
    </dgm:pt>
    <dgm:pt modelId="{5D167E8C-136F-440C-8D10-651E4D964A72}" type="pres">
      <dgm:prSet presAssocID="{9C3C57BE-AD01-47F6-9592-98EF2608A6EF}" presName="composite" presStyleCnt="0"/>
      <dgm:spPr/>
    </dgm:pt>
    <dgm:pt modelId="{A651636C-CE47-4575-AA1E-AB00D80E941D}" type="pres">
      <dgm:prSet presAssocID="{9C3C57BE-AD01-47F6-9592-98EF2608A6EF}" presName="parentText" presStyleLbl="alignNode1" presStyleIdx="1" presStyleCnt="4" custLinFactNeighborY="0">
        <dgm:presLayoutVars>
          <dgm:chMax val="1"/>
          <dgm:bulletEnabled val="1"/>
        </dgm:presLayoutVars>
      </dgm:prSet>
      <dgm:spPr/>
    </dgm:pt>
    <dgm:pt modelId="{79B0DE70-0A03-4A6F-B31F-EC81EB5DF7EA}" type="pres">
      <dgm:prSet presAssocID="{9C3C57BE-AD01-47F6-9592-98EF2608A6EF}" presName="descendantText" presStyleLbl="alignAcc1" presStyleIdx="1" presStyleCnt="4">
        <dgm:presLayoutVars>
          <dgm:bulletEnabled val="1"/>
        </dgm:presLayoutVars>
      </dgm:prSet>
      <dgm:spPr/>
    </dgm:pt>
    <dgm:pt modelId="{5C2D5B77-4FD3-4BFC-B7C7-B69CFA47B819}" type="pres">
      <dgm:prSet presAssocID="{0019765E-5748-4647-85C8-6E8054C68086}" presName="sp" presStyleCnt="0"/>
      <dgm:spPr/>
    </dgm:pt>
    <dgm:pt modelId="{FD9C2F86-B450-49A0-8639-065AE676C080}" type="pres">
      <dgm:prSet presAssocID="{9AB424BA-7E8B-4D0B-8A3C-3748A54646B8}" presName="composite" presStyleCnt="0"/>
      <dgm:spPr/>
    </dgm:pt>
    <dgm:pt modelId="{2AA7B02C-023E-4537-897E-B54A048C8983}" type="pres">
      <dgm:prSet presAssocID="{9AB424BA-7E8B-4D0B-8A3C-3748A54646B8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15D3D31F-A831-4E62-ADE9-6ACE81331CDC}" type="pres">
      <dgm:prSet presAssocID="{9AB424BA-7E8B-4D0B-8A3C-3748A54646B8}" presName="descendantText" presStyleLbl="alignAcc1" presStyleIdx="2" presStyleCnt="4">
        <dgm:presLayoutVars>
          <dgm:bulletEnabled val="1"/>
        </dgm:presLayoutVars>
      </dgm:prSet>
      <dgm:spPr/>
    </dgm:pt>
    <dgm:pt modelId="{365F76A6-EF4F-41D1-B81D-BC3D7851A081}" type="pres">
      <dgm:prSet presAssocID="{DDCD6E76-3560-4CAA-96A8-94ACFF130E9B}" presName="sp" presStyleCnt="0"/>
      <dgm:spPr/>
    </dgm:pt>
    <dgm:pt modelId="{4DB00594-09F9-4225-B772-B1D52DAEEAB6}" type="pres">
      <dgm:prSet presAssocID="{6F3FB39C-3E1D-4D2D-849B-EA0299C466C8}" presName="composite" presStyleCnt="0"/>
      <dgm:spPr/>
    </dgm:pt>
    <dgm:pt modelId="{58E45CBE-DE64-4E4E-8AAA-D376465B2BEE}" type="pres">
      <dgm:prSet presAssocID="{6F3FB39C-3E1D-4D2D-849B-EA0299C466C8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C37D6712-7A35-4663-80F7-1B8FC410AF19}" type="pres">
      <dgm:prSet presAssocID="{6F3FB39C-3E1D-4D2D-849B-EA0299C466C8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D25A530A-E341-4BA7-8999-21A374D537D3}" type="presOf" srcId="{BEC04423-D6B7-4792-AEB9-C3D7F81A98AC}" destId="{15D3D31F-A831-4E62-ADE9-6ACE81331CDC}" srcOrd="0" destOrd="0" presId="urn:microsoft.com/office/officeart/2005/8/layout/chevron2"/>
    <dgm:cxn modelId="{0F63B510-A033-48E8-A5FD-87C76FF5A9D6}" type="presOf" srcId="{0F6E169A-367E-48F6-8A0F-9538EF72E803}" destId="{416A876F-5FA3-42F9-A923-4E2C334EF9BC}" srcOrd="0" destOrd="0" presId="urn:microsoft.com/office/officeart/2005/8/layout/chevron2"/>
    <dgm:cxn modelId="{09EB6217-24CA-4B61-90D2-9CF7E646FA43}" type="presOf" srcId="{234617D2-EBA5-43D3-A846-ABD7019008A4}" destId="{C30EB98C-BF8E-47B5-A59F-A3E708D5551C}" srcOrd="0" destOrd="0" presId="urn:microsoft.com/office/officeart/2005/8/layout/chevron2"/>
    <dgm:cxn modelId="{9DB9632F-E2AC-48EE-840F-D6A88C411EEA}" srcId="{234617D2-EBA5-43D3-A846-ABD7019008A4}" destId="{9AB424BA-7E8B-4D0B-8A3C-3748A54646B8}" srcOrd="2" destOrd="0" parTransId="{E543BFA9-86DB-499C-8E83-B32D00A97FD8}" sibTransId="{DDCD6E76-3560-4CAA-96A8-94ACFF130E9B}"/>
    <dgm:cxn modelId="{5C56243F-7D54-4FD5-BD45-EEAB6E9334A6}" type="presOf" srcId="{676AA4D5-22F4-47B3-B0E8-95C3D9C99480}" destId="{344A86B1-48E8-448F-9C6D-71580BFB5F83}" srcOrd="0" destOrd="0" presId="urn:microsoft.com/office/officeart/2005/8/layout/chevron2"/>
    <dgm:cxn modelId="{3EF6886C-4FCF-4899-8F48-98F458A380A4}" type="presOf" srcId="{DCCFDBD5-3BD5-4368-8E74-2BE430318114}" destId="{C37D6712-7A35-4663-80F7-1B8FC410AF19}" srcOrd="0" destOrd="0" presId="urn:microsoft.com/office/officeart/2005/8/layout/chevron2"/>
    <dgm:cxn modelId="{3B1F784D-95DD-4194-A52D-9A5B55BC5BD7}" srcId="{9C3C57BE-AD01-47F6-9592-98EF2608A6EF}" destId="{C59A2A35-6BBC-4F81-BD74-40520AACD6AB}" srcOrd="0" destOrd="0" parTransId="{EDE363E4-7EA3-41D2-8DB9-A0871D9DA325}" sibTransId="{C31DDF04-103F-4600-9F78-0BDCC0BF907B}"/>
    <dgm:cxn modelId="{1D7BCF56-E33F-4A42-8129-E524DE8CA73C}" srcId="{234617D2-EBA5-43D3-A846-ABD7019008A4}" destId="{0F6E169A-367E-48F6-8A0F-9538EF72E803}" srcOrd="0" destOrd="0" parTransId="{214810CF-0E9F-420E-9F44-94CA29248781}" sibTransId="{9E3845BF-94AB-444E-AB21-A0DA1B4B1270}"/>
    <dgm:cxn modelId="{E8354084-D26E-4270-954C-74C7F6A06793}" type="presOf" srcId="{C59A2A35-6BBC-4F81-BD74-40520AACD6AB}" destId="{79B0DE70-0A03-4A6F-B31F-EC81EB5DF7EA}" srcOrd="0" destOrd="0" presId="urn:microsoft.com/office/officeart/2005/8/layout/chevron2"/>
    <dgm:cxn modelId="{BF2B6EA9-3F5A-49C1-AF7E-EC921192B9DE}" type="presOf" srcId="{9C3C57BE-AD01-47F6-9592-98EF2608A6EF}" destId="{A651636C-CE47-4575-AA1E-AB00D80E941D}" srcOrd="0" destOrd="0" presId="urn:microsoft.com/office/officeart/2005/8/layout/chevron2"/>
    <dgm:cxn modelId="{95C514DE-3460-4712-B0CD-D954FE76DB64}" srcId="{6F3FB39C-3E1D-4D2D-849B-EA0299C466C8}" destId="{DCCFDBD5-3BD5-4368-8E74-2BE430318114}" srcOrd="0" destOrd="0" parTransId="{E9C3A1B1-6767-4D4A-B32D-4EDACFE1C0F4}" sibTransId="{159A55EA-C5B7-4F9E-8222-A763BEB4D99B}"/>
    <dgm:cxn modelId="{FBB864E0-2027-4A45-B5D7-110F765EFD96}" srcId="{234617D2-EBA5-43D3-A846-ABD7019008A4}" destId="{9C3C57BE-AD01-47F6-9592-98EF2608A6EF}" srcOrd="1" destOrd="0" parTransId="{33D25418-EA10-4491-90C6-5683712BE055}" sibTransId="{0019765E-5748-4647-85C8-6E8054C68086}"/>
    <dgm:cxn modelId="{448B48EB-E488-4909-82B4-2E61877F00AE}" type="presOf" srcId="{6F3FB39C-3E1D-4D2D-849B-EA0299C466C8}" destId="{58E45CBE-DE64-4E4E-8AAA-D376465B2BEE}" srcOrd="0" destOrd="0" presId="urn:microsoft.com/office/officeart/2005/8/layout/chevron2"/>
    <dgm:cxn modelId="{E644B3EB-418D-4B1A-83D6-8DCC10BE06E8}" type="presOf" srcId="{9AB424BA-7E8B-4D0B-8A3C-3748A54646B8}" destId="{2AA7B02C-023E-4537-897E-B54A048C8983}" srcOrd="0" destOrd="0" presId="urn:microsoft.com/office/officeart/2005/8/layout/chevron2"/>
    <dgm:cxn modelId="{F85ACEEE-F8C0-443C-BAAF-021763D37073}" srcId="{234617D2-EBA5-43D3-A846-ABD7019008A4}" destId="{6F3FB39C-3E1D-4D2D-849B-EA0299C466C8}" srcOrd="3" destOrd="0" parTransId="{F344B892-AD67-4863-B1DB-FFEAC6AE3C6A}" sibTransId="{2E86F725-3FD8-4480-8AF6-6A89E142D77A}"/>
    <dgm:cxn modelId="{E402CAF0-5AAA-416F-BAF4-3854EF253EE5}" srcId="{0F6E169A-367E-48F6-8A0F-9538EF72E803}" destId="{676AA4D5-22F4-47B3-B0E8-95C3D9C99480}" srcOrd="0" destOrd="0" parTransId="{65AE6963-95E3-417E-9DBC-C327427667A9}" sibTransId="{BBDCCB86-71C3-422E-959C-8FA92A9124DF}"/>
    <dgm:cxn modelId="{5B0A26F8-5ACB-43D3-A171-6C62CAD4E7BE}" srcId="{9AB424BA-7E8B-4D0B-8A3C-3748A54646B8}" destId="{BEC04423-D6B7-4792-AEB9-C3D7F81A98AC}" srcOrd="0" destOrd="0" parTransId="{F135D138-85FF-4087-B751-5F159F842289}" sibTransId="{AB02689B-5109-4C4C-A9DD-EF332B395FC7}"/>
    <dgm:cxn modelId="{AC4A8FF1-0B42-4570-ACB4-F62AD10AC7E7}" type="presParOf" srcId="{C30EB98C-BF8E-47B5-A59F-A3E708D5551C}" destId="{B5976899-2FC4-4A3E-891A-B74C8C23C8B5}" srcOrd="0" destOrd="0" presId="urn:microsoft.com/office/officeart/2005/8/layout/chevron2"/>
    <dgm:cxn modelId="{78437963-1AD6-4AA2-99FF-D3C136E6C1B9}" type="presParOf" srcId="{B5976899-2FC4-4A3E-891A-B74C8C23C8B5}" destId="{416A876F-5FA3-42F9-A923-4E2C334EF9BC}" srcOrd="0" destOrd="0" presId="urn:microsoft.com/office/officeart/2005/8/layout/chevron2"/>
    <dgm:cxn modelId="{E5BB8A76-3CEA-42DE-8EE6-7959F74B0BB9}" type="presParOf" srcId="{B5976899-2FC4-4A3E-891A-B74C8C23C8B5}" destId="{344A86B1-48E8-448F-9C6D-71580BFB5F83}" srcOrd="1" destOrd="0" presId="urn:microsoft.com/office/officeart/2005/8/layout/chevron2"/>
    <dgm:cxn modelId="{1409A561-56BE-41EC-823E-CEEC12A8CF50}" type="presParOf" srcId="{C30EB98C-BF8E-47B5-A59F-A3E708D5551C}" destId="{19B3EDEB-1CF9-4423-9037-F0221A01EBBA}" srcOrd="1" destOrd="0" presId="urn:microsoft.com/office/officeart/2005/8/layout/chevron2"/>
    <dgm:cxn modelId="{69FAE29B-8826-413D-A90D-E3D1914BB7C5}" type="presParOf" srcId="{C30EB98C-BF8E-47B5-A59F-A3E708D5551C}" destId="{5D167E8C-136F-440C-8D10-651E4D964A72}" srcOrd="2" destOrd="0" presId="urn:microsoft.com/office/officeart/2005/8/layout/chevron2"/>
    <dgm:cxn modelId="{26C5ECD3-BE74-4234-955C-82B823BF9F9B}" type="presParOf" srcId="{5D167E8C-136F-440C-8D10-651E4D964A72}" destId="{A651636C-CE47-4575-AA1E-AB00D80E941D}" srcOrd="0" destOrd="0" presId="urn:microsoft.com/office/officeart/2005/8/layout/chevron2"/>
    <dgm:cxn modelId="{BFF53C8A-F466-46C1-9066-7E1EB74CF072}" type="presParOf" srcId="{5D167E8C-136F-440C-8D10-651E4D964A72}" destId="{79B0DE70-0A03-4A6F-B31F-EC81EB5DF7EA}" srcOrd="1" destOrd="0" presId="urn:microsoft.com/office/officeart/2005/8/layout/chevron2"/>
    <dgm:cxn modelId="{530A7BC0-79AB-4546-A568-2187FF19F65D}" type="presParOf" srcId="{C30EB98C-BF8E-47B5-A59F-A3E708D5551C}" destId="{5C2D5B77-4FD3-4BFC-B7C7-B69CFA47B819}" srcOrd="3" destOrd="0" presId="urn:microsoft.com/office/officeart/2005/8/layout/chevron2"/>
    <dgm:cxn modelId="{BE3F6BE8-AEFA-4235-B54E-61907BC9372B}" type="presParOf" srcId="{C30EB98C-BF8E-47B5-A59F-A3E708D5551C}" destId="{FD9C2F86-B450-49A0-8639-065AE676C080}" srcOrd="4" destOrd="0" presId="urn:microsoft.com/office/officeart/2005/8/layout/chevron2"/>
    <dgm:cxn modelId="{2E20AF7C-4B60-47FB-B029-F81F1CE8FCB7}" type="presParOf" srcId="{FD9C2F86-B450-49A0-8639-065AE676C080}" destId="{2AA7B02C-023E-4537-897E-B54A048C8983}" srcOrd="0" destOrd="0" presId="urn:microsoft.com/office/officeart/2005/8/layout/chevron2"/>
    <dgm:cxn modelId="{0573D7AB-2C25-487B-B0E2-947295CA4BF1}" type="presParOf" srcId="{FD9C2F86-B450-49A0-8639-065AE676C080}" destId="{15D3D31F-A831-4E62-ADE9-6ACE81331CDC}" srcOrd="1" destOrd="0" presId="urn:microsoft.com/office/officeart/2005/8/layout/chevron2"/>
    <dgm:cxn modelId="{49FE4450-ED31-4DD4-95F8-F34D880718F4}" type="presParOf" srcId="{C30EB98C-BF8E-47B5-A59F-A3E708D5551C}" destId="{365F76A6-EF4F-41D1-B81D-BC3D7851A081}" srcOrd="5" destOrd="0" presId="urn:microsoft.com/office/officeart/2005/8/layout/chevron2"/>
    <dgm:cxn modelId="{D297B7B3-984B-4BEF-88CF-E8496B62D532}" type="presParOf" srcId="{C30EB98C-BF8E-47B5-A59F-A3E708D5551C}" destId="{4DB00594-09F9-4225-B772-B1D52DAEEAB6}" srcOrd="6" destOrd="0" presId="urn:microsoft.com/office/officeart/2005/8/layout/chevron2"/>
    <dgm:cxn modelId="{58E3F0DF-7BFD-4BEB-873F-CA02319F1E26}" type="presParOf" srcId="{4DB00594-09F9-4225-B772-B1D52DAEEAB6}" destId="{58E45CBE-DE64-4E4E-8AAA-D376465B2BEE}" srcOrd="0" destOrd="0" presId="urn:microsoft.com/office/officeart/2005/8/layout/chevron2"/>
    <dgm:cxn modelId="{C405AC97-4C54-4757-8651-AB11924A4B6F}" type="presParOf" srcId="{4DB00594-09F9-4225-B772-B1D52DAEEAB6}" destId="{C37D6712-7A35-4663-80F7-1B8FC410AF1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6A876F-5FA3-42F9-A923-4E2C334EF9BC}">
      <dsp:nvSpPr>
        <dsp:cNvPr id="0" name=""/>
        <dsp:cNvSpPr/>
      </dsp:nvSpPr>
      <dsp:spPr>
        <a:xfrm rot="5400000">
          <a:off x="-125531" y="128709"/>
          <a:ext cx="836875" cy="585812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latin typeface="Century Gothic" panose="020B0502020202020204" pitchFamily="34" charset="0"/>
            </a:rPr>
            <a:t>1</a:t>
          </a:r>
          <a:endParaRPr lang="es-CO" sz="1200" kern="1200" dirty="0">
            <a:latin typeface="Century Gothic" panose="020B0502020202020204" pitchFamily="34" charset="0"/>
          </a:endParaRPr>
        </a:p>
      </dsp:txBody>
      <dsp:txXfrm rot="-5400000">
        <a:off x="1" y="296083"/>
        <a:ext cx="585812" cy="251063"/>
      </dsp:txXfrm>
    </dsp:sp>
    <dsp:sp modelId="{344A86B1-48E8-448F-9C6D-71580BFB5F83}">
      <dsp:nvSpPr>
        <dsp:cNvPr id="0" name=""/>
        <dsp:cNvSpPr/>
      </dsp:nvSpPr>
      <dsp:spPr>
        <a:xfrm rot="5400000">
          <a:off x="2829233" y="-2240242"/>
          <a:ext cx="543968" cy="50308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Entender el problema</a:t>
          </a:r>
        </a:p>
      </dsp:txBody>
      <dsp:txXfrm rot="-5400000">
        <a:off x="585812" y="29733"/>
        <a:ext cx="5004257" cy="490860"/>
      </dsp:txXfrm>
    </dsp:sp>
    <dsp:sp modelId="{A651636C-CE47-4575-AA1E-AB00D80E941D}">
      <dsp:nvSpPr>
        <dsp:cNvPr id="0" name=""/>
        <dsp:cNvSpPr/>
      </dsp:nvSpPr>
      <dsp:spPr>
        <a:xfrm rot="5400000">
          <a:off x="-125531" y="810368"/>
          <a:ext cx="836875" cy="585812"/>
        </a:xfrm>
        <a:prstGeom prst="chevron">
          <a:avLst/>
        </a:prstGeom>
        <a:gradFill rotWithShape="0">
          <a:gsLst>
            <a:gs pos="0">
              <a:schemeClr val="accent3">
                <a:hueOff val="252426"/>
                <a:satOff val="3301"/>
                <a:lumOff val="-40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52426"/>
                <a:satOff val="3301"/>
                <a:lumOff val="-40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52426"/>
                <a:satOff val="3301"/>
                <a:lumOff val="-40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latin typeface="Century Gothic" panose="020B0502020202020204" pitchFamily="34" charset="0"/>
            </a:rPr>
            <a:t>2</a:t>
          </a:r>
          <a:endParaRPr lang="es-CO" sz="2400" kern="1200" dirty="0">
            <a:latin typeface="Century Gothic" panose="020B0502020202020204" pitchFamily="34" charset="0"/>
          </a:endParaRPr>
        </a:p>
      </dsp:txBody>
      <dsp:txXfrm rot="-5400000">
        <a:off x="1" y="977742"/>
        <a:ext cx="585812" cy="251063"/>
      </dsp:txXfrm>
    </dsp:sp>
    <dsp:sp modelId="{79B0DE70-0A03-4A6F-B31F-EC81EB5DF7EA}">
      <dsp:nvSpPr>
        <dsp:cNvPr id="0" name=""/>
        <dsp:cNvSpPr/>
      </dsp:nvSpPr>
      <dsp:spPr>
        <a:xfrm rot="5400000">
          <a:off x="2829090" y="-1558441"/>
          <a:ext cx="544254" cy="50308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Diseñar un plan</a:t>
          </a:r>
        </a:p>
      </dsp:txBody>
      <dsp:txXfrm rot="-5400000">
        <a:off x="585812" y="711405"/>
        <a:ext cx="5004243" cy="491118"/>
      </dsp:txXfrm>
    </dsp:sp>
    <dsp:sp modelId="{2AA7B02C-023E-4537-897E-B54A048C8983}">
      <dsp:nvSpPr>
        <dsp:cNvPr id="0" name=""/>
        <dsp:cNvSpPr/>
      </dsp:nvSpPr>
      <dsp:spPr>
        <a:xfrm rot="5400000">
          <a:off x="-125531" y="1492027"/>
          <a:ext cx="836875" cy="585812"/>
        </a:xfrm>
        <a:prstGeom prst="chevron">
          <a:avLst/>
        </a:prstGeom>
        <a:gradFill rotWithShape="0">
          <a:gsLst>
            <a:gs pos="0">
              <a:schemeClr val="accent3">
                <a:hueOff val="504853"/>
                <a:satOff val="6602"/>
                <a:lumOff val="-81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04853"/>
                <a:satOff val="6602"/>
                <a:lumOff val="-81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04853"/>
                <a:satOff val="6602"/>
                <a:lumOff val="-81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3</a:t>
          </a:r>
        </a:p>
      </dsp:txBody>
      <dsp:txXfrm rot="-5400000">
        <a:off x="1" y="1659401"/>
        <a:ext cx="585812" cy="251063"/>
      </dsp:txXfrm>
    </dsp:sp>
    <dsp:sp modelId="{15D3D31F-A831-4E62-ADE9-6ACE81331CDC}">
      <dsp:nvSpPr>
        <dsp:cNvPr id="0" name=""/>
        <dsp:cNvSpPr/>
      </dsp:nvSpPr>
      <dsp:spPr>
        <a:xfrm rot="5400000">
          <a:off x="2829233" y="-876925"/>
          <a:ext cx="543968" cy="50308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Implementar el plan</a:t>
          </a:r>
        </a:p>
      </dsp:txBody>
      <dsp:txXfrm rot="-5400000">
        <a:off x="585812" y="1393050"/>
        <a:ext cx="5004257" cy="490860"/>
      </dsp:txXfrm>
    </dsp:sp>
    <dsp:sp modelId="{58E45CBE-DE64-4E4E-8AAA-D376465B2BEE}">
      <dsp:nvSpPr>
        <dsp:cNvPr id="0" name=""/>
        <dsp:cNvSpPr/>
      </dsp:nvSpPr>
      <dsp:spPr>
        <a:xfrm rot="5400000">
          <a:off x="-125531" y="2173685"/>
          <a:ext cx="836875" cy="585812"/>
        </a:xfrm>
        <a:prstGeom prst="chevron">
          <a:avLst/>
        </a:prstGeom>
        <a:gradFill rotWithShape="0">
          <a:gsLst>
            <a:gs pos="0">
              <a:schemeClr val="accent3">
                <a:hueOff val="757279"/>
                <a:satOff val="9903"/>
                <a:lumOff val="-1215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757279"/>
                <a:satOff val="9903"/>
                <a:lumOff val="-1215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757279"/>
                <a:satOff val="9903"/>
                <a:lumOff val="-1215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4</a:t>
          </a:r>
        </a:p>
      </dsp:txBody>
      <dsp:txXfrm rot="-5400000">
        <a:off x="1" y="2341059"/>
        <a:ext cx="585812" cy="251063"/>
      </dsp:txXfrm>
    </dsp:sp>
    <dsp:sp modelId="{C37D6712-7A35-4663-80F7-1B8FC410AF19}">
      <dsp:nvSpPr>
        <dsp:cNvPr id="0" name=""/>
        <dsp:cNvSpPr/>
      </dsp:nvSpPr>
      <dsp:spPr>
        <a:xfrm rot="5400000">
          <a:off x="2829233" y="-195266"/>
          <a:ext cx="543968" cy="50308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Revisar el plan</a:t>
          </a:r>
        </a:p>
      </dsp:txBody>
      <dsp:txXfrm rot="-5400000">
        <a:off x="585812" y="2074709"/>
        <a:ext cx="5004257" cy="4908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43A3E-55B9-4706-BA6E-9364B5247742}" type="datetimeFigureOut">
              <a:rPr lang="es-CO" smtClean="0"/>
              <a:t>17/08/2026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B099-0CC4-41E8-A6BF-D10E445BFF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568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B099-0CC4-41E8-A6BF-D10E445BFF74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4517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https://programacionpython.wordpress.com/2008/07/06/dia-10-operadores-aritmeticos-parte-2/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8B099-0CC4-41E8-A6BF-D10E445BFF74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0816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17/08/2026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662088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17/08/2026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1991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16AA-8F92-4F8D-9FF5-AE4F5F025475}" type="datetime1">
              <a:rPr lang="es-CO" smtClean="0"/>
              <a:t>17/08/2026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149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2889A-C4A3-4C6C-A514-E9566A95FF0B}" type="datetime1">
              <a:rPr lang="es-CO" smtClean="0"/>
              <a:t>17/08/2026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131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49B8-F78E-4015-8DD3-99AC842EEF5C}" type="datetime1">
              <a:rPr lang="es-CO" smtClean="0"/>
              <a:t>17/08/2026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385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17/08/2026</a:t>
            </a:fld>
            <a:endParaRPr lang="es-C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8510513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5FDE-4F9B-4FF4-9D4F-6D3ED15F62CE}" type="datetime1">
              <a:rPr lang="es-CO" smtClean="0"/>
              <a:t>17/08/2026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683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392FA-6414-43D4-857F-1D16849F2AFB}" type="datetime1">
              <a:rPr lang="es-CO" smtClean="0"/>
              <a:t>17/08/2026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845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ADB1-43E6-4CC5-8BA6-A3F5A7E6EF55}" type="datetime1">
              <a:rPr lang="es-CO" smtClean="0"/>
              <a:t>17/08/2026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063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21E5-6957-4C84-BD80-156D13F58C59}" type="datetime1">
              <a:rPr lang="es-CO" smtClean="0"/>
              <a:t>17/08/2026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121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B61D7-E979-4A0B-B106-A9203ABD6AA5}" type="datetime1">
              <a:rPr lang="es-CO" smtClean="0"/>
              <a:t>17/08/2026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2539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17/08/2026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410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E389-1891-4C1C-AE7B-96446A92669F}" type="datetime1">
              <a:rPr lang="es-CO" smtClean="0"/>
              <a:t>17/08/2026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4347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65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hontutor.com/visualize.html#code=%23%20Inicializaci%C3%B3n%20de%20variables%0API%20%3D%203.14%0A%0A%23%20Entrada%20de%20datos%0Aradio%20%3D%20float%28input%28%22Ingrese%20el%20radio%20del%20c%C3%ADrculo%3A%20%22%29%29%0A%0A%23%20Calculo%20del%20area%0Aarea%20%3D%20PI%20*%20radio%20**%202%0A%0A%23%20Despligue%20del%20area%0Aprint%28f%22El%20area%20del%20c%C3%ADrculo%20de%20radio%20%7Bradio%7D%20es%3A%20%7Barea%7D%22%29%0A&amp;curInstr=0&amp;mode=display&amp;origin=opt-frontend.js&amp;py=31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0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specs/jls/se21/html/jls-15.html" TargetMode="External"/><Relationship Id="rId2" Type="http://schemas.openxmlformats.org/officeDocument/2006/relationships/hyperlink" Target="https://docs.python.org/3/reference/expressions.html#operator-precedenc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.mozilla.org/en-US/docs/Web/JavaScript/Reference/Operators/Operator_precedence" TargetMode="External"/><Relationship Id="rId4" Type="http://schemas.openxmlformats.org/officeDocument/2006/relationships/hyperlink" Target="https://en.cppreference.com/w/c/language/operator_precedence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resource.com/index.php" TargetMode="External"/><Relationship Id="rId7" Type="http://schemas.openxmlformats.org/officeDocument/2006/relationships/hyperlink" Target="https://realpython.com/cheatsheets/python/" TargetMode="External"/><Relationship Id="rId2" Type="http://schemas.openxmlformats.org/officeDocument/2006/relationships/hyperlink" Target="https://ellibrodepython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-course.eu/" TargetMode="External"/><Relationship Id="rId5" Type="http://schemas.openxmlformats.org/officeDocument/2006/relationships/hyperlink" Target="https://curriculumresources.edu.gh/wp-content/uploads/2025/01/" TargetMode="External"/><Relationship Id="rId4" Type="http://schemas.openxmlformats.org/officeDocument/2006/relationships/hyperlink" Target="https://realpython.com/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909BB-6F92-48BA-A875-99E15D225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1122363"/>
            <a:ext cx="8568952" cy="2387600"/>
          </a:xfrm>
        </p:spPr>
        <p:txBody>
          <a:bodyPr/>
          <a:lstStyle/>
          <a:p>
            <a:r>
              <a:rPr lang="es-CO" dirty="0"/>
              <a:t>Lógica y Representación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9999BC-7CCA-4677-B2C4-E913A7AA1F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O" sz="3200" b="1" dirty="0"/>
              <a:t>Conceptos básicos de Python</a:t>
            </a:r>
          </a:p>
          <a:p>
            <a:r>
              <a:rPr lang="es-CO" dirty="0"/>
              <a:t>Ingeniería de Sistemas</a:t>
            </a:r>
          </a:p>
          <a:p>
            <a:r>
              <a:rPr lang="es-CO" dirty="0"/>
              <a:t>Universidad de Antioquia</a:t>
            </a:r>
          </a:p>
        </p:txBody>
      </p:sp>
    </p:spTree>
    <p:extLst>
      <p:ext uri="{BB962C8B-B14F-4D97-AF65-F5344CB8AC3E}">
        <p14:creationId xmlns:p14="http://schemas.microsoft.com/office/powerpoint/2010/main" val="77409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51520" y="332656"/>
            <a:ext cx="8263830" cy="1116540"/>
          </a:xfrm>
        </p:spPr>
        <p:txBody>
          <a:bodyPr/>
          <a:lstStyle/>
          <a:p>
            <a:r>
              <a:rPr lang="es-CO" sz="3200" dirty="0"/>
              <a:t>Método de Polya - Resumen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6" name="13 Diagrama">
            <a:extLst>
              <a:ext uri="{FF2B5EF4-FFF2-40B4-BE49-F238E27FC236}">
                <a16:creationId xmlns:a16="http://schemas.microsoft.com/office/drawing/2014/main" id="{D0B70736-976D-4675-A33E-9F94643ADC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4537454"/>
              </p:ext>
            </p:extLst>
          </p:nvPr>
        </p:nvGraphicFramePr>
        <p:xfrm>
          <a:off x="3059832" y="1700808"/>
          <a:ext cx="5616624" cy="2888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3">
            <a:extLst>
              <a:ext uri="{FF2B5EF4-FFF2-40B4-BE49-F238E27FC236}">
                <a16:creationId xmlns:a16="http://schemas.microsoft.com/office/drawing/2014/main" id="{9C9BD4AC-3A6A-4FE1-A719-F0D832952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089947"/>
            <a:ext cx="2200014" cy="197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8404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188640"/>
            <a:ext cx="8496944" cy="1116540"/>
          </a:xfrm>
        </p:spPr>
        <p:txBody>
          <a:bodyPr>
            <a:normAutofit/>
          </a:bodyPr>
          <a:lstStyle/>
          <a:p>
            <a:r>
              <a:rPr lang="es-CO" sz="2800" dirty="0"/>
              <a:t>Resumiendo del proceso de diseño del algoritmos</a:t>
            </a:r>
          </a:p>
        </p:txBody>
      </p:sp>
      <p:sp>
        <p:nvSpPr>
          <p:cNvPr id="33" name="27 Rectángulo">
            <a:extLst>
              <a:ext uri="{FF2B5EF4-FFF2-40B4-BE49-F238E27FC236}">
                <a16:creationId xmlns:a16="http://schemas.microsoft.com/office/drawing/2014/main" id="{CA292D76-5C05-4C70-9ED9-723B1F8E304C}"/>
              </a:ext>
            </a:extLst>
          </p:cNvPr>
          <p:cNvSpPr/>
          <p:nvPr/>
        </p:nvSpPr>
        <p:spPr>
          <a:xfrm>
            <a:off x="163813" y="1340768"/>
            <a:ext cx="301020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rgbClr val="FF0000"/>
                </a:solidFill>
              </a:rPr>
              <a:t>Ejemplo:</a:t>
            </a:r>
          </a:p>
          <a:p>
            <a:r>
              <a:rPr lang="es-CO" dirty="0"/>
              <a:t>Hacer un algoritmo que calcule el área de un circulo</a:t>
            </a:r>
          </a:p>
        </p:txBody>
      </p:sp>
      <p:graphicFrame>
        <p:nvGraphicFramePr>
          <p:cNvPr id="36" name="Tabla 5">
            <a:extLst>
              <a:ext uri="{FF2B5EF4-FFF2-40B4-BE49-F238E27FC236}">
                <a16:creationId xmlns:a16="http://schemas.microsoft.com/office/drawing/2014/main" id="{5A51CE99-D7AD-4A9F-9C76-C9D95BBB235F}"/>
              </a:ext>
            </a:extLst>
          </p:cNvPr>
          <p:cNvGraphicFramePr>
            <a:graphicFrameLocks noGrp="1"/>
          </p:cNvGraphicFramePr>
          <p:nvPr/>
        </p:nvGraphicFramePr>
        <p:xfrm>
          <a:off x="6544809" y="3718680"/>
          <a:ext cx="227459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7295">
                  <a:extLst>
                    <a:ext uri="{9D8B030D-6E8A-4147-A177-3AD203B41FA5}">
                      <a16:colId xmlns:a16="http://schemas.microsoft.com/office/drawing/2014/main" val="101718729"/>
                    </a:ext>
                  </a:extLst>
                </a:gridCol>
                <a:gridCol w="1137295">
                  <a:extLst>
                    <a:ext uri="{9D8B030D-6E8A-4147-A177-3AD203B41FA5}">
                      <a16:colId xmlns:a16="http://schemas.microsoft.com/office/drawing/2014/main" val="3468495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↘</a:t>
                      </a:r>
                      <a:r>
                        <a:rPr lang="es-CO" sz="1200" b="1" dirty="0">
                          <a:latin typeface="Consolas" panose="020B0609020204030204" pitchFamily="49" charset="0"/>
                        </a:rPr>
                        <a:t>radio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↗</a:t>
                      </a:r>
                      <a:r>
                        <a:rPr lang="es-CO" sz="1200" b="1" dirty="0">
                          <a:latin typeface="Consolas" panose="020B0609020204030204" pitchFamily="49" charset="0"/>
                        </a:rPr>
                        <a:t>area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4789806"/>
                  </a:ext>
                </a:extLst>
              </a:tr>
              <a:tr h="130963">
                <a:tc>
                  <a:txBody>
                    <a:bodyPr/>
                    <a:lstStyle/>
                    <a:p>
                      <a:pPr algn="ctr"/>
                      <a:r>
                        <a:rPr lang="es-CO" sz="1400" strike="sngStrike" dirty="0"/>
                        <a:t>?</a:t>
                      </a:r>
                    </a:p>
                    <a:p>
                      <a:pPr algn="ctr"/>
                      <a:r>
                        <a:rPr lang="es-CO" sz="1400" dirty="0"/>
                        <a:t>↘</a:t>
                      </a:r>
                      <a:r>
                        <a:rPr lang="es-CO" sz="1400" strike="noStrike" dirty="0"/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strike="sngStrike" dirty="0"/>
                        <a:t>?</a:t>
                      </a:r>
                    </a:p>
                    <a:p>
                      <a:pPr algn="ctr"/>
                      <a:r>
                        <a:rPr lang="es-CO" sz="1400" dirty="0"/>
                        <a:t>↗314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4237131"/>
                  </a:ext>
                </a:extLst>
              </a:tr>
            </a:tbl>
          </a:graphicData>
        </a:graphic>
      </p:graphicFrame>
      <p:graphicFrame>
        <p:nvGraphicFramePr>
          <p:cNvPr id="37" name="Tabla 5">
            <a:extLst>
              <a:ext uri="{FF2B5EF4-FFF2-40B4-BE49-F238E27FC236}">
                <a16:creationId xmlns:a16="http://schemas.microsoft.com/office/drawing/2014/main" id="{0E4350C5-922B-48AC-B2DB-4C89A523E08F}"/>
              </a:ext>
            </a:extLst>
          </p:cNvPr>
          <p:cNvGraphicFramePr>
            <a:graphicFrameLocks noGrp="1"/>
          </p:cNvGraphicFramePr>
          <p:nvPr/>
        </p:nvGraphicFramePr>
        <p:xfrm>
          <a:off x="6478273" y="2161410"/>
          <a:ext cx="2448858" cy="1097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08698">
                  <a:extLst>
                    <a:ext uri="{9D8B030D-6E8A-4147-A177-3AD203B41FA5}">
                      <a16:colId xmlns:a16="http://schemas.microsoft.com/office/drawing/2014/main" val="101718729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468495707"/>
                    </a:ext>
                  </a:extLst>
                </a:gridCol>
              </a:tblGrid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200" b="1" dirty="0">
                          <a:latin typeface="+mn-lt"/>
                        </a:rPr>
                        <a:t>Entradas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 dirty="0"/>
                        <a:t>Salidas</a:t>
                      </a:r>
                      <a:endParaRPr lang="es-CO" sz="12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68271"/>
                  </a:ext>
                </a:extLst>
              </a:tr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200" b="1" dirty="0"/>
                        <a:t>radio</a:t>
                      </a:r>
                      <a:endParaRPr lang="es-CO" sz="12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 dirty="0"/>
                        <a:t>area</a:t>
                      </a:r>
                      <a:endParaRPr lang="es-CO" sz="12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789806"/>
                  </a:ext>
                </a:extLst>
              </a:tr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200" strike="noStrike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314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237131"/>
                  </a:ext>
                </a:extLst>
              </a:tr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200" strike="noStrike" dirty="0"/>
                        <a:t>2.6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21.237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889482"/>
                  </a:ext>
                </a:extLst>
              </a:tr>
            </a:tbl>
          </a:graphicData>
        </a:graphic>
      </p:graphicFrame>
      <p:graphicFrame>
        <p:nvGraphicFramePr>
          <p:cNvPr id="38" name="Tabla 5">
            <a:extLst>
              <a:ext uri="{FF2B5EF4-FFF2-40B4-BE49-F238E27FC236}">
                <a16:creationId xmlns:a16="http://schemas.microsoft.com/office/drawing/2014/main" id="{583D2238-1D79-4D9D-9DE7-EADBCC804709}"/>
              </a:ext>
            </a:extLst>
          </p:cNvPr>
          <p:cNvGraphicFramePr>
            <a:graphicFrameLocks noGrp="1"/>
          </p:cNvGraphicFramePr>
          <p:nvPr/>
        </p:nvGraphicFramePr>
        <p:xfrm>
          <a:off x="6567059" y="4990944"/>
          <a:ext cx="227459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7295">
                  <a:extLst>
                    <a:ext uri="{9D8B030D-6E8A-4147-A177-3AD203B41FA5}">
                      <a16:colId xmlns:a16="http://schemas.microsoft.com/office/drawing/2014/main" val="101718729"/>
                    </a:ext>
                  </a:extLst>
                </a:gridCol>
                <a:gridCol w="1137295">
                  <a:extLst>
                    <a:ext uri="{9D8B030D-6E8A-4147-A177-3AD203B41FA5}">
                      <a16:colId xmlns:a16="http://schemas.microsoft.com/office/drawing/2014/main" val="3468495707"/>
                    </a:ext>
                  </a:extLst>
                </a:gridCol>
              </a:tblGrid>
              <a:tr h="194789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↘</a:t>
                      </a:r>
                      <a:r>
                        <a:rPr lang="es-CO" sz="1200" b="1" dirty="0">
                          <a:latin typeface="Consolas" panose="020B0609020204030204" pitchFamily="49" charset="0"/>
                        </a:rPr>
                        <a:t>radio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↗</a:t>
                      </a:r>
                      <a:r>
                        <a:rPr lang="es-CO" sz="1200" b="1" dirty="0">
                          <a:latin typeface="Consolas" panose="020B0609020204030204" pitchFamily="49" charset="0"/>
                        </a:rPr>
                        <a:t>area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4789806"/>
                  </a:ext>
                </a:extLst>
              </a:tr>
              <a:tr h="272171">
                <a:tc>
                  <a:txBody>
                    <a:bodyPr/>
                    <a:lstStyle/>
                    <a:p>
                      <a:pPr algn="ctr"/>
                      <a:r>
                        <a:rPr lang="es-CO" sz="1400" strike="sngStrike" dirty="0"/>
                        <a:t>?</a:t>
                      </a:r>
                    </a:p>
                    <a:p>
                      <a:pPr algn="ctr"/>
                      <a:r>
                        <a:rPr lang="es-CO" sz="1400" dirty="0"/>
                        <a:t>↘</a:t>
                      </a:r>
                      <a:r>
                        <a:rPr lang="es-CO" sz="1400" strike="noStrike" dirty="0"/>
                        <a:t>2.6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strike="sngStrike" dirty="0"/>
                        <a:t>?</a:t>
                      </a:r>
                    </a:p>
                    <a:p>
                      <a:pPr algn="ctr"/>
                      <a:r>
                        <a:rPr lang="es-CO" sz="1400" dirty="0"/>
                        <a:t>↗21.226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4237131"/>
                  </a:ext>
                </a:extLst>
              </a:tr>
            </a:tbl>
          </a:graphicData>
        </a:graphic>
      </p:graphicFrame>
      <p:grpSp>
        <p:nvGrpSpPr>
          <p:cNvPr id="51" name="Grupo 50">
            <a:extLst>
              <a:ext uri="{FF2B5EF4-FFF2-40B4-BE49-F238E27FC236}">
                <a16:creationId xmlns:a16="http://schemas.microsoft.com/office/drawing/2014/main" id="{7C3CCC18-3B1C-4B19-9896-C880EF3151D2}"/>
              </a:ext>
            </a:extLst>
          </p:cNvPr>
          <p:cNvGrpSpPr/>
          <p:nvPr/>
        </p:nvGrpSpPr>
        <p:grpSpPr>
          <a:xfrm>
            <a:off x="162614" y="2348880"/>
            <a:ext cx="3038913" cy="1640907"/>
            <a:chOff x="162614" y="2348880"/>
            <a:chExt cx="3038913" cy="1640907"/>
          </a:xfrm>
        </p:grpSpPr>
        <p:pic>
          <p:nvPicPr>
            <p:cNvPr id="35" name="Picture 2" descr="Area of Circle - Definition, Formula &amp; Examples | ChiliMath">
              <a:extLst>
                <a:ext uri="{FF2B5EF4-FFF2-40B4-BE49-F238E27FC236}">
                  <a16:creationId xmlns:a16="http://schemas.microsoft.com/office/drawing/2014/main" id="{F1A11E4C-EB2D-4355-BDEA-C638F4B05B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0904" y="2636912"/>
              <a:ext cx="1011966" cy="1309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20F29D9E-8150-42E3-835D-6A0CD079CCBF}"/>
                </a:ext>
              </a:extLst>
            </p:cNvPr>
            <p:cNvGrpSpPr/>
            <p:nvPr/>
          </p:nvGrpSpPr>
          <p:grpSpPr>
            <a:xfrm>
              <a:off x="162614" y="2348880"/>
              <a:ext cx="3038913" cy="1640907"/>
              <a:chOff x="161645" y="2292149"/>
              <a:chExt cx="3038913" cy="1640907"/>
            </a:xfrm>
          </p:grpSpPr>
          <p:sp>
            <p:nvSpPr>
              <p:cNvPr id="41" name="Rectángulo: esquinas redondeadas 40">
                <a:extLst>
                  <a:ext uri="{FF2B5EF4-FFF2-40B4-BE49-F238E27FC236}">
                    <a16:creationId xmlns:a16="http://schemas.microsoft.com/office/drawing/2014/main" id="{A8D99359-AA9F-4477-A5EE-5A61D51A8401}"/>
                  </a:ext>
                </a:extLst>
              </p:cNvPr>
              <p:cNvSpPr/>
              <p:nvPr/>
            </p:nvSpPr>
            <p:spPr>
              <a:xfrm>
                <a:off x="411278" y="2522753"/>
                <a:ext cx="2789280" cy="1410303"/>
              </a:xfrm>
              <a:prstGeom prst="roundRect">
                <a:avLst/>
              </a:prstGeom>
              <a:noFill/>
              <a:ln w="28575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9" name="Flecha: cheurón 38">
                <a:extLst>
                  <a:ext uri="{FF2B5EF4-FFF2-40B4-BE49-F238E27FC236}">
                    <a16:creationId xmlns:a16="http://schemas.microsoft.com/office/drawing/2014/main" id="{E5FE2B1D-ADF6-4D1D-8E0A-1DCEDC083F0B}"/>
                  </a:ext>
                </a:extLst>
              </p:cNvPr>
              <p:cNvSpPr/>
              <p:nvPr/>
            </p:nvSpPr>
            <p:spPr>
              <a:xfrm rot="5400000">
                <a:off x="55314" y="2398480"/>
                <a:ext cx="676195" cy="463533"/>
              </a:xfrm>
              <a:prstGeom prst="chevron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s-CO" b="1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</p:grp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5BC9562F-F26F-4E4F-916C-2075CAF2969B}"/>
              </a:ext>
            </a:extLst>
          </p:cNvPr>
          <p:cNvGrpSpPr/>
          <p:nvPr/>
        </p:nvGrpSpPr>
        <p:grpSpPr>
          <a:xfrm>
            <a:off x="163103" y="4124833"/>
            <a:ext cx="3011625" cy="2562034"/>
            <a:chOff x="171066" y="4101396"/>
            <a:chExt cx="3011625" cy="25620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5 CuadroTexto">
                  <a:extLst>
                    <a:ext uri="{FF2B5EF4-FFF2-40B4-BE49-F238E27FC236}">
                      <a16:creationId xmlns:a16="http://schemas.microsoft.com/office/drawing/2014/main" id="{010AB634-E99C-4F05-B6E7-C0656858F595}"/>
                    </a:ext>
                  </a:extLst>
                </p:cNvPr>
                <p:cNvSpPr txBox="1"/>
                <p:nvPr/>
              </p:nvSpPr>
              <p:spPr>
                <a:xfrm>
                  <a:off x="572725" y="4368376"/>
                  <a:ext cx="2586696" cy="22775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b="1" dirty="0"/>
                    <a:t>Análisis</a:t>
                  </a:r>
                  <a:r>
                    <a:rPr lang="es-CO" dirty="0"/>
                    <a:t>:</a:t>
                  </a:r>
                </a:p>
                <a:p>
                  <a:r>
                    <a:rPr lang="es-CO" sz="1400" dirty="0">
                      <a:solidFill>
                        <a:srgbClr val="FF0000"/>
                      </a:solidFill>
                    </a:rPr>
                    <a:t>Datos de entrada: </a:t>
                  </a:r>
                  <a:r>
                    <a:rPr lang="es-CO" sz="1400" dirty="0"/>
                    <a:t>radio</a:t>
                  </a:r>
                </a:p>
                <a:p>
                  <a:r>
                    <a:rPr lang="es-CO" sz="1400" dirty="0">
                      <a:solidFill>
                        <a:srgbClr val="FF0000"/>
                      </a:solidFill>
                    </a:rPr>
                    <a:t>Datos de salida: </a:t>
                  </a:r>
                  <a:r>
                    <a:rPr lang="es-CO" sz="1400" dirty="0"/>
                    <a:t>área del circulo</a:t>
                  </a:r>
                </a:p>
                <a:p>
                  <a:r>
                    <a:rPr lang="es-CO" sz="1400" dirty="0">
                      <a:solidFill>
                        <a:srgbClr val="FF0000"/>
                      </a:solidFill>
                    </a:rPr>
                    <a:t>Constantes:</a:t>
                  </a:r>
                  <a:endParaRPr lang="es-CO" sz="1200" i="1" dirty="0"/>
                </a:p>
                <a:p>
                  <a:pPr marL="342900" indent="-342900">
                    <a:buFont typeface="Arial" pitchFamily="34" charset="0"/>
                    <a:buChar char="•"/>
                  </a:pPr>
                  <a:r>
                    <a:rPr lang="es-CO" sz="1400" b="1" dirty="0"/>
                    <a:t>Numero PI</a:t>
                  </a:r>
                  <a:r>
                    <a:rPr lang="es-CO" sz="1400" dirty="0"/>
                    <a:t>: PI = 3.14 (Real)</a:t>
                  </a:r>
                  <a:endParaRPr lang="es-CO" sz="1400" dirty="0">
                    <a:solidFill>
                      <a:srgbClr val="FF0000"/>
                    </a:solidFill>
                  </a:endParaRPr>
                </a:p>
                <a:p>
                  <a:r>
                    <a:rPr lang="es-CO" sz="1400" dirty="0">
                      <a:solidFill>
                        <a:srgbClr val="FF0000"/>
                      </a:solidFill>
                    </a:rPr>
                    <a:t>Definición de variables:</a:t>
                  </a:r>
                  <a:endParaRPr lang="es-CO" sz="1200" i="1" dirty="0"/>
                </a:p>
                <a:p>
                  <a:pPr marL="342900" indent="-342900">
                    <a:buFont typeface="Arial" pitchFamily="34" charset="0"/>
                    <a:buChar char="•"/>
                  </a:pPr>
                  <a:r>
                    <a:rPr lang="es-CO" sz="1200" b="1" i="1" dirty="0"/>
                    <a:t>radio</a:t>
                  </a:r>
                  <a:r>
                    <a:rPr lang="es-CO" sz="1200" dirty="0"/>
                    <a:t>: radio (Real)</a:t>
                  </a:r>
                </a:p>
                <a:p>
                  <a:pPr marL="342900" indent="-342900">
                    <a:buFont typeface="Arial" pitchFamily="34" charset="0"/>
                    <a:buChar char="•"/>
                  </a:pPr>
                  <a:r>
                    <a:rPr lang="es-CO" sz="1200" b="1" i="1" dirty="0"/>
                    <a:t>area</a:t>
                  </a:r>
                  <a:r>
                    <a:rPr lang="es-CO" sz="1200" dirty="0"/>
                    <a:t>: radio (Real)</a:t>
                  </a:r>
                </a:p>
                <a:p>
                  <a:r>
                    <a:rPr lang="es-CO" sz="1400" dirty="0">
                      <a:solidFill>
                        <a:srgbClr val="FF0000"/>
                      </a:solidFill>
                    </a:rPr>
                    <a:t>¿Proceso?: </a:t>
                  </a:r>
                  <a:r>
                    <a:rPr lang="es-CO" sz="1400" dirty="0"/>
                    <a:t>Elevar el radio al cuadrado y multiplicarlo por </a:t>
                  </a:r>
                  <a14:m>
                    <m:oMath xmlns:m="http://schemas.openxmlformats.org/officeDocument/2006/math">
                      <m:r>
                        <a:rPr lang="es-CO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a14:m>
                  <a:endParaRPr lang="es-CO" sz="1400" dirty="0"/>
                </a:p>
              </p:txBody>
            </p:sp>
          </mc:Choice>
          <mc:Fallback xmlns="">
            <p:sp>
              <p:nvSpPr>
                <p:cNvPr id="34" name="5 CuadroTexto">
                  <a:extLst>
                    <a:ext uri="{FF2B5EF4-FFF2-40B4-BE49-F238E27FC236}">
                      <a16:creationId xmlns:a16="http://schemas.microsoft.com/office/drawing/2014/main" id="{010AB634-E99C-4F05-B6E7-C0656858F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725" y="4368376"/>
                  <a:ext cx="2586696" cy="2277547"/>
                </a:xfrm>
                <a:prstGeom prst="rect">
                  <a:avLst/>
                </a:prstGeom>
                <a:blipFill>
                  <a:blip r:embed="rId3"/>
                  <a:stretch>
                    <a:fillRect l="-2123" t="-1337" b="-1604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Rectángulo: esquinas redondeadas 41">
              <a:extLst>
                <a:ext uri="{FF2B5EF4-FFF2-40B4-BE49-F238E27FC236}">
                  <a16:creationId xmlns:a16="http://schemas.microsoft.com/office/drawing/2014/main" id="{EBB98256-9990-4C80-BF0D-A1BB7B891A90}"/>
                </a:ext>
              </a:extLst>
            </p:cNvPr>
            <p:cNvSpPr/>
            <p:nvPr/>
          </p:nvSpPr>
          <p:spPr>
            <a:xfrm>
              <a:off x="393411" y="4385883"/>
              <a:ext cx="2789280" cy="2277547"/>
            </a:xfrm>
            <a:prstGeom prst="roundRect">
              <a:avLst>
                <a:gd name="adj" fmla="val 8860"/>
              </a:avLst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Flecha: cheurón 42">
              <a:extLst>
                <a:ext uri="{FF2B5EF4-FFF2-40B4-BE49-F238E27FC236}">
                  <a16:creationId xmlns:a16="http://schemas.microsoft.com/office/drawing/2014/main" id="{DFFBA09E-B96B-4027-9BB8-1A878FE9DA04}"/>
                </a:ext>
              </a:extLst>
            </p:cNvPr>
            <p:cNvSpPr/>
            <p:nvPr/>
          </p:nvSpPr>
          <p:spPr>
            <a:xfrm rot="5400000">
              <a:off x="64735" y="4207727"/>
              <a:ext cx="676195" cy="463533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CO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FDABE766-2CA4-4D9F-AC1A-0A26245F6B65}"/>
              </a:ext>
            </a:extLst>
          </p:cNvPr>
          <p:cNvGrpSpPr/>
          <p:nvPr/>
        </p:nvGrpSpPr>
        <p:grpSpPr>
          <a:xfrm>
            <a:off x="3131840" y="1134860"/>
            <a:ext cx="2931131" cy="5534500"/>
            <a:chOff x="3172363" y="1134860"/>
            <a:chExt cx="2931131" cy="5534500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CFF087EB-E783-4AC7-A060-74DDA2CA815C}"/>
                </a:ext>
              </a:extLst>
            </p:cNvPr>
            <p:cNvGrpSpPr/>
            <p:nvPr/>
          </p:nvGrpSpPr>
          <p:grpSpPr>
            <a:xfrm>
              <a:off x="3758212" y="1503803"/>
              <a:ext cx="1998336" cy="3578352"/>
              <a:chOff x="3803911" y="2084774"/>
              <a:chExt cx="2766928" cy="4006530"/>
            </a:xfrm>
          </p:grpSpPr>
          <p:sp>
            <p:nvSpPr>
              <p:cNvPr id="7" name="Flowchart: Terminator 43">
                <a:extLst>
                  <a:ext uri="{FF2B5EF4-FFF2-40B4-BE49-F238E27FC236}">
                    <a16:creationId xmlns:a16="http://schemas.microsoft.com/office/drawing/2014/main" id="{4BEA731C-8A2D-4120-8EA7-32EAAB9052D1}"/>
                  </a:ext>
                </a:extLst>
              </p:cNvPr>
              <p:cNvSpPr/>
              <p:nvPr/>
            </p:nvSpPr>
            <p:spPr>
              <a:xfrm>
                <a:off x="4533557" y="5761790"/>
                <a:ext cx="1309254" cy="329514"/>
              </a:xfrm>
              <a:prstGeom prst="flowChartTerminator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>
                    <a:latin typeface="Consolas" panose="020B0609020204030204" pitchFamily="49" charset="0"/>
                  </a:rPr>
                  <a:t>Finish</a:t>
                </a:r>
                <a:endParaRPr lang="en-US" sz="1100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8" name="Flowchart: Terminator 44">
                <a:extLst>
                  <a:ext uri="{FF2B5EF4-FFF2-40B4-BE49-F238E27FC236}">
                    <a16:creationId xmlns:a16="http://schemas.microsoft.com/office/drawing/2014/main" id="{DC5D4A15-AC0B-41C9-8418-F8E792476EF9}"/>
                  </a:ext>
                </a:extLst>
              </p:cNvPr>
              <p:cNvSpPr/>
              <p:nvPr/>
            </p:nvSpPr>
            <p:spPr>
              <a:xfrm>
                <a:off x="4511421" y="2084774"/>
                <a:ext cx="1309254" cy="329514"/>
              </a:xfrm>
              <a:prstGeom prst="flowChartTerminator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>
                    <a:latin typeface="Consolas" panose="020B0609020204030204" pitchFamily="49" charset="0"/>
                  </a:rPr>
                  <a:t>Start</a:t>
                </a:r>
                <a:endParaRPr lang="en-US" sz="11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9" name="Straight Arrow Connector 45">
                <a:extLst>
                  <a:ext uri="{FF2B5EF4-FFF2-40B4-BE49-F238E27FC236}">
                    <a16:creationId xmlns:a16="http://schemas.microsoft.com/office/drawing/2014/main" id="{87C5F869-26CA-4ECF-8117-EB2ACEEFB9D8}"/>
                  </a:ext>
                </a:extLst>
              </p:cNvPr>
              <p:cNvCxnSpPr>
                <a:cxnSpLocks/>
                <a:stCxn id="8" idx="2"/>
                <a:endCxn id="17" idx="0"/>
              </p:cNvCxnSpPr>
              <p:nvPr/>
            </p:nvCxnSpPr>
            <p:spPr>
              <a:xfrm flipH="1">
                <a:off x="5161807" y="2414288"/>
                <a:ext cx="4241" cy="294632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48">
                <a:extLst>
                  <a:ext uri="{FF2B5EF4-FFF2-40B4-BE49-F238E27FC236}">
                    <a16:creationId xmlns:a16="http://schemas.microsoft.com/office/drawing/2014/main" id="{03964D52-DBA5-4FAE-913A-8348C2091772}"/>
                  </a:ext>
                </a:extLst>
              </p:cNvPr>
              <p:cNvCxnSpPr>
                <a:cxnSpLocks/>
                <a:stCxn id="16" idx="2"/>
                <a:endCxn id="11" idx="1"/>
              </p:cNvCxnSpPr>
              <p:nvPr/>
            </p:nvCxnSpPr>
            <p:spPr>
              <a:xfrm>
                <a:off x="5187375" y="4699868"/>
                <a:ext cx="809" cy="329019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Flowchart: Data 52">
                <a:extLst>
                  <a:ext uri="{FF2B5EF4-FFF2-40B4-BE49-F238E27FC236}">
                    <a16:creationId xmlns:a16="http://schemas.microsoft.com/office/drawing/2014/main" id="{B9DF0CEE-D3EB-4499-93D1-614B554B387C}"/>
                  </a:ext>
                </a:extLst>
              </p:cNvPr>
              <p:cNvSpPr/>
              <p:nvPr/>
            </p:nvSpPr>
            <p:spPr>
              <a:xfrm>
                <a:off x="4039827" y="5028888"/>
                <a:ext cx="2296712" cy="411892"/>
              </a:xfrm>
              <a:prstGeom prst="flowChartInputOutpu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Consolas" panose="020B0609020204030204" pitchFamily="49" charset="0"/>
                  </a:rPr>
                  <a:t>Print </a:t>
                </a:r>
                <a:r>
                  <a:rPr lang="en-US" sz="1100" b="1" dirty="0">
                    <a:latin typeface="Consolas" panose="020B0609020204030204" pitchFamily="49" charset="0"/>
                  </a:rPr>
                  <a:t>area</a:t>
                </a:r>
              </a:p>
            </p:txBody>
          </p:sp>
          <p:cxnSp>
            <p:nvCxnSpPr>
              <p:cNvPr id="12" name="Straight Arrow Connector 53">
                <a:extLst>
                  <a:ext uri="{FF2B5EF4-FFF2-40B4-BE49-F238E27FC236}">
                    <a16:creationId xmlns:a16="http://schemas.microsoft.com/office/drawing/2014/main" id="{074C9DCF-6979-42B7-AF96-A0E41E156806}"/>
                  </a:ext>
                </a:extLst>
              </p:cNvPr>
              <p:cNvCxnSpPr>
                <a:cxnSpLocks/>
                <a:stCxn id="11" idx="4"/>
                <a:endCxn id="7" idx="0"/>
              </p:cNvCxnSpPr>
              <p:nvPr/>
            </p:nvCxnSpPr>
            <p:spPr>
              <a:xfrm>
                <a:off x="5188184" y="5440779"/>
                <a:ext cx="0" cy="32101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Flowchart: Data 68">
                <a:extLst>
                  <a:ext uri="{FF2B5EF4-FFF2-40B4-BE49-F238E27FC236}">
                    <a16:creationId xmlns:a16="http://schemas.microsoft.com/office/drawing/2014/main" id="{0B4F97B3-5B04-4A76-8BB8-E5F8DEC41937}"/>
                  </a:ext>
                </a:extLst>
              </p:cNvPr>
              <p:cNvSpPr/>
              <p:nvPr/>
            </p:nvSpPr>
            <p:spPr>
              <a:xfrm>
                <a:off x="4032969" y="3443868"/>
                <a:ext cx="2304254" cy="494270"/>
              </a:xfrm>
              <a:prstGeom prst="flowChartInputOutpu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Consolas" panose="020B0609020204030204" pitchFamily="49" charset="0"/>
                  </a:rPr>
                  <a:t>Read radio</a:t>
                </a:r>
                <a:endParaRPr lang="en-US" sz="1100" b="1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4" name="Straight Arrow Connector 47">
                <a:extLst>
                  <a:ext uri="{FF2B5EF4-FFF2-40B4-BE49-F238E27FC236}">
                    <a16:creationId xmlns:a16="http://schemas.microsoft.com/office/drawing/2014/main" id="{65AEBC24-7F97-450B-ABB9-BFF75D9BCB31}"/>
                  </a:ext>
                </a:extLst>
              </p:cNvPr>
              <p:cNvCxnSpPr>
                <a:cxnSpLocks/>
                <a:stCxn id="13" idx="4"/>
                <a:endCxn id="16" idx="0"/>
              </p:cNvCxnSpPr>
              <p:nvPr/>
            </p:nvCxnSpPr>
            <p:spPr>
              <a:xfrm>
                <a:off x="5185097" y="3938138"/>
                <a:ext cx="2278" cy="349838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Flowchart: Process 42">
                <a:extLst>
                  <a:ext uri="{FF2B5EF4-FFF2-40B4-BE49-F238E27FC236}">
                    <a16:creationId xmlns:a16="http://schemas.microsoft.com/office/drawing/2014/main" id="{66754C25-5131-48A6-953A-32CBEF110B64}"/>
                  </a:ext>
                </a:extLst>
              </p:cNvPr>
              <p:cNvSpPr/>
              <p:nvPr/>
            </p:nvSpPr>
            <p:spPr>
              <a:xfrm>
                <a:off x="3803911" y="4287976"/>
                <a:ext cx="2766928" cy="411892"/>
              </a:xfrm>
              <a:prstGeom prst="flowChartProcess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Consolas" panose="020B0609020204030204" pitchFamily="49" charset="0"/>
                    <a:sym typeface="Wingdings" pitchFamily="2" charset="2"/>
                  </a:rPr>
                  <a:t>area </a:t>
                </a:r>
                <a:r>
                  <a:rPr lang="en-US" sz="1100" dirty="0">
                    <a:latin typeface="Consolas" panose="020B0609020204030204" pitchFamily="49" charset="0"/>
                  </a:rPr>
                  <a:t> PI * (radio**2)</a:t>
                </a:r>
              </a:p>
            </p:txBody>
          </p:sp>
          <p:sp>
            <p:nvSpPr>
              <p:cNvPr id="17" name="Flowchart: Process 42">
                <a:extLst>
                  <a:ext uri="{FF2B5EF4-FFF2-40B4-BE49-F238E27FC236}">
                    <a16:creationId xmlns:a16="http://schemas.microsoft.com/office/drawing/2014/main" id="{E768179D-85EC-4BF5-9F9A-4A45A0D35E39}"/>
                  </a:ext>
                </a:extLst>
              </p:cNvPr>
              <p:cNvSpPr/>
              <p:nvPr/>
            </p:nvSpPr>
            <p:spPr>
              <a:xfrm>
                <a:off x="3865664" y="2708920"/>
                <a:ext cx="2592286" cy="411892"/>
              </a:xfrm>
              <a:prstGeom prst="flowChartProcess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Consolas" panose="020B0609020204030204" pitchFamily="49" charset="0"/>
                    <a:sym typeface="Wingdings" pitchFamily="2" charset="2"/>
                  </a:rPr>
                  <a:t>PI </a:t>
                </a:r>
                <a:r>
                  <a:rPr lang="en-US" sz="1100" dirty="0">
                    <a:latin typeface="Consolas" panose="020B0609020204030204" pitchFamily="49" charset="0"/>
                  </a:rPr>
                  <a:t> 3.14</a:t>
                </a:r>
              </a:p>
            </p:txBody>
          </p:sp>
          <p:cxnSp>
            <p:nvCxnSpPr>
              <p:cNvPr id="18" name="Straight Arrow Connector 45">
                <a:extLst>
                  <a:ext uri="{FF2B5EF4-FFF2-40B4-BE49-F238E27FC236}">
                    <a16:creationId xmlns:a16="http://schemas.microsoft.com/office/drawing/2014/main" id="{E9160B86-0320-4FF5-8E65-4A3CCF3EFFEC}"/>
                  </a:ext>
                </a:extLst>
              </p:cNvPr>
              <p:cNvCxnSpPr>
                <a:cxnSpLocks/>
                <a:endCxn id="13" idx="1"/>
              </p:cNvCxnSpPr>
              <p:nvPr/>
            </p:nvCxnSpPr>
            <p:spPr>
              <a:xfrm flipH="1">
                <a:off x="5185096" y="3097847"/>
                <a:ext cx="2" cy="346021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A3CB30DA-E4AF-4A28-994A-0EE6B49FD220}"/>
                </a:ext>
              </a:extLst>
            </p:cNvPr>
            <p:cNvSpPr txBox="1"/>
            <p:nvPr/>
          </p:nvSpPr>
          <p:spPr>
            <a:xfrm>
              <a:off x="3593432" y="5275593"/>
              <a:ext cx="234885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s-CO" sz="1200" b="1" dirty="0">
                  <a:latin typeface="Consolas" panose="020B0609020204030204" pitchFamily="49" charset="0"/>
                </a:rPr>
                <a:t>Inicio</a:t>
              </a:r>
              <a:endParaRPr lang="es-CO" sz="1200" dirty="0">
                <a:latin typeface="Consolas" panose="020B0609020204030204" pitchFamily="49" charset="0"/>
              </a:endParaRPr>
            </a:p>
            <a:p>
              <a:r>
                <a:rPr lang="es-CO" sz="1200" dirty="0">
                  <a:latin typeface="Consolas" panose="020B0609020204030204" pitchFamily="49" charset="0"/>
                </a:rPr>
                <a:t>  PI = 3.14</a:t>
              </a:r>
            </a:p>
            <a:p>
              <a:r>
                <a:rPr lang="es-CO" sz="1200" dirty="0">
                  <a:latin typeface="Consolas" panose="020B0609020204030204" pitchFamily="49" charset="0"/>
                </a:rPr>
                <a:t>  Leer(radio)</a:t>
              </a:r>
            </a:p>
            <a:p>
              <a:r>
                <a:rPr lang="es-CO" sz="1200" dirty="0">
                  <a:latin typeface="Consolas" panose="020B0609020204030204" pitchFamily="49" charset="0"/>
                </a:rPr>
                <a:t>  area = PI*(radio**2)</a:t>
              </a:r>
            </a:p>
            <a:p>
              <a:r>
                <a:rPr lang="es-CO" sz="1200" dirty="0">
                  <a:latin typeface="Consolas" panose="020B0609020204030204" pitchFamily="49" charset="0"/>
                </a:rPr>
                <a:t>  Escribir(area)</a:t>
              </a:r>
            </a:p>
            <a:p>
              <a:r>
                <a:rPr lang="es-CO" sz="1200" b="1" dirty="0">
                  <a:latin typeface="Consolas" panose="020B0609020204030204" pitchFamily="49" charset="0"/>
                </a:rPr>
                <a:t>Fin</a:t>
              </a:r>
            </a:p>
          </p:txBody>
        </p:sp>
        <p:sp>
          <p:nvSpPr>
            <p:cNvPr id="47" name="Rectángulo: esquinas redondeadas 46">
              <a:extLst>
                <a:ext uri="{FF2B5EF4-FFF2-40B4-BE49-F238E27FC236}">
                  <a16:creationId xmlns:a16="http://schemas.microsoft.com/office/drawing/2014/main" id="{1C80DC11-2035-4811-95E3-B8390EFD5CD2}"/>
                </a:ext>
              </a:extLst>
            </p:cNvPr>
            <p:cNvSpPr/>
            <p:nvPr/>
          </p:nvSpPr>
          <p:spPr>
            <a:xfrm>
              <a:off x="3405036" y="1365464"/>
              <a:ext cx="2698458" cy="5303896"/>
            </a:xfrm>
            <a:prstGeom prst="roundRect">
              <a:avLst>
                <a:gd name="adj" fmla="val 9382"/>
              </a:avLst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6" name="Flecha: cheurón 45">
              <a:extLst>
                <a:ext uri="{FF2B5EF4-FFF2-40B4-BE49-F238E27FC236}">
                  <a16:creationId xmlns:a16="http://schemas.microsoft.com/office/drawing/2014/main" id="{DE133DD3-CB02-443A-B416-BAB11423F73F}"/>
                </a:ext>
              </a:extLst>
            </p:cNvPr>
            <p:cNvSpPr/>
            <p:nvPr/>
          </p:nvSpPr>
          <p:spPr>
            <a:xfrm rot="5400000">
              <a:off x="3066032" y="1241191"/>
              <a:ext cx="676195" cy="463533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CO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CC600477-E127-464F-BF1E-8D7A99CB60FC}"/>
              </a:ext>
            </a:extLst>
          </p:cNvPr>
          <p:cNvSpPr/>
          <p:nvPr/>
        </p:nvSpPr>
        <p:spPr>
          <a:xfrm>
            <a:off x="6375773" y="1305180"/>
            <a:ext cx="2653859" cy="5303896"/>
          </a:xfrm>
          <a:prstGeom prst="roundRect">
            <a:avLst>
              <a:gd name="adj" fmla="val 9382"/>
            </a:avLst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" name="Flecha: cheurón 49">
            <a:extLst>
              <a:ext uri="{FF2B5EF4-FFF2-40B4-BE49-F238E27FC236}">
                <a16:creationId xmlns:a16="http://schemas.microsoft.com/office/drawing/2014/main" id="{DD6DC9D0-1982-4164-BB2C-43BF3652891B}"/>
              </a:ext>
            </a:extLst>
          </p:cNvPr>
          <p:cNvSpPr/>
          <p:nvPr/>
        </p:nvSpPr>
        <p:spPr>
          <a:xfrm rot="5400000">
            <a:off x="6036769" y="1180907"/>
            <a:ext cx="676195" cy="463533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CO" b="1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76691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467543" y="207926"/>
            <a:ext cx="7939037" cy="986803"/>
          </a:xfrm>
        </p:spPr>
        <p:txBody>
          <a:bodyPr/>
          <a:lstStyle/>
          <a:p>
            <a:r>
              <a:rPr lang="es-CO" sz="3200" dirty="0"/>
              <a:t>Diseño de programas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67543" y="1194729"/>
            <a:ext cx="7886700" cy="3530415"/>
          </a:xfrm>
        </p:spPr>
        <p:txBody>
          <a:bodyPr>
            <a:normAutofit/>
          </a:bodyPr>
          <a:lstStyle/>
          <a:p>
            <a:r>
              <a:rPr lang="es-MX" sz="2200" dirty="0"/>
              <a:t>Los programas deben diseñarse cuidadosamente antes de ser escritos. Durante el proceso de diseño, los programadores utilizan herramientas como pseudocódigo y diagramas de flujo para crear modelos de los programas.</a:t>
            </a:r>
          </a:p>
          <a:p>
            <a:r>
              <a:rPr lang="es-MX" sz="2200" b="1" dirty="0"/>
              <a:t>El ciclo de desarrollo de un programa</a:t>
            </a:r>
            <a:r>
              <a:rPr lang="es-MX" sz="2200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MX" sz="2000" dirty="0"/>
              <a:t>Diseñar el programa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MX" sz="2000" dirty="0"/>
              <a:t>Escribir el código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MX" sz="2000" dirty="0"/>
              <a:t>Corregir errores de sintaxis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MX" sz="2000" dirty="0"/>
              <a:t>Probar el programa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MX" sz="2000" dirty="0"/>
              <a:t>Corregir errores de lógica </a:t>
            </a:r>
            <a:endParaRPr lang="es-CO" sz="2000" dirty="0"/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EF728DB1-F1C4-4655-B50D-CB75E7B5B005}"/>
              </a:ext>
            </a:extLst>
          </p:cNvPr>
          <p:cNvGrpSpPr/>
          <p:nvPr/>
        </p:nvGrpSpPr>
        <p:grpSpPr>
          <a:xfrm>
            <a:off x="784837" y="5243566"/>
            <a:ext cx="7304447" cy="839410"/>
            <a:chOff x="858501" y="5239359"/>
            <a:chExt cx="7304447" cy="839410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38E10274-8389-4071-9E34-CDB0D36DF010}"/>
                </a:ext>
              </a:extLst>
            </p:cNvPr>
            <p:cNvSpPr txBox="1"/>
            <p:nvPr/>
          </p:nvSpPr>
          <p:spPr>
            <a:xfrm>
              <a:off x="858501" y="5359755"/>
              <a:ext cx="1111041" cy="58477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/>
                <a:t>Diseñar el programa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4B91F96-F769-4FF0-96C3-5DADA0BDDC45}"/>
                </a:ext>
              </a:extLst>
            </p:cNvPr>
            <p:cNvSpPr txBox="1"/>
            <p:nvPr/>
          </p:nvSpPr>
          <p:spPr>
            <a:xfrm>
              <a:off x="2360082" y="5359755"/>
              <a:ext cx="1069952" cy="5847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/>
                <a:t>Escribir el código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BBC821E7-9E9B-482D-9F20-4158803603D8}"/>
                </a:ext>
              </a:extLst>
            </p:cNvPr>
            <p:cNvSpPr txBox="1"/>
            <p:nvPr/>
          </p:nvSpPr>
          <p:spPr>
            <a:xfrm>
              <a:off x="3820574" y="5239359"/>
              <a:ext cx="1148136" cy="83099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/>
                <a:t>Corregir errores de sintaxis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18460779-4C3F-44D2-8DE8-DAA6D622E60D}"/>
                </a:ext>
              </a:extLst>
            </p:cNvPr>
            <p:cNvSpPr txBox="1"/>
            <p:nvPr/>
          </p:nvSpPr>
          <p:spPr>
            <a:xfrm>
              <a:off x="5359250" y="5359755"/>
              <a:ext cx="1142676" cy="58477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/>
                <a:t>Probar el programa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ED2F98BD-FCD6-40E1-BED3-FA4935908392}"/>
                </a:ext>
              </a:extLst>
            </p:cNvPr>
            <p:cNvSpPr txBox="1"/>
            <p:nvPr/>
          </p:nvSpPr>
          <p:spPr>
            <a:xfrm>
              <a:off x="7020272" y="5247772"/>
              <a:ext cx="1142676" cy="83099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/>
                <a:t>Corregir errores de lógica</a:t>
              </a:r>
            </a:p>
          </p:txBody>
        </p: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CB607D4B-5242-43C6-8ED1-E5996D49A2A4}"/>
                </a:ext>
              </a:extLst>
            </p:cNvPr>
            <p:cNvCxnSpPr>
              <a:stCxn id="6" idx="3"/>
              <a:endCxn id="20" idx="1"/>
            </p:cNvCxnSpPr>
            <p:nvPr/>
          </p:nvCxnSpPr>
          <p:spPr>
            <a:xfrm>
              <a:off x="1969542" y="5652143"/>
              <a:ext cx="3905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194CB7FD-B91E-44F5-9A89-49A42C907AFE}"/>
                </a:ext>
              </a:extLst>
            </p:cNvPr>
            <p:cNvCxnSpPr>
              <a:cxnSpLocks/>
              <a:stCxn id="20" idx="3"/>
              <a:endCxn id="21" idx="1"/>
            </p:cNvCxnSpPr>
            <p:nvPr/>
          </p:nvCxnSpPr>
          <p:spPr>
            <a:xfrm>
              <a:off x="3430034" y="5652143"/>
              <a:ext cx="390540" cy="27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AF274584-7C30-45DB-8441-1EF230FF75D8}"/>
                </a:ext>
              </a:extLst>
            </p:cNvPr>
            <p:cNvCxnSpPr>
              <a:cxnSpLocks/>
              <a:stCxn id="21" idx="3"/>
              <a:endCxn id="22" idx="1"/>
            </p:cNvCxnSpPr>
            <p:nvPr/>
          </p:nvCxnSpPr>
          <p:spPr>
            <a:xfrm flipV="1">
              <a:off x="4968710" y="5652143"/>
              <a:ext cx="390540" cy="27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54BE1790-9A0F-4F22-8353-FB82A27D6234}"/>
                </a:ext>
              </a:extLst>
            </p:cNvPr>
            <p:cNvCxnSpPr>
              <a:cxnSpLocks/>
              <a:stCxn id="22" idx="3"/>
              <a:endCxn id="23" idx="1"/>
            </p:cNvCxnSpPr>
            <p:nvPr/>
          </p:nvCxnSpPr>
          <p:spPr>
            <a:xfrm>
              <a:off x="6501926" y="5652143"/>
              <a:ext cx="518346" cy="1112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: angular 32">
              <a:extLst>
                <a:ext uri="{FF2B5EF4-FFF2-40B4-BE49-F238E27FC236}">
                  <a16:creationId xmlns:a16="http://schemas.microsoft.com/office/drawing/2014/main" id="{02A0B1D9-D210-4CBC-9036-EABDB36FDDE8}"/>
                </a:ext>
              </a:extLst>
            </p:cNvPr>
            <p:cNvCxnSpPr>
              <a:cxnSpLocks/>
              <a:stCxn id="23" idx="3"/>
              <a:endCxn id="6" idx="1"/>
            </p:cNvCxnSpPr>
            <p:nvPr/>
          </p:nvCxnSpPr>
          <p:spPr>
            <a:xfrm flipH="1" flipV="1">
              <a:off x="858501" y="5652143"/>
              <a:ext cx="7304447" cy="11128"/>
            </a:xfrm>
            <a:prstGeom prst="bentConnector5">
              <a:avLst>
                <a:gd name="adj1" fmla="val -3130"/>
                <a:gd name="adj2" fmla="val -7222331"/>
                <a:gd name="adj3" fmla="val 10313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Imagen 36">
            <a:extLst>
              <a:ext uri="{FF2B5EF4-FFF2-40B4-BE49-F238E27FC236}">
                <a16:creationId xmlns:a16="http://schemas.microsoft.com/office/drawing/2014/main" id="{27947F90-AFF8-4348-BF05-96797BBCC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391" y="4865641"/>
            <a:ext cx="424133" cy="43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14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59840" y="188640"/>
            <a:ext cx="7886700" cy="1116540"/>
          </a:xfrm>
        </p:spPr>
        <p:txBody>
          <a:bodyPr/>
          <a:lstStyle/>
          <a:p>
            <a:r>
              <a:rPr lang="es-CO" sz="3200" dirty="0"/>
              <a:t>Codificación de algoritmos en Python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359840" y="1268760"/>
            <a:ext cx="8352605" cy="477101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200" b="1" dirty="0">
                <a:solidFill>
                  <a:srgbClr val="FF0000"/>
                </a:solidFill>
              </a:rPr>
              <a:t>Ejemplo</a:t>
            </a:r>
            <a:r>
              <a:rPr lang="es-CO" sz="2200" dirty="0">
                <a:solidFill>
                  <a:srgbClr val="FF0000"/>
                </a:solidFill>
              </a:rPr>
              <a:t>:</a:t>
            </a:r>
            <a:r>
              <a:rPr lang="es-CO" sz="2200" dirty="0"/>
              <a:t> </a:t>
            </a:r>
            <a:r>
              <a:rPr lang="es-MX" sz="2200" dirty="0"/>
              <a:t>Hacer un algoritmo que calcule el área de un circulo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C7EC286-1529-429A-96DF-A7244848F368}"/>
              </a:ext>
            </a:extLst>
          </p:cNvPr>
          <p:cNvSpPr txBox="1"/>
          <p:nvPr/>
        </p:nvSpPr>
        <p:spPr>
          <a:xfrm>
            <a:off x="467544" y="1772816"/>
            <a:ext cx="5287042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b="0" dirty="0">
                <a:effectLst/>
                <a:latin typeface="Consolas" panose="020B0609020204030204" pitchFamily="49" charset="0"/>
              </a:rPr>
              <a:t># Inicialización de variables</a:t>
            </a:r>
          </a:p>
          <a:p>
            <a:r>
              <a:rPr lang="es-CO" sz="1200" b="0" dirty="0">
                <a:effectLst/>
                <a:latin typeface="Consolas" panose="020B0609020204030204" pitchFamily="49" charset="0"/>
              </a:rPr>
              <a:t>PI = 3.14</a:t>
            </a:r>
          </a:p>
          <a:p>
            <a:br>
              <a:rPr lang="es-CO" sz="1200" b="0" dirty="0">
                <a:effectLst/>
                <a:latin typeface="Consolas" panose="020B0609020204030204" pitchFamily="49" charset="0"/>
              </a:rPr>
            </a:br>
            <a:r>
              <a:rPr lang="es-CO" sz="1200" b="0" dirty="0">
                <a:effectLst/>
                <a:latin typeface="Consolas" panose="020B0609020204030204" pitchFamily="49" charset="0"/>
              </a:rPr>
              <a:t># Entrada de datos</a:t>
            </a:r>
          </a:p>
          <a:p>
            <a:r>
              <a:rPr lang="es-CO" sz="1200" b="0" dirty="0">
                <a:effectLst/>
                <a:latin typeface="Consolas" panose="020B0609020204030204" pitchFamily="49" charset="0"/>
              </a:rPr>
              <a:t>radio =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float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(input("Ingrese el radio del círculo: "))</a:t>
            </a:r>
          </a:p>
          <a:p>
            <a:br>
              <a:rPr lang="es-CO" sz="1200" b="0" dirty="0">
                <a:effectLst/>
                <a:latin typeface="Consolas" panose="020B0609020204030204" pitchFamily="49" charset="0"/>
              </a:rPr>
            </a:br>
            <a:r>
              <a:rPr lang="es-CO" sz="1200" b="0" dirty="0">
                <a:effectLst/>
                <a:latin typeface="Consolas" panose="020B0609020204030204" pitchFamily="49" charset="0"/>
              </a:rPr>
              <a:t># Calculo del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area</a:t>
            </a:r>
            <a:endParaRPr lang="es-CO" sz="1200" b="0" dirty="0">
              <a:effectLst/>
              <a:latin typeface="Consolas" panose="020B0609020204030204" pitchFamily="49" charset="0"/>
            </a:endParaRPr>
          </a:p>
          <a:p>
            <a:r>
              <a:rPr lang="es-CO" sz="1200" b="0" dirty="0" err="1">
                <a:effectLst/>
                <a:latin typeface="Consolas" panose="020B0609020204030204" pitchFamily="49" charset="0"/>
              </a:rPr>
              <a:t>area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 = PI * radio ** 2</a:t>
            </a:r>
          </a:p>
          <a:p>
            <a:br>
              <a:rPr lang="es-CO" sz="1200" b="0" dirty="0">
                <a:effectLst/>
                <a:latin typeface="Consolas" panose="020B0609020204030204" pitchFamily="49" charset="0"/>
              </a:rPr>
            </a:br>
            <a:r>
              <a:rPr lang="es-CO" sz="1200" b="0" dirty="0">
                <a:effectLst/>
                <a:latin typeface="Consolas" panose="020B0609020204030204" pitchFamily="49" charset="0"/>
              </a:rPr>
              <a:t>#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Despligue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 del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area</a:t>
            </a:r>
            <a:endParaRPr lang="es-CO" sz="1200" b="0" dirty="0">
              <a:effectLst/>
              <a:latin typeface="Consolas" panose="020B0609020204030204" pitchFamily="49" charset="0"/>
            </a:endParaRPr>
          </a:p>
          <a:p>
            <a:r>
              <a:rPr lang="es-CO" sz="1200" b="0" dirty="0">
                <a:effectLst/>
                <a:latin typeface="Consolas" panose="020B0609020204030204" pitchFamily="49" charset="0"/>
              </a:rPr>
              <a:t>print(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f"El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area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 del círculo de radio {radio} es: {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area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}")</a:t>
            </a:r>
          </a:p>
        </p:txBody>
      </p:sp>
      <p:graphicFrame>
        <p:nvGraphicFramePr>
          <p:cNvPr id="18" name="Tabla 5">
            <a:extLst>
              <a:ext uri="{FF2B5EF4-FFF2-40B4-BE49-F238E27FC236}">
                <a16:creationId xmlns:a16="http://schemas.microsoft.com/office/drawing/2014/main" id="{4F88E115-89BB-4FAA-AADC-9A13840135DA}"/>
              </a:ext>
            </a:extLst>
          </p:cNvPr>
          <p:cNvGraphicFramePr>
            <a:graphicFrameLocks noGrp="1"/>
          </p:cNvGraphicFramePr>
          <p:nvPr/>
        </p:nvGraphicFramePr>
        <p:xfrm>
          <a:off x="467544" y="4465841"/>
          <a:ext cx="2448858" cy="1219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08698">
                  <a:extLst>
                    <a:ext uri="{9D8B030D-6E8A-4147-A177-3AD203B41FA5}">
                      <a16:colId xmlns:a16="http://schemas.microsoft.com/office/drawing/2014/main" val="101718729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468495707"/>
                    </a:ext>
                  </a:extLst>
                </a:gridCol>
              </a:tblGrid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+mn-lt"/>
                        </a:rPr>
                        <a:t>Entradas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Salidas</a:t>
                      </a:r>
                      <a:endParaRPr lang="es-CO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68271"/>
                  </a:ext>
                </a:extLst>
              </a:tr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radio</a:t>
                      </a:r>
                      <a:endParaRPr lang="es-CO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area</a:t>
                      </a:r>
                      <a:endParaRPr lang="es-CO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789806"/>
                  </a:ext>
                </a:extLst>
              </a:tr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400" strike="noStrike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314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237131"/>
                  </a:ext>
                </a:extLst>
              </a:tr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400" strike="noStrike" dirty="0"/>
                        <a:t>2.6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21.237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889482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C3AF9C73-1CC7-4CC1-8832-1B2E89EBC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4218727"/>
            <a:ext cx="5044704" cy="254570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EEBE094-7C5B-4A22-AA27-17C629AEE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935" y="2636912"/>
            <a:ext cx="424133" cy="434123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ECE89B1A-3987-40A4-A405-09AE065DADD3}"/>
              </a:ext>
            </a:extLst>
          </p:cNvPr>
          <p:cNvSpPr txBox="1"/>
          <p:nvPr/>
        </p:nvSpPr>
        <p:spPr>
          <a:xfrm>
            <a:off x="2715021" y="3888613"/>
            <a:ext cx="7920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dirty="0">
                <a:hlinkClick r:id="rId4"/>
              </a:rPr>
              <a:t>link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600398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467543" y="207926"/>
            <a:ext cx="7939037" cy="986803"/>
          </a:xfrm>
        </p:spPr>
        <p:txBody>
          <a:bodyPr/>
          <a:lstStyle/>
          <a:p>
            <a:r>
              <a:rPr lang="es-CO" sz="3200" dirty="0"/>
              <a:t>Entrada, procesamiento y salida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67543" y="1194729"/>
            <a:ext cx="7886700" cy="1729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200" dirty="0"/>
              <a:t>Los programas de computadora realizan estos tres pasos: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recibe la </a:t>
            </a:r>
            <a:r>
              <a:rPr lang="es-MX" sz="2000" b="1" dirty="0"/>
              <a:t>entrada</a:t>
            </a:r>
            <a:r>
              <a:rPr lang="es-MX" sz="2000" dirty="0"/>
              <a:t>.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realiza un </a:t>
            </a:r>
            <a:r>
              <a:rPr lang="es-MX" sz="2000" b="1" dirty="0"/>
              <a:t>proceso</a:t>
            </a:r>
            <a:r>
              <a:rPr lang="es-MX" sz="2000" dirty="0"/>
              <a:t> sobre la entrada.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genera la </a:t>
            </a:r>
            <a:r>
              <a:rPr lang="es-MX" sz="2000" b="1" dirty="0"/>
              <a:t>salida</a:t>
            </a:r>
            <a:endParaRPr lang="es-CO" sz="2000" b="1" dirty="0"/>
          </a:p>
        </p:txBody>
      </p:sp>
      <p:grpSp>
        <p:nvGrpSpPr>
          <p:cNvPr id="15" name="14 Grupo"/>
          <p:cNvGrpSpPr/>
          <p:nvPr/>
        </p:nvGrpSpPr>
        <p:grpSpPr>
          <a:xfrm>
            <a:off x="1589010" y="4102449"/>
            <a:ext cx="5715000" cy="838200"/>
            <a:chOff x="1676400" y="4495800"/>
            <a:chExt cx="5715000" cy="838200"/>
          </a:xfrm>
        </p:grpSpPr>
        <p:sp>
          <p:nvSpPr>
            <p:cNvPr id="10" name="9 Rectángulo"/>
            <p:cNvSpPr/>
            <p:nvPr/>
          </p:nvSpPr>
          <p:spPr>
            <a:xfrm>
              <a:off x="1676400" y="4648200"/>
              <a:ext cx="1447800" cy="5334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Inputs</a:t>
              </a:r>
              <a:endParaRPr lang="es-CO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10 Rectángulo"/>
            <p:cNvSpPr/>
            <p:nvPr/>
          </p:nvSpPr>
          <p:spPr>
            <a:xfrm>
              <a:off x="3810000" y="4495800"/>
              <a:ext cx="1447800" cy="838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400" b="1" dirty="0">
                  <a:latin typeface="Consolas" panose="020B0609020204030204" pitchFamily="49" charset="0"/>
                </a:rPr>
                <a:t>Process</a:t>
              </a:r>
              <a:endParaRPr lang="es-CO" b="1" dirty="0">
                <a:latin typeface="Consolas" panose="020B0609020204030204" pitchFamily="49" charset="0"/>
              </a:endParaRPr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5943600" y="4648200"/>
              <a:ext cx="1447800" cy="5334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Outputs</a:t>
              </a:r>
              <a:endParaRPr lang="es-CO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12 Flecha derecha"/>
            <p:cNvSpPr/>
            <p:nvPr/>
          </p:nvSpPr>
          <p:spPr>
            <a:xfrm>
              <a:off x="3124200" y="4800600"/>
              <a:ext cx="685800" cy="228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13 Flecha derecha"/>
            <p:cNvSpPr/>
            <p:nvPr/>
          </p:nvSpPr>
          <p:spPr>
            <a:xfrm>
              <a:off x="5257800" y="4800600"/>
              <a:ext cx="685800" cy="228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16" name="Picture 2" descr="http://www.jegsworks.com/lessons/computerbasics/lesson3/keyboard-white.png">
            <a:extLst>
              <a:ext uri="{FF2B5EF4-FFF2-40B4-BE49-F238E27FC236}">
                <a16:creationId xmlns:a16="http://schemas.microsoft.com/office/drawing/2014/main" id="{CA5F3EB8-A827-4D08-B3D4-BC8885661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116" y="3256265"/>
            <a:ext cx="1365108" cy="43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://t2.gstatic.com/images?q=tbn:ANd9GcS51PGLkp34nPs-LewfkgAfjdZsyder21fNGFoRiZ_A6x7txo3e">
            <a:extLst>
              <a:ext uri="{FF2B5EF4-FFF2-40B4-BE49-F238E27FC236}">
                <a16:creationId xmlns:a16="http://schemas.microsoft.com/office/drawing/2014/main" id="{BB2AD59A-355A-4EC4-BD61-76D458710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382" y="3198200"/>
            <a:ext cx="841456" cy="690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Settings Icon, Gear Icon Vector, Gear Symbol Illustration. for Web Sites  Our Mobile. Stock Illustration - Illustration of business, wheel: 151065188">
            <a:extLst>
              <a:ext uri="{FF2B5EF4-FFF2-40B4-BE49-F238E27FC236}">
                <a16:creationId xmlns:a16="http://schemas.microsoft.com/office/drawing/2014/main" id="{AC519BCB-3AA9-4258-9707-83D241823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143" y="5159353"/>
            <a:ext cx="1007836" cy="100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52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5536" y="284840"/>
            <a:ext cx="8119814" cy="831626"/>
          </a:xfrm>
        </p:spPr>
        <p:txBody>
          <a:bodyPr/>
          <a:lstStyle/>
          <a:p>
            <a:r>
              <a:rPr lang="es-CO" sz="2800" dirty="0"/>
              <a:t>Tabla resumen</a:t>
            </a:r>
            <a:endParaRPr lang="en-US" sz="2800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1C890BBD-1444-4CB9-97D4-FDDC5F53D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16" y="980728"/>
            <a:ext cx="7993607" cy="6635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/>
              <a:t>La siguiente tabla muestra la representación equivalente de las piezas esenciales para construir código secuencial</a:t>
            </a:r>
            <a:endParaRPr lang="es-CO" sz="2000" dirty="0"/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1D2B5E36-52C4-42F4-8540-7CBD071455A5}"/>
              </a:ext>
            </a:extLst>
          </p:cNvPr>
          <p:cNvGraphicFramePr>
            <a:graphicFrameLocks noGrp="1"/>
          </p:cNvGraphicFramePr>
          <p:nvPr/>
        </p:nvGraphicFramePr>
        <p:xfrm>
          <a:off x="466826" y="1700808"/>
          <a:ext cx="7993606" cy="4211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7343">
                  <a:extLst>
                    <a:ext uri="{9D8B030D-6E8A-4147-A177-3AD203B41FA5}">
                      <a16:colId xmlns:a16="http://schemas.microsoft.com/office/drawing/2014/main" val="4002968547"/>
                    </a:ext>
                  </a:extLst>
                </a:gridCol>
                <a:gridCol w="2352911">
                  <a:extLst>
                    <a:ext uri="{9D8B030D-6E8A-4147-A177-3AD203B41FA5}">
                      <a16:colId xmlns:a16="http://schemas.microsoft.com/office/drawing/2014/main" val="2376140116"/>
                    </a:ext>
                  </a:extLst>
                </a:gridCol>
                <a:gridCol w="2061676">
                  <a:extLst>
                    <a:ext uri="{9D8B030D-6E8A-4147-A177-3AD203B41FA5}">
                      <a16:colId xmlns:a16="http://schemas.microsoft.com/office/drawing/2014/main" val="1317388859"/>
                    </a:ext>
                  </a:extLst>
                </a:gridCol>
                <a:gridCol w="2061676">
                  <a:extLst>
                    <a:ext uri="{9D8B030D-6E8A-4147-A177-3AD203B41FA5}">
                      <a16:colId xmlns:a16="http://schemas.microsoft.com/office/drawing/2014/main" val="1620986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Diagrama de bloques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Pseudocordigo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b="1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66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Entrada</a:t>
                      </a:r>
                    </a:p>
                    <a:p>
                      <a:pPr algn="ctr"/>
                      <a:endParaRPr lang="es-CO" dirty="0"/>
                    </a:p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Leer(v1,v2,…)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v1 = input(...)</a:t>
                      </a:r>
                    </a:p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v2 = input(...)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227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Salida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Escribir(v1,v2,…)</a:t>
                      </a:r>
                    </a:p>
                    <a:p>
                      <a:pPr algn="ctr"/>
                      <a:endParaRPr lang="es-CO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print(v1,v2,…)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61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Proceso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c = a + b</a:t>
                      </a:r>
                      <a:endParaRPr lang="es-CO" sz="1400" dirty="0"/>
                    </a:p>
                    <a:p>
                      <a:pPr algn="ctr"/>
                      <a:endParaRPr lang="es-CO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c = a +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907500"/>
                  </a:ext>
                </a:extLst>
              </a:tr>
            </a:tbl>
          </a:graphicData>
        </a:graphic>
      </p:graphicFrame>
      <p:sp>
        <p:nvSpPr>
          <p:cNvPr id="10" name="Flowchart: Data 6">
            <a:extLst>
              <a:ext uri="{FF2B5EF4-FFF2-40B4-BE49-F238E27FC236}">
                <a16:creationId xmlns:a16="http://schemas.microsoft.com/office/drawing/2014/main" id="{0844C778-9DE1-449B-B09C-237271C11B8A}"/>
              </a:ext>
            </a:extLst>
          </p:cNvPr>
          <p:cNvSpPr/>
          <p:nvPr/>
        </p:nvSpPr>
        <p:spPr>
          <a:xfrm>
            <a:off x="2051722" y="2285936"/>
            <a:ext cx="2231500" cy="715198"/>
          </a:xfrm>
          <a:prstGeom prst="flowChartInputOutpu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Read v1,v2,…</a:t>
            </a:r>
          </a:p>
        </p:txBody>
      </p:sp>
      <p:sp>
        <p:nvSpPr>
          <p:cNvPr id="11" name="Flowchart: Data 6">
            <a:extLst>
              <a:ext uri="{FF2B5EF4-FFF2-40B4-BE49-F238E27FC236}">
                <a16:creationId xmlns:a16="http://schemas.microsoft.com/office/drawing/2014/main" id="{9C39F37A-2A39-47E1-86A7-FAE0C0329172}"/>
              </a:ext>
            </a:extLst>
          </p:cNvPr>
          <p:cNvSpPr/>
          <p:nvPr/>
        </p:nvSpPr>
        <p:spPr>
          <a:xfrm>
            <a:off x="2051722" y="3654088"/>
            <a:ext cx="2214917" cy="715198"/>
          </a:xfrm>
          <a:prstGeom prst="flowChartInputOutpu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Print v1,v2,…</a:t>
            </a:r>
          </a:p>
        </p:txBody>
      </p:sp>
      <p:sp>
        <p:nvSpPr>
          <p:cNvPr id="12" name="Flowchart: Process 7">
            <a:extLst>
              <a:ext uri="{FF2B5EF4-FFF2-40B4-BE49-F238E27FC236}">
                <a16:creationId xmlns:a16="http://schemas.microsoft.com/office/drawing/2014/main" id="{6B08FC8C-52EF-4BF1-96B3-3C24D434D6C2}"/>
              </a:ext>
            </a:extLst>
          </p:cNvPr>
          <p:cNvSpPr/>
          <p:nvPr/>
        </p:nvSpPr>
        <p:spPr>
          <a:xfrm>
            <a:off x="2461374" y="5019720"/>
            <a:ext cx="1395611" cy="609600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c </a:t>
            </a:r>
            <a:r>
              <a:rPr lang="en-US" sz="1200" dirty="0">
                <a:latin typeface="Consolas" panose="020B0609020204030204" pitchFamily="49" charset="0"/>
                <a:sym typeface="Wingdings" panose="05000000000000000000" pitchFamily="2" charset="2"/>
              </a:rPr>
              <a:t> a + b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</a:p>
        </p:txBody>
      </p:sp>
      <p:pic>
        <p:nvPicPr>
          <p:cNvPr id="8" name="Picture 2" descr="http://www.jegsworks.com/lessons/computerbasics/lesson3/keyboard-white.png">
            <a:extLst>
              <a:ext uri="{FF2B5EF4-FFF2-40B4-BE49-F238E27FC236}">
                <a16:creationId xmlns:a16="http://schemas.microsoft.com/office/drawing/2014/main" id="{D62F66DF-1E4D-4961-A500-E613E8978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10" y="2565896"/>
            <a:ext cx="1108159" cy="35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://t2.gstatic.com/images?q=tbn:ANd9GcS51PGLkp34nPs-LewfkgAfjdZsyder21fNGFoRiZ_A6x7txo3e">
            <a:extLst>
              <a:ext uri="{FF2B5EF4-FFF2-40B4-BE49-F238E27FC236}">
                <a16:creationId xmlns:a16="http://schemas.microsoft.com/office/drawing/2014/main" id="{1D582CE4-942A-4E2B-8410-CB4053B31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65" y="3741286"/>
            <a:ext cx="716248" cy="58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Settings Icon, Gear Icon Vector, Gear Symbol Illustration. for Web Sites  Our Mobile. Stock Illustration - Illustration of business, wheel: 151065188">
            <a:extLst>
              <a:ext uri="{FF2B5EF4-FFF2-40B4-BE49-F238E27FC236}">
                <a16:creationId xmlns:a16="http://schemas.microsoft.com/office/drawing/2014/main" id="{53F8DCC6-0D98-4EEC-91B9-C840D7489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65" y="5038329"/>
            <a:ext cx="728448" cy="72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Marcador de contenido 8">
            <a:extLst>
              <a:ext uri="{FF2B5EF4-FFF2-40B4-BE49-F238E27FC236}">
                <a16:creationId xmlns:a16="http://schemas.microsoft.com/office/drawing/2014/main" id="{A781356A-A35A-48D6-BC89-058C09E8F029}"/>
              </a:ext>
            </a:extLst>
          </p:cNvPr>
          <p:cNvSpPr txBox="1">
            <a:spLocks/>
          </p:cNvSpPr>
          <p:nvPr/>
        </p:nvSpPr>
        <p:spPr>
          <a:xfrm>
            <a:off x="394817" y="6072698"/>
            <a:ext cx="8281640" cy="59666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600" dirty="0"/>
              <a:t>En Python, 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input()</a:t>
            </a:r>
            <a:r>
              <a:rPr lang="es-MX" sz="1600" dirty="0"/>
              <a:t> siempre devuelve texto (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str</a:t>
            </a:r>
            <a:r>
              <a:rPr lang="es-MX" sz="1600" dirty="0"/>
              <a:t>); si el valor se va a usar en una operación numérica, debe convertirse con </a:t>
            </a:r>
            <a:r>
              <a:rPr lang="es-MX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s-MX" sz="1600" dirty="0"/>
              <a:t> o </a:t>
            </a:r>
            <a:r>
              <a:rPr lang="es-MX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float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s-MX" sz="1600" dirty="0"/>
              <a:t> (por ejemplo: 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v1 = </a:t>
            </a:r>
            <a:r>
              <a:rPr lang="es-MX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float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(input(...))</a:t>
            </a:r>
            <a:r>
              <a:rPr lang="es-MX" sz="1600" dirty="0"/>
              <a:t>).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4001209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5786" y="290337"/>
            <a:ext cx="4788024" cy="620463"/>
          </a:xfrm>
        </p:spPr>
        <p:txBody>
          <a:bodyPr/>
          <a:lstStyle/>
          <a:p>
            <a:r>
              <a:rPr lang="es-CO" sz="2800" dirty="0"/>
              <a:t>Expresiones y operadores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255786" y="2401371"/>
            <a:ext cx="8229600" cy="707931"/>
          </a:xfrm>
        </p:spPr>
        <p:txBody>
          <a:bodyPr>
            <a:normAutofit/>
          </a:bodyPr>
          <a:lstStyle/>
          <a:p>
            <a:r>
              <a:rPr lang="es-MX" sz="2000" dirty="0"/>
              <a:t>Una </a:t>
            </a:r>
            <a:r>
              <a:rPr lang="es-MX" sz="2000" b="1" dirty="0"/>
              <a:t>expresión</a:t>
            </a:r>
            <a:r>
              <a:rPr lang="es-MX" sz="2000" dirty="0"/>
              <a:t> es un grupo de operadores que actúan sobre operandos para proporcionar un único resultado.</a:t>
            </a:r>
            <a:endParaRPr lang="es-CO" sz="2000" dirty="0"/>
          </a:p>
          <a:p>
            <a:pPr marL="0" indent="0">
              <a:buNone/>
            </a:pPr>
            <a:endParaRPr lang="es-CO" sz="28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6" name="5 Grupo"/>
          <p:cNvGrpSpPr/>
          <p:nvPr/>
        </p:nvGrpSpPr>
        <p:grpSpPr>
          <a:xfrm>
            <a:off x="743388" y="1221151"/>
            <a:ext cx="3926225" cy="615128"/>
            <a:chOff x="1547664" y="1486376"/>
            <a:chExt cx="3371056" cy="615128"/>
          </a:xfrm>
        </p:grpSpPr>
        <p:sp>
          <p:nvSpPr>
            <p:cNvPr id="16" name="Flowchart: Process 7"/>
            <p:cNvSpPr/>
            <p:nvPr/>
          </p:nvSpPr>
          <p:spPr>
            <a:xfrm>
              <a:off x="1547664" y="1491904"/>
              <a:ext cx="1066800" cy="609600"/>
            </a:xfrm>
            <a:prstGeom prst="flowChartProcess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</a:rPr>
                <a:t>Process</a:t>
              </a:r>
            </a:p>
          </p:txBody>
        </p:sp>
        <p:sp>
          <p:nvSpPr>
            <p:cNvPr id="17" name="Flowchart: Process 7"/>
            <p:cNvSpPr/>
            <p:nvPr/>
          </p:nvSpPr>
          <p:spPr>
            <a:xfrm>
              <a:off x="3851920" y="1486376"/>
              <a:ext cx="1066800" cy="609600"/>
            </a:xfrm>
            <a:prstGeom prst="flowChartProcess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</a:rPr>
                <a:t>z </a:t>
              </a:r>
              <a:r>
                <a:rPr lang="en-US" sz="1400" dirty="0">
                  <a:latin typeface="Consolas" panose="020B0609020204030204" pitchFamily="49" charset="0"/>
                  <a:sym typeface="Wingdings" panose="05000000000000000000" pitchFamily="2" charset="2"/>
                </a:rPr>
                <a:t> x + y</a:t>
              </a:r>
              <a:endParaRPr lang="en-US" sz="1400" dirty="0">
                <a:latin typeface="Consolas" panose="020B0609020204030204" pitchFamily="49" charset="0"/>
              </a:endParaRPr>
            </a:p>
          </p:txBody>
        </p:sp>
        <p:cxnSp>
          <p:nvCxnSpPr>
            <p:cNvPr id="18" name="17 Conector recto de flecha"/>
            <p:cNvCxnSpPr/>
            <p:nvPr/>
          </p:nvCxnSpPr>
          <p:spPr>
            <a:xfrm>
              <a:off x="2771800" y="1791176"/>
              <a:ext cx="871732" cy="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18 Rectángulo"/>
          <p:cNvSpPr/>
          <p:nvPr/>
        </p:nvSpPr>
        <p:spPr>
          <a:xfrm>
            <a:off x="497464" y="4725948"/>
            <a:ext cx="16754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Operadores</a:t>
            </a:r>
            <a:endParaRPr lang="es-CO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3516894" y="3679923"/>
            <a:ext cx="2305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00B050"/>
                </a:solidFill>
                <a:latin typeface="Century Gothic" panose="020B0502020202020204" pitchFamily="34" charset="0"/>
              </a:rPr>
              <a:t>Asignación: </a:t>
            </a:r>
            <a:r>
              <a:rPr lang="es-CO" dirty="0">
                <a:latin typeface="Consolas" panose="020B0609020204030204" pitchFamily="49" charset="0"/>
                <a:sym typeface="Wingdings" panose="05000000000000000000" pitchFamily="2" charset="2"/>
              </a:rPr>
              <a:t> ó =</a:t>
            </a:r>
            <a:endParaRPr lang="es-CO" dirty="0">
              <a:latin typeface="Consolas" panose="020B0609020204030204" pitchFamily="49" charset="0"/>
            </a:endParaRPr>
          </a:p>
        </p:txBody>
      </p:sp>
      <p:sp>
        <p:nvSpPr>
          <p:cNvPr id="21" name="20 Rectángulo"/>
          <p:cNvSpPr/>
          <p:nvPr/>
        </p:nvSpPr>
        <p:spPr>
          <a:xfrm>
            <a:off x="3516894" y="5158183"/>
            <a:ext cx="4270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FF0000"/>
                </a:solidFill>
                <a:latin typeface="Century Gothic" panose="020B0502020202020204" pitchFamily="34" charset="0"/>
              </a:rPr>
              <a:t>Relacionales:</a:t>
            </a:r>
            <a:r>
              <a:rPr lang="es-CO" b="1" dirty="0">
                <a:solidFill>
                  <a:srgbClr val="FF0000"/>
                </a:solidFill>
              </a:rPr>
              <a:t> </a:t>
            </a:r>
            <a:r>
              <a:rPr lang="es-CO" dirty="0">
                <a:latin typeface="Consolas" panose="020B0609020204030204" pitchFamily="49" charset="0"/>
              </a:rPr>
              <a:t>&lt;, &gt;, &lt;=, &gt;=, ==, !=</a:t>
            </a:r>
          </a:p>
        </p:txBody>
      </p:sp>
      <p:sp>
        <p:nvSpPr>
          <p:cNvPr id="3" name="2 Rectángulo"/>
          <p:cNvSpPr/>
          <p:nvPr/>
        </p:nvSpPr>
        <p:spPr>
          <a:xfrm>
            <a:off x="5292080" y="1160039"/>
            <a:ext cx="281573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entury Gothic" panose="020B0502020202020204" pitchFamily="34" charset="0"/>
              </a:rPr>
              <a:t>Expresion: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z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 x + y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Operandos: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z, x, 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entury Gothic" panose="020B0502020202020204" pitchFamily="34" charset="0"/>
                <a:sym typeface="Wingdings" panose="05000000000000000000" pitchFamily="2" charset="2"/>
              </a:rPr>
              <a:t>Operadores: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, +</a:t>
            </a:r>
          </a:p>
        </p:txBody>
      </p:sp>
      <p:sp>
        <p:nvSpPr>
          <p:cNvPr id="25" name="24 Rectángulo"/>
          <p:cNvSpPr/>
          <p:nvPr/>
        </p:nvSpPr>
        <p:spPr>
          <a:xfrm>
            <a:off x="3516894" y="4390711"/>
            <a:ext cx="4733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FF0000"/>
                </a:solidFill>
                <a:latin typeface="Century Gothic" panose="020B0502020202020204" pitchFamily="34" charset="0"/>
              </a:rPr>
              <a:t>Aritméticos: </a:t>
            </a:r>
            <a:r>
              <a:rPr lang="es-CO" dirty="0">
                <a:latin typeface="Consolas" panose="020B0609020204030204" pitchFamily="49" charset="0"/>
              </a:rPr>
              <a:t>^ ó **, /, //, *, %, +, -</a:t>
            </a:r>
          </a:p>
        </p:txBody>
      </p:sp>
      <p:sp>
        <p:nvSpPr>
          <p:cNvPr id="26" name="25 Rectángulo"/>
          <p:cNvSpPr/>
          <p:nvPr/>
        </p:nvSpPr>
        <p:spPr>
          <a:xfrm>
            <a:off x="3516894" y="5853784"/>
            <a:ext cx="2811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FF0000"/>
                </a:solidFill>
                <a:latin typeface="Century Gothic" panose="020B0502020202020204" pitchFamily="34" charset="0"/>
              </a:rPr>
              <a:t>Lógicos: </a:t>
            </a:r>
            <a:r>
              <a:rPr lang="es-CO" dirty="0" err="1">
                <a:latin typeface="Consolas" panose="020B0609020204030204" pitchFamily="49" charset="0"/>
              </a:rPr>
              <a:t>not</a:t>
            </a:r>
            <a:r>
              <a:rPr lang="es-CO" dirty="0">
                <a:latin typeface="Consolas" panose="020B0609020204030204" pitchFamily="49" charset="0"/>
              </a:rPr>
              <a:t>, and, </a:t>
            </a:r>
            <a:r>
              <a:rPr lang="es-CO" dirty="0" err="1">
                <a:latin typeface="Consolas" panose="020B0609020204030204" pitchFamily="49" charset="0"/>
              </a:rPr>
              <a:t>or</a:t>
            </a:r>
            <a:r>
              <a:rPr lang="es-CO" dirty="0">
                <a:latin typeface="Consolas" panose="020B0609020204030204" pitchFamily="49" charset="0"/>
              </a:rPr>
              <a:t> </a:t>
            </a:r>
            <a:endParaRPr lang="es-CO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48D3DC6-81D6-41E1-92B3-2B4A37480FF3}"/>
              </a:ext>
            </a:extLst>
          </p:cNvPr>
          <p:cNvGrpSpPr/>
          <p:nvPr/>
        </p:nvGrpSpPr>
        <p:grpSpPr>
          <a:xfrm>
            <a:off x="2184385" y="3846667"/>
            <a:ext cx="1214855" cy="2185833"/>
            <a:chOff x="2184385" y="3846667"/>
            <a:chExt cx="1214855" cy="2185833"/>
          </a:xfrm>
        </p:grpSpPr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E51AB26C-1F15-4BA5-80E8-10F9DA7F8C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4385" y="4941168"/>
              <a:ext cx="457216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E8E06A43-092B-4E31-B6DF-7F52BD23C7EA}"/>
                </a:ext>
              </a:extLst>
            </p:cNvPr>
            <p:cNvGrpSpPr/>
            <p:nvPr/>
          </p:nvGrpSpPr>
          <p:grpSpPr>
            <a:xfrm>
              <a:off x="2610898" y="3846667"/>
              <a:ext cx="788342" cy="2185833"/>
              <a:chOff x="2610898" y="3846667"/>
              <a:chExt cx="788342" cy="2185833"/>
            </a:xfrm>
          </p:grpSpPr>
          <p:cxnSp>
            <p:nvCxnSpPr>
              <p:cNvPr id="23" name="28 Conector recto de flecha">
                <a:extLst>
                  <a:ext uri="{FF2B5EF4-FFF2-40B4-BE49-F238E27FC236}">
                    <a16:creationId xmlns:a16="http://schemas.microsoft.com/office/drawing/2014/main" id="{2AB624B3-4829-4AC9-965A-9EF28C19C5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0898" y="3861048"/>
                <a:ext cx="788342" cy="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28 Conector recto de flecha">
                <a:extLst>
                  <a:ext uri="{FF2B5EF4-FFF2-40B4-BE49-F238E27FC236}">
                    <a16:creationId xmlns:a16="http://schemas.microsoft.com/office/drawing/2014/main" id="{F1FEDBD8-3C36-4D4D-9278-DA163C0F8A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0898" y="4581128"/>
                <a:ext cx="788342" cy="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1BAB92F2-3E1B-4361-BF2B-2182DFAA4A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3822" y="3846667"/>
                <a:ext cx="7778" cy="21858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28 Conector recto de flecha">
                <a:extLst>
                  <a:ext uri="{FF2B5EF4-FFF2-40B4-BE49-F238E27FC236}">
                    <a16:creationId xmlns:a16="http://schemas.microsoft.com/office/drawing/2014/main" id="{19F9E7E9-8D2D-4979-AEE7-95E46BB0B2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0898" y="5341695"/>
                <a:ext cx="788342" cy="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28 Conector recto de flecha">
                <a:extLst>
                  <a:ext uri="{FF2B5EF4-FFF2-40B4-BE49-F238E27FC236}">
                    <a16:creationId xmlns:a16="http://schemas.microsoft.com/office/drawing/2014/main" id="{53DE8F9C-E4C6-4788-A00D-195FD85A7A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0898" y="6028928"/>
                <a:ext cx="788342" cy="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41660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85700" y="232736"/>
            <a:ext cx="7886700" cy="675984"/>
          </a:xfrm>
        </p:spPr>
        <p:txBody>
          <a:bodyPr/>
          <a:lstStyle/>
          <a:p>
            <a:r>
              <a:rPr lang="es-CO" sz="2800" dirty="0"/>
              <a:t>Operadores aritméticos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227955" y="1052736"/>
            <a:ext cx="8448501" cy="675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/>
              <a:t>Los operadores aritméticos toman los valores numéricos como sus operandos y devuelve un solo valor numérico. </a:t>
            </a:r>
            <a:endParaRPr lang="es-CO" sz="28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22" name="2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202870"/>
              </p:ext>
            </p:extLst>
          </p:nvPr>
        </p:nvGraphicFramePr>
        <p:xfrm>
          <a:off x="738100" y="2137161"/>
          <a:ext cx="7667799" cy="29921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0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1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6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Operador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Nombre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Ejemplo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Resultado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Suma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+ 3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Resta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7 –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Multiplicación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3*5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División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8/5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1.6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//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División entera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8//3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Modulo</a:t>
                      </a:r>
                      <a:r>
                        <a:rPr lang="es-CO" sz="1800" baseline="0" dirty="0"/>
                        <a:t> (Residuo)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15%7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** ó ^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Potencia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2**3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291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03518" y="404664"/>
            <a:ext cx="8229600" cy="809827"/>
          </a:xfrm>
        </p:spPr>
        <p:txBody>
          <a:bodyPr>
            <a:normAutofit/>
          </a:bodyPr>
          <a:lstStyle/>
          <a:p>
            <a:r>
              <a:rPr lang="es-CO" sz="2800" dirty="0"/>
              <a:t>Reglas de prioridad y asociatividad</a:t>
            </a:r>
          </a:p>
        </p:txBody>
      </p:sp>
      <p:sp>
        <p:nvSpPr>
          <p:cNvPr id="7" name="6 Marcador de contenido"/>
          <p:cNvSpPr>
            <a:spLocks noGrp="1"/>
          </p:cNvSpPr>
          <p:nvPr>
            <p:ph idx="1"/>
          </p:nvPr>
        </p:nvSpPr>
        <p:spPr>
          <a:xfrm>
            <a:off x="171449" y="1239745"/>
            <a:ext cx="8577014" cy="648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/>
              <a:t>Cuando concurren en una misma expresión diferentes tipos de operadores se llevan a cabo las reglas de prioridad y asociatividad.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438559"/>
              </p:ext>
            </p:extLst>
          </p:nvPr>
        </p:nvGraphicFramePr>
        <p:xfrm>
          <a:off x="379012" y="2111785"/>
          <a:ext cx="8352929" cy="3876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7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1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Operación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Operador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Tipo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Asociatividad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Prioridad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Parentesis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----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aseline="0" dirty="0"/>
                        <a:t>De adentro hacia afuera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1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Potenciación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^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ó **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Binario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D </a:t>
                      </a:r>
                      <a:r>
                        <a:rPr lang="es-CO" sz="1800" dirty="0">
                          <a:sym typeface="Wingdings" panose="05000000000000000000" pitchFamily="2" charset="2"/>
                        </a:rPr>
                        <a:t> I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2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Identidad</a:t>
                      </a:r>
                    </a:p>
                    <a:p>
                      <a:pPr algn="ctr"/>
                      <a:r>
                        <a:rPr lang="es-CO" sz="1800" dirty="0"/>
                        <a:t>Cambio</a:t>
                      </a:r>
                      <a:r>
                        <a:rPr lang="es-CO" sz="1800" baseline="0" dirty="0"/>
                        <a:t> de signo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+</a:t>
                      </a:r>
                    </a:p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Unitario</a:t>
                      </a:r>
                    </a:p>
                    <a:p>
                      <a:pPr algn="ctr"/>
                      <a:r>
                        <a:rPr lang="es-CO" sz="1800" dirty="0"/>
                        <a:t>Unitario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----</a:t>
                      </a:r>
                    </a:p>
                    <a:p>
                      <a:pPr algn="ctr"/>
                      <a:r>
                        <a:rPr lang="es-CO" sz="1800" dirty="0"/>
                        <a:t>----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3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Multiplicación</a:t>
                      </a:r>
                    </a:p>
                    <a:p>
                      <a:pPr algn="ctr"/>
                      <a:r>
                        <a:rPr lang="es-CO" sz="1800" dirty="0"/>
                        <a:t>División</a:t>
                      </a:r>
                    </a:p>
                    <a:p>
                      <a:pPr algn="ctr"/>
                      <a:r>
                        <a:rPr lang="es-CO" sz="1800" dirty="0"/>
                        <a:t>Módulo (residuo)</a:t>
                      </a:r>
                    </a:p>
                    <a:p>
                      <a:pPr algn="ctr"/>
                      <a:r>
                        <a:rPr lang="es-CO" sz="1800" dirty="0"/>
                        <a:t>División</a:t>
                      </a:r>
                      <a:r>
                        <a:rPr lang="es-CO" sz="1800" baseline="0" dirty="0"/>
                        <a:t> entera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*</a:t>
                      </a:r>
                    </a:p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/</a:t>
                      </a:r>
                    </a:p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%</a:t>
                      </a:r>
                    </a:p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//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Binario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Binario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Binario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Binario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I </a:t>
                      </a:r>
                      <a:r>
                        <a:rPr lang="es-CO" sz="1800" dirty="0">
                          <a:sym typeface="Wingdings" panose="05000000000000000000" pitchFamily="2" charset="2"/>
                        </a:rPr>
                        <a:t> D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I </a:t>
                      </a:r>
                      <a:r>
                        <a:rPr lang="es-CO" sz="1800" dirty="0">
                          <a:sym typeface="Wingdings" panose="05000000000000000000" pitchFamily="2" charset="2"/>
                        </a:rPr>
                        <a:t> D</a:t>
                      </a:r>
                      <a:endParaRPr lang="es-CO" sz="18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I </a:t>
                      </a:r>
                      <a:r>
                        <a:rPr lang="es-CO" sz="1800" dirty="0">
                          <a:sym typeface="Wingdings" panose="05000000000000000000" pitchFamily="2" charset="2"/>
                        </a:rPr>
                        <a:t> D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I </a:t>
                      </a:r>
                      <a:r>
                        <a:rPr lang="es-CO" sz="1800" dirty="0">
                          <a:sym typeface="Wingdings" panose="05000000000000000000" pitchFamily="2" charset="2"/>
                        </a:rPr>
                        <a:t> D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4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Suma</a:t>
                      </a:r>
                    </a:p>
                    <a:p>
                      <a:pPr algn="ctr"/>
                      <a:r>
                        <a:rPr lang="es-CO" sz="1800" dirty="0"/>
                        <a:t>Resta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+</a:t>
                      </a:r>
                    </a:p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Binario</a:t>
                      </a:r>
                    </a:p>
                    <a:p>
                      <a:pPr algn="ctr"/>
                      <a:r>
                        <a:rPr lang="es-CO" sz="1800" dirty="0"/>
                        <a:t>Binario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I </a:t>
                      </a:r>
                      <a:r>
                        <a:rPr lang="es-CO" sz="1800" dirty="0">
                          <a:sym typeface="Wingdings" panose="05000000000000000000" pitchFamily="2" charset="2"/>
                        </a:rPr>
                        <a:t> D</a:t>
                      </a:r>
                      <a:endParaRPr lang="es-CO" sz="18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I </a:t>
                      </a:r>
                      <a:r>
                        <a:rPr lang="es-CO" sz="1800" dirty="0">
                          <a:sym typeface="Wingdings" panose="05000000000000000000" pitchFamily="2" charset="2"/>
                        </a:rPr>
                        <a:t> D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5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627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224114"/>
            <a:ext cx="8229600" cy="841040"/>
          </a:xfrm>
        </p:spPr>
        <p:txBody>
          <a:bodyPr>
            <a:normAutofit/>
          </a:bodyPr>
          <a:lstStyle/>
          <a:p>
            <a:r>
              <a:rPr lang="es-CO" dirty="0"/>
              <a:t>Reglas de prioridad y asociatividad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239363" y="1065154"/>
            <a:ext cx="8229600" cy="1309966"/>
          </a:xfrm>
        </p:spPr>
        <p:txBody>
          <a:bodyPr>
            <a:normAutofit lnSpcReduction="10000"/>
          </a:bodyPr>
          <a:lstStyle/>
          <a:p>
            <a:r>
              <a:rPr lang="es-CO" sz="2000" dirty="0"/>
              <a:t>Al utilizar dos o más operadores en una sentencia, algunos operadores tienen precedencia sobre otros operadores. </a:t>
            </a:r>
          </a:p>
          <a:p>
            <a:r>
              <a:rPr lang="es-CO" sz="2000" dirty="0"/>
              <a:t>La </a:t>
            </a:r>
            <a:r>
              <a:rPr lang="es-CO" sz="2000" b="1" dirty="0"/>
              <a:t>precedencia</a:t>
            </a:r>
            <a:r>
              <a:rPr lang="es-CO" sz="2000" dirty="0"/>
              <a:t> y </a:t>
            </a:r>
            <a:r>
              <a:rPr lang="es-CO" sz="2000" b="1" dirty="0"/>
              <a:t>asociatividad</a:t>
            </a:r>
            <a:r>
              <a:rPr lang="es-CO" sz="2000" dirty="0"/>
              <a:t> de los operadores determina el orden en que se procesan los operadores. 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6 Rectángulo"/>
          <p:cNvSpPr/>
          <p:nvPr/>
        </p:nvSpPr>
        <p:spPr>
          <a:xfrm>
            <a:off x="251520" y="2508274"/>
            <a:ext cx="537589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400" b="1" dirty="0"/>
              <a:t>Ejemplos</a:t>
            </a:r>
            <a:r>
              <a:rPr lang="es-CO" sz="2400" dirty="0"/>
              <a:t>:</a:t>
            </a:r>
          </a:p>
          <a:p>
            <a:r>
              <a:rPr lang="es-CO" sz="2000" dirty="0"/>
              <a:t>Cual es el resultado de las siguientes operaciones.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CuadroTexto"/>
              <p:cNvSpPr txBox="1"/>
              <p:nvPr/>
            </p:nvSpPr>
            <p:spPr>
              <a:xfrm>
                <a:off x="281834" y="3274561"/>
                <a:ext cx="2509020" cy="2585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𝑎</m:t>
                      </m:r>
                      <m:r>
                        <a:rPr lang="es-MX" b="1" i="1" smtClean="0">
                          <a:latin typeface="Cambria Math"/>
                        </a:rPr>
                        <m:t>.  </m:t>
                      </m:r>
                      <m:r>
                        <a:rPr lang="es-MX" b="0" i="1" smtClean="0">
                          <a:latin typeface="Cambria Math"/>
                        </a:rPr>
                        <m:t>2∗3 −5+6</m:t>
                      </m:r>
                    </m:oMath>
                  </m:oMathPara>
                </a14:m>
                <a:endParaRPr lang="es-MX" b="0" dirty="0"/>
              </a:p>
              <a:p>
                <a:pPr marL="342900" indent="-342900">
                  <a:buAutoNum type="alphaLcPeriod" startAt="2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/>
                      </a:rPr>
                      <m:t>2∗</m:t>
                    </m:r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/>
                          </a:rPr>
                          <m:t>3 −5</m:t>
                        </m:r>
                      </m:e>
                    </m:d>
                    <m:r>
                      <a:rPr lang="es-MX" i="1">
                        <a:latin typeface="Cambria Math"/>
                      </a:rPr>
                      <m:t>+6</m:t>
                    </m:r>
                  </m:oMath>
                </a14:m>
                <a:endParaRPr lang="es-MX" dirty="0"/>
              </a:p>
              <a:p>
                <a:pPr marL="342900" indent="-342900">
                  <a:buFontTx/>
                  <a:buAutoNum type="alphaLcPeriod" startAt="2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/>
                      </a:rPr>
                      <m:t>2∗3 −5+6/</m:t>
                    </m:r>
                  </m:oMath>
                </a14:m>
                <a:r>
                  <a:rPr lang="es-CO" dirty="0"/>
                  <a:t>4</a:t>
                </a:r>
              </a:p>
              <a:p>
                <a:pPr marL="342900" indent="-342900">
                  <a:buFontTx/>
                  <a:buAutoNum type="alphaLcPeriod" startAt="2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/>
                      </a:rPr>
                      <m:t>2∗3 −5∗∗2+1</m:t>
                    </m:r>
                  </m:oMath>
                </a14:m>
                <a:endParaRPr lang="es-MX" dirty="0"/>
              </a:p>
              <a:p>
                <a:pPr marL="342900" indent="-342900">
                  <a:buFontTx/>
                  <a:buAutoNum type="alphaLcPeriod" startAt="2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/>
                      </a:rPr>
                      <m:t>2∗3 −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5∗∗(2+1)</m:t>
                    </m:r>
                  </m:oMath>
                </a14:m>
                <a:endParaRPr lang="es-MX" dirty="0"/>
              </a:p>
              <a:p>
                <a:pPr marL="342900" indent="-342900">
                  <a:buFontTx/>
                  <a:buAutoNum type="alphaLcPeriod" startAt="2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/>
                      </a:rPr>
                      <m:t>2∗∗3∗∗2</m:t>
                    </m:r>
                  </m:oMath>
                </a14:m>
                <a:endParaRPr lang="es-CO" dirty="0"/>
              </a:p>
              <a:p>
                <a:pPr marL="342900" indent="-342900">
                  <a:buFontTx/>
                  <a:buAutoNum type="alphaLcPeriod" startAt="2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/>
                      </a:rPr>
                      <m:t>(2∗∗3)∗∗2</m:t>
                    </m:r>
                  </m:oMath>
                </a14:m>
                <a:endParaRPr lang="es-CO" dirty="0"/>
              </a:p>
              <a:p>
                <a:pPr marL="342900" indent="-342900">
                  <a:buFontTx/>
                  <a:buAutoNum type="alphaLcPeriod" startAt="2"/>
                </a:pPr>
                <a14:m>
                  <m:oMath xmlns:m="http://schemas.openxmlformats.org/officeDocument/2006/math">
                    <m:r>
                      <a:rPr lang="es-MX" i="1" smtClean="0">
                        <a:latin typeface="Cambria Math"/>
                      </a:rPr>
                      <m:t>2+3∗∗2∗5</m:t>
                    </m:r>
                  </m:oMath>
                </a14:m>
                <a:endParaRPr lang="es-CO" dirty="0"/>
              </a:p>
              <a:p>
                <a:pPr marL="342900" indent="-342900">
                  <a:buFontTx/>
                  <a:buAutoNum type="alphaLcPeriod" startAt="2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/>
                      </a:rPr>
                      <m:t>2+((3∗∗2)∗5)</m:t>
                    </m:r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34" y="3274561"/>
                <a:ext cx="2509020" cy="2585323"/>
              </a:xfrm>
              <a:prstGeom prst="rect">
                <a:avLst/>
              </a:prstGeom>
              <a:blipFill>
                <a:blip r:embed="rId2"/>
                <a:stretch>
                  <a:fillRect l="-1699" b="-212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9053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75671" y="264184"/>
            <a:ext cx="8229600" cy="552438"/>
          </a:xfrm>
        </p:spPr>
        <p:txBody>
          <a:bodyPr>
            <a:normAutofit/>
          </a:bodyPr>
          <a:lstStyle/>
          <a:p>
            <a:r>
              <a:rPr lang="es-CO" sz="2800" dirty="0"/>
              <a:t>Reglas de prioridad y asociatividad</a:t>
            </a:r>
          </a:p>
        </p:txBody>
      </p:sp>
      <p:sp>
        <p:nvSpPr>
          <p:cNvPr id="7" name="6 Rectángulo"/>
          <p:cNvSpPr/>
          <p:nvPr/>
        </p:nvSpPr>
        <p:spPr>
          <a:xfrm>
            <a:off x="166660" y="849418"/>
            <a:ext cx="28071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400" b="1" dirty="0"/>
              <a:t>Ejemplos – Solución</a:t>
            </a:r>
            <a:r>
              <a:rPr lang="es-CO" sz="2400" dirty="0"/>
              <a:t>:</a:t>
            </a:r>
          </a:p>
        </p:txBody>
      </p:sp>
      <p:grpSp>
        <p:nvGrpSpPr>
          <p:cNvPr id="23" name="22 Grupo"/>
          <p:cNvGrpSpPr/>
          <p:nvPr/>
        </p:nvGrpSpPr>
        <p:grpSpPr>
          <a:xfrm>
            <a:off x="222690" y="1650250"/>
            <a:ext cx="2004395" cy="1200329"/>
            <a:chOff x="356220" y="1988840"/>
            <a:chExt cx="2004395" cy="120032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2 CuadroTexto"/>
                <p:cNvSpPr txBox="1"/>
                <p:nvPr/>
              </p:nvSpPr>
              <p:spPr>
                <a:xfrm>
                  <a:off x="762100" y="1988840"/>
                  <a:ext cx="1598515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2∗3 </m:t>
                        </m:r>
                        <m:r>
                          <a:rPr lang="es-MX" b="0" i="1" smtClean="0">
                            <a:latin typeface="Cambria Math"/>
                          </a:rPr>
                          <m:t>−5+6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−5</m:t>
                        </m:r>
                        <m:r>
                          <a:rPr lang="es-MX" b="0" i="1">
                            <a:latin typeface="Cambria Math"/>
                          </a:rPr>
                          <m:t>+6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+6</m:t>
                        </m:r>
                      </m:oMath>
                    </m:oMathPara>
                  </a14:m>
                  <a:endParaRPr lang="es-MX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s-MX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3" name="2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1598515" cy="120032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21 Rectángulo"/>
            <p:cNvSpPr/>
            <p:nvPr/>
          </p:nvSpPr>
          <p:spPr>
            <a:xfrm>
              <a:off x="356220" y="1988840"/>
              <a:ext cx="437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onsolas" panose="020B0609020204030204" pitchFamily="49" charset="0"/>
                </a:rPr>
                <a:t>a.</a:t>
              </a:r>
            </a:p>
          </p:txBody>
        </p:sp>
      </p:grpSp>
      <p:grpSp>
        <p:nvGrpSpPr>
          <p:cNvPr id="24" name="23 Grupo"/>
          <p:cNvGrpSpPr/>
          <p:nvPr/>
        </p:nvGrpSpPr>
        <p:grpSpPr>
          <a:xfrm>
            <a:off x="2773303" y="1637184"/>
            <a:ext cx="2195985" cy="1200329"/>
            <a:chOff x="356220" y="1988840"/>
            <a:chExt cx="2195985" cy="1200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24 CuadroTexto"/>
                <p:cNvSpPr txBox="1"/>
                <p:nvPr/>
              </p:nvSpPr>
              <p:spPr>
                <a:xfrm>
                  <a:off x="762100" y="1988840"/>
                  <a:ext cx="1790105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/>
                          </a:rPr>
                          <m:t>2∗</m:t>
                        </m:r>
                        <m:d>
                          <m:dPr>
                            <m:ctrlPr>
                              <a:rPr lang="es-MX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3 −5</m:t>
                            </m:r>
                          </m:e>
                        </m:d>
                        <m:r>
                          <a:rPr lang="es-MX" b="0" i="1">
                            <a:latin typeface="Cambria Math"/>
                          </a:rPr>
                          <m:t>+6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2∗</m:t>
                        </m:r>
                        <m:d>
                          <m:dPr>
                            <m:ctrlPr>
                              <a:rPr lang="es-MX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−2</m:t>
                            </m:r>
                          </m:e>
                        </m:d>
                        <m:r>
                          <a:rPr lang="es-MX" b="0" i="1">
                            <a:latin typeface="Cambria Math"/>
                          </a:rPr>
                          <m:t>+6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−4+6</m:t>
                        </m:r>
                      </m:oMath>
                    </m:oMathPara>
                  </a14:m>
                  <a:endParaRPr lang="es-MX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2</m:t>
                        </m:r>
                      </m:oMath>
                    </m:oMathPara>
                  </a14:m>
                  <a:endParaRPr lang="es-MX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24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1790105" cy="120032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25 Rectángulo"/>
            <p:cNvSpPr/>
            <p:nvPr/>
          </p:nvSpPr>
          <p:spPr>
            <a:xfrm>
              <a:off x="356220" y="1988840"/>
              <a:ext cx="4010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b.</a:t>
              </a:r>
            </a:p>
          </p:txBody>
        </p:sp>
      </p:grpSp>
      <p:grpSp>
        <p:nvGrpSpPr>
          <p:cNvPr id="27" name="26 Grupo"/>
          <p:cNvGrpSpPr/>
          <p:nvPr/>
        </p:nvGrpSpPr>
        <p:grpSpPr>
          <a:xfrm>
            <a:off x="5838836" y="1628800"/>
            <a:ext cx="2246448" cy="1477328"/>
            <a:chOff x="356220" y="1988840"/>
            <a:chExt cx="2246448" cy="14773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27 CuadroTexto"/>
                <p:cNvSpPr txBox="1"/>
                <p:nvPr/>
              </p:nvSpPr>
              <p:spPr>
                <a:xfrm>
                  <a:off x="762100" y="1988840"/>
                  <a:ext cx="1840568" cy="14773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2∗3 </m:t>
                        </m:r>
                        <m:r>
                          <a:rPr lang="es-MX" b="0" i="1" smtClean="0">
                            <a:latin typeface="Cambria Math"/>
                          </a:rPr>
                          <m:t>−5+6/4</m:t>
                        </m:r>
                      </m:oMath>
                    </m:oMathPara>
                  </a14:m>
                  <a:endParaRPr lang="es-CO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/>
                          </a:rPr>
                          <m:t>6</m:t>
                        </m:r>
                        <m:r>
                          <a:rPr lang="es-MX" b="0" i="1">
                            <a:latin typeface="Cambria Math"/>
                          </a:rPr>
                          <m:t> −5+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6/4</m:t>
                        </m:r>
                      </m:oMath>
                    </m:oMathPara>
                  </a14:m>
                  <a:endParaRPr lang="es-CO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−5</m:t>
                        </m:r>
                        <m:r>
                          <a:rPr lang="es-MX" b="0" i="1">
                            <a:latin typeface="Cambria Math"/>
                          </a:rPr>
                          <m:t>+</m:t>
                        </m:r>
                        <m:r>
                          <a:rPr lang="es-MX" b="0" i="1" smtClean="0">
                            <a:latin typeface="Cambria Math"/>
                          </a:rPr>
                          <m:t>1.5</m:t>
                        </m:r>
                      </m:oMath>
                    </m:oMathPara>
                  </a14:m>
                  <a:endParaRPr lang="es-CO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+1.5</m:t>
                        </m:r>
                      </m:oMath>
                    </m:oMathPara>
                  </a14:m>
                  <a:endParaRPr lang="es-CO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s-MX" b="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.5</m:t>
                        </m:r>
                      </m:oMath>
                    </m:oMathPara>
                  </a14:m>
                  <a:endParaRPr lang="es-CO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27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1840568" cy="147732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28 Rectángulo"/>
            <p:cNvSpPr/>
            <p:nvPr/>
          </p:nvSpPr>
          <p:spPr>
            <a:xfrm>
              <a:off x="356220" y="1988840"/>
              <a:ext cx="3962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c.</a:t>
              </a:r>
            </a:p>
          </p:txBody>
        </p:sp>
      </p:grpSp>
      <p:grpSp>
        <p:nvGrpSpPr>
          <p:cNvPr id="30" name="29 Grupo"/>
          <p:cNvGrpSpPr/>
          <p:nvPr/>
        </p:nvGrpSpPr>
        <p:grpSpPr>
          <a:xfrm>
            <a:off x="193966" y="3106128"/>
            <a:ext cx="2477281" cy="1477328"/>
            <a:chOff x="356220" y="1988840"/>
            <a:chExt cx="2477281" cy="14773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30 CuadroTexto"/>
                <p:cNvSpPr txBox="1"/>
                <p:nvPr/>
              </p:nvSpPr>
              <p:spPr>
                <a:xfrm>
                  <a:off x="762100" y="1988840"/>
                  <a:ext cx="2071401" cy="14773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/>
                          </a:rPr>
                          <m:t>2∗3 −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5∗∗2</m:t>
                        </m:r>
                        <m:r>
                          <a:rPr lang="es-MX" b="0" i="1" smtClean="0">
                            <a:latin typeface="Cambria Math"/>
                          </a:rPr>
                          <m:t>+1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2∗3 </m:t>
                        </m:r>
                        <m:r>
                          <a:rPr lang="es-MX" b="0" i="1">
                            <a:latin typeface="Cambria Math"/>
                          </a:rPr>
                          <m:t>−</m:t>
                        </m:r>
                        <m:r>
                          <a:rPr lang="es-MX" b="0" i="1" smtClean="0">
                            <a:latin typeface="Cambria Math"/>
                          </a:rPr>
                          <m:t>25</m:t>
                        </m:r>
                        <m:r>
                          <a:rPr lang="es-MX" b="0" i="1">
                            <a:latin typeface="Cambria Math"/>
                          </a:rPr>
                          <m:t>+1</m:t>
                        </m:r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−25</m:t>
                        </m:r>
                        <m:r>
                          <a:rPr lang="es-MX" b="0" i="1">
                            <a:latin typeface="Cambria Math"/>
                          </a:rPr>
                          <m:t>+1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−19</m:t>
                        </m:r>
                        <m:r>
                          <a:rPr lang="es-MX" b="0" i="1">
                            <a:latin typeface="Cambria Math"/>
                          </a:rPr>
                          <m:t>+1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−18</m:t>
                        </m:r>
                      </m:oMath>
                    </m:oMathPara>
                  </a14:m>
                  <a:endParaRPr lang="es-MX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30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2071401" cy="147732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31 Rectángulo"/>
            <p:cNvSpPr/>
            <p:nvPr/>
          </p:nvSpPr>
          <p:spPr>
            <a:xfrm>
              <a:off x="356220" y="1988840"/>
              <a:ext cx="4010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d.</a:t>
              </a:r>
            </a:p>
          </p:txBody>
        </p:sp>
      </p:grpSp>
      <p:grpSp>
        <p:nvGrpSpPr>
          <p:cNvPr id="33" name="32 Grupo"/>
          <p:cNvGrpSpPr/>
          <p:nvPr/>
        </p:nvGrpSpPr>
        <p:grpSpPr>
          <a:xfrm>
            <a:off x="2792945" y="3106128"/>
            <a:ext cx="2470869" cy="1477328"/>
            <a:chOff x="356220" y="1988840"/>
            <a:chExt cx="2470869" cy="14773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33 CuadroTexto"/>
                <p:cNvSpPr txBox="1"/>
                <p:nvPr/>
              </p:nvSpPr>
              <p:spPr>
                <a:xfrm>
                  <a:off x="762100" y="1988840"/>
                  <a:ext cx="2064989" cy="14773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/>
                          </a:rPr>
                          <m:t>2∗3 −5^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(2+1)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>
                            <a:latin typeface="Cambria Math"/>
                          </a:rPr>
                          <m:t>2∗3 −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5^3</m:t>
                        </m:r>
                      </m:oMath>
                    </m:oMathPara>
                  </a14:m>
                  <a:endParaRPr lang="es-MX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2∗3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−</m:t>
                        </m:r>
                        <m:r>
                          <a:rPr lang="es-MX" b="0" i="1" smtClean="0">
                            <a:latin typeface="Cambria Math"/>
                          </a:rPr>
                          <m:t>12</m:t>
                        </m:r>
                        <m:r>
                          <a:rPr lang="es-MX" b="0" i="1">
                            <a:latin typeface="Cambria Math"/>
                          </a:rPr>
                          <m:t>5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−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125</m:t>
                        </m:r>
                      </m:oMath>
                    </m:oMathPara>
                  </a14:m>
                  <a:endParaRPr lang="es-MX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−119</m:t>
                        </m:r>
                      </m:oMath>
                    </m:oMathPara>
                  </a14:m>
                  <a:endParaRPr lang="es-MX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33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2064989" cy="147732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34 Rectángulo"/>
            <p:cNvSpPr/>
            <p:nvPr/>
          </p:nvSpPr>
          <p:spPr>
            <a:xfrm>
              <a:off x="356220" y="1988840"/>
              <a:ext cx="3962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e.</a:t>
              </a:r>
            </a:p>
          </p:txBody>
        </p:sp>
      </p:grpSp>
      <p:grpSp>
        <p:nvGrpSpPr>
          <p:cNvPr id="36" name="35 Grupo"/>
          <p:cNvGrpSpPr/>
          <p:nvPr/>
        </p:nvGrpSpPr>
        <p:grpSpPr>
          <a:xfrm>
            <a:off x="5844852" y="3250815"/>
            <a:ext cx="1712648" cy="923330"/>
            <a:chOff x="356220" y="1988840"/>
            <a:chExt cx="1712648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36 CuadroTexto"/>
                <p:cNvSpPr txBox="1"/>
                <p:nvPr/>
              </p:nvSpPr>
              <p:spPr>
                <a:xfrm>
                  <a:off x="762100" y="1988840"/>
                  <a:ext cx="1306768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/>
                          </a:rPr>
                          <m:t>2∗∗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3∗∗2</m:t>
                        </m:r>
                      </m:oMath>
                    </m:oMathPara>
                  </a14:m>
                  <a:endParaRPr lang="es-CO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2∗∗9</m:t>
                        </m:r>
                      </m:oMath>
                    </m:oMathPara>
                  </a14:m>
                  <a:endParaRPr lang="es-CO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512</m:t>
                        </m:r>
                      </m:oMath>
                    </m:oMathPara>
                  </a14:m>
                  <a:endParaRPr lang="es-CO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36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1306768" cy="92333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37 Rectángulo"/>
            <p:cNvSpPr/>
            <p:nvPr/>
          </p:nvSpPr>
          <p:spPr>
            <a:xfrm>
              <a:off x="356220" y="1988840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/>
                <a:t>f.</a:t>
              </a:r>
            </a:p>
          </p:txBody>
        </p:sp>
      </p:grpSp>
      <p:grpSp>
        <p:nvGrpSpPr>
          <p:cNvPr id="39" name="22 Grupo">
            <a:extLst>
              <a:ext uri="{FF2B5EF4-FFF2-40B4-BE49-F238E27FC236}">
                <a16:creationId xmlns:a16="http://schemas.microsoft.com/office/drawing/2014/main" id="{66C9167C-F0B5-4404-BE9D-0E1E3D4F4F24}"/>
              </a:ext>
            </a:extLst>
          </p:cNvPr>
          <p:cNvGrpSpPr/>
          <p:nvPr/>
        </p:nvGrpSpPr>
        <p:grpSpPr>
          <a:xfrm>
            <a:off x="212694" y="4786398"/>
            <a:ext cx="1904239" cy="923330"/>
            <a:chOff x="356220" y="1988840"/>
            <a:chExt cx="1904239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2 CuadroTexto">
                  <a:extLst>
                    <a:ext uri="{FF2B5EF4-FFF2-40B4-BE49-F238E27FC236}">
                      <a16:creationId xmlns:a16="http://schemas.microsoft.com/office/drawing/2014/main" id="{44C73443-7011-440C-9C32-624162D265FE}"/>
                    </a:ext>
                  </a:extLst>
                </p:cNvPr>
                <p:cNvSpPr txBox="1"/>
                <p:nvPr/>
              </p:nvSpPr>
              <p:spPr>
                <a:xfrm>
                  <a:off x="762100" y="1988840"/>
                  <a:ext cx="149835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2∗∗3</m:t>
                            </m:r>
                          </m:e>
                        </m:d>
                        <m:r>
                          <a:rPr lang="es-MX" b="0" i="1">
                            <a:latin typeface="Cambria Math"/>
                          </a:rPr>
                          <m:t>∗∗2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8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∗∗2</m:t>
                        </m:r>
                      </m:oMath>
                    </m:oMathPara>
                  </a14:m>
                  <a:endParaRPr lang="es-MX" i="1" dirty="0">
                    <a:solidFill>
                      <a:srgbClr val="FF0000"/>
                    </a:solidFill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64</m:t>
                        </m:r>
                      </m:oMath>
                    </m:oMathPara>
                  </a14:m>
                  <a:endParaRPr lang="es-CO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2 CuadroTexto">
                  <a:extLst>
                    <a:ext uri="{FF2B5EF4-FFF2-40B4-BE49-F238E27FC236}">
                      <a16:creationId xmlns:a16="http://schemas.microsoft.com/office/drawing/2014/main" id="{44C73443-7011-440C-9C32-624162D265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1498359" cy="92333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21 Rectángulo">
              <a:extLst>
                <a:ext uri="{FF2B5EF4-FFF2-40B4-BE49-F238E27FC236}">
                  <a16:creationId xmlns:a16="http://schemas.microsoft.com/office/drawing/2014/main" id="{67A309B3-41E7-45F3-A03E-11EAE231B844}"/>
                </a:ext>
              </a:extLst>
            </p:cNvPr>
            <p:cNvSpPr/>
            <p:nvPr/>
          </p:nvSpPr>
          <p:spPr>
            <a:xfrm>
              <a:off x="356220" y="1988840"/>
              <a:ext cx="4010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g.</a:t>
              </a:r>
            </a:p>
          </p:txBody>
        </p:sp>
      </p:grpSp>
      <p:grpSp>
        <p:nvGrpSpPr>
          <p:cNvPr id="42" name="23 Grupo">
            <a:extLst>
              <a:ext uri="{FF2B5EF4-FFF2-40B4-BE49-F238E27FC236}">
                <a16:creationId xmlns:a16="http://schemas.microsoft.com/office/drawing/2014/main" id="{7116AE70-D335-4605-889F-40790EF64282}"/>
              </a:ext>
            </a:extLst>
          </p:cNvPr>
          <p:cNvGrpSpPr/>
          <p:nvPr/>
        </p:nvGrpSpPr>
        <p:grpSpPr>
          <a:xfrm>
            <a:off x="2870564" y="4786398"/>
            <a:ext cx="2004395" cy="1200329"/>
            <a:chOff x="356220" y="1988840"/>
            <a:chExt cx="2004395" cy="1200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24 CuadroTexto">
                  <a:extLst>
                    <a:ext uri="{FF2B5EF4-FFF2-40B4-BE49-F238E27FC236}">
                      <a16:creationId xmlns:a16="http://schemas.microsoft.com/office/drawing/2014/main" id="{443907B5-646E-406D-956C-771EFE5C92EC}"/>
                    </a:ext>
                  </a:extLst>
                </p:cNvPr>
                <p:cNvSpPr txBox="1"/>
                <p:nvPr/>
              </p:nvSpPr>
              <p:spPr>
                <a:xfrm>
                  <a:off x="762100" y="1988840"/>
                  <a:ext cx="1598515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/>
                          </a:rPr>
                          <m:t>2+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3∗∗2</m:t>
                        </m:r>
                        <m:r>
                          <a:rPr lang="es-MX" b="0" i="1" smtClean="0">
                            <a:latin typeface="Cambria Math"/>
                          </a:rPr>
                          <m:t>∗5</m:t>
                        </m:r>
                      </m:oMath>
                    </m:oMathPara>
                  </a14:m>
                  <a:endParaRPr lang="es-CO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>
                            <a:latin typeface="Cambria Math"/>
                          </a:rPr>
                          <m:t>2+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9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∗5</m:t>
                        </m:r>
                      </m:oMath>
                    </m:oMathPara>
                  </a14:m>
                  <a:endParaRPr lang="es-CO" dirty="0">
                    <a:solidFill>
                      <a:srgbClr val="00B05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2+45</m:t>
                        </m:r>
                      </m:oMath>
                    </m:oMathPara>
                  </a14:m>
                  <a:endParaRPr lang="es-CO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47</m:t>
                        </m:r>
                      </m:oMath>
                    </m:oMathPara>
                  </a14:m>
                  <a:endParaRPr lang="es-CO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24 CuadroTexto">
                  <a:extLst>
                    <a:ext uri="{FF2B5EF4-FFF2-40B4-BE49-F238E27FC236}">
                      <a16:creationId xmlns:a16="http://schemas.microsoft.com/office/drawing/2014/main" id="{443907B5-646E-406D-956C-771EFE5C92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1598515" cy="120032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25 Rectángulo">
              <a:extLst>
                <a:ext uri="{FF2B5EF4-FFF2-40B4-BE49-F238E27FC236}">
                  <a16:creationId xmlns:a16="http://schemas.microsoft.com/office/drawing/2014/main" id="{7D7B5E03-CAFB-485A-B8EB-A02844A34656}"/>
                </a:ext>
              </a:extLst>
            </p:cNvPr>
            <p:cNvSpPr/>
            <p:nvPr/>
          </p:nvSpPr>
          <p:spPr>
            <a:xfrm>
              <a:off x="356220" y="1988840"/>
              <a:ext cx="3866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h.</a:t>
              </a:r>
            </a:p>
          </p:txBody>
        </p:sp>
      </p:grpSp>
      <p:grpSp>
        <p:nvGrpSpPr>
          <p:cNvPr id="45" name="26 Grupo">
            <a:extLst>
              <a:ext uri="{FF2B5EF4-FFF2-40B4-BE49-F238E27FC236}">
                <a16:creationId xmlns:a16="http://schemas.microsoft.com/office/drawing/2014/main" id="{D3AE04FA-E79B-4704-83B7-DE68FAB7B9BA}"/>
              </a:ext>
            </a:extLst>
          </p:cNvPr>
          <p:cNvGrpSpPr/>
          <p:nvPr/>
        </p:nvGrpSpPr>
        <p:grpSpPr>
          <a:xfrm>
            <a:off x="5838836" y="4724138"/>
            <a:ext cx="2389115" cy="1200329"/>
            <a:chOff x="356220" y="1988840"/>
            <a:chExt cx="2389115" cy="1200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27 CuadroTexto">
                  <a:extLst>
                    <a:ext uri="{FF2B5EF4-FFF2-40B4-BE49-F238E27FC236}">
                      <a16:creationId xmlns:a16="http://schemas.microsoft.com/office/drawing/2014/main" id="{CE3F1EC8-B9F0-4FB8-8ED0-4FB7E5EBA1B9}"/>
                    </a:ext>
                  </a:extLst>
                </p:cNvPr>
                <p:cNvSpPr txBox="1"/>
                <p:nvPr/>
              </p:nvSpPr>
              <p:spPr>
                <a:xfrm>
                  <a:off x="762100" y="1988840"/>
                  <a:ext cx="1983235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/>
                          </a:rPr>
                          <m:t>2+(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(3∗∗2)</m:t>
                        </m:r>
                        <m:r>
                          <a:rPr lang="es-MX" b="0" i="1" smtClean="0">
                            <a:latin typeface="Cambria Math"/>
                          </a:rPr>
                          <m:t>∗5)</m:t>
                        </m:r>
                      </m:oMath>
                    </m:oMathPara>
                  </a14:m>
                  <a:endParaRPr lang="es-CO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>
                            <a:latin typeface="Cambria Math"/>
                          </a:rPr>
                          <m:t>2+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(9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∗5)</m:t>
                        </m:r>
                      </m:oMath>
                    </m:oMathPara>
                  </a14:m>
                  <a:endParaRPr lang="es-CO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2+45</m:t>
                        </m:r>
                      </m:oMath>
                    </m:oMathPara>
                  </a14:m>
                  <a:endParaRPr lang="es-MX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47</m:t>
                        </m:r>
                      </m:oMath>
                    </m:oMathPara>
                  </a14:m>
                  <a:endParaRPr lang="es-MX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27 CuadroTexto">
                  <a:extLst>
                    <a:ext uri="{FF2B5EF4-FFF2-40B4-BE49-F238E27FC236}">
                      <a16:creationId xmlns:a16="http://schemas.microsoft.com/office/drawing/2014/main" id="{CE3F1EC8-B9F0-4FB8-8ED0-4FB7E5EBA1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1983235" cy="120032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28 Rectángulo">
              <a:extLst>
                <a:ext uri="{FF2B5EF4-FFF2-40B4-BE49-F238E27FC236}">
                  <a16:creationId xmlns:a16="http://schemas.microsoft.com/office/drawing/2014/main" id="{74EC37C3-5574-43D4-978A-414959B4417F}"/>
                </a:ext>
              </a:extLst>
            </p:cNvPr>
            <p:cNvSpPr/>
            <p:nvPr/>
          </p:nvSpPr>
          <p:spPr>
            <a:xfrm>
              <a:off x="356220" y="1988840"/>
              <a:ext cx="3048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i.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7611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89894" y="135924"/>
            <a:ext cx="8229600" cy="790361"/>
          </a:xfrm>
        </p:spPr>
        <p:txBody>
          <a:bodyPr>
            <a:normAutofit/>
          </a:bodyPr>
          <a:lstStyle/>
          <a:p>
            <a:r>
              <a:rPr lang="es-CO" sz="2800" dirty="0"/>
              <a:t>Reglas de prioridad y asociatividad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89894" y="1038542"/>
            <a:ext cx="8608765" cy="1071871"/>
          </a:xfrm>
        </p:spPr>
        <p:txBody>
          <a:bodyPr>
            <a:noAutofit/>
          </a:bodyPr>
          <a:lstStyle/>
          <a:p>
            <a:r>
              <a:rPr lang="es-MX" sz="2000" b="1" dirty="0"/>
              <a:t>Expresiones algebraicas</a:t>
            </a:r>
            <a:r>
              <a:rPr lang="es-MX" sz="2000" dirty="0"/>
              <a:t>: Como lo escribimos matemáticamente.</a:t>
            </a:r>
          </a:p>
          <a:p>
            <a:r>
              <a:rPr lang="es-MX" sz="2000" b="1" dirty="0"/>
              <a:t>Expresiones por computador</a:t>
            </a:r>
            <a:r>
              <a:rPr lang="es-MX" sz="2000" dirty="0"/>
              <a:t>: Como debemos escribirlas para el computador. </a:t>
            </a:r>
            <a:endParaRPr lang="es-CO" sz="28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CuadroTexto"/>
              <p:cNvSpPr txBox="1"/>
              <p:nvPr/>
            </p:nvSpPr>
            <p:spPr>
              <a:xfrm>
                <a:off x="630274" y="3065691"/>
                <a:ext cx="2538580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𝑚</m:t>
                      </m:r>
                      <m:r>
                        <a:rPr lang="es-MX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+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+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𝑐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+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𝑑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+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𝑒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74" y="3065691"/>
                <a:ext cx="2538580" cy="6164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8 Rectángulo"/>
          <p:cNvSpPr/>
          <p:nvPr/>
        </p:nvSpPr>
        <p:spPr>
          <a:xfrm>
            <a:off x="573282" y="2348880"/>
            <a:ext cx="2906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latin typeface="Century Gothic" panose="020B0502020202020204" pitchFamily="34" charset="0"/>
              </a:rPr>
              <a:t>Expresiones algebraicas</a:t>
            </a:r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22" name="21 Rectángulo"/>
          <p:cNvSpPr/>
          <p:nvPr/>
        </p:nvSpPr>
        <p:spPr>
          <a:xfrm>
            <a:off x="4977062" y="2371463"/>
            <a:ext cx="2906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latin typeface="Century Gothic" panose="020B0502020202020204" pitchFamily="34" charset="0"/>
              </a:rPr>
              <a:t>Expresiones algebraicas</a:t>
            </a:r>
            <a:endParaRPr lang="es-CO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22 CuadroTexto"/>
              <p:cNvSpPr txBox="1"/>
              <p:nvPr/>
            </p:nvSpPr>
            <p:spPr>
              <a:xfrm>
                <a:off x="4969994" y="3878218"/>
                <a:ext cx="27293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𝑚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r>
                        <a:rPr lang="es-MX" b="0" i="1" smtClean="0">
                          <a:latin typeface="Cambria Math"/>
                        </a:rPr>
                        <m:t>𝑎</m:t>
                      </m:r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𝑏</m:t>
                      </m:r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𝑐</m:t>
                      </m:r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𝑑</m:t>
                      </m:r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𝑒</m:t>
                      </m:r>
                      <m:r>
                        <a:rPr lang="es-MX" b="0" i="1" smtClean="0">
                          <a:latin typeface="Cambria Math"/>
                        </a:rPr>
                        <m:t>/5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23" name="2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994" y="3878218"/>
                <a:ext cx="2729337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10 Conector recto de flecha"/>
          <p:cNvCxnSpPr/>
          <p:nvPr/>
        </p:nvCxnSpPr>
        <p:spPr>
          <a:xfrm>
            <a:off x="3673380" y="3373916"/>
            <a:ext cx="79208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64" name="Picture 4" descr="http://blog.gospelidea.com/wp-content/uploads/2010/12/megust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8012775" y="3930918"/>
            <a:ext cx="533785" cy="45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http://blog.gospelidea.com/wp-content/uploads/2010/12/megust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776" y="3008229"/>
            <a:ext cx="533785" cy="45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27 CuadroTexto"/>
              <p:cNvSpPr txBox="1"/>
              <p:nvPr/>
            </p:nvSpPr>
            <p:spPr>
              <a:xfrm>
                <a:off x="4969994" y="3152257"/>
                <a:ext cx="29216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𝑚</m:t>
                      </m:r>
                      <m:r>
                        <a:rPr lang="es-MX" b="0" i="1" smtClean="0">
                          <a:latin typeface="Cambria Math"/>
                        </a:rPr>
                        <m:t>=(</m:t>
                      </m:r>
                      <m:r>
                        <a:rPr lang="es-MX" b="0" i="1" smtClean="0">
                          <a:latin typeface="Cambria Math"/>
                        </a:rPr>
                        <m:t>𝑎</m:t>
                      </m:r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𝑏</m:t>
                      </m:r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𝑐</m:t>
                      </m:r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𝑑</m:t>
                      </m:r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𝑒</m:t>
                      </m:r>
                      <m:r>
                        <a:rPr lang="es-MX" b="0" i="1" smtClean="0">
                          <a:latin typeface="Cambria Math"/>
                        </a:rPr>
                        <m:t>)/5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28" name="2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994" y="3152257"/>
                <a:ext cx="2921697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415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4828" y="185098"/>
            <a:ext cx="8229600" cy="688266"/>
          </a:xfrm>
        </p:spPr>
        <p:txBody>
          <a:bodyPr>
            <a:normAutofit/>
          </a:bodyPr>
          <a:lstStyle/>
          <a:p>
            <a:r>
              <a:rPr lang="es-CO" sz="2800" dirty="0"/>
              <a:t>Reglas de prioridad y asociatividad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193931" y="928505"/>
            <a:ext cx="8640960" cy="10718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b="1" dirty="0"/>
              <a:t>Ejemplo</a:t>
            </a:r>
            <a:r>
              <a:rPr lang="es-MX" sz="2400" dirty="0"/>
              <a:t>: </a:t>
            </a:r>
          </a:p>
          <a:p>
            <a:pPr marL="0" indent="0">
              <a:buNone/>
            </a:pPr>
            <a:r>
              <a:rPr lang="es-MX" sz="2000" dirty="0"/>
              <a:t>Teniendo en cuenta los conceptos de prioridad llenar la siguiente tabla: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6 Tabla"/>
              <p:cNvGraphicFramePr>
                <a:graphicFrameLocks noGrp="1"/>
              </p:cNvGraphicFramePr>
              <p:nvPr/>
            </p:nvGraphicFramePr>
            <p:xfrm>
              <a:off x="431540" y="2924944"/>
              <a:ext cx="7992888" cy="26414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662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266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Century Gothic" panose="020B0502020202020204" pitchFamily="34" charset="0"/>
                            </a:rPr>
                            <a:t>Expresiones algebraicas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Century Gothic" panose="020B0502020202020204" pitchFamily="34" charset="0"/>
                            </a:rPr>
                            <a:t>Expresiones por</a:t>
                          </a:r>
                          <a:r>
                            <a:rPr lang="es-CO" sz="2000" b="1" baseline="0" dirty="0">
                              <a:latin typeface="Century Gothic" panose="020B0502020202020204" pitchFamily="34" charset="0"/>
                            </a:rPr>
                            <a:t> computador</a:t>
                          </a:r>
                          <a:endParaRPr lang="es-CO" sz="2000" b="1" dirty="0">
                            <a:latin typeface="Century Gothic" panose="020B0502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CO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s-CO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sz="180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s-MX" sz="180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num>
                                      <m:den>
                                        <m:r>
                                          <a:rPr lang="es-MX" sz="18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  <m:r>
                                      <a:rPr lang="es-MX" sz="1800" smtClean="0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s-MX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sz="1800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  <m:r>
                                          <a:rPr lang="es-MX" sz="1800" smtClean="0">
                                            <a:latin typeface="Cambria Math" panose="02040503050406030204" pitchFamily="18" charset="0"/>
                                          </a:rPr>
                                          <m:t>−5</m:t>
                                        </m:r>
                                      </m:num>
                                      <m:den>
                                        <m:r>
                                          <a:rPr lang="es-MX" sz="1800" smtClean="0">
                                            <a:latin typeface="Cambria Math" panose="02040503050406030204" pitchFamily="18" charset="0"/>
                                          </a:rPr>
                                          <m:t>𝑥𝑦</m:t>
                                        </m:r>
                                        <m:r>
                                          <a:rPr lang="es-MX" sz="1800" smtClean="0">
                                            <a:latin typeface="Cambria Math" panose="02040503050406030204" pitchFamily="18" charset="0"/>
                                          </a:rPr>
                                          <m:t> −</m:t>
                                        </m:r>
                                        <m:sSup>
                                          <m:sSupPr>
                                            <m:ctrlPr>
                                              <a:rPr lang="es-MX" sz="18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MX" sz="180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sup>
                                            <m:r>
                                              <a:rPr lang="es-MX" sz="180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s-MX" sz="1800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s-MX" sz="180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den>
                                </m:f>
                                <m:r>
                                  <a:rPr lang="es-MX" sz="18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MX" sz="180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∗∗3∗∗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𝑤</m:t>
                                    </m:r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1∗∗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/>
                                          </a:rPr>
                                          <m:t>𝑡</m:t>
                                        </m:r>
                                        <m:r>
                                          <a:rPr lang="es-MX" sz="1800" b="0" i="1" smtClean="0">
                                            <a:latin typeface="Cambria Math"/>
                                          </a:rPr>
                                          <m:t>+3</m:t>
                                        </m:r>
                                      </m:e>
                                    </m:d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∗5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∗∗3)∗∗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∗(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𝑤</m:t>
                                </m:r>
                                <m:sSup>
                                  <m:sSupPr>
                                    <m:ctrlPr>
                                      <a:rPr lang="es-CO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𝑚</m:t>
                                    </m:r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+1)</m:t>
                                    </m:r>
                                  </m:sup>
                                </m:sSup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+ </m:t>
                                </m:r>
                                <m:sSup>
                                  <m:sSup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800" b="0" i="1" smtClean="0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s-MX" sz="1800" b="0" i="1" smtClean="0">
                                            <a:latin typeface="Cambria Math"/>
                                          </a:rPr>
                                          <m:t>𝑧</m:t>
                                        </m:r>
                                      </m:sup>
                                    </m:sSup>
                                  </m:sup>
                                </m:sSup>
                              </m:oMath>
                            </m:oMathPara>
                          </a14:m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6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1116071"/>
                  </p:ext>
                </p:extLst>
              </p:nvPr>
            </p:nvGraphicFramePr>
            <p:xfrm>
              <a:off x="431540" y="2924944"/>
              <a:ext cx="7992888" cy="26414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662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266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Century Gothic" panose="020B0502020202020204" pitchFamily="34" charset="0"/>
                            </a:rPr>
                            <a:t>Expresiones algebraicas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Century Gothic" panose="020B0502020202020204" pitchFamily="34" charset="0"/>
                            </a:rPr>
                            <a:t>Expresiones por</a:t>
                          </a:r>
                          <a:r>
                            <a:rPr lang="es-CO" sz="2000" b="1" baseline="0" dirty="0">
                              <a:latin typeface="Century Gothic" panose="020B0502020202020204" pitchFamily="34" charset="0"/>
                            </a:rPr>
                            <a:t> computador</a:t>
                          </a:r>
                          <a:endParaRPr lang="es-CO" sz="2000" b="1" dirty="0">
                            <a:latin typeface="Century Gothic" panose="020B0502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14235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76" t="-38043" r="-131107" b="-1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76716" t="-416393" r="-404" b="-2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76716" t="-516393" r="-404" b="-1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9255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76" t="-587500" r="-131107" b="-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98357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04694" y="250825"/>
            <a:ext cx="8229600" cy="926976"/>
          </a:xfrm>
        </p:spPr>
        <p:txBody>
          <a:bodyPr>
            <a:normAutofit/>
          </a:bodyPr>
          <a:lstStyle/>
          <a:p>
            <a:r>
              <a:rPr lang="es-CO" sz="2800" dirty="0"/>
              <a:t>Reglas de prioridad y asociatividad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301750" y="1162594"/>
            <a:ext cx="8568952" cy="1056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b="1" dirty="0"/>
              <a:t>Ejemplo – solución</a:t>
            </a:r>
            <a:r>
              <a:rPr lang="es-MX" sz="2400" dirty="0"/>
              <a:t>: </a:t>
            </a:r>
          </a:p>
          <a:p>
            <a:pPr marL="0" indent="0">
              <a:buNone/>
            </a:pPr>
            <a:r>
              <a:rPr lang="es-MX" sz="2000" dirty="0"/>
              <a:t>Teniendo en cuenta los conceptos de prioridad llenar la siguiente tabla: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6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4667591"/>
                  </p:ext>
                </p:extLst>
              </p:nvPr>
            </p:nvGraphicFramePr>
            <p:xfrm>
              <a:off x="301750" y="2636912"/>
              <a:ext cx="8666186" cy="264439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320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1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Century Gothic" panose="020B0502020202020204" pitchFamily="34" charset="0"/>
                            </a:rPr>
                            <a:t>Expresiones algebraicas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Century Gothic" panose="020B0502020202020204" pitchFamily="34" charset="0"/>
                            </a:rPr>
                            <a:t>Expresiones por</a:t>
                          </a:r>
                          <a:r>
                            <a:rPr lang="es-CO" sz="2000" b="1" baseline="0" dirty="0">
                              <a:latin typeface="Century Gothic" panose="020B0502020202020204" pitchFamily="34" charset="0"/>
                            </a:rPr>
                            <a:t> computador</a:t>
                          </a:r>
                          <a:endParaRPr lang="es-CO" sz="2000" b="1" dirty="0">
                            <a:latin typeface="Century Gothic" panose="020B0502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CO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s-CO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s-MX" sz="1600" b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  <m:r>
                                      <a:rPr lang="es-MX" sz="16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  <m:r>
                                          <a:rPr lang="es-MX" sz="1600" b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  <m:t>𝑥𝑦</m:t>
                                        </m:r>
                                        <m:r>
                                          <a:rPr lang="es-MX" sz="1600" b="0" smtClean="0">
                                            <a:latin typeface="Cambria Math" panose="02040503050406030204" pitchFamily="18" charset="0"/>
                                          </a:rPr>
                                          <m:t> −</m:t>
                                        </m:r>
                                        <m:sSup>
                                          <m:sSupPr>
                                            <m:ctrlP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sup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s-MX" sz="1600" b="0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den>
                                </m:f>
                                <m:r>
                                  <a:rPr lang="es-MX" sz="16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es-CO" sz="16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s-CO" sz="16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(</m:t>
                                    </m:r>
                                    <m:f>
                                      <m:fPr>
                                        <m:type m:val="lin"/>
                                        <m:ctrlPr>
                                          <a:rPr lang="es-MX" sz="16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d>
                                          <m:dPr>
                                            <m:ctrlP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es-MX" sz="16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  <m:r>
                                      <a:rPr lang="es-MX" sz="16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+3)</m:t>
                                    </m:r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type m:val="lin"/>
                                            <m:ctrlP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(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𝑧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−5)</m:t>
                                            </m:r>
                                          </m:num>
                                          <m:den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(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∗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 −2∗∗(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+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))</m:t>
                                            </m:r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s-MX" sz="16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s-MX" sz="16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𝑤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600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CO" sz="16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6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s-CO" sz="16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6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s-MX" sz="16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s-MX" sz="16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𝑦</m:t>
                                        </m:r>
                                      </m:sup>
                                    </m:sSup>
                                    <m:r>
                                      <a:rPr lang="es-MX" sz="16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s-MX" sz="16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𝑤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MX" sz="16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6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s-MX" sz="16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𝑡</m:t>
                                        </m:r>
                                        <m:r>
                                          <a:rPr lang="es-MX" sz="16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+3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∗∗3∗∗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𝑤</m:t>
                                    </m:r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1∗∗</m:t>
                                    </m:r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/>
                                          </a:rPr>
                                          <m:t>𝑡</m:t>
                                        </m:r>
                                        <m:r>
                                          <a:rPr lang="es-MX" sz="1600" b="0" i="1" smtClean="0">
                                            <a:latin typeface="Cambria Math"/>
                                          </a:rPr>
                                          <m:t>+3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∗5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6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CO" sz="16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s-MX" sz="16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𝑦</m:t>
                                    </m:r>
                                  </m:sup>
                                </m:sSup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∗∗3)∗∗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∗(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es-CO" sz="16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𝑤</m:t>
                                </m:r>
                                <m:sSup>
                                  <m:sSupPr>
                                    <m:ctrlPr>
                                      <a:rPr lang="es-CO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𝑚</m:t>
                                    </m:r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+1)</m:t>
                                    </m:r>
                                  </m:sup>
                                </m:sSup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+ </m:t>
                                </m:r>
                                <m:sSup>
                                  <m:sSup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600" b="0" i="1" smtClean="0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s-MX" sz="1600" b="0" i="1" smtClean="0">
                                            <a:latin typeface="Cambria Math"/>
                                          </a:rPr>
                                          <m:t>𝑧</m:t>
                                        </m:r>
                                      </m:sup>
                                    </m:sSup>
                                  </m:sup>
                                </m:sSup>
                              </m:oMath>
                            </m:oMathPara>
                          </a14:m>
                          <a:endParaRPr lang="es-CO" sz="16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𝑤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∗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∗∗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2∗</m:t>
                                    </m:r>
                                    <m:r>
                                      <a:rPr lang="es-MX" sz="16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𝑚</m:t>
                                    </m:r>
                                    <m:r>
                                      <a:rPr lang="es-MX" sz="16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∗</m:t>
                                    </m:r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𝑛</m:t>
                                        </m:r>
                                        <m:r>
                                          <a:rPr lang="es-MX" sz="16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∗∗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∗∗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6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4667591"/>
                  </p:ext>
                </p:extLst>
              </p:nvPr>
            </p:nvGraphicFramePr>
            <p:xfrm>
              <a:off x="301750" y="2636912"/>
              <a:ext cx="8666186" cy="264439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320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1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Century Gothic" panose="020B0502020202020204" pitchFamily="34" charset="0"/>
                            </a:rPr>
                            <a:t>Expresiones algebraicas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Century Gothic" panose="020B0502020202020204" pitchFamily="34" charset="0"/>
                            </a:rPr>
                            <a:t>Expresiones por</a:t>
                          </a:r>
                          <a:r>
                            <a:rPr lang="es-CO" sz="2000" b="1" baseline="0" dirty="0">
                              <a:latin typeface="Century Gothic" panose="020B0502020202020204" pitchFamily="34" charset="0"/>
                            </a:rPr>
                            <a:t> computador</a:t>
                          </a:r>
                          <a:endParaRPr lang="es-CO" sz="2000" b="1" dirty="0">
                            <a:latin typeface="Century Gothic" panose="020B0502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00633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83" t="-42424" r="-160512" b="-12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2557" t="-42424" r="-228" b="-12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05841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83" t="-283133" r="-160512" b="-1493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2557" t="-283133" r="-228" b="-1493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83" t="-521311" r="-160512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2557" t="-521311" r="-228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83" t="-621311" r="-16051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2557" t="-621311" r="-228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04995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07504" y="227698"/>
            <a:ext cx="7886700" cy="648488"/>
          </a:xfrm>
        </p:spPr>
        <p:txBody>
          <a:bodyPr/>
          <a:lstStyle/>
          <a:p>
            <a:r>
              <a:rPr lang="es-CO" sz="2800" dirty="0"/>
              <a:t>Operadores relacionales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107504" y="941130"/>
            <a:ext cx="8229600" cy="648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/>
              <a:t>Un operador relacional compara sus operandos y devuelve un valor lógico (booleano) basado en si la comparación es verdad o no. </a:t>
            </a:r>
            <a:endParaRPr lang="es-CO" sz="28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22" name="2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856094"/>
              </p:ext>
            </p:extLst>
          </p:nvPr>
        </p:nvGraphicFramePr>
        <p:xfrm>
          <a:off x="539552" y="1948912"/>
          <a:ext cx="7667799" cy="2621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0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1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6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Operador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Nombre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Ejemplo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Resultado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Mayor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1 &gt; 3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&gt;=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Mayor</a:t>
                      </a:r>
                      <a:r>
                        <a:rPr lang="es-CO" sz="1600" baseline="0" dirty="0"/>
                        <a:t> o igual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 &gt;= 1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&lt;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Menor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-5 &lt; 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&lt;=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Menor</a:t>
                      </a:r>
                      <a:r>
                        <a:rPr lang="es-CO" sz="1600" baseline="0" dirty="0"/>
                        <a:t> o igual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3 &lt;=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!=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Diferente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13</a:t>
                      </a: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 != 4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==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Igual</a:t>
                      </a:r>
                      <a:r>
                        <a:rPr lang="es-CO" sz="1600" baseline="0" dirty="0"/>
                        <a:t> (Comparación)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0 ==</a:t>
                      </a: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 1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798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29224" y="222206"/>
            <a:ext cx="7886700" cy="590419"/>
          </a:xfrm>
        </p:spPr>
        <p:txBody>
          <a:bodyPr/>
          <a:lstStyle/>
          <a:p>
            <a:r>
              <a:rPr lang="es-CO" sz="2800" dirty="0"/>
              <a:t>Operadores lógicos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256110" y="1008352"/>
            <a:ext cx="8517632" cy="1370989"/>
          </a:xfrm>
        </p:spPr>
        <p:txBody>
          <a:bodyPr>
            <a:normAutofit/>
          </a:bodyPr>
          <a:lstStyle/>
          <a:p>
            <a:r>
              <a:rPr lang="es-CO" sz="2000" dirty="0"/>
              <a:t>Un operador lógico toma dos operandos lógicos cada uno de los cuales es un valor true (V) o false (F) y devuelve un valor true (V) o false (F).</a:t>
            </a:r>
          </a:p>
          <a:p>
            <a:r>
              <a:rPr lang="es-CO" sz="2000" dirty="0"/>
              <a:t>Un operador lógico se utiliza para combinar múltiples comparaciones en una expresión condicional. </a:t>
            </a:r>
          </a:p>
          <a:p>
            <a:endParaRPr lang="es-CO" sz="2800" dirty="0"/>
          </a:p>
        </p:txBody>
      </p:sp>
      <p:graphicFrame>
        <p:nvGraphicFramePr>
          <p:cNvPr id="22" name="2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363986"/>
              </p:ext>
            </p:extLst>
          </p:nvPr>
        </p:nvGraphicFramePr>
        <p:xfrm>
          <a:off x="628576" y="2566154"/>
          <a:ext cx="7667799" cy="1478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0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2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6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Operador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Nombre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Ejemplo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Resultado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not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not(T)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y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T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and F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or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o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T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or F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997990"/>
              </p:ext>
            </p:extLst>
          </p:nvPr>
        </p:nvGraphicFramePr>
        <p:xfrm>
          <a:off x="628576" y="4629552"/>
          <a:ext cx="1584176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x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not(x)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13609"/>
              </p:ext>
            </p:extLst>
          </p:nvPr>
        </p:nvGraphicFramePr>
        <p:xfrm>
          <a:off x="2984443" y="4629552"/>
          <a:ext cx="2376263" cy="1818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89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x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y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x and</a:t>
                      </a:r>
                      <a:r>
                        <a:rPr lang="es-CO" sz="1600" baseline="0" dirty="0"/>
                        <a:t> y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1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086756"/>
              </p:ext>
            </p:extLst>
          </p:nvPr>
        </p:nvGraphicFramePr>
        <p:xfrm>
          <a:off x="5966029" y="4628730"/>
          <a:ext cx="2376263" cy="180320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89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68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x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y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x or</a:t>
                      </a:r>
                      <a:r>
                        <a:rPr lang="es-CO" sz="1600" baseline="0" dirty="0"/>
                        <a:t> y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882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8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8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8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5 Rectángulo"/>
          <p:cNvSpPr/>
          <p:nvPr/>
        </p:nvSpPr>
        <p:spPr>
          <a:xfrm>
            <a:off x="1167312" y="4221088"/>
            <a:ext cx="5293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600" b="1" dirty="0">
                <a:latin typeface="Century Gothic" panose="020B0502020202020204" pitchFamily="34" charset="0"/>
              </a:rPr>
              <a:t>Not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3874255" y="4224660"/>
            <a:ext cx="5966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600" b="1" dirty="0">
                <a:latin typeface="Century Gothic" panose="020B0502020202020204" pitchFamily="34" charset="0"/>
              </a:rPr>
              <a:t>And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6942404" y="4224660"/>
            <a:ext cx="4235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600" b="1" dirty="0">
                <a:latin typeface="Century Gothic" panose="020B0502020202020204" pitchFamily="34" charset="0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673173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0054" y="286476"/>
            <a:ext cx="8229600" cy="588035"/>
          </a:xfrm>
        </p:spPr>
        <p:txBody>
          <a:bodyPr>
            <a:noAutofit/>
          </a:bodyPr>
          <a:lstStyle/>
          <a:p>
            <a:r>
              <a:rPr lang="es-CO" sz="2800" dirty="0"/>
              <a:t>Retornando a las reglas de prioridad</a:t>
            </a:r>
          </a:p>
        </p:txBody>
      </p:sp>
      <p:sp>
        <p:nvSpPr>
          <p:cNvPr id="8" name="1 Marcador de contenido"/>
          <p:cNvSpPr>
            <a:spLocks noGrp="1"/>
          </p:cNvSpPr>
          <p:nvPr>
            <p:ph idx="1"/>
          </p:nvPr>
        </p:nvSpPr>
        <p:spPr>
          <a:xfrm>
            <a:off x="178734" y="1052736"/>
            <a:ext cx="8229600" cy="720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/>
              <a:t>La siguiente tabla resume las reglas de prioridad teniendo en cuenta ya, todos los operadores vistos hasta el momento (aritméticos, relacionales, lógicos).</a:t>
            </a:r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463270"/>
              </p:ext>
            </p:extLst>
          </p:nvPr>
        </p:nvGraphicFramePr>
        <p:xfrm>
          <a:off x="368333" y="1970043"/>
          <a:ext cx="8407333" cy="37338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70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7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Prioridad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Operadores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Asociatividad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1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()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Adentro</a:t>
                      </a:r>
                      <a:r>
                        <a:rPr lang="es-CO" sz="1800" baseline="0" dirty="0"/>
                        <a:t> </a:t>
                      </a:r>
                      <a:r>
                        <a:rPr lang="es-CO" sz="1800" baseline="0" dirty="0">
                          <a:sym typeface="Wingdings" panose="05000000000000000000" pitchFamily="2" charset="2"/>
                        </a:rPr>
                        <a:t> Afuera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+ (unitario), - (unitario), not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(+,-) </a:t>
                      </a:r>
                      <a:r>
                        <a:rPr lang="es-CO" sz="16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-----, not D </a:t>
                      </a:r>
                      <a:r>
                        <a:rPr lang="es-CO" sz="16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I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**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D </a:t>
                      </a:r>
                      <a:r>
                        <a:rPr lang="es-CO" sz="16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I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*,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/, //, %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D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+,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D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&gt;, &gt;=, &lt;, &lt;=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!=, ==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D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D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83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71898" y="194324"/>
            <a:ext cx="8229600" cy="648072"/>
          </a:xfrm>
        </p:spPr>
        <p:txBody>
          <a:bodyPr>
            <a:normAutofit/>
          </a:bodyPr>
          <a:lstStyle/>
          <a:p>
            <a:r>
              <a:rPr lang="es-CO" sz="2800" dirty="0"/>
              <a:t>Operadores relacionales y lógicos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6 Rectángulo"/>
          <p:cNvSpPr/>
          <p:nvPr/>
        </p:nvSpPr>
        <p:spPr>
          <a:xfrm>
            <a:off x="171898" y="842396"/>
            <a:ext cx="860898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>
                <a:latin typeface="Century Gothic" panose="020B0502020202020204" pitchFamily="34" charset="0"/>
              </a:rPr>
              <a:t>Ejemplos</a:t>
            </a:r>
            <a:r>
              <a:rPr lang="es-CO" sz="2400" dirty="0">
                <a:latin typeface="Century Gothic" panose="020B0502020202020204" pitchFamily="34" charset="0"/>
              </a:rPr>
              <a:t>:</a:t>
            </a:r>
          </a:p>
          <a:p>
            <a:r>
              <a:rPr lang="es-CO" sz="2000" dirty="0">
                <a:latin typeface="Century Gothic" panose="020B0502020202020204" pitchFamily="34" charset="0"/>
              </a:rPr>
              <a:t>Si las variables X, Z y L tienen almacenados los valores de 23, 34 y V respectivamente, ¿Cuáles serán los resultados de las siguientes expresiones?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2 CuadroTexto"/>
              <p:cNvSpPr txBox="1"/>
              <p:nvPr/>
            </p:nvSpPr>
            <p:spPr>
              <a:xfrm>
                <a:off x="171898" y="2227391"/>
                <a:ext cx="3863558" cy="17899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>
                            <a:latin typeface="Cambria Math"/>
                          </a:rPr>
                          <m:t>𝑋</m:t>
                        </m:r>
                        <m:r>
                          <a:rPr lang="es-MX" b="0" i="1">
                            <a:latin typeface="Cambria Math"/>
                          </a:rPr>
                          <m:t> &gt; </m:t>
                        </m:r>
                        <m:r>
                          <a:rPr lang="es-MX" b="0" i="1">
                            <a:latin typeface="Cambria Math"/>
                          </a:rPr>
                          <m:t>𝑍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b="0" i="1">
                        <a:latin typeface="Cambria Math"/>
                      </a:rPr>
                      <m:t>𝑜𝑟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MX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>
                            <a:latin typeface="Cambria Math"/>
                          </a:rPr>
                          <m:t>𝑍</m:t>
                        </m:r>
                        <m:r>
                          <a:rPr lang="es-MX" b="0" i="1">
                            <a:latin typeface="Cambria Math"/>
                          </a:rPr>
                          <m:t> &gt; 20</m:t>
                        </m:r>
                      </m:e>
                    </m:d>
                  </m:oMath>
                </a14:m>
                <a:endParaRPr lang="es-MX" i="1" dirty="0">
                  <a:latin typeface="Cambria Math"/>
                </a:endParaRPr>
              </a:p>
              <a:p>
                <a:pPr marL="342900" indent="-342900"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/>
                          </a:rPr>
                          <m:t>𝑋</m:t>
                        </m:r>
                        <m:r>
                          <a:rPr lang="es-MX" i="1">
                            <a:latin typeface="Cambria Math"/>
                          </a:rPr>
                          <m:t> &lt; </m:t>
                        </m:r>
                        <m:r>
                          <a:rPr lang="es-MX" i="1">
                            <a:latin typeface="Cambria Math"/>
                          </a:rPr>
                          <m:t>𝑍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i="1">
                        <a:latin typeface="Cambria Math"/>
                      </a:rPr>
                      <m:t>𝑎𝑛𝑑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/>
                          </a:rPr>
                          <m:t>𝑛𝑜𝑡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i="1">
                                <a:latin typeface="Cambria Math"/>
                              </a:rPr>
                              <m:t>𝑍</m:t>
                            </m:r>
                            <m:r>
                              <a:rPr lang="es-MX" i="1">
                                <a:latin typeface="Cambria Math"/>
                              </a:rPr>
                              <m:t> &gt; 20</m:t>
                            </m:r>
                          </m:e>
                        </m:d>
                      </m:e>
                    </m:d>
                  </m:oMath>
                </a14:m>
                <a:endParaRPr lang="es-MX" i="1" dirty="0">
                  <a:latin typeface="Cambria Math"/>
                </a:endParaRPr>
              </a:p>
              <a:p>
                <a:pPr marL="342900" indent="-342900"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MX" i="1">
                            <a:latin typeface="Cambria Math"/>
                          </a:rPr>
                        </m:ctrlPr>
                      </m:dPr>
                      <m:e>
                        <m:r>
                          <a:rPr lang="es-MX" i="1">
                            <a:latin typeface="Cambria Math"/>
                          </a:rPr>
                          <m:t>𝑍</m:t>
                        </m:r>
                        <m:r>
                          <a:rPr lang="es-MX" i="1">
                            <a:latin typeface="Cambria Math"/>
                          </a:rPr>
                          <m:t> &gt; 50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s-MX" i="1">
                        <a:latin typeface="Cambria Math"/>
                      </a:rPr>
                      <m:t>𝐿</m:t>
                    </m:r>
                  </m:oMath>
                </a14:m>
                <a:endParaRPr lang="es-MX" i="1" dirty="0">
                  <a:latin typeface="Cambria Math"/>
                </a:endParaRPr>
              </a:p>
              <a:p>
                <a:pPr marL="342900" indent="-342900">
                  <a:buFontTx/>
                  <a:buAutoNum type="alphaLcPeriod"/>
                </a:pPr>
                <a14:m>
                  <m:oMath xmlns:m="http://schemas.openxmlformats.org/officeDocument/2006/math">
                    <m:r>
                      <a:rPr lang="es-CO" i="1">
                        <a:latin typeface="Cambria Math"/>
                      </a:rPr>
                      <m:t>𝑛𝑜𝑡</m:t>
                    </m:r>
                    <m:d>
                      <m:d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>
                            <a:latin typeface="Cambria Math"/>
                          </a:rPr>
                          <m:t>𝐿</m:t>
                        </m:r>
                      </m:e>
                    </m:d>
                  </m:oMath>
                </a14:m>
                <a:endParaRPr lang="es-MX" i="1" dirty="0">
                  <a:latin typeface="Cambria Math"/>
                </a:endParaRPr>
              </a:p>
              <a:p>
                <a:pPr marL="342900" indent="-342900">
                  <a:buFontTx/>
                  <a:buAutoNum type="alphaL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Z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 &gt; 100)</m:t>
                    </m:r>
                    <m:r>
                      <m:rPr>
                        <m:nor/>
                      </m:rPr>
                      <a:rPr lang="es-MX" b="0" i="1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and</m:t>
                    </m:r>
                    <m:r>
                      <m:rPr>
                        <m:nor/>
                      </m:rPr>
                      <a:rPr lang="es-MX" b="0" i="1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X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 &lt; 3)</m:t>
                    </m:r>
                    <m:r>
                      <m:rPr>
                        <m:nor/>
                      </m:rPr>
                      <a:rPr lang="es-MX" b="0" i="1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or</m:t>
                    </m:r>
                    <m:r>
                      <m:rPr>
                        <m:nor/>
                      </m:rPr>
                      <a:rPr lang="es-MX" b="0" i="1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s-CO" i="1">
                        <a:latin typeface="Cambria Math"/>
                      </a:rPr>
                      <m:t>not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L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))</m:t>
                    </m:r>
                  </m:oMath>
                </a14:m>
                <a:endParaRPr lang="es-CO" i="1" dirty="0">
                  <a:latin typeface="Cambria Math"/>
                </a:endParaRPr>
              </a:p>
              <a:p>
                <a:pPr marL="342900" indent="-342900">
                  <a:buAutoNum type="alphaLcPeriod"/>
                </a:pPr>
                <a:endParaRPr lang="es-CO" dirty="0"/>
              </a:p>
            </p:txBody>
          </p:sp>
        </mc:Choice>
        <mc:Fallback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98" y="2227391"/>
                <a:ext cx="3863558" cy="1789977"/>
              </a:xfrm>
              <a:prstGeom prst="rect">
                <a:avLst/>
              </a:prstGeom>
              <a:blipFill>
                <a:blip r:embed="rId2"/>
                <a:stretch>
                  <a:fillRect l="-1104" t="-136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8400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28018" y="136524"/>
            <a:ext cx="8229600" cy="849247"/>
          </a:xfrm>
        </p:spPr>
        <p:txBody>
          <a:bodyPr>
            <a:normAutofit/>
          </a:bodyPr>
          <a:lstStyle/>
          <a:p>
            <a:r>
              <a:rPr lang="es-CO" sz="2800" dirty="0"/>
              <a:t>Operadores relacionales y lógicos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Rectángulo"/>
              <p:cNvSpPr/>
              <p:nvPr/>
            </p:nvSpPr>
            <p:spPr>
              <a:xfrm>
                <a:off x="228018" y="937258"/>
                <a:ext cx="8375872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latin typeface="Century Gothic" panose="020B0502020202020204" pitchFamily="34" charset="0"/>
                  </a:rPr>
                  <a:t>Ejemplos - Solución</a:t>
                </a:r>
                <a:r>
                  <a:rPr lang="es-CO" sz="2000" dirty="0">
                    <a:latin typeface="Century Gothic" panose="020B0502020202020204" pitchFamily="34" charset="0"/>
                  </a:rPr>
                  <a:t>:</a:t>
                </a:r>
              </a:p>
              <a:p>
                <a:r>
                  <a:rPr lang="es-CO" sz="2000" dirty="0">
                    <a:latin typeface="Century Gothic" panose="020B0502020202020204" pitchFamily="34" charset="0"/>
                  </a:rPr>
                  <a:t>A continuación se muestran las variables y sus valores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𝑍</m:t>
                    </m:r>
                    <m:r>
                      <a:rPr lang="es-MX" sz="2000" b="0" i="1" smtClean="0">
                        <a:latin typeface="Cambria Math"/>
                      </a:rPr>
                      <m:t>=23</m:t>
                    </m:r>
                  </m:oMath>
                </a14:m>
                <a:endParaRPr lang="es-MX" sz="2000" b="0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2000" b="0" i="0" smtClean="0">
                        <a:latin typeface="Cambria Math"/>
                      </a:rPr>
                      <m:t>X</m:t>
                    </m:r>
                    <m:r>
                      <a:rPr lang="es-MX" sz="2000" i="1">
                        <a:latin typeface="Cambria Math"/>
                      </a:rPr>
                      <m:t>=3</m:t>
                    </m:r>
                    <m:r>
                      <a:rPr lang="es-MX" sz="2000" b="0" i="1" smtClean="0">
                        <a:latin typeface="Cambria Math"/>
                      </a:rPr>
                      <m:t>4</m:t>
                    </m:r>
                  </m:oMath>
                </a14:m>
                <a:endParaRPr lang="es-MX" sz="2000" b="0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𝐿</m:t>
                    </m:r>
                    <m:r>
                      <a:rPr lang="es-MX" sz="2000" b="0" i="1" smtClean="0">
                        <a:latin typeface="Cambria Math"/>
                      </a:rPr>
                      <m:t>=</m:t>
                    </m:r>
                    <m:r>
                      <a:rPr lang="es-MX" sz="2000" b="0" i="1" smtClean="0">
                        <a:latin typeface="Cambria Math"/>
                      </a:rPr>
                      <m:t>𝑉</m:t>
                    </m:r>
                  </m:oMath>
                </a14:m>
                <a:endParaRPr lang="es-CO" sz="2000" dirty="0"/>
              </a:p>
            </p:txBody>
          </p:sp>
        </mc:Choice>
        <mc:Fallback xmlns="">
          <p:sp>
            <p:nvSpPr>
              <p:cNvPr id="7" name="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18" y="937258"/>
                <a:ext cx="8375872" cy="1631216"/>
              </a:xfrm>
              <a:prstGeom prst="rect">
                <a:avLst/>
              </a:prstGeom>
              <a:blipFill>
                <a:blip r:embed="rId2"/>
                <a:stretch>
                  <a:fillRect l="-728" t="-2247" b="-449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5 Grupo"/>
          <p:cNvGrpSpPr/>
          <p:nvPr/>
        </p:nvGrpSpPr>
        <p:grpSpPr>
          <a:xfrm>
            <a:off x="395536" y="3429000"/>
            <a:ext cx="3241977" cy="1477328"/>
            <a:chOff x="356220" y="1988840"/>
            <a:chExt cx="3241977" cy="14773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7 CuadroTexto"/>
                <p:cNvSpPr txBox="1"/>
                <p:nvPr/>
              </p:nvSpPr>
              <p:spPr>
                <a:xfrm>
                  <a:off x="762100" y="1988840"/>
                  <a:ext cx="2836097" cy="14773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latin typeface="Cambria Math"/>
                              </a:rPr>
                              <m:t>𝑋</m:t>
                            </m:r>
                            <m:r>
                              <a:rPr lang="es-MX" b="0" i="1">
                                <a:latin typeface="Cambria Math"/>
                              </a:rPr>
                              <m:t> &gt; </m:t>
                            </m:r>
                            <m:r>
                              <a:rPr lang="es-MX" b="0" i="1">
                                <a:latin typeface="Cambria Math"/>
                              </a:rPr>
                              <m:t>𝑍</m:t>
                            </m:r>
                          </m:e>
                        </m:d>
                        <m:r>
                          <a:rPr lang="es-MX" b="0" i="1" smtClean="0"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𝑜𝑟</m:t>
                        </m:r>
                        <m:r>
                          <a:rPr lang="es-MX" b="0" i="1" smtClean="0"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latin typeface="Cambria Math"/>
                              </a:rPr>
                              <m:t>𝑍</m:t>
                            </m:r>
                            <m:r>
                              <a:rPr lang="es-MX" b="0" i="1">
                                <a:latin typeface="Cambria Math"/>
                              </a:rPr>
                              <m:t> &gt; 20</m:t>
                            </m:r>
                          </m:e>
                        </m:d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34</m:t>
                            </m:r>
                            <m:r>
                              <a:rPr lang="es-MX" b="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 &gt;</m:t>
                            </m:r>
                            <m:r>
                              <a:rPr lang="es-MX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23</m:t>
                            </m:r>
                          </m:e>
                        </m:d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𝑜𝑟</m:t>
                        </m:r>
                        <m:r>
                          <a:rPr lang="es-MX" b="0" i="1" smtClean="0"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23</m:t>
                            </m:r>
                            <m:r>
                              <a:rPr lang="es-MX" b="0" i="1">
                                <a:latin typeface="Cambria Math"/>
                              </a:rPr>
                              <m:t> &gt; 20</m:t>
                            </m:r>
                          </m:e>
                        </m:d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>
                            <a:latin typeface="Cambria Math"/>
                          </a:rPr>
                          <m:t>𝑉</m:t>
                        </m:r>
                        <m:r>
                          <a:rPr lang="es-MX" b="0" i="1"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𝑜𝑟</m:t>
                        </m:r>
                        <m:r>
                          <a:rPr lang="es-MX" b="0" i="1">
                            <a:latin typeface="Cambria Math"/>
                          </a:rPr>
                          <m:t> (23&gt;20)</m:t>
                        </m:r>
                      </m:oMath>
                    </m:oMathPara>
                  </a14:m>
                  <a:endParaRPr lang="es-MX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𝑜𝑟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oMath>
                    </m:oMathPara>
                  </a14:m>
                  <a:endParaRPr lang="es-MX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𝑉</m:t>
                        </m:r>
                      </m:oMath>
                    </m:oMathPara>
                  </a14:m>
                  <a:endParaRPr lang="es-MX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7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2836097" cy="147732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8 Rectángulo"/>
            <p:cNvSpPr/>
            <p:nvPr/>
          </p:nvSpPr>
          <p:spPr>
            <a:xfrm>
              <a:off x="356220" y="1988840"/>
              <a:ext cx="4058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a.</a:t>
              </a:r>
            </a:p>
          </p:txBody>
        </p:sp>
      </p:grpSp>
      <p:grpSp>
        <p:nvGrpSpPr>
          <p:cNvPr id="10" name="9 Grupo"/>
          <p:cNvGrpSpPr/>
          <p:nvPr/>
        </p:nvGrpSpPr>
        <p:grpSpPr>
          <a:xfrm>
            <a:off x="4235462" y="3314046"/>
            <a:ext cx="3872663" cy="1861279"/>
            <a:chOff x="356220" y="1988840"/>
            <a:chExt cx="3872663" cy="18612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10 CuadroTexto"/>
                <p:cNvSpPr txBox="1"/>
                <p:nvPr/>
              </p:nvSpPr>
              <p:spPr>
                <a:xfrm>
                  <a:off x="762100" y="1988840"/>
                  <a:ext cx="3466783" cy="186127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latin typeface="Cambria Math"/>
                              </a:rPr>
                              <m:t>𝑋</m:t>
                            </m:r>
                            <m:r>
                              <a:rPr lang="es-MX" b="0" i="1">
                                <a:latin typeface="Cambria Math"/>
                              </a:rPr>
                              <m:t> &lt; </m:t>
                            </m:r>
                            <m:r>
                              <a:rPr lang="es-MX" b="0" i="1">
                                <a:latin typeface="Cambria Math"/>
                              </a:rPr>
                              <m:t>𝑍</m:t>
                            </m:r>
                          </m:e>
                        </m:d>
                        <m:r>
                          <a:rPr lang="es-MX" b="0" i="1" smtClean="0"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𝑎𝑛𝑑</m:t>
                        </m:r>
                        <m:r>
                          <a:rPr lang="es-MX" b="0" i="1" smtClean="0"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latin typeface="Cambria Math"/>
                              </a:rPr>
                              <m:t>𝑛𝑜𝑡</m:t>
                            </m:r>
                            <m:d>
                              <m:dPr>
                                <m:ctrlPr>
                                  <a:rPr lang="es-MX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b="0" i="1">
                                    <a:latin typeface="Cambria Math"/>
                                  </a:rPr>
                                  <m:t>𝑍</m:t>
                                </m:r>
                                <m:r>
                                  <a:rPr lang="es-MX" b="0" i="1">
                                    <a:latin typeface="Cambria Math"/>
                                  </a:rPr>
                                  <m:t> &gt; 20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34</m:t>
                            </m:r>
                            <m:r>
                              <a:rPr lang="es-MX" b="0" i="1">
                                <a:latin typeface="Cambria Math"/>
                              </a:rPr>
                              <m:t> &lt;</m:t>
                            </m:r>
                            <m:r>
                              <a:rPr lang="es-MX" b="0" i="1" smtClean="0">
                                <a:latin typeface="Cambria Math"/>
                              </a:rPr>
                              <m:t>23</m:t>
                            </m:r>
                          </m:e>
                        </m:d>
                        <m:r>
                          <a:rPr lang="es-MX" b="0" i="1" smtClean="0"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𝑎𝑛𝑑</m:t>
                        </m:r>
                        <m:r>
                          <a:rPr lang="es-MX" b="0" i="1" smtClean="0"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latin typeface="Cambria Math"/>
                              </a:rPr>
                              <m:t>𝑛𝑜𝑡</m:t>
                            </m:r>
                            <m:d>
                              <m:dPr>
                                <m:ctrlPr>
                                  <a:rPr lang="es-MX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23</m:t>
                                </m:r>
                                <m:r>
                                  <a:rPr lang="es-MX" b="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 &gt; 20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latin typeface="Cambria Math"/>
                              </a:rPr>
                              <m:t>34 &lt;23</m:t>
                            </m:r>
                          </m:e>
                        </m:d>
                        <m:r>
                          <a:rPr lang="es-MX" b="0" i="1"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𝑎𝑛𝑑</m:t>
                        </m:r>
                        <m:r>
                          <a:rPr lang="es-MX" b="0" i="1"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𝑛𝑜𝑡</m:t>
                            </m:r>
                            <m:d>
                              <m:dPr>
                                <m:ctrlPr>
                                  <a:rPr lang="es-MX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34 &lt;23</m:t>
                            </m:r>
                          </m:e>
                        </m:d>
                        <m:r>
                          <a:rPr lang="es-MX" b="0" i="1"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𝑎𝑛𝑑</m:t>
                        </m:r>
                        <m:r>
                          <a:rPr lang="es-MX" b="0" i="1"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𝐹</m:t>
                            </m:r>
                          </m:e>
                        </m:d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𝐹</m:t>
                            </m:r>
                          </m:e>
                        </m:d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𝑎𝑛𝑑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s-MX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𝐹</m:t>
                            </m:r>
                          </m:e>
                        </m:d>
                      </m:oMath>
                    </m:oMathPara>
                  </a14:m>
                  <a:endParaRPr lang="es-MX" i="1" dirty="0">
                    <a:solidFill>
                      <a:srgbClr val="FF0000"/>
                    </a:solidFill>
                    <a:latin typeface="Cambria Math"/>
                  </a:endParaRPr>
                </a:p>
                <a:p>
                  <a:r>
                    <a:rPr lang="es-MX" i="1" dirty="0">
                      <a:solidFill>
                        <a:srgbClr val="00B050"/>
                      </a:solidFill>
                      <a:latin typeface="Cambria Math"/>
                    </a:rPr>
                    <a:t>F</a:t>
                  </a:r>
                </a:p>
              </p:txBody>
            </p:sp>
          </mc:Choice>
          <mc:Fallback xmlns="">
            <p:sp>
              <p:nvSpPr>
                <p:cNvPr id="11" name="10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3466783" cy="1861279"/>
                </a:xfrm>
                <a:prstGeom prst="rect">
                  <a:avLst/>
                </a:prstGeom>
                <a:blipFill>
                  <a:blip r:embed="rId4"/>
                  <a:stretch>
                    <a:fillRect l="-1582" b="-4262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11 Rectángulo"/>
            <p:cNvSpPr/>
            <p:nvPr/>
          </p:nvSpPr>
          <p:spPr>
            <a:xfrm>
              <a:off x="356220" y="1988840"/>
              <a:ext cx="4010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1271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37722" y="135210"/>
            <a:ext cx="8229600" cy="648072"/>
          </a:xfrm>
        </p:spPr>
        <p:txBody>
          <a:bodyPr>
            <a:normAutofit/>
          </a:bodyPr>
          <a:lstStyle/>
          <a:p>
            <a:r>
              <a:rPr lang="es-CO" sz="2800" dirty="0"/>
              <a:t>Operadores relacionales y lógicos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Rectángulo"/>
              <p:cNvSpPr/>
              <p:nvPr/>
            </p:nvSpPr>
            <p:spPr>
              <a:xfrm>
                <a:off x="142906" y="820819"/>
                <a:ext cx="8375872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latin typeface="Century Gothic" panose="020B0502020202020204" pitchFamily="34" charset="0"/>
                  </a:rPr>
                  <a:t>Ejemplos - Solución</a:t>
                </a:r>
                <a:r>
                  <a:rPr lang="es-CO" sz="2000" dirty="0">
                    <a:latin typeface="Century Gothic" panose="020B0502020202020204" pitchFamily="34" charset="0"/>
                  </a:rPr>
                  <a:t>:</a:t>
                </a:r>
              </a:p>
              <a:p>
                <a:r>
                  <a:rPr lang="es-CO" sz="2000" dirty="0">
                    <a:latin typeface="Century Gothic" panose="020B0502020202020204" pitchFamily="34" charset="0"/>
                  </a:rPr>
                  <a:t>A continuación se muestran las variables y sus valores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𝑍</m:t>
                    </m:r>
                    <m:r>
                      <a:rPr lang="es-MX" sz="2000" b="0" i="1" smtClean="0">
                        <a:latin typeface="Cambria Math"/>
                      </a:rPr>
                      <m:t>=23</m:t>
                    </m:r>
                  </m:oMath>
                </a14:m>
                <a:endParaRPr lang="es-MX" sz="2000" b="0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2000" b="0" i="0" smtClean="0">
                        <a:latin typeface="Cambria Math"/>
                      </a:rPr>
                      <m:t>X</m:t>
                    </m:r>
                    <m:r>
                      <a:rPr lang="es-MX" sz="2000" i="1">
                        <a:latin typeface="Cambria Math"/>
                      </a:rPr>
                      <m:t>=3</m:t>
                    </m:r>
                    <m:r>
                      <a:rPr lang="es-MX" sz="2000" b="0" i="1" smtClean="0">
                        <a:latin typeface="Cambria Math"/>
                      </a:rPr>
                      <m:t>4</m:t>
                    </m:r>
                  </m:oMath>
                </a14:m>
                <a:endParaRPr lang="es-MX" sz="2000" b="0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𝐿</m:t>
                    </m:r>
                    <m:r>
                      <a:rPr lang="es-MX" sz="2000" b="0" i="1" smtClean="0">
                        <a:latin typeface="Cambria Math"/>
                      </a:rPr>
                      <m:t>=</m:t>
                    </m:r>
                    <m:r>
                      <a:rPr lang="es-MX" sz="2000" b="0" i="1" smtClean="0">
                        <a:latin typeface="Cambria Math"/>
                      </a:rPr>
                      <m:t>𝑉</m:t>
                    </m:r>
                  </m:oMath>
                </a14:m>
                <a:endParaRPr lang="es-CO" sz="2000" dirty="0"/>
              </a:p>
            </p:txBody>
          </p:sp>
        </mc:Choice>
        <mc:Fallback xmlns="">
          <p:sp>
            <p:nvSpPr>
              <p:cNvPr id="7" name="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06" y="820819"/>
                <a:ext cx="8375872" cy="1631216"/>
              </a:xfrm>
              <a:prstGeom prst="rect">
                <a:avLst/>
              </a:prstGeom>
              <a:blipFill>
                <a:blip r:embed="rId2"/>
                <a:stretch>
                  <a:fillRect l="-728" t="-2247" b="-449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5 Grupo"/>
          <p:cNvGrpSpPr/>
          <p:nvPr/>
        </p:nvGrpSpPr>
        <p:grpSpPr>
          <a:xfrm>
            <a:off x="234094" y="3477945"/>
            <a:ext cx="2406171" cy="1200329"/>
            <a:chOff x="356220" y="1988840"/>
            <a:chExt cx="2406171" cy="120032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7 CuadroTexto"/>
                <p:cNvSpPr txBox="1"/>
                <p:nvPr/>
              </p:nvSpPr>
              <p:spPr>
                <a:xfrm>
                  <a:off x="762100" y="1988840"/>
                  <a:ext cx="2000291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𝑍</m:t>
                            </m:r>
                            <m:r>
                              <a:rPr lang="es-MX" b="0" i="1" smtClean="0">
                                <a:latin typeface="Cambria Math"/>
                              </a:rPr>
                              <m:t> &gt; 50</m:t>
                            </m:r>
                          </m:e>
                        </m:d>
                        <m:r>
                          <a:rPr lang="es-MX" b="0" i="1" smtClean="0">
                            <a:latin typeface="Cambria Math"/>
                          </a:rPr>
                          <m:t> 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s-MX" b="0" i="1" smtClean="0">
                            <a:latin typeface="Cambria Math"/>
                          </a:rPr>
                          <m:t> </m:t>
                        </m:r>
                        <m:r>
                          <a:rPr lang="es-MX" b="0" i="1" smtClean="0">
                            <a:latin typeface="Cambria Math"/>
                          </a:rPr>
                          <m:t>𝐿</m:t>
                        </m:r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23</m:t>
                            </m:r>
                            <m:r>
                              <a:rPr lang="es-MX" b="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 &gt; 50</m:t>
                            </m:r>
                          </m:e>
                        </m:d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s-MX" b="0" i="1">
                            <a:latin typeface="Cambria Math"/>
                          </a:rPr>
                          <m:t> </m:t>
                        </m:r>
                        <m:r>
                          <a:rPr lang="es-MX" b="0" i="1" smtClean="0">
                            <a:latin typeface="Cambria Math"/>
                          </a:rPr>
                          <m:t>𝑉</m:t>
                        </m:r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𝐹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&amp; 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oMath>
                    </m:oMathPara>
                  </a14:m>
                  <a:endParaRPr lang="es-MX" i="1" dirty="0">
                    <a:solidFill>
                      <a:srgbClr val="FF0000"/>
                    </a:solidFill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𝐹</m:t>
                        </m:r>
                      </m:oMath>
                    </m:oMathPara>
                  </a14:m>
                  <a:endParaRPr lang="es-MX" i="1" dirty="0">
                    <a:solidFill>
                      <a:srgbClr val="00B050"/>
                    </a:solidFill>
                    <a:latin typeface="Cambria Math"/>
                  </a:endParaRPr>
                </a:p>
              </p:txBody>
            </p:sp>
          </mc:Choice>
          <mc:Fallback>
            <p:sp>
              <p:nvSpPr>
                <p:cNvPr id="8" name="7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2000291" cy="120032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8 Rectángulo"/>
            <p:cNvSpPr/>
            <p:nvPr/>
          </p:nvSpPr>
          <p:spPr>
            <a:xfrm>
              <a:off x="356220" y="1988840"/>
              <a:ext cx="3962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c.</a:t>
              </a:r>
            </a:p>
          </p:txBody>
        </p:sp>
      </p:grpSp>
      <p:grpSp>
        <p:nvGrpSpPr>
          <p:cNvPr id="10" name="9 Grupo"/>
          <p:cNvGrpSpPr/>
          <p:nvPr/>
        </p:nvGrpSpPr>
        <p:grpSpPr>
          <a:xfrm>
            <a:off x="2829437" y="3477945"/>
            <a:ext cx="1338508" cy="923330"/>
            <a:chOff x="356220" y="1988840"/>
            <a:chExt cx="1338508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10 CuadroTexto"/>
                <p:cNvSpPr txBox="1"/>
                <p:nvPr/>
              </p:nvSpPr>
              <p:spPr>
                <a:xfrm>
                  <a:off x="762100" y="1988840"/>
                  <a:ext cx="932628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CO" b="0" i="1" smtClean="0">
                            <a:latin typeface="Cambria Math"/>
                          </a:rPr>
                          <m:t>𝑛𝑜𝑡</m:t>
                        </m:r>
                        <m:d>
                          <m:dPr>
                            <m:ctrlPr>
                              <a:rPr lang="es-C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CO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𝑛𝑜𝑡</m:t>
                        </m:r>
                        <m:d>
                          <m:dPr>
                            <m:ctrlPr>
                              <a:rPr lang="es-CO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</m:d>
                      </m:oMath>
                    </m:oMathPara>
                  </a14:m>
                  <a:endParaRPr lang="es-MX" i="1" dirty="0">
                    <a:solidFill>
                      <a:srgbClr val="00B050"/>
                    </a:solidFill>
                    <a:latin typeface="Cambria Math"/>
                  </a:endParaRPr>
                </a:p>
                <a:p>
                  <a:r>
                    <a:rPr lang="es-MX" i="1" dirty="0">
                      <a:solidFill>
                        <a:srgbClr val="00B050"/>
                      </a:solidFill>
                      <a:latin typeface="Cambria Math"/>
                    </a:rPr>
                    <a:t>F</a:t>
                  </a:r>
                </a:p>
              </p:txBody>
            </p:sp>
          </mc:Choice>
          <mc:Fallback xmlns="">
            <p:sp>
              <p:nvSpPr>
                <p:cNvPr id="11" name="10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932628" cy="923330"/>
                </a:xfrm>
                <a:prstGeom prst="rect">
                  <a:avLst/>
                </a:prstGeom>
                <a:blipFill>
                  <a:blip r:embed="rId4"/>
                  <a:stretch>
                    <a:fillRect l="-5882" b="-9272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11 Rectángulo"/>
            <p:cNvSpPr/>
            <p:nvPr/>
          </p:nvSpPr>
          <p:spPr>
            <a:xfrm>
              <a:off x="356220" y="1988840"/>
              <a:ext cx="4010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d.</a:t>
              </a:r>
            </a:p>
          </p:txBody>
        </p:sp>
      </p:grpSp>
      <p:grpSp>
        <p:nvGrpSpPr>
          <p:cNvPr id="13" name="12 Grupo"/>
          <p:cNvGrpSpPr/>
          <p:nvPr/>
        </p:nvGrpSpPr>
        <p:grpSpPr>
          <a:xfrm>
            <a:off x="4499865" y="3477945"/>
            <a:ext cx="4248599" cy="2031325"/>
            <a:chOff x="356220" y="1988840"/>
            <a:chExt cx="4248599" cy="20313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13 CuadroTexto"/>
                <p:cNvSpPr txBox="1"/>
                <p:nvPr/>
              </p:nvSpPr>
              <p:spPr>
                <a:xfrm>
                  <a:off x="762100" y="1988840"/>
                  <a:ext cx="3842719" cy="20313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Z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 &gt; 100)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 &lt; 3)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or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CO" i="1">
                            <a:latin typeface="Cambria Math"/>
                          </a:rPr>
                          <m:t>not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))</m:t>
                        </m:r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23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 &gt; 100)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24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 &lt; 3)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or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MX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not</m:t>
                        </m:r>
                        <m:r>
                          <m:rPr>
                            <m:nor/>
                          </m:rPr>
                          <a:rPr lang="es-MX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s-MX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s-MX" i="1" dirty="0">
                    <a:solidFill>
                      <a:schemeClr val="tx1"/>
                    </a:solidFill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CO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23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&gt; 100)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24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 &lt; 3)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or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F</m:t>
                        </m:r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24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&lt; 3)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or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F</m:t>
                        </m:r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or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F</m:t>
                        </m:r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F</m:t>
                        </m:r>
                      </m:oMath>
                    </m:oMathPara>
                  </a14:m>
                  <a:endParaRPr lang="es-MX" i="1" dirty="0">
                    <a:solidFill>
                      <a:srgbClr val="FF0000"/>
                    </a:solidFill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F</m:t>
                        </m:r>
                      </m:oMath>
                    </m:oMathPara>
                  </a14:m>
                  <a:endParaRPr lang="es-MX" i="1" dirty="0">
                    <a:solidFill>
                      <a:srgbClr val="00B050"/>
                    </a:solidFill>
                    <a:latin typeface="Cambria Math"/>
                  </a:endParaRPr>
                </a:p>
              </p:txBody>
            </p:sp>
          </mc:Choice>
          <mc:Fallback xmlns="">
            <p:sp>
              <p:nvSpPr>
                <p:cNvPr id="14" name="13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3842719" cy="2031325"/>
                </a:xfrm>
                <a:prstGeom prst="rect">
                  <a:avLst/>
                </a:prstGeom>
                <a:blipFill>
                  <a:blip r:embed="rId5"/>
                  <a:stretch>
                    <a:fillRect l="-47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14 Rectángulo"/>
            <p:cNvSpPr/>
            <p:nvPr/>
          </p:nvSpPr>
          <p:spPr>
            <a:xfrm>
              <a:off x="356220" y="1988840"/>
              <a:ext cx="3962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0038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9354" y="136524"/>
            <a:ext cx="7886700" cy="730188"/>
          </a:xfrm>
        </p:spPr>
        <p:txBody>
          <a:bodyPr/>
          <a:lstStyle/>
          <a:p>
            <a:r>
              <a:rPr lang="en-US" sz="2800" dirty="0"/>
              <a:t>Ejercicios de repaso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39354" y="944724"/>
                <a:ext cx="8424936" cy="4968552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s-CO" sz="2000" dirty="0"/>
                  <a:t>Escriba las siguientes expresiones algebraicas como expresiones algorítmicas:</a:t>
                </a:r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s-MX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s-MX" sz="2000" b="0" i="1" smtClean="0">
                        <a:latin typeface="Cambria Math"/>
                      </a:rPr>
                      <m:t>+4</m:t>
                    </m:r>
                    <m:r>
                      <a:rPr lang="es-MX" sz="2000" b="0" i="1" smtClean="0">
                        <a:latin typeface="Cambria Math"/>
                      </a:rPr>
                      <m:t>𝑥𝑦𝑧</m:t>
                    </m:r>
                  </m:oMath>
                </a14:m>
                <a:endParaRPr lang="es-MX" sz="2000" b="0" dirty="0"/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MX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b="0" i="1" smtClean="0">
                            <a:latin typeface="Cambria Math"/>
                          </a:rPr>
                          <m:t>𝑥</m:t>
                        </m:r>
                        <m:r>
                          <a:rPr lang="es-MX" sz="2000" b="0" i="1" smtClean="0">
                            <a:latin typeface="Cambria Math"/>
                          </a:rPr>
                          <m:t>+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𝑦</m:t>
                        </m:r>
                      </m:num>
                      <m:den>
                        <m:r>
                          <a:rPr lang="es-MX" sz="2000" b="0" i="1" smtClean="0">
                            <a:latin typeface="Cambria Math"/>
                          </a:rPr>
                          <m:t>𝑧</m:t>
                        </m:r>
                      </m:den>
                    </m:f>
                    <m:r>
                      <a:rPr lang="es-MX" sz="2000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s-MX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b="0" i="1" smtClean="0">
                            <a:latin typeface="Cambria Math"/>
                          </a:rPr>
                          <m:t>3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s-MX" sz="2000" b="0" i="1" smtClean="0"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es-MX" sz="2000" b="0" i="1" smtClean="0">
                        <a:latin typeface="Cambria Math"/>
                      </a:rPr>
                      <m:t>+</m:t>
                    </m:r>
                    <m:r>
                      <a:rPr lang="es-MX" sz="2000" i="1">
                        <a:latin typeface="Cambria Math"/>
                      </a:rPr>
                      <m:t>4</m:t>
                    </m:r>
                    <m:r>
                      <a:rPr lang="es-MX" sz="2000" i="1">
                        <a:latin typeface="Cambria Math"/>
                      </a:rPr>
                      <m:t>𝑦</m:t>
                    </m:r>
                  </m:oMath>
                </a14:m>
                <a:endParaRPr lang="es-MX" sz="2000" dirty="0"/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MX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b="0" i="1" smtClean="0">
                            <a:latin typeface="Cambria Math"/>
                          </a:rPr>
                          <m:t>−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𝑏</m:t>
                        </m:r>
                        <m:r>
                          <a:rPr lang="es-MX" sz="2000" b="0" i="1" smtClean="0">
                            <a:latin typeface="Cambria Math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MX" sz="2000" b="0" i="1" smtClean="0">
                                    <a:latin typeface="Cambria Math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s-MX" sz="20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MX" sz="2000" b="0" i="1" smtClean="0">
                                <a:latin typeface="Cambria Math"/>
                              </a:rPr>
                              <m:t>−4</m:t>
                            </m:r>
                            <m:r>
                              <a:rPr lang="es-MX" sz="2000" b="0" i="1" smtClean="0">
                                <a:latin typeface="Cambria Math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lang="es-MX" sz="2000" b="0" i="1" smtClean="0">
                            <a:latin typeface="Cambria Math"/>
                          </a:rPr>
                          <m:t>2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𝑎</m:t>
                        </m:r>
                      </m:den>
                    </m:f>
                  </m:oMath>
                </a14:m>
                <a:endParaRPr lang="es-MX" sz="2000" dirty="0"/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MX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MX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000" b="0" i="1" smtClean="0">
                                <a:latin typeface="Cambria Math"/>
                              </a:rPr>
                              <m:t>4</m:t>
                            </m:r>
                            <m:r>
                              <a:rPr lang="es-MX" sz="2000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s-MX" sz="20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s-MX" sz="2000" b="0" i="1" smtClean="0">
                            <a:latin typeface="Cambria Math"/>
                          </a:rPr>
                          <m:t>−2</m:t>
                        </m:r>
                        <m:r>
                          <a:rPr lang="es-MX" sz="2000" i="1">
                            <a:latin typeface="Cambria Math"/>
                          </a:rPr>
                          <m:t>𝑥</m:t>
                        </m:r>
                        <m:r>
                          <a:rPr lang="es-MX" sz="2000" b="0" i="1" smtClean="0">
                            <a:latin typeface="Cambria Math"/>
                          </a:rPr>
                          <m:t>+8</m:t>
                        </m:r>
                      </m:num>
                      <m:den>
                        <m:r>
                          <a:rPr lang="es-MX" sz="2000" b="0" i="1" smtClean="0">
                            <a:latin typeface="Cambria Math"/>
                          </a:rPr>
                          <m:t>𝑐</m:t>
                        </m:r>
                        <m:r>
                          <a:rPr lang="es-MX" sz="2000" b="0" i="1" smtClean="0">
                            <a:latin typeface="Cambria Math"/>
                          </a:rPr>
                          <m:t>−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𝑑</m:t>
                        </m:r>
                      </m:den>
                    </m:f>
                  </m:oMath>
                </a14:m>
                <a:endParaRPr lang="es-MX" sz="17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CO" sz="2000" dirty="0"/>
                  <a:t>Escriba las siguientes expresiones algebraicas como expresiones algorítmicas:</a:t>
                </a:r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𝑏</m:t>
                    </m:r>
                    <m:r>
                      <a:rPr lang="es-MX" sz="2000" b="0" i="1" smtClean="0">
                        <a:latin typeface="Cambria Math"/>
                      </a:rPr>
                      <m:t>∗∗2−</m:t>
                    </m:r>
                    <m:r>
                      <a:rPr lang="es-MX" sz="2000" b="0" i="1" smtClean="0">
                        <a:latin typeface="Cambria Math"/>
                      </a:rPr>
                      <m:t>𝑥</m:t>
                    </m:r>
                    <m:r>
                      <a:rPr lang="es-MX" sz="2000" b="0" i="1" smtClean="0">
                        <a:latin typeface="Cambria Math"/>
                      </a:rPr>
                      <m:t>∗</m:t>
                    </m:r>
                    <m:r>
                      <a:rPr lang="es-MX" sz="2000" b="0" i="1" smtClean="0">
                        <a:latin typeface="Cambria Math"/>
                      </a:rPr>
                      <m:t>𝑦</m:t>
                    </m:r>
                  </m:oMath>
                </a14:m>
                <a:endParaRPr lang="es-CO" sz="1600" dirty="0"/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>
                        <a:latin typeface="Cambria Math"/>
                      </a:rPr>
                      <m:t>𝑥</m:t>
                    </m:r>
                    <m:r>
                      <a:rPr lang="es-MX" sz="2000" i="1">
                        <a:latin typeface="Cambria Math"/>
                      </a:rPr>
                      <m:t>∗</m:t>
                    </m:r>
                    <m:r>
                      <a:rPr lang="es-MX" sz="2000" i="1">
                        <a:latin typeface="Cambria Math"/>
                      </a:rPr>
                      <m:t>𝑦</m:t>
                    </m:r>
                    <m:r>
                      <a:rPr lang="es-MX" sz="2000" b="0" i="1" smtClean="0">
                        <a:latin typeface="Cambria Math"/>
                      </a:rPr>
                      <m:t>−</m:t>
                    </m:r>
                    <m:r>
                      <a:rPr lang="es-MX" sz="2000" b="0" i="1" smtClean="0">
                        <a:latin typeface="Cambria Math"/>
                      </a:rPr>
                      <m:t>𝑦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∗∗</m:t>
                    </m:r>
                    <m:r>
                      <a:rPr lang="es-MX" sz="2000" b="0" i="1" smtClean="0">
                        <a:latin typeface="Cambria Math"/>
                      </a:rPr>
                      <m:t>(1/2)</m:t>
                    </m:r>
                  </m:oMath>
                </a14:m>
                <a:endParaRPr lang="es-CO" sz="2000" dirty="0"/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((</m:t>
                    </m:r>
                    <m:f>
                      <m:fPr>
                        <m:type m:val="lin"/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i="1">
                            <a:latin typeface="Cambria Math"/>
                          </a:rPr>
                          <m:t>(</m:t>
                        </m:r>
                        <m:r>
                          <a:rPr lang="es-MX" sz="2000" i="1">
                            <a:latin typeface="Cambria Math"/>
                          </a:rPr>
                          <m:t>𝐵</m:t>
                        </m:r>
                        <m:r>
                          <a:rPr lang="es-MX" sz="2000" i="1">
                            <a:latin typeface="Cambria Math"/>
                          </a:rPr>
                          <m:t>+</m:t>
                        </m:r>
                        <m:r>
                          <a:rPr lang="es-MX" sz="2000" i="1">
                            <a:latin typeface="Cambria Math"/>
                          </a:rPr>
                          <m:t>𝐶</m:t>
                        </m:r>
                        <m:r>
                          <a:rPr lang="es-MX" sz="2000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s-MX" sz="2000" b="0" i="1" smtClean="0">
                            <a:latin typeface="Cambria Math"/>
                          </a:rPr>
                          <m:t>2∗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𝐴</m:t>
                        </m:r>
                        <m:r>
                          <a:rPr lang="es-MX" sz="2000" b="0" i="1" smtClean="0">
                            <a:latin typeface="Cambria Math"/>
                          </a:rPr>
                          <m:t>+10)∗3∗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𝐵</m:t>
                        </m:r>
                        <m:r>
                          <a:rPr lang="es-MX" sz="2000" b="0" i="1" smtClean="0">
                            <a:latin typeface="Cambria Math"/>
                          </a:rPr>
                          <m:t>)−6</m:t>
                        </m:r>
                      </m:den>
                    </m:f>
                  </m:oMath>
                </a14:m>
                <a:endParaRPr lang="es-CO" sz="2000" dirty="0"/>
              </a:p>
              <a:p>
                <a:pPr marL="800100" lvl="1" indent="-342900">
                  <a:buFont typeface="+mj-lt"/>
                  <a:buAutoNum type="alphaLcPeriod"/>
                </a:pPr>
                <a:endParaRPr lang="es-CO" sz="1600" dirty="0"/>
              </a:p>
              <a:p>
                <a:pPr>
                  <a:buFont typeface="+mj-lt"/>
                  <a:buAutoNum type="arabicPeriod"/>
                </a:pPr>
                <a:endParaRPr lang="es-MX" sz="2400" b="0" dirty="0"/>
              </a:p>
              <a:p>
                <a:pPr lvl="1" indent="-342900">
                  <a:buFont typeface="+mj-lt"/>
                  <a:buAutoNum type="alphaLcPeriod"/>
                </a:pPr>
                <a:endParaRPr lang="es-CO" sz="2000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354" y="944724"/>
                <a:ext cx="8424936" cy="4968552"/>
              </a:xfrm>
              <a:blipFill>
                <a:blip r:embed="rId2"/>
                <a:stretch>
                  <a:fillRect l="-796" t="-147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959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51520" y="242813"/>
            <a:ext cx="7886700" cy="558270"/>
          </a:xfrm>
        </p:spPr>
        <p:txBody>
          <a:bodyPr/>
          <a:lstStyle/>
          <a:p>
            <a:r>
              <a:rPr lang="en-US" sz="2800" dirty="0"/>
              <a:t>Ejercicios de repaso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258416" y="908720"/>
                <a:ext cx="8424936" cy="4464496"/>
              </a:xfrm>
            </p:spPr>
            <p:txBody>
              <a:bodyPr>
                <a:normAutofit lnSpcReduction="10000"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s-CO" sz="2000" dirty="0"/>
                  <a:t>(</a:t>
                </a:r>
                <a:r>
                  <a:rPr lang="es-CO" sz="2000" b="1" dirty="0"/>
                  <a:t>Repaso</a:t>
                </a:r>
                <a:r>
                  <a:rPr lang="es-CO" sz="2000" dirty="0"/>
                  <a:t>) Cuales de los siguientes identificadores no son validos</a:t>
                </a:r>
              </a:p>
              <a:p>
                <a:pPr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 smtClean="0">
                        <a:latin typeface="Cambria Math"/>
                      </a:rPr>
                      <m:t>𝑋</m:t>
                    </m:r>
                    <m:r>
                      <a:rPr lang="es-MX" sz="2000" b="0" i="1" smtClean="0">
                        <a:latin typeface="Cambria Math"/>
                      </a:rPr>
                      <m:t>𝑅𝑎𝑦𝑜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𝑋</m:t>
                    </m:r>
                    <m:r>
                      <a:rPr lang="es-MX" sz="2000" b="0" i="1" smtClean="0">
                        <a:latin typeface="Cambria Math"/>
                      </a:rPr>
                      <m:t>_</m:t>
                    </m:r>
                    <m:r>
                      <a:rPr lang="es-MX" sz="2000" b="0" i="1" smtClean="0">
                        <a:latin typeface="Cambria Math"/>
                      </a:rPr>
                      <m:t>𝑅𝑎𝑦𝑜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𝑅</m:t>
                    </m:r>
                    <m:r>
                      <a:rPr lang="es-MX" sz="2000" b="0" i="1" smtClean="0">
                        <a:latin typeface="Cambria Math"/>
                      </a:rPr>
                      <m:t>2</m:t>
                    </m:r>
                    <m:r>
                      <a:rPr lang="es-MX" sz="2000" b="0" i="1" smtClean="0">
                        <a:latin typeface="Cambria Math"/>
                      </a:rPr>
                      <m:t>𝐷</m:t>
                    </m:r>
                    <m:r>
                      <a:rPr lang="es-MX" sz="2000" b="0" i="1" smtClean="0">
                        <a:latin typeface="Cambria Math"/>
                      </a:rPr>
                      <m:t>2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 smtClean="0">
                        <a:latin typeface="Cambria Math"/>
                      </a:rPr>
                      <m:t>𝑋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45</m:t>
                    </m:r>
                  </m:oMath>
                </a14:m>
                <a:endParaRPr lang="es-MX" sz="2000" b="0" i="1" dirty="0">
                  <a:latin typeface="Cambria Math"/>
                </a:endParaRPr>
              </a:p>
              <a:p>
                <a:pPr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𝑁</m:t>
                    </m:r>
                    <m:r>
                      <a:rPr lang="es-MX" sz="2000" b="0" i="1" smtClean="0">
                        <a:latin typeface="Cambria Math"/>
                      </a:rPr>
                      <m:t>14</m:t>
                    </m:r>
                  </m:oMath>
                </a14:m>
                <a:endParaRPr lang="es-MX" sz="2000" b="0" i="1" dirty="0">
                  <a:latin typeface="Cambria Math"/>
                </a:endParaRPr>
              </a:p>
              <a:p>
                <a:pPr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𝑍𝑍𝑍𝑍</m:t>
                    </m:r>
                  </m:oMath>
                </a14:m>
                <a:endParaRPr lang="es-MX" sz="2000" b="0" i="1" dirty="0">
                  <a:latin typeface="Cambria Math"/>
                </a:endParaRPr>
              </a:p>
              <a:p>
                <a:pPr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3</m:t>
                    </m:r>
                    <m:r>
                      <a:rPr lang="es-MX" sz="2000" b="0" i="1" smtClean="0">
                        <a:latin typeface="Cambria Math"/>
                      </a:rPr>
                      <m:t>𝑢</m:t>
                    </m:r>
                  </m:oMath>
                </a14:m>
                <a:endParaRPr lang="es-CO" sz="2000" dirty="0"/>
              </a:p>
              <a:p>
                <a:pPr indent="-342900">
                  <a:buFont typeface="+mj-lt"/>
                  <a:buAutoNum type="arabicPeriod" startAt="3"/>
                </a:pPr>
                <a:r>
                  <a:rPr lang="es-CO" sz="2000" dirty="0"/>
                  <a:t>Si el valor de A es 2, el de B es 3 y el de C es 2, evaluar la siguiente expresión:</a:t>
                </a:r>
              </a:p>
              <a:p>
                <a:pPr marL="400050">
                  <a:buFont typeface="+mj-lt"/>
                  <a:buAutoNum type="arabicPeriod" startAt="3"/>
                </a:pPr>
                <a:endParaRPr lang="es-CO" sz="2000" dirty="0"/>
              </a:p>
              <a:p>
                <a:pPr marL="57150" lvl="1" indent="0" algn="ctr">
                  <a:buNone/>
                </a:pPr>
                <a:r>
                  <a:rPr lang="es-CO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2000" b="0" i="0" smtClean="0">
                        <a:latin typeface="Cambria Math"/>
                      </a:rPr>
                      <m:t>A</m:t>
                    </m:r>
                    <m:r>
                      <a:rPr lang="es-MX" sz="2000" b="0" i="0" smtClean="0">
                        <a:latin typeface="Cambria Math"/>
                      </a:rPr>
                      <m:t>∗∗</m:t>
                    </m:r>
                    <m:r>
                      <a:rPr lang="es-MX" sz="2000" b="0" i="1" smtClean="0">
                        <a:latin typeface="Cambria Math"/>
                      </a:rPr>
                      <m:t>𝐵</m:t>
                    </m:r>
                    <m:r>
                      <a:rPr lang="es-MX" sz="2000" b="0" i="1" smtClean="0">
                        <a:latin typeface="Cambria Math"/>
                      </a:rPr>
                      <m:t>∗∗</m:t>
                    </m:r>
                    <m:r>
                      <a:rPr lang="es-MX" sz="2000" b="0" i="1" smtClean="0">
                        <a:latin typeface="Cambria Math"/>
                      </a:rPr>
                      <m:t>𝐶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marL="57150" indent="0">
                  <a:buNone/>
                </a:pPr>
                <a:endParaRPr lang="es-CO" sz="2000" dirty="0"/>
              </a:p>
              <a:p>
                <a:pPr>
                  <a:buFont typeface="+mj-lt"/>
                  <a:buAutoNum type="arabicPeriod" startAt="3"/>
                </a:pPr>
                <a:endParaRPr lang="es-MX" sz="2400" b="0" dirty="0"/>
              </a:p>
              <a:p>
                <a:pPr lvl="1" indent="-342900">
                  <a:buFont typeface="+mj-lt"/>
                  <a:buAutoNum type="alphaLcPeriod"/>
                </a:pPr>
                <a:endParaRPr lang="es-CO" sz="2000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416" y="908720"/>
                <a:ext cx="8424936" cy="4464496"/>
              </a:xfrm>
              <a:blipFill>
                <a:blip r:embed="rId2"/>
                <a:stretch>
                  <a:fillRect l="-796" t="-218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38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7504" y="202186"/>
            <a:ext cx="7886700" cy="629733"/>
          </a:xfrm>
        </p:spPr>
        <p:txBody>
          <a:bodyPr/>
          <a:lstStyle/>
          <a:p>
            <a:r>
              <a:rPr lang="en-US" sz="2800" dirty="0"/>
              <a:t>Ejercicios de repaso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36104" y="980728"/>
                <a:ext cx="8424936" cy="4625750"/>
              </a:xfrm>
            </p:spPr>
            <p:txBody>
              <a:bodyPr>
                <a:normAutofit/>
              </a:bodyPr>
              <a:lstStyle/>
              <a:p>
                <a:pPr marL="514350" indent="-457200">
                  <a:buFont typeface="+mj-lt"/>
                  <a:buAutoNum type="arabicPeriod" startAt="5"/>
                </a:pPr>
                <a:r>
                  <a:rPr lang="es-CO" sz="2000" dirty="0"/>
                  <a:t>Si el valor de A es 4, el de B es 5 y el de C es 1, evaluar las siguientes expresiones:</a:t>
                </a:r>
              </a:p>
              <a:p>
                <a:pPr marL="91440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 smtClean="0">
                        <a:latin typeface="Cambria Math"/>
                      </a:rPr>
                      <m:t>𝐵</m:t>
                    </m:r>
                    <m:r>
                      <a:rPr lang="es-MX" sz="2000" b="0" i="1" smtClean="0">
                        <a:latin typeface="Cambria Math"/>
                      </a:rPr>
                      <m:t>∗</m:t>
                    </m:r>
                    <m:r>
                      <a:rPr lang="es-MX" sz="2000" b="0" i="1" smtClean="0">
                        <a:latin typeface="Cambria Math"/>
                      </a:rPr>
                      <m:t>𝐴</m:t>
                    </m:r>
                    <m:r>
                      <a:rPr lang="es-MX" sz="2000" b="0" i="1" smtClean="0">
                        <a:latin typeface="Cambria Math"/>
                      </a:rPr>
                      <m:t>−</m:t>
                    </m:r>
                    <m:f>
                      <m:fPr>
                        <m:type m:val="lin"/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b="0" i="1" smtClean="0">
                            <a:latin typeface="Cambria Math"/>
                          </a:rPr>
                          <m:t>𝐵</m:t>
                        </m:r>
                        <m:r>
                          <a:rPr lang="es-MX" sz="2000" b="0" i="1" smtClean="0">
                            <a:latin typeface="Cambria Math"/>
                          </a:rPr>
                          <m:t>∗∗2</m:t>
                        </m:r>
                      </m:num>
                      <m:den>
                        <m:r>
                          <a:rPr lang="es-MX" sz="2000" b="0" i="1" smtClean="0">
                            <a:latin typeface="Cambria Math"/>
                          </a:rPr>
                          <m:t>4∗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𝐶</m:t>
                        </m:r>
                      </m:den>
                    </m:f>
                  </m:oMath>
                </a14:m>
                <a:endParaRPr lang="es-MX" sz="2000" i="1" dirty="0">
                  <a:latin typeface="Cambria Math"/>
                </a:endParaRPr>
              </a:p>
              <a:p>
                <a:pPr marL="85725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s-MX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i="1">
                            <a:latin typeface="Cambria Math"/>
                          </a:rPr>
                          <m:t>(</m:t>
                        </m:r>
                        <m:r>
                          <a:rPr lang="es-MX" sz="2000" i="1">
                            <a:latin typeface="Cambria Math"/>
                          </a:rPr>
                          <m:t>𝐴</m:t>
                        </m:r>
                        <m:r>
                          <a:rPr lang="es-MX" sz="2000" i="1">
                            <a:latin typeface="Cambria Math"/>
                          </a:rPr>
                          <m:t>∗</m:t>
                        </m:r>
                        <m:r>
                          <a:rPr lang="es-MX" sz="2000" i="1">
                            <a:latin typeface="Cambria Math"/>
                          </a:rPr>
                          <m:t>𝐵</m:t>
                        </m:r>
                        <m:r>
                          <a:rPr lang="es-MX" sz="2000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s-MX" sz="2000" b="0" i="1" smtClean="0">
                            <a:latin typeface="Cambria Math"/>
                          </a:rPr>
                          <m:t>3∗∗2</m:t>
                        </m:r>
                      </m:den>
                    </m:f>
                  </m:oMath>
                </a14:m>
                <a:endParaRPr lang="es-MX" sz="2000" i="1" dirty="0">
                  <a:latin typeface="Cambria Math"/>
                </a:endParaRPr>
              </a:p>
              <a:p>
                <a:pPr marL="85725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  <m:r>
                                      <a:rPr lang="es-MX" sz="2000" b="0" i="1" smtClean="0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s-MX" sz="2000" b="0" i="1" smtClean="0">
                                        <a:latin typeface="Cambria Math"/>
                                      </a:rPr>
                                      <m:t>𝐶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s-MX" sz="2000" b="0" i="1" smtClean="0">
                                    <a:latin typeface="Cambria Math"/>
                                  </a:rPr>
                                  <m:t>2∗</m:t>
                                </m:r>
                                <m:r>
                                  <a:rPr lang="es-MX" sz="2000" b="0" i="1" smtClean="0">
                                    <a:latin typeface="Cambria Math"/>
                                  </a:rPr>
                                  <m:t>𝐴</m:t>
                                </m:r>
                              </m:den>
                            </m:f>
                            <m:r>
                              <a:rPr lang="es-MX" sz="2000" b="0" i="1" smtClean="0">
                                <a:latin typeface="Cambria Math"/>
                              </a:rPr>
                              <m:t>+10</m:t>
                            </m:r>
                          </m:e>
                        </m:d>
                        <m:r>
                          <a:rPr lang="es-MX" sz="2000" b="0" i="1" smtClean="0">
                            <a:latin typeface="Cambria Math"/>
                          </a:rPr>
                          <m:t>∗3∗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s-MX" sz="2000" b="0" i="1" smtClean="0">
                        <a:latin typeface="Cambria Math"/>
                      </a:rPr>
                      <m:t>−6</m:t>
                    </m:r>
                  </m:oMath>
                </a14:m>
                <a:endParaRPr lang="es-CO" sz="2000" dirty="0"/>
              </a:p>
              <a:p>
                <a:pPr marL="514350" indent="-457200">
                  <a:buFont typeface="+mj-lt"/>
                  <a:buAutoNum type="arabicPeriod" startAt="5"/>
                </a:pPr>
                <a:r>
                  <a:rPr lang="es-CO" sz="2000" dirty="0"/>
                  <a:t>Obtener el valor de cada una de las siguientes expresiones aritméticas:</a:t>
                </a:r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>
                        <a:latin typeface="Cambria Math"/>
                        <a:ea typeface="Cambria Math"/>
                      </a:rPr>
                      <m:t>7</m:t>
                    </m:r>
                    <m:r>
                      <a:rPr lang="es-MX" sz="2000" b="0" i="1" smtClean="0">
                        <a:latin typeface="Cambria Math"/>
                        <a:ea typeface="Cambria Math"/>
                      </a:rPr>
                      <m:t>∕∕2</m:t>
                    </m:r>
                  </m:oMath>
                </a14:m>
                <a:endParaRPr lang="es-MX" sz="2000" b="0" i="1" dirty="0">
                  <a:latin typeface="Cambria Math"/>
                </a:endParaRPr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7%2</m:t>
                    </m:r>
                  </m:oMath>
                </a14:m>
                <a:endParaRPr lang="es-MX" sz="2000" b="0" dirty="0"/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  <a:ea typeface="Cambria Math"/>
                      </a:rPr>
                      <m:t>12</m:t>
                    </m:r>
                    <m:r>
                      <a:rPr lang="es-MX" sz="2000" i="1">
                        <a:latin typeface="Cambria Math"/>
                        <a:ea typeface="Cambria Math"/>
                      </a:rPr>
                      <m:t>∕∕</m:t>
                    </m:r>
                    <m:r>
                      <a:rPr lang="es-MX" sz="2000" b="0" i="1" smtClean="0">
                        <a:latin typeface="Cambria Math"/>
                        <a:ea typeface="Cambria Math"/>
                      </a:rPr>
                      <m:t>3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  <a:ea typeface="Cambria Math"/>
                      </a:rPr>
                      <m:t>0%5</m:t>
                    </m:r>
                  </m:oMath>
                </a14:m>
                <a:endParaRPr lang="es-MX" sz="2000" b="0" i="1" dirty="0">
                  <a:latin typeface="Cambria Math"/>
                  <a:ea typeface="Cambria Math"/>
                </a:endParaRPr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  <a:ea typeface="Cambria Math"/>
                      </a:rPr>
                      <m:t>15%5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>
                        <a:latin typeface="Cambria Math"/>
                        <a:ea typeface="Cambria Math"/>
                      </a:rPr>
                      <m:t>7</m:t>
                    </m:r>
                    <m:r>
                      <a:rPr lang="es-MX" sz="2000" b="0" i="1" smtClean="0">
                        <a:latin typeface="Cambria Math"/>
                        <a:ea typeface="Cambria Math"/>
                      </a:rPr>
                      <m:t>∗10−50%3∗4+9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s-MX" sz="2000" i="1">
                        <a:latin typeface="Cambria Math"/>
                        <a:ea typeface="Cambria Math"/>
                      </a:rPr>
                      <m:t>7∗</m:t>
                    </m:r>
                    <m:r>
                      <a:rPr lang="es-MX" sz="20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s-MX" sz="2000" i="1">
                        <a:latin typeface="Cambria Math"/>
                        <a:ea typeface="Cambria Math"/>
                      </a:rPr>
                      <m:t>10−50</m:t>
                    </m:r>
                    <m:r>
                      <a:rPr lang="es-MX" sz="2000" b="0" i="1" smtClean="0">
                        <a:latin typeface="Cambria Math"/>
                        <a:ea typeface="Cambria Math"/>
                      </a:rPr>
                      <m:t>)</m:t>
                    </m:r>
                    <m:r>
                      <a:rPr lang="es-MX" sz="2000" i="1">
                        <a:latin typeface="Cambria Math"/>
                        <a:ea typeface="Cambria Math"/>
                      </a:rPr>
                      <m:t>%3</m:t>
                    </m:r>
                    <m:r>
                      <a:rPr lang="es-MX" sz="2000" b="0" i="1" smtClean="0">
                        <a:latin typeface="Cambria Math"/>
                        <a:ea typeface="Cambria Math"/>
                      </a:rPr>
                      <m:t>)</m:t>
                    </m:r>
                    <m:r>
                      <a:rPr lang="es-MX" sz="2000" i="1">
                        <a:latin typeface="Cambria Math"/>
                        <a:ea typeface="Cambria Math"/>
                      </a:rPr>
                      <m:t>∗4+9</m:t>
                    </m:r>
                  </m:oMath>
                </a14:m>
                <a:endParaRPr lang="es-MX" sz="2000" i="1" dirty="0">
                  <a:latin typeface="Cambria Math"/>
                </a:endParaRPr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6104" y="980728"/>
                <a:ext cx="8424936" cy="4625750"/>
              </a:xfrm>
              <a:blipFill>
                <a:blip r:embed="rId2"/>
                <a:stretch>
                  <a:fillRect l="-145" t="-15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203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0054" y="286476"/>
            <a:ext cx="8229600" cy="766260"/>
          </a:xfrm>
        </p:spPr>
        <p:txBody>
          <a:bodyPr>
            <a:noAutofit/>
          </a:bodyPr>
          <a:lstStyle/>
          <a:p>
            <a:r>
              <a:rPr lang="es-CO" sz="2800" dirty="0"/>
              <a:t>Aplicando lo anterior a un lenguaje de programación especifico</a:t>
            </a:r>
          </a:p>
        </p:txBody>
      </p:sp>
      <p:sp>
        <p:nvSpPr>
          <p:cNvPr id="8" name="1 Marcador de contenido"/>
          <p:cNvSpPr>
            <a:spLocks noGrp="1"/>
          </p:cNvSpPr>
          <p:nvPr>
            <p:ph idx="1"/>
          </p:nvPr>
        </p:nvSpPr>
        <p:spPr>
          <a:xfrm>
            <a:off x="155316" y="1340768"/>
            <a:ext cx="8521140" cy="2376264"/>
          </a:xfrm>
        </p:spPr>
        <p:txBody>
          <a:bodyPr>
            <a:normAutofit/>
          </a:bodyPr>
          <a:lstStyle/>
          <a:p>
            <a:r>
              <a:rPr lang="es-MX" sz="2200" dirty="0"/>
              <a:t>Lo que vimos hoy es la convención más extendida (herencia de la notación matemática y de C).</a:t>
            </a:r>
          </a:p>
          <a:p>
            <a:r>
              <a:rPr lang="es-MX" sz="2200" dirty="0"/>
              <a:t>Pero prioridad y asociatividad son decisiones de diseño de cada lenguaje, no leyes fijas.</a:t>
            </a:r>
          </a:p>
          <a:p>
            <a:r>
              <a:rPr lang="es-MX" sz="2200" dirty="0"/>
              <a:t>Ante la duda: paréntesis explícitos, o consultar la documentación oficial del lenguaje.</a:t>
            </a:r>
            <a:endParaRPr lang="es-CO" sz="2200" dirty="0"/>
          </a:p>
        </p:txBody>
      </p:sp>
      <p:pic>
        <p:nvPicPr>
          <p:cNvPr id="1027" name="Picture 3" descr="Muere Dennis Ritchie, padre de C y de Unix - MuyLinux">
            <a:extLst>
              <a:ext uri="{FF2B5EF4-FFF2-40B4-BE49-F238E27FC236}">
                <a16:creationId xmlns:a16="http://schemas.microsoft.com/office/drawing/2014/main" id="{56F57705-EDAA-4B00-AAF6-0A678F56B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62" y="4110410"/>
            <a:ext cx="2020069" cy="2199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Guido's Personal Home Page">
            <a:extLst>
              <a:ext uri="{FF2B5EF4-FFF2-40B4-BE49-F238E27FC236}">
                <a16:creationId xmlns:a16="http://schemas.microsoft.com/office/drawing/2014/main" id="{0B413F66-4F68-40B2-9CCF-992FA86B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126" y="4309913"/>
            <a:ext cx="2245749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62976791-D14C-40D4-98F6-EC0C134B9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671" y="4127351"/>
            <a:ext cx="238125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8850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0054" y="286476"/>
            <a:ext cx="8229600" cy="766260"/>
          </a:xfrm>
        </p:spPr>
        <p:txBody>
          <a:bodyPr>
            <a:noAutofit/>
          </a:bodyPr>
          <a:lstStyle/>
          <a:p>
            <a:r>
              <a:rPr lang="es-MX" sz="2800" dirty="0"/>
              <a:t>Operadores lógicos — comparación entre lenguajes</a:t>
            </a:r>
            <a:endParaRPr lang="es-CO" sz="2800" dirty="0"/>
          </a:p>
        </p:txBody>
      </p:sp>
      <p:sp>
        <p:nvSpPr>
          <p:cNvPr id="8" name="1 Marcador de contenido"/>
          <p:cNvSpPr>
            <a:spLocks noGrp="1"/>
          </p:cNvSpPr>
          <p:nvPr>
            <p:ph idx="1"/>
          </p:nvPr>
        </p:nvSpPr>
        <p:spPr>
          <a:xfrm>
            <a:off x="162555" y="1006556"/>
            <a:ext cx="8521140" cy="5564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200" dirty="0"/>
              <a:t>El mismo concepto lógico, escrito distinto según el lenguaje:</a:t>
            </a:r>
          </a:p>
          <a:p>
            <a:r>
              <a:rPr lang="es-MX" sz="2000" dirty="0"/>
              <a:t>Cada lenguaje escribe "y", "o", "no" lógico con su propia sintaxis: no son intercambiables entre lenguajes.</a:t>
            </a:r>
          </a:p>
          <a:p>
            <a:r>
              <a:rPr lang="es-MX" sz="2000" dirty="0"/>
              <a:t>&amp; y | también existen, pero son otra cosa (bit a bit): otra prioridad, y no hacen cortocircuito.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r>
              <a:rPr lang="es-MX" sz="2000" b="1" dirty="0"/>
              <a:t>(Pregunta)</a:t>
            </a:r>
            <a:r>
              <a:rPr lang="es-MX" sz="2000" dirty="0"/>
              <a:t> ¿Qué pasa cuando se usa &amp; en vez de and dentro de una comparación sin paréntesis?</a:t>
            </a:r>
            <a:endParaRPr lang="es-CO" sz="20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F485117-3BE1-4392-89DD-8ACA5F4F8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537371"/>
              </p:ext>
            </p:extLst>
          </p:nvPr>
        </p:nvGraphicFramePr>
        <p:xfrm>
          <a:off x="786447" y="2807568"/>
          <a:ext cx="7571106" cy="2133600"/>
        </p:xfrm>
        <a:graphic>
          <a:graphicData uri="http://schemas.openxmlformats.org/drawingml/2006/table">
            <a:tbl>
              <a:tblPr/>
              <a:tblGrid>
                <a:gridCol w="4055420">
                  <a:extLst>
                    <a:ext uri="{9D8B030D-6E8A-4147-A177-3AD203B41FA5}">
                      <a16:colId xmlns:a16="http://schemas.microsoft.com/office/drawing/2014/main" val="4022841589"/>
                    </a:ext>
                  </a:extLst>
                </a:gridCol>
                <a:gridCol w="995617">
                  <a:extLst>
                    <a:ext uri="{9D8B030D-6E8A-4147-A177-3AD203B41FA5}">
                      <a16:colId xmlns:a16="http://schemas.microsoft.com/office/drawing/2014/main" val="2260139143"/>
                    </a:ext>
                  </a:extLst>
                </a:gridCol>
                <a:gridCol w="2520069">
                  <a:extLst>
                    <a:ext uri="{9D8B030D-6E8A-4147-A177-3AD203B41FA5}">
                      <a16:colId xmlns:a16="http://schemas.microsoft.com/office/drawing/2014/main" val="12389924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sz="2000" b="1" dirty="0">
                          <a:solidFill>
                            <a:schemeClr val="bg1"/>
                          </a:solidFill>
                        </a:rPr>
                        <a:t>Concepto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b="1" dirty="0">
                          <a:solidFill>
                            <a:schemeClr val="bg1"/>
                          </a:solidFill>
                        </a:rPr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b="1" dirty="0">
                          <a:solidFill>
                            <a:schemeClr val="bg1"/>
                          </a:solidFill>
                        </a:rPr>
                        <a:t>Java / C / JavaScript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327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CO" dirty="0"/>
                        <a:t>AND lógico (con cortocircuito)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&amp;&amp;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164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CO"/>
                        <a:t>OR lógico (con cortocircuito)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dirty="0" err="1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or</a:t>
                      </a:r>
                      <a:endParaRPr lang="es-CO" dirty="0">
                        <a:solidFill>
                          <a:srgbClr val="C0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||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1227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CO"/>
                        <a:t>NOT lógico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dirty="0" err="1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not</a:t>
                      </a:r>
                      <a:endParaRPr lang="es-CO" dirty="0">
                        <a:solidFill>
                          <a:srgbClr val="C0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6298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CO" dirty="0"/>
                        <a:t>AND / OR bit a bit </a:t>
                      </a:r>
                      <a:r>
                        <a:rPr lang="es-CO" i="1" dirty="0"/>
                        <a:t>(no confundir con los anteriores)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s-CO" dirty="0">
                          <a:latin typeface="Consolas" panose="020B0609020204030204" pitchFamily="49" charset="0"/>
                        </a:rPr>
                        <a:t> / </a:t>
                      </a:r>
                      <a:r>
                        <a:rPr lang="es-CO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s-CO" dirty="0">
                          <a:latin typeface="Consolas" panose="020B0609020204030204" pitchFamily="49" charset="0"/>
                        </a:rPr>
                        <a:t> / </a:t>
                      </a:r>
                      <a:r>
                        <a:rPr lang="es-CO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222263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FFD55885-E5C1-40E3-8089-D340F6CBF55D}"/>
              </a:ext>
            </a:extLst>
          </p:cNvPr>
          <p:cNvSpPr txBox="1"/>
          <p:nvPr/>
        </p:nvSpPr>
        <p:spPr>
          <a:xfrm>
            <a:off x="900641" y="5925192"/>
            <a:ext cx="309634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dirty="0">
                <a:latin typeface="Consolas" panose="020B0609020204030204" pitchFamily="49" charset="0"/>
              </a:rPr>
              <a:t>x = </a:t>
            </a:r>
            <a:r>
              <a:rPr lang="es-CO" dirty="0">
                <a:effectLst/>
                <a:latin typeface="Consolas" panose="020B0609020204030204" pitchFamily="49" charset="0"/>
              </a:rPr>
              <a:t>6,</a:t>
            </a:r>
            <a:r>
              <a:rPr lang="es-CO" dirty="0">
                <a:latin typeface="Consolas" panose="020B0609020204030204" pitchFamily="49" charset="0"/>
              </a:rPr>
              <a:t> y = </a:t>
            </a:r>
            <a:r>
              <a:rPr lang="es-CO" dirty="0">
                <a:effectLst/>
                <a:latin typeface="Consolas" panose="020B0609020204030204" pitchFamily="49" charset="0"/>
              </a:rPr>
              <a:t>3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z =x &gt; </a:t>
            </a:r>
            <a:r>
              <a:rPr lang="en-US" dirty="0">
                <a:effectLst/>
                <a:latin typeface="Consolas" panose="020B0609020204030204" pitchFamily="49" charset="0"/>
              </a:rPr>
              <a:t>5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effectLst/>
                <a:latin typeface="Consolas" panose="020B0609020204030204" pitchFamily="49" charset="0"/>
              </a:rPr>
              <a:t>and</a:t>
            </a:r>
            <a:r>
              <a:rPr lang="en-US" dirty="0">
                <a:latin typeface="Consolas" panose="020B0609020204030204" pitchFamily="49" charset="0"/>
              </a:rPr>
              <a:t> y &lt; </a:t>
            </a:r>
            <a:r>
              <a:rPr lang="en-US" dirty="0">
                <a:effectLst/>
                <a:latin typeface="Consolas" panose="020B0609020204030204" pitchFamily="49" charset="0"/>
              </a:rPr>
              <a:t>3</a:t>
            </a:r>
            <a:endParaRPr lang="es-CO" dirty="0">
              <a:latin typeface="Consolas" panose="020B0609020204030204" pitchFamily="49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D889C38-E9C4-49B7-8B0B-156DECD0CDA4}"/>
              </a:ext>
            </a:extLst>
          </p:cNvPr>
          <p:cNvSpPr txBox="1"/>
          <p:nvPr/>
        </p:nvSpPr>
        <p:spPr>
          <a:xfrm>
            <a:off x="4751573" y="5925192"/>
            <a:ext cx="309634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dirty="0">
                <a:latin typeface="Consolas" panose="020B0609020204030204" pitchFamily="49" charset="0"/>
              </a:rPr>
              <a:t>x = </a:t>
            </a:r>
            <a:r>
              <a:rPr lang="es-CO" dirty="0">
                <a:effectLst/>
                <a:latin typeface="Consolas" panose="020B0609020204030204" pitchFamily="49" charset="0"/>
              </a:rPr>
              <a:t>6,</a:t>
            </a:r>
            <a:r>
              <a:rPr lang="es-CO" dirty="0">
                <a:latin typeface="Consolas" panose="020B0609020204030204" pitchFamily="49" charset="0"/>
              </a:rPr>
              <a:t> y = </a:t>
            </a:r>
            <a:r>
              <a:rPr lang="es-CO" dirty="0">
                <a:effectLst/>
                <a:latin typeface="Consolas" panose="020B0609020204030204" pitchFamily="49" charset="0"/>
              </a:rPr>
              <a:t>3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z = x &gt; </a:t>
            </a:r>
            <a:r>
              <a:rPr lang="en-US" dirty="0">
                <a:effectLst/>
                <a:latin typeface="Consolas" panose="020B0609020204030204" pitchFamily="49" charset="0"/>
              </a:rPr>
              <a:t>5</a:t>
            </a:r>
            <a:r>
              <a:rPr lang="en-US" dirty="0">
                <a:latin typeface="Consolas" panose="020B0609020204030204" pitchFamily="49" charset="0"/>
              </a:rPr>
              <a:t> &amp; y &lt; </a:t>
            </a:r>
            <a:r>
              <a:rPr lang="en-US" dirty="0">
                <a:effectLst/>
                <a:latin typeface="Consolas" panose="020B0609020204030204" pitchFamily="49" charset="0"/>
              </a:rPr>
              <a:t>3</a:t>
            </a:r>
            <a:endParaRPr lang="es-CO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4320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0054" y="44624"/>
            <a:ext cx="8229600" cy="766260"/>
          </a:xfrm>
        </p:spPr>
        <p:txBody>
          <a:bodyPr>
            <a:noAutofit/>
          </a:bodyPr>
          <a:lstStyle/>
          <a:p>
            <a:r>
              <a:rPr lang="es-MX" sz="2800" dirty="0"/>
              <a:t>Igualdad — comparación entre lenguajes</a:t>
            </a:r>
            <a:endParaRPr lang="es-CO" sz="2800" dirty="0"/>
          </a:p>
        </p:txBody>
      </p:sp>
      <p:sp>
        <p:nvSpPr>
          <p:cNvPr id="8" name="1 Marcador de contenido"/>
          <p:cNvSpPr>
            <a:spLocks noGrp="1"/>
          </p:cNvSpPr>
          <p:nvPr>
            <p:ph idx="1"/>
          </p:nvPr>
        </p:nvSpPr>
        <p:spPr>
          <a:xfrm>
            <a:off x="162555" y="744352"/>
            <a:ext cx="8521140" cy="5564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200" dirty="0"/>
              <a:t>El mismo símbolo </a:t>
            </a:r>
            <a:r>
              <a:rPr lang="es-MX" sz="2200" dirty="0">
                <a:solidFill>
                  <a:srgbClr val="C00000"/>
                </a:solidFill>
                <a:latin typeface="Consolas" panose="020B0609020204030204" pitchFamily="49" charset="0"/>
              </a:rPr>
              <a:t>==</a:t>
            </a:r>
            <a:r>
              <a:rPr lang="es-MX" sz="2200" dirty="0"/>
              <a:t>, comportamientos distintos:</a:t>
            </a:r>
          </a:p>
          <a:p>
            <a:r>
              <a:rPr lang="es-MX" sz="1800" dirty="0"/>
              <a:t>En Python, 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==</a:t>
            </a:r>
            <a:r>
              <a:rPr lang="es-MX" sz="1800" dirty="0"/>
              <a:t> compara el </a:t>
            </a:r>
            <a:r>
              <a:rPr lang="es-MX" sz="1800" b="1" dirty="0"/>
              <a:t>valor/contenido</a:t>
            </a:r>
            <a:r>
              <a:rPr lang="es-MX" sz="1800" dirty="0"/>
              <a:t>, como uno esperaría intuitivamente.</a:t>
            </a:r>
          </a:p>
          <a:p>
            <a:r>
              <a:rPr lang="es-MX" sz="1800" dirty="0"/>
              <a:t>En C y Java, 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==</a:t>
            </a:r>
            <a:r>
              <a:rPr lang="es-MX" sz="1800" dirty="0"/>
              <a:t> compara valor en tipos primitivos, pero </a:t>
            </a:r>
            <a:r>
              <a:rPr lang="es-MX" sz="1800" b="1" dirty="0"/>
              <a:t>dirección/referencia</a:t>
            </a:r>
            <a:r>
              <a:rPr lang="es-MX" sz="1800" dirty="0"/>
              <a:t> en strings u objetos, no el contenido.</a:t>
            </a:r>
          </a:p>
          <a:p>
            <a:r>
              <a:rPr lang="es-MX" sz="1800" dirty="0"/>
              <a:t>En JavaScript, 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==</a:t>
            </a:r>
            <a:r>
              <a:rPr lang="es-MX" sz="1800" dirty="0"/>
              <a:t> compara </a:t>
            </a:r>
            <a:r>
              <a:rPr lang="es-MX" sz="1800" b="1" dirty="0"/>
              <a:t>con conversión automática de tipos</a:t>
            </a:r>
            <a:r>
              <a:rPr lang="es-MX" sz="1800" dirty="0"/>
              <a:t>; 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===</a:t>
            </a:r>
            <a:r>
              <a:rPr lang="es-MX" sz="1800" dirty="0"/>
              <a:t> compara sin conversión (la forma recomendada).</a:t>
            </a:r>
          </a:p>
          <a:p>
            <a:endParaRPr lang="es-MX" sz="18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11FD0BC-4346-4A59-83C4-C217D83FA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367196"/>
              </p:ext>
            </p:extLst>
          </p:nvPr>
        </p:nvGraphicFramePr>
        <p:xfrm>
          <a:off x="960969" y="2932509"/>
          <a:ext cx="6687769" cy="3639015"/>
        </p:xfrm>
        <a:graphic>
          <a:graphicData uri="http://schemas.openxmlformats.org/drawingml/2006/table">
            <a:tbl>
              <a:tblPr/>
              <a:tblGrid>
                <a:gridCol w="1245833">
                  <a:extLst>
                    <a:ext uri="{9D8B030D-6E8A-4147-A177-3AD203B41FA5}">
                      <a16:colId xmlns:a16="http://schemas.microsoft.com/office/drawing/2014/main" val="3077131784"/>
                    </a:ext>
                  </a:extLst>
                </a:gridCol>
                <a:gridCol w="1281890">
                  <a:extLst>
                    <a:ext uri="{9D8B030D-6E8A-4147-A177-3AD203B41FA5}">
                      <a16:colId xmlns:a16="http://schemas.microsoft.com/office/drawing/2014/main" val="2318412139"/>
                    </a:ext>
                  </a:extLst>
                </a:gridCol>
                <a:gridCol w="4160046">
                  <a:extLst>
                    <a:ext uri="{9D8B030D-6E8A-4147-A177-3AD203B41FA5}">
                      <a16:colId xmlns:a16="http://schemas.microsoft.com/office/drawing/2014/main" val="1215658101"/>
                    </a:ext>
                  </a:extLst>
                </a:gridCol>
              </a:tblGrid>
              <a:tr h="236109">
                <a:tc>
                  <a:txBody>
                    <a:bodyPr/>
                    <a:lstStyle/>
                    <a:p>
                      <a:r>
                        <a:rPr lang="es-CO" sz="1800" b="1">
                          <a:solidFill>
                            <a:schemeClr val="bg1"/>
                          </a:solidFill>
                        </a:rPr>
                        <a:t>Lenguaje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>
                          <a:solidFill>
                            <a:schemeClr val="bg1"/>
                          </a:solidFill>
                        </a:rPr>
                        <a:t>Operador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>
                          <a:solidFill>
                            <a:schemeClr val="bg1"/>
                          </a:solidFill>
                        </a:rPr>
                        <a:t>Qué compara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467440"/>
                  </a:ext>
                </a:extLst>
              </a:tr>
              <a:tr h="312803">
                <a:tc>
                  <a:txBody>
                    <a:bodyPr/>
                    <a:lstStyle/>
                    <a:p>
                      <a:r>
                        <a:rPr lang="es-CO" sz="1600"/>
                        <a:t>Python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==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Valor/contenido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760689"/>
                  </a:ext>
                </a:extLst>
              </a:tr>
              <a:tr h="312803">
                <a:tc>
                  <a:txBody>
                    <a:bodyPr/>
                    <a:lstStyle/>
                    <a:p>
                      <a:r>
                        <a:rPr lang="es-CO" sz="1600"/>
                        <a:t>Python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is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Identidad (misma referencia)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408759"/>
                  </a:ext>
                </a:extLst>
              </a:tr>
              <a:tr h="544525">
                <a:tc>
                  <a:txBody>
                    <a:bodyPr/>
                    <a:lstStyle/>
                    <a:p>
                      <a:r>
                        <a:rPr lang="es-CO" sz="1600"/>
                        <a:t>C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==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Valor (tipos primitivos) / Dirección (strings)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158537"/>
                  </a:ext>
                </a:extLst>
              </a:tr>
              <a:tr h="544525">
                <a:tc>
                  <a:txBody>
                    <a:bodyPr/>
                    <a:lstStyle/>
                    <a:p>
                      <a:r>
                        <a:rPr lang="es-CO" sz="1600"/>
                        <a:t>C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strcmp()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Contenido (strings) — 0 significa "iguales"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741827"/>
                  </a:ext>
                </a:extLst>
              </a:tr>
              <a:tr h="544525">
                <a:tc>
                  <a:txBody>
                    <a:bodyPr/>
                    <a:lstStyle/>
                    <a:p>
                      <a:r>
                        <a:rPr lang="es-CO" sz="1600"/>
                        <a:t>Java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==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Valor (primitivos) / Referencia (objetos)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9680651"/>
                  </a:ext>
                </a:extLst>
              </a:tr>
              <a:tr h="312803">
                <a:tc>
                  <a:txBody>
                    <a:bodyPr/>
                    <a:lstStyle/>
                    <a:p>
                      <a:r>
                        <a:rPr lang="es-CO" sz="1600"/>
                        <a:t>Java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.equals()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Valor/contenido (objetos)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9716618"/>
                  </a:ext>
                </a:extLst>
              </a:tr>
              <a:tr h="312803">
                <a:tc>
                  <a:txBody>
                    <a:bodyPr/>
                    <a:lstStyle/>
                    <a:p>
                      <a:r>
                        <a:rPr lang="es-CO" sz="1600"/>
                        <a:t>JavaScript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==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/>
                        <a:t>Valor, con conversión de tipos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814540"/>
                  </a:ext>
                </a:extLst>
              </a:tr>
              <a:tr h="312803">
                <a:tc>
                  <a:txBody>
                    <a:bodyPr/>
                    <a:lstStyle/>
                    <a:p>
                      <a:r>
                        <a:rPr lang="es-CO" sz="1600"/>
                        <a:t>JavaScript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===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Valor, sin conversión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618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856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0054" y="44624"/>
            <a:ext cx="8229600" cy="766260"/>
          </a:xfrm>
        </p:spPr>
        <p:txBody>
          <a:bodyPr>
            <a:noAutofit/>
          </a:bodyPr>
          <a:lstStyle/>
          <a:p>
            <a:r>
              <a:rPr lang="es-MX" sz="2800" dirty="0"/>
              <a:t>Potenciación — comparación entre lenguajes</a:t>
            </a:r>
            <a:endParaRPr lang="es-CO" sz="2800" dirty="0"/>
          </a:p>
        </p:txBody>
      </p:sp>
      <p:sp>
        <p:nvSpPr>
          <p:cNvPr id="8" name="1 Marcador de contenido"/>
          <p:cNvSpPr>
            <a:spLocks noGrp="1"/>
          </p:cNvSpPr>
          <p:nvPr>
            <p:ph idx="1"/>
          </p:nvPr>
        </p:nvSpPr>
        <p:spPr>
          <a:xfrm>
            <a:off x="162554" y="744352"/>
            <a:ext cx="8791392" cy="55649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200" dirty="0"/>
              <a:t>El símbolo </a:t>
            </a:r>
            <a:r>
              <a:rPr lang="es-MX" sz="2200" dirty="0">
                <a:solidFill>
                  <a:srgbClr val="C00000"/>
                </a:solidFill>
                <a:latin typeface="Consolas" panose="020B0609020204030204" pitchFamily="49" charset="0"/>
              </a:rPr>
              <a:t>^</a:t>
            </a:r>
            <a:r>
              <a:rPr lang="es-MX" sz="2200" dirty="0"/>
              <a:t> no significa lo mismo en todas partes:</a:t>
            </a:r>
          </a:p>
          <a:p>
            <a:r>
              <a:rPr lang="es-MX" sz="2000" dirty="0"/>
              <a:t>En Python, C, Java y JavaScript, </a:t>
            </a:r>
            <a:r>
              <a:rPr lang="es-MX" sz="2000" dirty="0">
                <a:solidFill>
                  <a:srgbClr val="C00000"/>
                </a:solidFill>
                <a:latin typeface="Consolas" panose="020B0609020204030204" pitchFamily="49" charset="0"/>
              </a:rPr>
              <a:t>^</a:t>
            </a:r>
            <a:r>
              <a:rPr lang="es-MX" sz="2000" dirty="0"/>
              <a:t> es </a:t>
            </a:r>
            <a:r>
              <a:rPr lang="es-MX" sz="2000" dirty="0">
                <a:solidFill>
                  <a:srgbClr val="C00000"/>
                </a:solidFill>
                <a:latin typeface="Consolas" panose="020B0609020204030204" pitchFamily="49" charset="0"/>
              </a:rPr>
              <a:t>XOR</a:t>
            </a:r>
            <a:r>
              <a:rPr lang="es-MX" sz="2000" dirty="0"/>
              <a:t> bit a bit, no potencia.</a:t>
            </a:r>
          </a:p>
          <a:p>
            <a:r>
              <a:rPr lang="es-MX" sz="2000" dirty="0"/>
              <a:t>Python usa </a:t>
            </a:r>
            <a:r>
              <a:rPr lang="es-MX" sz="2000" dirty="0">
                <a:solidFill>
                  <a:srgbClr val="C00000"/>
                </a:solidFill>
                <a:latin typeface="Consolas" panose="020B0609020204030204" pitchFamily="49" charset="0"/>
              </a:rPr>
              <a:t>**</a:t>
            </a:r>
            <a:r>
              <a:rPr lang="es-MX" sz="2000" dirty="0"/>
              <a:t> para potencia; C y Java no tienen operador de potencia (se usa una función).</a:t>
            </a:r>
          </a:p>
          <a:p>
            <a:r>
              <a:rPr lang="es-MX" sz="2000" dirty="0"/>
              <a:t>Excel, MATLAB y algunas calculadoras sí usan </a:t>
            </a:r>
            <a:r>
              <a:rPr lang="es-MX" sz="2000" dirty="0">
                <a:solidFill>
                  <a:srgbClr val="C00000"/>
                </a:solidFill>
                <a:latin typeface="Consolas" panose="020B0609020204030204" pitchFamily="49" charset="0"/>
              </a:rPr>
              <a:t>^</a:t>
            </a:r>
            <a:r>
              <a:rPr lang="es-MX" sz="2000" dirty="0"/>
              <a:t> como potencia — de ahí viene la confusión.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r>
              <a:rPr lang="es-MX" sz="2000" b="1" dirty="0"/>
              <a:t>(Pregunta)</a:t>
            </a:r>
            <a:r>
              <a:rPr lang="es-MX" sz="2000" dirty="0"/>
              <a:t> Si escribe 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5 ^ 2</a:t>
            </a:r>
            <a:r>
              <a:rPr lang="es-MX" sz="2000" dirty="0"/>
              <a:t> en Python esperando "5 al cuadrado", ¿qué cree que se va a devolver realmente?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16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5B80878-37CE-4660-8F5F-8A754EBAA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644833"/>
              </p:ext>
            </p:extLst>
          </p:nvPr>
        </p:nvGraphicFramePr>
        <p:xfrm>
          <a:off x="959422" y="2996952"/>
          <a:ext cx="6927406" cy="2468880"/>
        </p:xfrm>
        <a:graphic>
          <a:graphicData uri="http://schemas.openxmlformats.org/drawingml/2006/table">
            <a:tbl>
              <a:tblPr/>
              <a:tblGrid>
                <a:gridCol w="1669606">
                  <a:extLst>
                    <a:ext uri="{9D8B030D-6E8A-4147-A177-3AD203B41FA5}">
                      <a16:colId xmlns:a16="http://schemas.microsoft.com/office/drawing/2014/main" val="92826398"/>
                    </a:ext>
                  </a:extLst>
                </a:gridCol>
                <a:gridCol w="3281856">
                  <a:extLst>
                    <a:ext uri="{9D8B030D-6E8A-4147-A177-3AD203B41FA5}">
                      <a16:colId xmlns:a16="http://schemas.microsoft.com/office/drawing/2014/main" val="1663900879"/>
                    </a:ext>
                  </a:extLst>
                </a:gridCol>
                <a:gridCol w="1975944">
                  <a:extLst>
                    <a:ext uri="{9D8B030D-6E8A-4147-A177-3AD203B41FA5}">
                      <a16:colId xmlns:a16="http://schemas.microsoft.com/office/drawing/2014/main" val="16973436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Lenguaje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>
                          <a:solidFill>
                            <a:schemeClr val="bg1"/>
                          </a:solidFill>
                        </a:rPr>
                        <a:t>Potencia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^ significa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504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**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XOR bit a 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335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 err="1"/>
                        <a:t>pow</a:t>
                      </a:r>
                      <a:r>
                        <a:rPr lang="es-MX" dirty="0"/>
                        <a:t>() (función, #include &lt;</a:t>
                      </a:r>
                      <a:r>
                        <a:rPr lang="es-MX" dirty="0" err="1"/>
                        <a:t>math.h</a:t>
                      </a:r>
                      <a:r>
                        <a:rPr lang="es-MX" dirty="0"/>
                        <a:t>&gt;)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XOR bit a 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73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Java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Math.pow() (función)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XOR bit a 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3197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JavaScript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** (o Math.pow())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XOR bit a 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7183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dirty="0"/>
                        <a:t>Excel / MATLAB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^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Potencia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505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16998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0054" y="44624"/>
            <a:ext cx="8229600" cy="766260"/>
          </a:xfrm>
        </p:spPr>
        <p:txBody>
          <a:bodyPr>
            <a:noAutofit/>
          </a:bodyPr>
          <a:lstStyle/>
          <a:p>
            <a:r>
              <a:rPr lang="es-MX" sz="2800" dirty="0"/>
              <a:t>Asociatividad — comparación entre lenguajes</a:t>
            </a:r>
            <a:endParaRPr lang="es-CO" sz="2800" dirty="0"/>
          </a:p>
        </p:txBody>
      </p:sp>
      <p:sp>
        <p:nvSpPr>
          <p:cNvPr id="8" name="1 Marcador de contenido"/>
          <p:cNvSpPr>
            <a:spLocks noGrp="1"/>
          </p:cNvSpPr>
          <p:nvPr>
            <p:ph idx="1"/>
          </p:nvPr>
        </p:nvSpPr>
        <p:spPr>
          <a:xfrm>
            <a:off x="162554" y="744352"/>
            <a:ext cx="8791392" cy="5564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200" dirty="0"/>
              <a:t>La forma en que se agrupan operadores repetidos también cambia:</a:t>
            </a:r>
          </a:p>
          <a:p>
            <a:r>
              <a:rPr lang="es-MX" sz="1800" dirty="0"/>
              <a:t>La potenciación asocia de derecha a izquierda en Python (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2**3**2 = 2**(3**2)</a:t>
            </a:r>
            <a:r>
              <a:rPr lang="es-MX" sz="1800" dirty="0"/>
              <a:t>), pero no todos los lenguajes la implementan igual, y C/Java ni siquiera tienen 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**</a:t>
            </a:r>
            <a:r>
              <a:rPr lang="es-MX" sz="1800" dirty="0"/>
              <a:t>.</a:t>
            </a:r>
          </a:p>
          <a:p>
            <a:r>
              <a:rPr lang="es-MX" sz="1800" dirty="0"/>
              <a:t>Las comparaciones encadenadas (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a &lt; b &lt; c</a:t>
            </a:r>
            <a:r>
              <a:rPr lang="es-MX" sz="1800" dirty="0"/>
              <a:t>) son un caso especial en Python; en Java, C y JavaScript no existe esa sintaxis de la misma forma, y si se escribe algo parecido, el resultado es distinto.</a:t>
            </a:r>
          </a:p>
          <a:p>
            <a:r>
              <a:rPr lang="es-MX" sz="1800" dirty="0"/>
              <a:t>La asignación encadenada (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a = b = c</a:t>
            </a:r>
            <a:r>
              <a:rPr lang="es-MX" sz="1800" dirty="0"/>
              <a:t>) funciona en Python, C, Java y JavaScript, pero en Python la asignación no es una expresión (es una sentencia), mientras que en los otros sí lo es.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16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267ED29-17B5-477F-AB81-CAD1B4ACA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543020"/>
              </p:ext>
            </p:extLst>
          </p:nvPr>
        </p:nvGraphicFramePr>
        <p:xfrm>
          <a:off x="620826" y="3770626"/>
          <a:ext cx="7902347" cy="2286000"/>
        </p:xfrm>
        <a:graphic>
          <a:graphicData uri="http://schemas.openxmlformats.org/drawingml/2006/table">
            <a:tbl>
              <a:tblPr/>
              <a:tblGrid>
                <a:gridCol w="1859129">
                  <a:extLst>
                    <a:ext uri="{9D8B030D-6E8A-4147-A177-3AD203B41FA5}">
                      <a16:colId xmlns:a16="http://schemas.microsoft.com/office/drawing/2014/main" val="2926906474"/>
                    </a:ext>
                  </a:extLst>
                </a:gridCol>
                <a:gridCol w="2627611">
                  <a:extLst>
                    <a:ext uri="{9D8B030D-6E8A-4147-A177-3AD203B41FA5}">
                      <a16:colId xmlns:a16="http://schemas.microsoft.com/office/drawing/2014/main" val="3902197134"/>
                    </a:ext>
                  </a:extLst>
                </a:gridCol>
                <a:gridCol w="3415607">
                  <a:extLst>
                    <a:ext uri="{9D8B030D-6E8A-4147-A177-3AD203B41FA5}">
                      <a16:colId xmlns:a16="http://schemas.microsoft.com/office/drawing/2014/main" val="3666421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>
                          <a:solidFill>
                            <a:schemeClr val="bg1"/>
                          </a:solidFill>
                        </a:rPr>
                        <a:t>Caso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>
                          <a:solidFill>
                            <a:schemeClr val="bg1"/>
                          </a:solidFill>
                        </a:rPr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Java / C / JavaScript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973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a &lt; b &lt; 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Cadena especial: equivale a </a:t>
                      </a:r>
                      <a:r>
                        <a:rPr lang="es-CO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(a &lt; b)and(b &lt; 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No existe igual; se evalúa distinto (comparación entre bool y 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534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a = b = 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Válido, pero </a:t>
                      </a:r>
                      <a:r>
                        <a:rPr lang="es-MX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s-MX" dirty="0"/>
                        <a:t> es sentencia, no expresión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Válido, </a:t>
                      </a:r>
                      <a:r>
                        <a:rPr lang="es-MX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s-MX" dirty="0"/>
                        <a:t> es expresión, asocia </a:t>
                      </a:r>
                      <a:r>
                        <a:rPr lang="es-MX" b="1" dirty="0"/>
                        <a:t>D→I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685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2 ** 3 **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Asocis</a:t>
                      </a:r>
                      <a:r>
                        <a:rPr lang="es-CO" dirty="0"/>
                        <a:t> de </a:t>
                      </a:r>
                      <a:r>
                        <a:rPr lang="es-CO" b="1" dirty="0"/>
                        <a:t>D→I</a:t>
                      </a:r>
                      <a:r>
                        <a:rPr lang="es-CO" dirty="0"/>
                        <a:t> es decir da </a:t>
                      </a:r>
                      <a:r>
                        <a:rPr lang="es-CO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512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No aplica (Java/C sin </a:t>
                      </a:r>
                      <a:r>
                        <a:rPr lang="es-MX" dirty="0">
                          <a:solidFill>
                            <a:srgbClr val="C00000"/>
                          </a:solidFill>
                        </a:rPr>
                        <a:t>**</a:t>
                      </a:r>
                      <a:r>
                        <a:rPr lang="es-MX" dirty="0"/>
                        <a:t>); en JS si aplica, también </a:t>
                      </a:r>
                      <a:r>
                        <a:rPr lang="es-MX" b="1" dirty="0"/>
                        <a:t>D→I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87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55796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79512" y="381574"/>
            <a:ext cx="8229600" cy="766260"/>
          </a:xfrm>
        </p:spPr>
        <p:txBody>
          <a:bodyPr>
            <a:noAutofit/>
          </a:bodyPr>
          <a:lstStyle/>
          <a:p>
            <a:r>
              <a:rPr lang="es-MX" sz="2800" dirty="0"/>
              <a:t>Referencias adicionales — tablas de precedencia por lenguaje</a:t>
            </a:r>
            <a:endParaRPr lang="es-CO" sz="2800" dirty="0"/>
          </a:p>
        </p:txBody>
      </p:sp>
      <p:sp>
        <p:nvSpPr>
          <p:cNvPr id="8" name="1 Marcador de contenido"/>
          <p:cNvSpPr>
            <a:spLocks noGrp="1"/>
          </p:cNvSpPr>
          <p:nvPr>
            <p:ph idx="1"/>
          </p:nvPr>
        </p:nvSpPr>
        <p:spPr>
          <a:xfrm>
            <a:off x="323528" y="1293032"/>
            <a:ext cx="8496944" cy="4800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200" dirty="0"/>
              <a:t>Dado que cada lenguaje define sus propias reglas de precedencia, consulte la fuente oficial correspondiente ante cualquier duda: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000" b="1" dirty="0"/>
              <a:t>Python — </a:t>
            </a:r>
            <a:r>
              <a:rPr lang="es-MX" sz="2000" b="1" dirty="0" err="1"/>
              <a:t>Operator</a:t>
            </a:r>
            <a:r>
              <a:rPr lang="es-MX" sz="2000" b="1" dirty="0"/>
              <a:t> </a:t>
            </a:r>
            <a:r>
              <a:rPr lang="es-MX" sz="2000" b="1" dirty="0" err="1"/>
              <a:t>precedence</a:t>
            </a:r>
            <a:r>
              <a:rPr lang="es-MX" sz="2000" b="1" dirty="0"/>
              <a:t> (documentación oficial)</a:t>
            </a:r>
            <a:r>
              <a:rPr lang="es-MX" sz="2000" dirty="0"/>
              <a:t>: </a:t>
            </a:r>
            <a:r>
              <a:rPr lang="es-MX" sz="2000" dirty="0">
                <a:hlinkClick r:id="rId2"/>
              </a:rPr>
              <a:t>https://docs.python.org/3/reference/expressions.html#operator-precedence</a:t>
            </a:r>
            <a:r>
              <a:rPr lang="es-MX" sz="20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000" b="1" dirty="0"/>
              <a:t>Java — Java </a:t>
            </a:r>
            <a:r>
              <a:rPr lang="es-MX" sz="2000" b="1" dirty="0" err="1"/>
              <a:t>Language</a:t>
            </a:r>
            <a:r>
              <a:rPr lang="es-MX" sz="2000" b="1" dirty="0"/>
              <a:t> </a:t>
            </a:r>
            <a:r>
              <a:rPr lang="es-MX" sz="2000" b="1" dirty="0" err="1"/>
              <a:t>Specification</a:t>
            </a:r>
            <a:r>
              <a:rPr lang="es-MX" sz="2000" b="1" dirty="0"/>
              <a:t>, cap. 15 (Oracle)</a:t>
            </a:r>
            <a:r>
              <a:rPr lang="es-MX" sz="2000" dirty="0"/>
              <a:t>: </a:t>
            </a:r>
            <a:r>
              <a:rPr lang="es-MX" sz="2000" dirty="0">
                <a:hlinkClick r:id="rId3"/>
              </a:rPr>
              <a:t>https://docs.oracle.com/javase/specs/jls/se21/html/jls-15.html</a:t>
            </a:r>
            <a:r>
              <a:rPr lang="es-MX" sz="20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000" b="1" dirty="0"/>
              <a:t>C — </a:t>
            </a:r>
            <a:r>
              <a:rPr lang="es-MX" sz="2000" b="1" dirty="0" err="1"/>
              <a:t>Operator</a:t>
            </a:r>
            <a:r>
              <a:rPr lang="es-MX" sz="2000" b="1" dirty="0"/>
              <a:t> </a:t>
            </a:r>
            <a:r>
              <a:rPr lang="es-MX" sz="2000" b="1" dirty="0" err="1"/>
              <a:t>precedence</a:t>
            </a:r>
            <a:r>
              <a:rPr lang="es-MX" sz="2000" b="1" dirty="0"/>
              <a:t> (</a:t>
            </a:r>
            <a:r>
              <a:rPr lang="es-MX" sz="2000" b="1" dirty="0" err="1"/>
              <a:t>cppreference</a:t>
            </a:r>
            <a:r>
              <a:rPr lang="es-MX" sz="2000" b="1" dirty="0"/>
              <a:t>)</a:t>
            </a:r>
            <a:r>
              <a:rPr lang="es-MX" sz="2000" dirty="0"/>
              <a:t>: </a:t>
            </a:r>
            <a:r>
              <a:rPr lang="es-MX" sz="2000" dirty="0">
                <a:hlinkClick r:id="rId4"/>
              </a:rPr>
              <a:t>https://en.cppreference.com/w/c/language/operator_precedence</a:t>
            </a:r>
            <a:r>
              <a:rPr lang="es-MX" sz="20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000" b="1" dirty="0"/>
              <a:t>JavaScript — </a:t>
            </a:r>
            <a:r>
              <a:rPr lang="es-MX" sz="2000" b="1" dirty="0" err="1"/>
              <a:t>Operator</a:t>
            </a:r>
            <a:r>
              <a:rPr lang="es-MX" sz="2000" b="1" dirty="0"/>
              <a:t> </a:t>
            </a:r>
            <a:r>
              <a:rPr lang="es-MX" sz="2000" b="1" dirty="0" err="1"/>
              <a:t>precedence</a:t>
            </a:r>
            <a:r>
              <a:rPr lang="es-MX" sz="2000" b="1" dirty="0"/>
              <a:t> (MDN)</a:t>
            </a:r>
            <a:r>
              <a:rPr lang="es-MX" sz="2000" dirty="0"/>
              <a:t>: </a:t>
            </a:r>
            <a:r>
              <a:rPr lang="es-MX" sz="2000" dirty="0">
                <a:hlinkClick r:id="rId5"/>
              </a:rPr>
              <a:t>https://developer.mozilla.org/en-US/docs/Web/JavaScript/Reference/Operators/Operator_precedence</a:t>
            </a:r>
            <a:r>
              <a:rPr lang="es-MX" sz="2000" dirty="0"/>
              <a:t> </a:t>
            </a:r>
            <a:endParaRPr lang="es-MX" sz="24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16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092726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7504" y="23817"/>
            <a:ext cx="7886700" cy="740887"/>
          </a:xfrm>
        </p:spPr>
        <p:txBody>
          <a:bodyPr/>
          <a:lstStyle/>
          <a:p>
            <a:r>
              <a:rPr lang="en-US" sz="2800" dirty="0"/>
              <a:t>Referencias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520" y="764704"/>
            <a:ext cx="8424936" cy="288032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2"/>
              </a:rPr>
              <a:t>https://ellibrodepython.com/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3"/>
              </a:rPr>
              <a:t>https://www.w3resource.com/index.php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4"/>
              </a:rPr>
              <a:t>https://realpython.com/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5"/>
              </a:rPr>
              <a:t>https://curriculumresources.edu.gh/wp-content/uploads/2025/01/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6"/>
              </a:rPr>
              <a:t>https://python-course.eu/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7"/>
              </a:rPr>
              <a:t>https://realpython.com/cheatsheets/python/</a:t>
            </a:r>
            <a:r>
              <a:rPr lang="es-CO" sz="2000" dirty="0"/>
              <a:t>  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231648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0616"/>
            <a:ext cx="7886700" cy="1325563"/>
          </a:xfrm>
        </p:spPr>
        <p:txBody>
          <a:bodyPr/>
          <a:lstStyle/>
          <a:p>
            <a:r>
              <a:rPr lang="es-CO" dirty="0"/>
              <a:t>Eso es todo amigos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A8C0E6F-D570-4291-9CDE-573064DF7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2" y="1196752"/>
            <a:ext cx="8287104" cy="521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62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2609</TotalTime>
  <Words>2901</Words>
  <Application>Microsoft Office PowerPoint</Application>
  <PresentationFormat>Presentación en pantalla (4:3)</PresentationFormat>
  <Paragraphs>707</Paragraphs>
  <Slides>32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Century Gothic</vt:lpstr>
      <vt:lpstr>Consolas</vt:lpstr>
      <vt:lpstr>Wingdings</vt:lpstr>
      <vt:lpstr>Office Theme</vt:lpstr>
      <vt:lpstr>Lógica y Representación 1</vt:lpstr>
      <vt:lpstr>Método de Polya - Resumen</vt:lpstr>
      <vt:lpstr>Resumiendo del proceso de diseño del algoritmos</vt:lpstr>
      <vt:lpstr>Diseño de programas</vt:lpstr>
      <vt:lpstr>Codificación de algoritmos en Python</vt:lpstr>
      <vt:lpstr>Entrada, procesamiento y salida</vt:lpstr>
      <vt:lpstr>Tabla resumen</vt:lpstr>
      <vt:lpstr>Expresiones y operadores</vt:lpstr>
      <vt:lpstr>Operadores aritméticos</vt:lpstr>
      <vt:lpstr>Reglas de prioridad y asociatividad</vt:lpstr>
      <vt:lpstr>Reglas de prioridad y asociatividad</vt:lpstr>
      <vt:lpstr>Reglas de prioridad y asociatividad</vt:lpstr>
      <vt:lpstr>Reglas de prioridad y asociatividad</vt:lpstr>
      <vt:lpstr>Reglas de prioridad y asociatividad</vt:lpstr>
      <vt:lpstr>Reglas de prioridad y asociatividad</vt:lpstr>
      <vt:lpstr>Operadores relacionales</vt:lpstr>
      <vt:lpstr>Operadores lógicos</vt:lpstr>
      <vt:lpstr>Retornando a las reglas de prioridad</vt:lpstr>
      <vt:lpstr>Operadores relacionales y lógicos</vt:lpstr>
      <vt:lpstr>Operadores relacionales y lógicos</vt:lpstr>
      <vt:lpstr>Operadores relacionales y lógicos</vt:lpstr>
      <vt:lpstr>Ejercicios de repaso</vt:lpstr>
      <vt:lpstr>Ejercicios de repaso</vt:lpstr>
      <vt:lpstr>Ejercicios de repaso</vt:lpstr>
      <vt:lpstr>Aplicando lo anterior a un lenguaje de programación especifico</vt:lpstr>
      <vt:lpstr>Operadores lógicos — comparación entre lenguajes</vt:lpstr>
      <vt:lpstr>Igualdad — comparación entre lenguajes</vt:lpstr>
      <vt:lpstr>Potenciación — comparación entre lenguajes</vt:lpstr>
      <vt:lpstr>Asociatividad — comparación entre lenguajes</vt:lpstr>
      <vt:lpstr>Referencias adicionales — tablas de precedencia por lenguaje</vt:lpstr>
      <vt:lpstr>Referencias</vt:lpstr>
      <vt:lpstr>Eso es todo amigos</vt:lpstr>
    </vt:vector>
  </TitlesOfParts>
  <Company>Universidad de Antioquia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curso</dc:title>
  <dc:creator>Apoyo Administrativo Ingeniería</dc:creator>
  <cp:lastModifiedBy>HENRY ALBERTO ARCILA RAMIREZ</cp:lastModifiedBy>
  <cp:revision>88</cp:revision>
  <dcterms:created xsi:type="dcterms:W3CDTF">2015-03-12T20:27:20Z</dcterms:created>
  <dcterms:modified xsi:type="dcterms:W3CDTF">2026-08-17T21:13:51Z</dcterms:modified>
</cp:coreProperties>
</file>