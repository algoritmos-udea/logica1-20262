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9" r:id="rId1"/>
  </p:sldMasterIdLst>
  <p:notesMasterIdLst>
    <p:notesMasterId r:id="rId71"/>
  </p:notesMasterIdLst>
  <p:sldIdLst>
    <p:sldId id="281" r:id="rId2"/>
    <p:sldId id="309" r:id="rId3"/>
    <p:sldId id="368" r:id="rId4"/>
    <p:sldId id="405" r:id="rId5"/>
    <p:sldId id="427" r:id="rId6"/>
    <p:sldId id="349" r:id="rId7"/>
    <p:sldId id="350" r:id="rId8"/>
    <p:sldId id="428" r:id="rId9"/>
    <p:sldId id="468" r:id="rId10"/>
    <p:sldId id="541" r:id="rId11"/>
    <p:sldId id="469" r:id="rId12"/>
    <p:sldId id="542" r:id="rId13"/>
    <p:sldId id="435" r:id="rId14"/>
    <p:sldId id="430" r:id="rId15"/>
    <p:sldId id="535" r:id="rId16"/>
    <p:sldId id="543" r:id="rId17"/>
    <p:sldId id="539" r:id="rId18"/>
    <p:sldId id="540" r:id="rId19"/>
    <p:sldId id="536" r:id="rId20"/>
    <p:sldId id="537" r:id="rId21"/>
    <p:sldId id="538" r:id="rId22"/>
    <p:sldId id="416" r:id="rId23"/>
    <p:sldId id="431" r:id="rId24"/>
    <p:sldId id="417" r:id="rId25"/>
    <p:sldId id="437" r:id="rId26"/>
    <p:sldId id="480" r:id="rId27"/>
    <p:sldId id="481" r:id="rId28"/>
    <p:sldId id="439" r:id="rId29"/>
    <p:sldId id="487" r:id="rId30"/>
    <p:sldId id="488" r:id="rId31"/>
    <p:sldId id="489" r:id="rId32"/>
    <p:sldId id="544" r:id="rId33"/>
    <p:sldId id="545" r:id="rId34"/>
    <p:sldId id="546" r:id="rId35"/>
    <p:sldId id="547" r:id="rId36"/>
    <p:sldId id="548" r:id="rId37"/>
    <p:sldId id="550" r:id="rId38"/>
    <p:sldId id="549" r:id="rId39"/>
    <p:sldId id="507" r:id="rId40"/>
    <p:sldId id="508" r:id="rId41"/>
    <p:sldId id="509" r:id="rId42"/>
    <p:sldId id="510" r:id="rId43"/>
    <p:sldId id="551" r:id="rId44"/>
    <p:sldId id="511" r:id="rId45"/>
    <p:sldId id="513" r:id="rId46"/>
    <p:sldId id="521" r:id="rId47"/>
    <p:sldId id="552" r:id="rId48"/>
    <p:sldId id="553" r:id="rId49"/>
    <p:sldId id="554" r:id="rId50"/>
    <p:sldId id="555" r:id="rId51"/>
    <p:sldId id="556" r:id="rId52"/>
    <p:sldId id="557" r:id="rId53"/>
    <p:sldId id="559" r:id="rId54"/>
    <p:sldId id="558" r:id="rId55"/>
    <p:sldId id="561" r:id="rId56"/>
    <p:sldId id="560" r:id="rId57"/>
    <p:sldId id="562" r:id="rId58"/>
    <p:sldId id="563" r:id="rId59"/>
    <p:sldId id="564" r:id="rId60"/>
    <p:sldId id="565" r:id="rId61"/>
    <p:sldId id="566" r:id="rId62"/>
    <p:sldId id="567" r:id="rId63"/>
    <p:sldId id="533" r:id="rId64"/>
    <p:sldId id="520" r:id="rId65"/>
    <p:sldId id="568" r:id="rId66"/>
    <p:sldId id="526" r:id="rId67"/>
    <p:sldId id="532" r:id="rId68"/>
    <p:sldId id="310" r:id="rId69"/>
    <p:sldId id="277" r:id="rId7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79" autoAdjust="0"/>
    <p:restoredTop sz="94291" autoAdjust="0"/>
  </p:normalViewPr>
  <p:slideViewPr>
    <p:cSldViewPr>
      <p:cViewPr varScale="1">
        <p:scale>
          <a:sx n="69" d="100"/>
          <a:sy n="69" d="100"/>
        </p:scale>
        <p:origin x="1368" y="7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4617D2-EBA5-43D3-A846-ABD7019008A4}" type="doc">
      <dgm:prSet loTypeId="urn:microsoft.com/office/officeart/2005/8/layout/chevron2" loCatId="process" qsTypeId="urn:microsoft.com/office/officeart/2005/8/quickstyle/simple4" qsCatId="simple" csTypeId="urn:microsoft.com/office/officeart/2005/8/colors/colorful3" csCatId="colorful" phldr="1"/>
      <dgm:spPr/>
      <dgm:t>
        <a:bodyPr/>
        <a:lstStyle/>
        <a:p>
          <a:endParaRPr lang="es-CO"/>
        </a:p>
      </dgm:t>
    </dgm:pt>
    <dgm:pt modelId="{0F6E169A-367E-48F6-8A0F-9538EF72E803}">
      <dgm:prSet phldrT="[Texto]" custT="1"/>
      <dgm:spPr/>
      <dgm:t>
        <a:bodyPr/>
        <a:lstStyle/>
        <a:p>
          <a:r>
            <a:rPr lang="es-CO" sz="1600" dirty="0">
              <a:latin typeface="Century Gothic" panose="020B0502020202020204" pitchFamily="34" charset="0"/>
            </a:rPr>
            <a:t>1</a:t>
          </a:r>
          <a:endParaRPr lang="es-CO" sz="1200" dirty="0">
            <a:latin typeface="Century Gothic" panose="020B0502020202020204" pitchFamily="34" charset="0"/>
          </a:endParaRPr>
        </a:p>
      </dgm:t>
    </dgm:pt>
    <dgm:pt modelId="{214810CF-0E9F-420E-9F44-94CA29248781}" type="parTrans" cxnId="{1D7BCF56-E33F-4A42-8129-E524DE8CA73C}">
      <dgm:prSet/>
      <dgm:spPr/>
      <dgm:t>
        <a:bodyPr/>
        <a:lstStyle/>
        <a:p>
          <a:endParaRPr lang="es-CO" sz="1600"/>
        </a:p>
      </dgm:t>
    </dgm:pt>
    <dgm:pt modelId="{9E3845BF-94AB-444E-AB21-A0DA1B4B1270}" type="sibTrans" cxnId="{1D7BCF56-E33F-4A42-8129-E524DE8CA73C}">
      <dgm:prSet/>
      <dgm:spPr/>
      <dgm:t>
        <a:bodyPr/>
        <a:lstStyle/>
        <a:p>
          <a:endParaRPr lang="es-CO" sz="1600"/>
        </a:p>
      </dgm:t>
    </dgm:pt>
    <dgm:pt modelId="{676AA4D5-22F4-47B3-B0E8-95C3D9C99480}">
      <dgm:prSet phldrT="[Texto]" custT="1"/>
      <dgm:spPr/>
      <dgm:t>
        <a:bodyPr/>
        <a:lstStyle/>
        <a:p>
          <a:pPr>
            <a:buNone/>
          </a:pPr>
          <a:r>
            <a:rPr lang="es-CO" sz="2000" dirty="0">
              <a:latin typeface="Century Gothic" panose="020B0502020202020204" pitchFamily="34" charset="0"/>
            </a:rPr>
            <a:t>Entender el problema</a:t>
          </a:r>
        </a:p>
      </dgm:t>
    </dgm:pt>
    <dgm:pt modelId="{65AE6963-95E3-417E-9DBC-C327427667A9}" type="parTrans" cxnId="{E402CAF0-5AAA-416F-BAF4-3854EF253EE5}">
      <dgm:prSet/>
      <dgm:spPr/>
      <dgm:t>
        <a:bodyPr/>
        <a:lstStyle/>
        <a:p>
          <a:endParaRPr lang="es-CO" sz="1600"/>
        </a:p>
      </dgm:t>
    </dgm:pt>
    <dgm:pt modelId="{BBDCCB86-71C3-422E-959C-8FA92A9124DF}" type="sibTrans" cxnId="{E402CAF0-5AAA-416F-BAF4-3854EF253EE5}">
      <dgm:prSet/>
      <dgm:spPr/>
      <dgm:t>
        <a:bodyPr/>
        <a:lstStyle/>
        <a:p>
          <a:endParaRPr lang="es-CO" sz="1600"/>
        </a:p>
      </dgm:t>
    </dgm:pt>
    <dgm:pt modelId="{9C3C57BE-AD01-47F6-9592-98EF2608A6EF}">
      <dgm:prSet phldrT="[Texto]" custT="1"/>
      <dgm:spPr/>
      <dgm:t>
        <a:bodyPr/>
        <a:lstStyle/>
        <a:p>
          <a:r>
            <a:rPr lang="es-CO" sz="1800" dirty="0">
              <a:latin typeface="Century Gothic" panose="020B0502020202020204" pitchFamily="34" charset="0"/>
            </a:rPr>
            <a:t>2</a:t>
          </a:r>
          <a:endParaRPr lang="es-CO" sz="2400" dirty="0">
            <a:latin typeface="Century Gothic" panose="020B0502020202020204" pitchFamily="34" charset="0"/>
          </a:endParaRPr>
        </a:p>
      </dgm:t>
    </dgm:pt>
    <dgm:pt modelId="{33D25418-EA10-4491-90C6-5683712BE055}" type="parTrans" cxnId="{FBB864E0-2027-4A45-B5D7-110F765EFD96}">
      <dgm:prSet/>
      <dgm:spPr/>
      <dgm:t>
        <a:bodyPr/>
        <a:lstStyle/>
        <a:p>
          <a:endParaRPr lang="es-CO" sz="1600"/>
        </a:p>
      </dgm:t>
    </dgm:pt>
    <dgm:pt modelId="{0019765E-5748-4647-85C8-6E8054C68086}" type="sibTrans" cxnId="{FBB864E0-2027-4A45-B5D7-110F765EFD96}">
      <dgm:prSet/>
      <dgm:spPr/>
      <dgm:t>
        <a:bodyPr/>
        <a:lstStyle/>
        <a:p>
          <a:endParaRPr lang="es-CO" sz="1600"/>
        </a:p>
      </dgm:t>
    </dgm:pt>
    <dgm:pt modelId="{C59A2A35-6BBC-4F81-BD74-40520AACD6AB}">
      <dgm:prSet phldrT="[Texto]" custT="1"/>
      <dgm:spPr/>
      <dgm: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Diseñar un plan</a:t>
          </a:r>
        </a:p>
      </dgm:t>
    </dgm:pt>
    <dgm:pt modelId="{EDE363E4-7EA3-41D2-8DB9-A0871D9DA325}" type="parTrans" cxnId="{3B1F784D-95DD-4194-A52D-9A5B55BC5BD7}">
      <dgm:prSet/>
      <dgm:spPr/>
      <dgm:t>
        <a:bodyPr/>
        <a:lstStyle/>
        <a:p>
          <a:endParaRPr lang="es-CO" sz="1600"/>
        </a:p>
      </dgm:t>
    </dgm:pt>
    <dgm:pt modelId="{C31DDF04-103F-4600-9F78-0BDCC0BF907B}" type="sibTrans" cxnId="{3B1F784D-95DD-4194-A52D-9A5B55BC5BD7}">
      <dgm:prSet/>
      <dgm:spPr/>
      <dgm:t>
        <a:bodyPr/>
        <a:lstStyle/>
        <a:p>
          <a:endParaRPr lang="es-CO" sz="1600"/>
        </a:p>
      </dgm:t>
    </dgm:pt>
    <dgm:pt modelId="{9AB424BA-7E8B-4D0B-8A3C-3748A54646B8}">
      <dgm:prSet phldrT="[Texto]" custT="1"/>
      <dgm:spPr/>
      <dgm:t>
        <a:bodyPr/>
        <a:lstStyle/>
        <a:p>
          <a:r>
            <a:rPr lang="es-CO" sz="2000" dirty="0">
              <a:latin typeface="Century Gothic" panose="020B0502020202020204" pitchFamily="34" charset="0"/>
            </a:rPr>
            <a:t>3</a:t>
          </a:r>
        </a:p>
      </dgm:t>
    </dgm:pt>
    <dgm:pt modelId="{E543BFA9-86DB-499C-8E83-B32D00A97FD8}" type="parTrans" cxnId="{9DB9632F-E2AC-48EE-840F-D6A88C411EEA}">
      <dgm:prSet/>
      <dgm:spPr/>
      <dgm:t>
        <a:bodyPr/>
        <a:lstStyle/>
        <a:p>
          <a:endParaRPr lang="es-CO" sz="1600"/>
        </a:p>
      </dgm:t>
    </dgm:pt>
    <dgm:pt modelId="{DDCD6E76-3560-4CAA-96A8-94ACFF130E9B}" type="sibTrans" cxnId="{9DB9632F-E2AC-48EE-840F-D6A88C411EEA}">
      <dgm:prSet/>
      <dgm:spPr/>
      <dgm:t>
        <a:bodyPr/>
        <a:lstStyle/>
        <a:p>
          <a:endParaRPr lang="es-CO" sz="1600"/>
        </a:p>
      </dgm:t>
    </dgm:pt>
    <dgm:pt modelId="{BEC04423-D6B7-4792-AEB9-C3D7F81A98AC}">
      <dgm:prSet phldrT="[Texto]" custT="1"/>
      <dgm:spPr/>
      <dgm: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Implementar el plan</a:t>
          </a:r>
        </a:p>
      </dgm:t>
    </dgm:pt>
    <dgm:pt modelId="{F135D138-85FF-4087-B751-5F159F842289}" type="parTrans" cxnId="{5B0A26F8-5ACB-43D3-A171-6C62CAD4E7BE}">
      <dgm:prSet/>
      <dgm:spPr/>
      <dgm:t>
        <a:bodyPr/>
        <a:lstStyle/>
        <a:p>
          <a:endParaRPr lang="es-CO" sz="1600"/>
        </a:p>
      </dgm:t>
    </dgm:pt>
    <dgm:pt modelId="{AB02689B-5109-4C4C-A9DD-EF332B395FC7}" type="sibTrans" cxnId="{5B0A26F8-5ACB-43D3-A171-6C62CAD4E7BE}">
      <dgm:prSet/>
      <dgm:spPr/>
      <dgm:t>
        <a:bodyPr/>
        <a:lstStyle/>
        <a:p>
          <a:endParaRPr lang="es-CO" sz="1600"/>
        </a:p>
      </dgm:t>
    </dgm:pt>
    <dgm:pt modelId="{6F3FB39C-3E1D-4D2D-849B-EA0299C466C8}">
      <dgm:prSet phldrT="[Texto]" custT="1"/>
      <dgm:spPr/>
      <dgm:t>
        <a:bodyPr/>
        <a:lstStyle/>
        <a:p>
          <a:r>
            <a:rPr lang="es-CO" sz="2000" dirty="0">
              <a:latin typeface="Century Gothic" panose="020B0502020202020204" pitchFamily="34" charset="0"/>
            </a:rPr>
            <a:t>4</a:t>
          </a:r>
        </a:p>
      </dgm:t>
    </dgm:pt>
    <dgm:pt modelId="{F344B892-AD67-4863-B1DB-FFEAC6AE3C6A}" type="parTrans" cxnId="{F85ACEEE-F8C0-443C-BAAF-021763D37073}">
      <dgm:prSet/>
      <dgm:spPr/>
      <dgm:t>
        <a:bodyPr/>
        <a:lstStyle/>
        <a:p>
          <a:endParaRPr lang="es-CO" sz="1600"/>
        </a:p>
      </dgm:t>
    </dgm:pt>
    <dgm:pt modelId="{2E86F725-3FD8-4480-8AF6-6A89E142D77A}" type="sibTrans" cxnId="{F85ACEEE-F8C0-443C-BAAF-021763D37073}">
      <dgm:prSet/>
      <dgm:spPr/>
      <dgm:t>
        <a:bodyPr/>
        <a:lstStyle/>
        <a:p>
          <a:endParaRPr lang="es-CO" sz="1600"/>
        </a:p>
      </dgm:t>
    </dgm:pt>
    <dgm:pt modelId="{DCCFDBD5-3BD5-4368-8E74-2BE430318114}">
      <dgm:prSet custT="1"/>
      <dgm:spPr/>
      <dgm: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Revisar el plan</a:t>
          </a:r>
        </a:p>
      </dgm:t>
    </dgm:pt>
    <dgm:pt modelId="{E9C3A1B1-6767-4D4A-B32D-4EDACFE1C0F4}" type="parTrans" cxnId="{95C514DE-3460-4712-B0CD-D954FE76DB64}">
      <dgm:prSet/>
      <dgm:spPr/>
      <dgm:t>
        <a:bodyPr/>
        <a:lstStyle/>
        <a:p>
          <a:endParaRPr lang="es-CO" sz="1600"/>
        </a:p>
      </dgm:t>
    </dgm:pt>
    <dgm:pt modelId="{159A55EA-C5B7-4F9E-8222-A763BEB4D99B}" type="sibTrans" cxnId="{95C514DE-3460-4712-B0CD-D954FE76DB64}">
      <dgm:prSet/>
      <dgm:spPr/>
      <dgm:t>
        <a:bodyPr/>
        <a:lstStyle/>
        <a:p>
          <a:endParaRPr lang="es-CO" sz="1600"/>
        </a:p>
      </dgm:t>
    </dgm:pt>
    <dgm:pt modelId="{C30EB98C-BF8E-47B5-A59F-A3E708D5551C}" type="pres">
      <dgm:prSet presAssocID="{234617D2-EBA5-43D3-A846-ABD7019008A4}" presName="linearFlow" presStyleCnt="0">
        <dgm:presLayoutVars>
          <dgm:dir/>
          <dgm:animLvl val="lvl"/>
          <dgm:resizeHandles val="exact"/>
        </dgm:presLayoutVars>
      </dgm:prSet>
      <dgm:spPr/>
    </dgm:pt>
    <dgm:pt modelId="{B5976899-2FC4-4A3E-891A-B74C8C23C8B5}" type="pres">
      <dgm:prSet presAssocID="{0F6E169A-367E-48F6-8A0F-9538EF72E803}" presName="composite" presStyleCnt="0"/>
      <dgm:spPr/>
    </dgm:pt>
    <dgm:pt modelId="{416A876F-5FA3-42F9-A923-4E2C334EF9BC}" type="pres">
      <dgm:prSet presAssocID="{0F6E169A-367E-48F6-8A0F-9538EF72E803}" presName="parentText" presStyleLbl="alignNode1" presStyleIdx="0" presStyleCnt="4">
        <dgm:presLayoutVars>
          <dgm:chMax val="1"/>
          <dgm:bulletEnabled val="1"/>
        </dgm:presLayoutVars>
      </dgm:prSet>
      <dgm:spPr/>
    </dgm:pt>
    <dgm:pt modelId="{344A86B1-48E8-448F-9C6D-71580BFB5F83}" type="pres">
      <dgm:prSet presAssocID="{0F6E169A-367E-48F6-8A0F-9538EF72E803}" presName="descendantText" presStyleLbl="alignAcc1" presStyleIdx="0" presStyleCnt="4">
        <dgm:presLayoutVars>
          <dgm:bulletEnabled val="1"/>
        </dgm:presLayoutVars>
      </dgm:prSet>
      <dgm:spPr/>
    </dgm:pt>
    <dgm:pt modelId="{19B3EDEB-1CF9-4423-9037-F0221A01EBBA}" type="pres">
      <dgm:prSet presAssocID="{9E3845BF-94AB-444E-AB21-A0DA1B4B1270}" presName="sp" presStyleCnt="0"/>
      <dgm:spPr/>
    </dgm:pt>
    <dgm:pt modelId="{5D167E8C-136F-440C-8D10-651E4D964A72}" type="pres">
      <dgm:prSet presAssocID="{9C3C57BE-AD01-47F6-9592-98EF2608A6EF}" presName="composite" presStyleCnt="0"/>
      <dgm:spPr/>
    </dgm:pt>
    <dgm:pt modelId="{A651636C-CE47-4575-AA1E-AB00D80E941D}" type="pres">
      <dgm:prSet presAssocID="{9C3C57BE-AD01-47F6-9592-98EF2608A6EF}" presName="parentText" presStyleLbl="alignNode1" presStyleIdx="1" presStyleCnt="4" custLinFactNeighborY="0">
        <dgm:presLayoutVars>
          <dgm:chMax val="1"/>
          <dgm:bulletEnabled val="1"/>
        </dgm:presLayoutVars>
      </dgm:prSet>
      <dgm:spPr/>
    </dgm:pt>
    <dgm:pt modelId="{79B0DE70-0A03-4A6F-B31F-EC81EB5DF7EA}" type="pres">
      <dgm:prSet presAssocID="{9C3C57BE-AD01-47F6-9592-98EF2608A6EF}" presName="descendantText" presStyleLbl="alignAcc1" presStyleIdx="1" presStyleCnt="4">
        <dgm:presLayoutVars>
          <dgm:bulletEnabled val="1"/>
        </dgm:presLayoutVars>
      </dgm:prSet>
      <dgm:spPr/>
    </dgm:pt>
    <dgm:pt modelId="{5C2D5B77-4FD3-4BFC-B7C7-B69CFA47B819}" type="pres">
      <dgm:prSet presAssocID="{0019765E-5748-4647-85C8-6E8054C68086}" presName="sp" presStyleCnt="0"/>
      <dgm:spPr/>
    </dgm:pt>
    <dgm:pt modelId="{FD9C2F86-B450-49A0-8639-065AE676C080}" type="pres">
      <dgm:prSet presAssocID="{9AB424BA-7E8B-4D0B-8A3C-3748A54646B8}" presName="composite" presStyleCnt="0"/>
      <dgm:spPr/>
    </dgm:pt>
    <dgm:pt modelId="{2AA7B02C-023E-4537-897E-B54A048C8983}" type="pres">
      <dgm:prSet presAssocID="{9AB424BA-7E8B-4D0B-8A3C-3748A54646B8}" presName="parentText" presStyleLbl="alignNode1" presStyleIdx="2" presStyleCnt="4">
        <dgm:presLayoutVars>
          <dgm:chMax val="1"/>
          <dgm:bulletEnabled val="1"/>
        </dgm:presLayoutVars>
      </dgm:prSet>
      <dgm:spPr/>
    </dgm:pt>
    <dgm:pt modelId="{15D3D31F-A831-4E62-ADE9-6ACE81331CDC}" type="pres">
      <dgm:prSet presAssocID="{9AB424BA-7E8B-4D0B-8A3C-3748A54646B8}" presName="descendantText" presStyleLbl="alignAcc1" presStyleIdx="2" presStyleCnt="4">
        <dgm:presLayoutVars>
          <dgm:bulletEnabled val="1"/>
        </dgm:presLayoutVars>
      </dgm:prSet>
      <dgm:spPr/>
    </dgm:pt>
    <dgm:pt modelId="{365F76A6-EF4F-41D1-B81D-BC3D7851A081}" type="pres">
      <dgm:prSet presAssocID="{DDCD6E76-3560-4CAA-96A8-94ACFF130E9B}" presName="sp" presStyleCnt="0"/>
      <dgm:spPr/>
    </dgm:pt>
    <dgm:pt modelId="{4DB00594-09F9-4225-B772-B1D52DAEEAB6}" type="pres">
      <dgm:prSet presAssocID="{6F3FB39C-3E1D-4D2D-849B-EA0299C466C8}" presName="composite" presStyleCnt="0"/>
      <dgm:spPr/>
    </dgm:pt>
    <dgm:pt modelId="{58E45CBE-DE64-4E4E-8AAA-D376465B2BEE}" type="pres">
      <dgm:prSet presAssocID="{6F3FB39C-3E1D-4D2D-849B-EA0299C466C8}" presName="parentText" presStyleLbl="alignNode1" presStyleIdx="3" presStyleCnt="4">
        <dgm:presLayoutVars>
          <dgm:chMax val="1"/>
          <dgm:bulletEnabled val="1"/>
        </dgm:presLayoutVars>
      </dgm:prSet>
      <dgm:spPr/>
    </dgm:pt>
    <dgm:pt modelId="{C37D6712-7A35-4663-80F7-1B8FC410AF19}" type="pres">
      <dgm:prSet presAssocID="{6F3FB39C-3E1D-4D2D-849B-EA0299C466C8}" presName="descendantText" presStyleLbl="alignAcc1" presStyleIdx="3" presStyleCnt="4">
        <dgm:presLayoutVars>
          <dgm:bulletEnabled val="1"/>
        </dgm:presLayoutVars>
      </dgm:prSet>
      <dgm:spPr/>
    </dgm:pt>
  </dgm:ptLst>
  <dgm:cxnLst>
    <dgm:cxn modelId="{D25A530A-E341-4BA7-8999-21A374D537D3}" type="presOf" srcId="{BEC04423-D6B7-4792-AEB9-C3D7F81A98AC}" destId="{15D3D31F-A831-4E62-ADE9-6ACE81331CDC}" srcOrd="0" destOrd="0" presId="urn:microsoft.com/office/officeart/2005/8/layout/chevron2"/>
    <dgm:cxn modelId="{0F63B510-A033-48E8-A5FD-87C76FF5A9D6}" type="presOf" srcId="{0F6E169A-367E-48F6-8A0F-9538EF72E803}" destId="{416A876F-5FA3-42F9-A923-4E2C334EF9BC}" srcOrd="0" destOrd="0" presId="urn:microsoft.com/office/officeart/2005/8/layout/chevron2"/>
    <dgm:cxn modelId="{09EB6217-24CA-4B61-90D2-9CF7E646FA43}" type="presOf" srcId="{234617D2-EBA5-43D3-A846-ABD7019008A4}" destId="{C30EB98C-BF8E-47B5-A59F-A3E708D5551C}" srcOrd="0" destOrd="0" presId="urn:microsoft.com/office/officeart/2005/8/layout/chevron2"/>
    <dgm:cxn modelId="{9DB9632F-E2AC-48EE-840F-D6A88C411EEA}" srcId="{234617D2-EBA5-43D3-A846-ABD7019008A4}" destId="{9AB424BA-7E8B-4D0B-8A3C-3748A54646B8}" srcOrd="2" destOrd="0" parTransId="{E543BFA9-86DB-499C-8E83-B32D00A97FD8}" sibTransId="{DDCD6E76-3560-4CAA-96A8-94ACFF130E9B}"/>
    <dgm:cxn modelId="{5C56243F-7D54-4FD5-BD45-EEAB6E9334A6}" type="presOf" srcId="{676AA4D5-22F4-47B3-B0E8-95C3D9C99480}" destId="{344A86B1-48E8-448F-9C6D-71580BFB5F83}" srcOrd="0" destOrd="0" presId="urn:microsoft.com/office/officeart/2005/8/layout/chevron2"/>
    <dgm:cxn modelId="{3EF6886C-4FCF-4899-8F48-98F458A380A4}" type="presOf" srcId="{DCCFDBD5-3BD5-4368-8E74-2BE430318114}" destId="{C37D6712-7A35-4663-80F7-1B8FC410AF19}" srcOrd="0" destOrd="0" presId="urn:microsoft.com/office/officeart/2005/8/layout/chevron2"/>
    <dgm:cxn modelId="{3B1F784D-95DD-4194-A52D-9A5B55BC5BD7}" srcId="{9C3C57BE-AD01-47F6-9592-98EF2608A6EF}" destId="{C59A2A35-6BBC-4F81-BD74-40520AACD6AB}" srcOrd="0" destOrd="0" parTransId="{EDE363E4-7EA3-41D2-8DB9-A0871D9DA325}" sibTransId="{C31DDF04-103F-4600-9F78-0BDCC0BF907B}"/>
    <dgm:cxn modelId="{1D7BCF56-E33F-4A42-8129-E524DE8CA73C}" srcId="{234617D2-EBA5-43D3-A846-ABD7019008A4}" destId="{0F6E169A-367E-48F6-8A0F-9538EF72E803}" srcOrd="0" destOrd="0" parTransId="{214810CF-0E9F-420E-9F44-94CA29248781}" sibTransId="{9E3845BF-94AB-444E-AB21-A0DA1B4B1270}"/>
    <dgm:cxn modelId="{E8354084-D26E-4270-954C-74C7F6A06793}" type="presOf" srcId="{C59A2A35-6BBC-4F81-BD74-40520AACD6AB}" destId="{79B0DE70-0A03-4A6F-B31F-EC81EB5DF7EA}" srcOrd="0" destOrd="0" presId="urn:microsoft.com/office/officeart/2005/8/layout/chevron2"/>
    <dgm:cxn modelId="{BF2B6EA9-3F5A-49C1-AF7E-EC921192B9DE}" type="presOf" srcId="{9C3C57BE-AD01-47F6-9592-98EF2608A6EF}" destId="{A651636C-CE47-4575-AA1E-AB00D80E941D}" srcOrd="0" destOrd="0" presId="urn:microsoft.com/office/officeart/2005/8/layout/chevron2"/>
    <dgm:cxn modelId="{95C514DE-3460-4712-B0CD-D954FE76DB64}" srcId="{6F3FB39C-3E1D-4D2D-849B-EA0299C466C8}" destId="{DCCFDBD5-3BD5-4368-8E74-2BE430318114}" srcOrd="0" destOrd="0" parTransId="{E9C3A1B1-6767-4D4A-B32D-4EDACFE1C0F4}" sibTransId="{159A55EA-C5B7-4F9E-8222-A763BEB4D99B}"/>
    <dgm:cxn modelId="{FBB864E0-2027-4A45-B5D7-110F765EFD96}" srcId="{234617D2-EBA5-43D3-A846-ABD7019008A4}" destId="{9C3C57BE-AD01-47F6-9592-98EF2608A6EF}" srcOrd="1" destOrd="0" parTransId="{33D25418-EA10-4491-90C6-5683712BE055}" sibTransId="{0019765E-5748-4647-85C8-6E8054C68086}"/>
    <dgm:cxn modelId="{448B48EB-E488-4909-82B4-2E61877F00AE}" type="presOf" srcId="{6F3FB39C-3E1D-4D2D-849B-EA0299C466C8}" destId="{58E45CBE-DE64-4E4E-8AAA-D376465B2BEE}" srcOrd="0" destOrd="0" presId="urn:microsoft.com/office/officeart/2005/8/layout/chevron2"/>
    <dgm:cxn modelId="{E644B3EB-418D-4B1A-83D6-8DCC10BE06E8}" type="presOf" srcId="{9AB424BA-7E8B-4D0B-8A3C-3748A54646B8}" destId="{2AA7B02C-023E-4537-897E-B54A048C8983}" srcOrd="0" destOrd="0" presId="urn:microsoft.com/office/officeart/2005/8/layout/chevron2"/>
    <dgm:cxn modelId="{F85ACEEE-F8C0-443C-BAAF-021763D37073}" srcId="{234617D2-EBA5-43D3-A846-ABD7019008A4}" destId="{6F3FB39C-3E1D-4D2D-849B-EA0299C466C8}" srcOrd="3" destOrd="0" parTransId="{F344B892-AD67-4863-B1DB-FFEAC6AE3C6A}" sibTransId="{2E86F725-3FD8-4480-8AF6-6A89E142D77A}"/>
    <dgm:cxn modelId="{E402CAF0-5AAA-416F-BAF4-3854EF253EE5}" srcId="{0F6E169A-367E-48F6-8A0F-9538EF72E803}" destId="{676AA4D5-22F4-47B3-B0E8-95C3D9C99480}" srcOrd="0" destOrd="0" parTransId="{65AE6963-95E3-417E-9DBC-C327427667A9}" sibTransId="{BBDCCB86-71C3-422E-959C-8FA92A9124DF}"/>
    <dgm:cxn modelId="{5B0A26F8-5ACB-43D3-A171-6C62CAD4E7BE}" srcId="{9AB424BA-7E8B-4D0B-8A3C-3748A54646B8}" destId="{BEC04423-D6B7-4792-AEB9-C3D7F81A98AC}" srcOrd="0" destOrd="0" parTransId="{F135D138-85FF-4087-B751-5F159F842289}" sibTransId="{AB02689B-5109-4C4C-A9DD-EF332B395FC7}"/>
    <dgm:cxn modelId="{AC4A8FF1-0B42-4570-ACB4-F62AD10AC7E7}" type="presParOf" srcId="{C30EB98C-BF8E-47B5-A59F-A3E708D5551C}" destId="{B5976899-2FC4-4A3E-891A-B74C8C23C8B5}" srcOrd="0" destOrd="0" presId="urn:microsoft.com/office/officeart/2005/8/layout/chevron2"/>
    <dgm:cxn modelId="{78437963-1AD6-4AA2-99FF-D3C136E6C1B9}" type="presParOf" srcId="{B5976899-2FC4-4A3E-891A-B74C8C23C8B5}" destId="{416A876F-5FA3-42F9-A923-4E2C334EF9BC}" srcOrd="0" destOrd="0" presId="urn:microsoft.com/office/officeart/2005/8/layout/chevron2"/>
    <dgm:cxn modelId="{E5BB8A76-3CEA-42DE-8EE6-7959F74B0BB9}" type="presParOf" srcId="{B5976899-2FC4-4A3E-891A-B74C8C23C8B5}" destId="{344A86B1-48E8-448F-9C6D-71580BFB5F83}" srcOrd="1" destOrd="0" presId="urn:microsoft.com/office/officeart/2005/8/layout/chevron2"/>
    <dgm:cxn modelId="{1409A561-56BE-41EC-823E-CEEC12A8CF50}" type="presParOf" srcId="{C30EB98C-BF8E-47B5-A59F-A3E708D5551C}" destId="{19B3EDEB-1CF9-4423-9037-F0221A01EBBA}" srcOrd="1" destOrd="0" presId="urn:microsoft.com/office/officeart/2005/8/layout/chevron2"/>
    <dgm:cxn modelId="{69FAE29B-8826-413D-A90D-E3D1914BB7C5}" type="presParOf" srcId="{C30EB98C-BF8E-47B5-A59F-A3E708D5551C}" destId="{5D167E8C-136F-440C-8D10-651E4D964A72}" srcOrd="2" destOrd="0" presId="urn:microsoft.com/office/officeart/2005/8/layout/chevron2"/>
    <dgm:cxn modelId="{26C5ECD3-BE74-4234-955C-82B823BF9F9B}" type="presParOf" srcId="{5D167E8C-136F-440C-8D10-651E4D964A72}" destId="{A651636C-CE47-4575-AA1E-AB00D80E941D}" srcOrd="0" destOrd="0" presId="urn:microsoft.com/office/officeart/2005/8/layout/chevron2"/>
    <dgm:cxn modelId="{BFF53C8A-F466-46C1-9066-7E1EB74CF072}" type="presParOf" srcId="{5D167E8C-136F-440C-8D10-651E4D964A72}" destId="{79B0DE70-0A03-4A6F-B31F-EC81EB5DF7EA}" srcOrd="1" destOrd="0" presId="urn:microsoft.com/office/officeart/2005/8/layout/chevron2"/>
    <dgm:cxn modelId="{530A7BC0-79AB-4546-A568-2187FF19F65D}" type="presParOf" srcId="{C30EB98C-BF8E-47B5-A59F-A3E708D5551C}" destId="{5C2D5B77-4FD3-4BFC-B7C7-B69CFA47B819}" srcOrd="3" destOrd="0" presId="urn:microsoft.com/office/officeart/2005/8/layout/chevron2"/>
    <dgm:cxn modelId="{BE3F6BE8-AEFA-4235-B54E-61907BC9372B}" type="presParOf" srcId="{C30EB98C-BF8E-47B5-A59F-A3E708D5551C}" destId="{FD9C2F86-B450-49A0-8639-065AE676C080}" srcOrd="4" destOrd="0" presId="urn:microsoft.com/office/officeart/2005/8/layout/chevron2"/>
    <dgm:cxn modelId="{2E20AF7C-4B60-47FB-B029-F81F1CE8FCB7}" type="presParOf" srcId="{FD9C2F86-B450-49A0-8639-065AE676C080}" destId="{2AA7B02C-023E-4537-897E-B54A048C8983}" srcOrd="0" destOrd="0" presId="urn:microsoft.com/office/officeart/2005/8/layout/chevron2"/>
    <dgm:cxn modelId="{0573D7AB-2C25-487B-B0E2-947295CA4BF1}" type="presParOf" srcId="{FD9C2F86-B450-49A0-8639-065AE676C080}" destId="{15D3D31F-A831-4E62-ADE9-6ACE81331CDC}" srcOrd="1" destOrd="0" presId="urn:microsoft.com/office/officeart/2005/8/layout/chevron2"/>
    <dgm:cxn modelId="{49FE4450-ED31-4DD4-95F8-F34D880718F4}" type="presParOf" srcId="{C30EB98C-BF8E-47B5-A59F-A3E708D5551C}" destId="{365F76A6-EF4F-41D1-B81D-BC3D7851A081}" srcOrd="5" destOrd="0" presId="urn:microsoft.com/office/officeart/2005/8/layout/chevron2"/>
    <dgm:cxn modelId="{D297B7B3-984B-4BEF-88CF-E8496B62D532}" type="presParOf" srcId="{C30EB98C-BF8E-47B5-A59F-A3E708D5551C}" destId="{4DB00594-09F9-4225-B772-B1D52DAEEAB6}" srcOrd="6" destOrd="0" presId="urn:microsoft.com/office/officeart/2005/8/layout/chevron2"/>
    <dgm:cxn modelId="{58E3F0DF-7BFD-4BEB-873F-CA02319F1E26}" type="presParOf" srcId="{4DB00594-09F9-4225-B772-B1D52DAEEAB6}" destId="{58E45CBE-DE64-4E4E-8AAA-D376465B2BEE}" srcOrd="0" destOrd="0" presId="urn:microsoft.com/office/officeart/2005/8/layout/chevron2"/>
    <dgm:cxn modelId="{C405AC97-4C54-4757-8651-AB11924A4B6F}" type="presParOf" srcId="{4DB00594-09F9-4225-B772-B1D52DAEEAB6}" destId="{C37D6712-7A35-4663-80F7-1B8FC410AF19}"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90597F3-5A77-42C5-A3BE-2278E7F238BC}" type="doc">
      <dgm:prSet loTypeId="urn:microsoft.com/office/officeart/2005/8/layout/hierarchy2" loCatId="hierarchy" qsTypeId="urn:microsoft.com/office/officeart/2005/8/quickstyle/simple4" qsCatId="simple" csTypeId="urn:microsoft.com/office/officeart/2005/8/colors/colorful2" csCatId="colorful" phldr="1"/>
      <dgm:spPr/>
      <dgm:t>
        <a:bodyPr/>
        <a:lstStyle/>
        <a:p>
          <a:endParaRPr lang="es-CO"/>
        </a:p>
      </dgm:t>
    </dgm:pt>
    <dgm:pt modelId="{59A3506E-67E5-4F7A-9B7E-1576BEDC34A3}">
      <dgm:prSet phldrT="[Texto]" custT="1"/>
      <dgm:spPr>
        <a:solidFill>
          <a:schemeClr val="tx1"/>
        </a:solidFill>
      </dgm:spPr>
      <dgm:t>
        <a:bodyPr/>
        <a:lstStyle/>
        <a:p>
          <a:r>
            <a:rPr lang="es-CO" sz="2000" b="1" dirty="0">
              <a:latin typeface="+mn-lt"/>
            </a:rPr>
            <a:t>Alternativas en los problemas de decisión lógica</a:t>
          </a:r>
        </a:p>
      </dgm:t>
    </dgm:pt>
    <dgm:pt modelId="{E20479EF-AE87-47E7-95B8-7079AFFBD0FD}" type="parTrans" cxnId="{539F31B7-EA4B-4A96-9594-A01E02E53A02}">
      <dgm:prSet/>
      <dgm:spPr/>
      <dgm:t>
        <a:bodyPr/>
        <a:lstStyle/>
        <a:p>
          <a:endParaRPr lang="es-CO"/>
        </a:p>
      </dgm:t>
    </dgm:pt>
    <dgm:pt modelId="{00FBE2A5-9907-4191-9EDB-ED7525BF77C3}" type="sibTrans" cxnId="{539F31B7-EA4B-4A96-9594-A01E02E53A02}">
      <dgm:prSet/>
      <dgm:spPr/>
      <dgm:t>
        <a:bodyPr/>
        <a:lstStyle/>
        <a:p>
          <a:endParaRPr lang="es-CO"/>
        </a:p>
      </dgm:t>
    </dgm:pt>
    <dgm:pt modelId="{09B6955E-10DC-4968-92CF-E1C9819E5605}">
      <dgm:prSet phldrT="[Texto]" custT="1"/>
      <dgm:spPr>
        <a:solidFill>
          <a:schemeClr val="bg1">
            <a:lumMod val="50000"/>
          </a:schemeClr>
        </a:solidFill>
      </dgm:spPr>
      <dgm:t>
        <a:bodyPr/>
        <a:lstStyle/>
        <a:p>
          <a:r>
            <a:rPr lang="es-CO" sz="2000" b="1" dirty="0">
              <a:latin typeface="+mn-lt"/>
            </a:rPr>
            <a:t>Alternativa simple</a:t>
          </a:r>
        </a:p>
      </dgm:t>
    </dgm:pt>
    <dgm:pt modelId="{A22B95DF-9FE8-420F-A458-0ABF9054DDA8}" type="parTrans" cxnId="{7C418AD0-8738-47DB-8D3B-051DD65C20D7}">
      <dgm:prSet/>
      <dgm:spPr>
        <a:ln>
          <a:solidFill>
            <a:schemeClr val="tx1"/>
          </a:solidFill>
        </a:ln>
      </dgm:spPr>
      <dgm:t>
        <a:bodyPr/>
        <a:lstStyle/>
        <a:p>
          <a:endParaRPr lang="es-CO"/>
        </a:p>
      </dgm:t>
    </dgm:pt>
    <dgm:pt modelId="{C73EB503-5E35-420A-9A21-59932CE19BD4}" type="sibTrans" cxnId="{7C418AD0-8738-47DB-8D3B-051DD65C20D7}">
      <dgm:prSet/>
      <dgm:spPr/>
      <dgm:t>
        <a:bodyPr/>
        <a:lstStyle/>
        <a:p>
          <a:endParaRPr lang="es-CO"/>
        </a:p>
      </dgm:t>
    </dgm:pt>
    <dgm:pt modelId="{26B2BE31-97EF-4625-B738-F0B479E24968}">
      <dgm:prSet phldrT="[Texto]" custT="1"/>
      <dgm:spPr>
        <a:solidFill>
          <a:schemeClr val="bg1">
            <a:lumMod val="50000"/>
          </a:schemeClr>
        </a:solidFill>
      </dgm:spPr>
      <dgm:t>
        <a:bodyPr/>
        <a:lstStyle/>
        <a:p>
          <a:r>
            <a:rPr lang="es-CO" sz="2000" b="1" dirty="0">
              <a:latin typeface="+mn-lt"/>
            </a:rPr>
            <a:t>Alternativa doble </a:t>
          </a:r>
        </a:p>
      </dgm:t>
    </dgm:pt>
    <dgm:pt modelId="{74C07CD9-03A2-472F-9D10-89398F18C5FF}" type="parTrans" cxnId="{775B1B90-AC05-4952-874D-D84AEBE82C7A}">
      <dgm:prSet/>
      <dgm:spPr>
        <a:ln>
          <a:solidFill>
            <a:schemeClr val="tx1"/>
          </a:solidFill>
        </a:ln>
      </dgm:spPr>
      <dgm:t>
        <a:bodyPr/>
        <a:lstStyle/>
        <a:p>
          <a:endParaRPr lang="es-CO"/>
        </a:p>
      </dgm:t>
    </dgm:pt>
    <dgm:pt modelId="{C86DC288-399D-4E73-8A61-65A8F1A51B41}" type="sibTrans" cxnId="{775B1B90-AC05-4952-874D-D84AEBE82C7A}">
      <dgm:prSet/>
      <dgm:spPr/>
      <dgm:t>
        <a:bodyPr/>
        <a:lstStyle/>
        <a:p>
          <a:endParaRPr lang="es-CO"/>
        </a:p>
      </dgm:t>
    </dgm:pt>
    <dgm:pt modelId="{AC0BF95D-CF9E-4F08-8A00-9697D100E9A3}">
      <dgm:prSet phldrT="[Texto]" custT="1"/>
      <dgm:spPr>
        <a:solidFill>
          <a:schemeClr val="bg1">
            <a:lumMod val="50000"/>
          </a:schemeClr>
        </a:solidFill>
      </dgm:spPr>
      <dgm:t>
        <a:bodyPr/>
        <a:lstStyle/>
        <a:p>
          <a:r>
            <a:rPr lang="es-CO" sz="2000" b="1" dirty="0">
              <a:latin typeface="+mn-lt"/>
            </a:rPr>
            <a:t>Alternativa múltiple</a:t>
          </a:r>
        </a:p>
      </dgm:t>
    </dgm:pt>
    <dgm:pt modelId="{26D5F77F-06A6-4CDE-AA21-49C84A02C9CD}" type="parTrans" cxnId="{12FDE830-DBE7-4150-B7E3-1300079CB587}">
      <dgm:prSet/>
      <dgm:spPr>
        <a:ln>
          <a:solidFill>
            <a:schemeClr val="tx1"/>
          </a:solidFill>
        </a:ln>
      </dgm:spPr>
      <dgm:t>
        <a:bodyPr/>
        <a:lstStyle/>
        <a:p>
          <a:endParaRPr lang="es-CO"/>
        </a:p>
      </dgm:t>
    </dgm:pt>
    <dgm:pt modelId="{F696B3B3-1931-4F06-B1CC-B83A675495DA}" type="sibTrans" cxnId="{12FDE830-DBE7-4150-B7E3-1300079CB587}">
      <dgm:prSet/>
      <dgm:spPr/>
      <dgm:t>
        <a:bodyPr/>
        <a:lstStyle/>
        <a:p>
          <a:endParaRPr lang="es-CO"/>
        </a:p>
      </dgm:t>
    </dgm:pt>
    <dgm:pt modelId="{9D9A0CA1-8164-4592-AEA4-35677C424757}" type="pres">
      <dgm:prSet presAssocID="{890597F3-5A77-42C5-A3BE-2278E7F238BC}" presName="diagram" presStyleCnt="0">
        <dgm:presLayoutVars>
          <dgm:chPref val="1"/>
          <dgm:dir/>
          <dgm:animOne val="branch"/>
          <dgm:animLvl val="lvl"/>
          <dgm:resizeHandles val="exact"/>
        </dgm:presLayoutVars>
      </dgm:prSet>
      <dgm:spPr/>
    </dgm:pt>
    <dgm:pt modelId="{2CCC041F-5372-4AC6-B4C5-74789650EAD3}" type="pres">
      <dgm:prSet presAssocID="{59A3506E-67E5-4F7A-9B7E-1576BEDC34A3}" presName="root1" presStyleCnt="0"/>
      <dgm:spPr/>
    </dgm:pt>
    <dgm:pt modelId="{1B46BF3C-CDFA-4359-A082-13BD84A6C0BB}" type="pres">
      <dgm:prSet presAssocID="{59A3506E-67E5-4F7A-9B7E-1576BEDC34A3}" presName="LevelOneTextNode" presStyleLbl="node0" presStyleIdx="0" presStyleCnt="1" custLinFactNeighborX="10461" custLinFactNeighborY="35">
        <dgm:presLayoutVars>
          <dgm:chPref val="3"/>
        </dgm:presLayoutVars>
      </dgm:prSet>
      <dgm:spPr/>
    </dgm:pt>
    <dgm:pt modelId="{B9A1D65E-4165-4AE7-8D64-4D3B729688D5}" type="pres">
      <dgm:prSet presAssocID="{59A3506E-67E5-4F7A-9B7E-1576BEDC34A3}" presName="level2hierChild" presStyleCnt="0"/>
      <dgm:spPr/>
    </dgm:pt>
    <dgm:pt modelId="{BB45BE9A-FF36-43D6-83C3-336A2E12976B}" type="pres">
      <dgm:prSet presAssocID="{A22B95DF-9FE8-420F-A458-0ABF9054DDA8}" presName="conn2-1" presStyleLbl="parChTrans1D2" presStyleIdx="0" presStyleCnt="3"/>
      <dgm:spPr/>
    </dgm:pt>
    <dgm:pt modelId="{FF1FABA0-D36A-4D54-B247-14BE9D94AEF0}" type="pres">
      <dgm:prSet presAssocID="{A22B95DF-9FE8-420F-A458-0ABF9054DDA8}" presName="connTx" presStyleLbl="parChTrans1D2" presStyleIdx="0" presStyleCnt="3"/>
      <dgm:spPr/>
    </dgm:pt>
    <dgm:pt modelId="{34C60CED-D817-49FB-B9BB-9118A6A363A3}" type="pres">
      <dgm:prSet presAssocID="{09B6955E-10DC-4968-92CF-E1C9819E5605}" presName="root2" presStyleCnt="0"/>
      <dgm:spPr/>
    </dgm:pt>
    <dgm:pt modelId="{DA0E9240-41B7-41B5-8F65-67C41791B0D9}" type="pres">
      <dgm:prSet presAssocID="{09B6955E-10DC-4968-92CF-E1C9819E5605}" presName="LevelTwoTextNode" presStyleLbl="node2" presStyleIdx="0" presStyleCnt="3" custScaleY="39270" custLinFactNeighborX="448" custLinFactNeighborY="-71206">
        <dgm:presLayoutVars>
          <dgm:chPref val="3"/>
        </dgm:presLayoutVars>
      </dgm:prSet>
      <dgm:spPr/>
    </dgm:pt>
    <dgm:pt modelId="{6693B9B5-72C6-4946-A026-DFCE5CC564BD}" type="pres">
      <dgm:prSet presAssocID="{09B6955E-10DC-4968-92CF-E1C9819E5605}" presName="level3hierChild" presStyleCnt="0"/>
      <dgm:spPr/>
    </dgm:pt>
    <dgm:pt modelId="{94DAD3F8-2DD3-4D49-BCA3-0AA4CEA5327E}" type="pres">
      <dgm:prSet presAssocID="{74C07CD9-03A2-472F-9D10-89398F18C5FF}" presName="conn2-1" presStyleLbl="parChTrans1D2" presStyleIdx="1" presStyleCnt="3"/>
      <dgm:spPr/>
    </dgm:pt>
    <dgm:pt modelId="{1992A5A9-39A4-43EF-B349-F3C4C172BA3E}" type="pres">
      <dgm:prSet presAssocID="{74C07CD9-03A2-472F-9D10-89398F18C5FF}" presName="connTx" presStyleLbl="parChTrans1D2" presStyleIdx="1" presStyleCnt="3"/>
      <dgm:spPr/>
    </dgm:pt>
    <dgm:pt modelId="{96C74287-B61F-407D-BFD4-4FCEB537C037}" type="pres">
      <dgm:prSet presAssocID="{26B2BE31-97EF-4625-B738-F0B479E24968}" presName="root2" presStyleCnt="0"/>
      <dgm:spPr/>
    </dgm:pt>
    <dgm:pt modelId="{FC825A99-0AF5-4BBD-A87F-DB1EBAD335DC}" type="pres">
      <dgm:prSet presAssocID="{26B2BE31-97EF-4625-B738-F0B479E24968}" presName="LevelTwoTextNode" presStyleLbl="node2" presStyleIdx="1" presStyleCnt="3" custScaleY="36559" custLinFactNeighborX="448" custLinFactNeighborY="-3217">
        <dgm:presLayoutVars>
          <dgm:chPref val="3"/>
        </dgm:presLayoutVars>
      </dgm:prSet>
      <dgm:spPr/>
    </dgm:pt>
    <dgm:pt modelId="{DA4EEE03-96FC-4895-961B-17A48177CF31}" type="pres">
      <dgm:prSet presAssocID="{26B2BE31-97EF-4625-B738-F0B479E24968}" presName="level3hierChild" presStyleCnt="0"/>
      <dgm:spPr/>
    </dgm:pt>
    <dgm:pt modelId="{CDABA905-00CC-4685-8E9D-590A386A3B8E}" type="pres">
      <dgm:prSet presAssocID="{26D5F77F-06A6-4CDE-AA21-49C84A02C9CD}" presName="conn2-1" presStyleLbl="parChTrans1D2" presStyleIdx="2" presStyleCnt="3"/>
      <dgm:spPr/>
    </dgm:pt>
    <dgm:pt modelId="{58636808-5F2B-4961-A006-BFF4D8EA13A6}" type="pres">
      <dgm:prSet presAssocID="{26D5F77F-06A6-4CDE-AA21-49C84A02C9CD}" presName="connTx" presStyleLbl="parChTrans1D2" presStyleIdx="2" presStyleCnt="3"/>
      <dgm:spPr/>
    </dgm:pt>
    <dgm:pt modelId="{EC0EA8B8-0BDD-4B34-AC1D-81C811C46B05}" type="pres">
      <dgm:prSet presAssocID="{AC0BF95D-CF9E-4F08-8A00-9697D100E9A3}" presName="root2" presStyleCnt="0"/>
      <dgm:spPr/>
    </dgm:pt>
    <dgm:pt modelId="{37AA57FA-6512-49C5-850D-0B5DBF1B5B11}" type="pres">
      <dgm:prSet presAssocID="{AC0BF95D-CF9E-4F08-8A00-9697D100E9A3}" presName="LevelTwoTextNode" presStyleLbl="node2" presStyleIdx="2" presStyleCnt="3" custScaleY="35024" custLinFactNeighborX="448" custLinFactNeighborY="62167">
        <dgm:presLayoutVars>
          <dgm:chPref val="3"/>
        </dgm:presLayoutVars>
      </dgm:prSet>
      <dgm:spPr/>
    </dgm:pt>
    <dgm:pt modelId="{E28AE99C-4D94-44FF-BB67-9F9102553C0D}" type="pres">
      <dgm:prSet presAssocID="{AC0BF95D-CF9E-4F08-8A00-9697D100E9A3}" presName="level3hierChild" presStyleCnt="0"/>
      <dgm:spPr/>
    </dgm:pt>
  </dgm:ptLst>
  <dgm:cxnLst>
    <dgm:cxn modelId="{FFB07015-A2EB-425F-8208-601748B08209}" type="presOf" srcId="{AC0BF95D-CF9E-4F08-8A00-9697D100E9A3}" destId="{37AA57FA-6512-49C5-850D-0B5DBF1B5B11}" srcOrd="0" destOrd="0" presId="urn:microsoft.com/office/officeart/2005/8/layout/hierarchy2"/>
    <dgm:cxn modelId="{85353B1F-E4BE-4B32-B2F6-BF8F608460EA}" type="presOf" srcId="{26D5F77F-06A6-4CDE-AA21-49C84A02C9CD}" destId="{CDABA905-00CC-4685-8E9D-590A386A3B8E}" srcOrd="0" destOrd="0" presId="urn:microsoft.com/office/officeart/2005/8/layout/hierarchy2"/>
    <dgm:cxn modelId="{790B8620-088D-42EB-9309-1BB7A5268110}" type="presOf" srcId="{890597F3-5A77-42C5-A3BE-2278E7F238BC}" destId="{9D9A0CA1-8164-4592-AEA4-35677C424757}" srcOrd="0" destOrd="0" presId="urn:microsoft.com/office/officeart/2005/8/layout/hierarchy2"/>
    <dgm:cxn modelId="{12FDE830-DBE7-4150-B7E3-1300079CB587}" srcId="{59A3506E-67E5-4F7A-9B7E-1576BEDC34A3}" destId="{AC0BF95D-CF9E-4F08-8A00-9697D100E9A3}" srcOrd="2" destOrd="0" parTransId="{26D5F77F-06A6-4CDE-AA21-49C84A02C9CD}" sibTransId="{F696B3B3-1931-4F06-B1CC-B83A675495DA}"/>
    <dgm:cxn modelId="{94C6B650-204B-43E1-B5A3-9BBFAC74926E}" type="presOf" srcId="{74C07CD9-03A2-472F-9D10-89398F18C5FF}" destId="{94DAD3F8-2DD3-4D49-BCA3-0AA4CEA5327E}" srcOrd="0" destOrd="0" presId="urn:microsoft.com/office/officeart/2005/8/layout/hierarchy2"/>
    <dgm:cxn modelId="{50966B51-4A03-41DC-8E24-DD10B43EF03C}" type="presOf" srcId="{26B2BE31-97EF-4625-B738-F0B479E24968}" destId="{FC825A99-0AF5-4BBD-A87F-DB1EBAD335DC}" srcOrd="0" destOrd="0" presId="urn:microsoft.com/office/officeart/2005/8/layout/hierarchy2"/>
    <dgm:cxn modelId="{D4899E52-E199-4ACD-8987-1B9E61AA99B8}" type="presOf" srcId="{A22B95DF-9FE8-420F-A458-0ABF9054DDA8}" destId="{BB45BE9A-FF36-43D6-83C3-336A2E12976B}" srcOrd="0" destOrd="0" presId="urn:microsoft.com/office/officeart/2005/8/layout/hierarchy2"/>
    <dgm:cxn modelId="{775B1B90-AC05-4952-874D-D84AEBE82C7A}" srcId="{59A3506E-67E5-4F7A-9B7E-1576BEDC34A3}" destId="{26B2BE31-97EF-4625-B738-F0B479E24968}" srcOrd="1" destOrd="0" parTransId="{74C07CD9-03A2-472F-9D10-89398F18C5FF}" sibTransId="{C86DC288-399D-4E73-8A61-65A8F1A51B41}"/>
    <dgm:cxn modelId="{01EC7294-CEEF-40F6-B633-67C82FEF8FA3}" type="presOf" srcId="{09B6955E-10DC-4968-92CF-E1C9819E5605}" destId="{DA0E9240-41B7-41B5-8F65-67C41791B0D9}" srcOrd="0" destOrd="0" presId="urn:microsoft.com/office/officeart/2005/8/layout/hierarchy2"/>
    <dgm:cxn modelId="{13FDBCAC-7318-474F-B507-7E4CAD879951}" type="presOf" srcId="{26D5F77F-06A6-4CDE-AA21-49C84A02C9CD}" destId="{58636808-5F2B-4961-A006-BFF4D8EA13A6}" srcOrd="1" destOrd="0" presId="urn:microsoft.com/office/officeart/2005/8/layout/hierarchy2"/>
    <dgm:cxn modelId="{539F31B7-EA4B-4A96-9594-A01E02E53A02}" srcId="{890597F3-5A77-42C5-A3BE-2278E7F238BC}" destId="{59A3506E-67E5-4F7A-9B7E-1576BEDC34A3}" srcOrd="0" destOrd="0" parTransId="{E20479EF-AE87-47E7-95B8-7079AFFBD0FD}" sibTransId="{00FBE2A5-9907-4191-9EDB-ED7525BF77C3}"/>
    <dgm:cxn modelId="{E160E5C4-0096-4C7F-BE97-005ED6DD2F13}" type="presOf" srcId="{59A3506E-67E5-4F7A-9B7E-1576BEDC34A3}" destId="{1B46BF3C-CDFA-4359-A082-13BD84A6C0BB}" srcOrd="0" destOrd="0" presId="urn:microsoft.com/office/officeart/2005/8/layout/hierarchy2"/>
    <dgm:cxn modelId="{7C418AD0-8738-47DB-8D3B-051DD65C20D7}" srcId="{59A3506E-67E5-4F7A-9B7E-1576BEDC34A3}" destId="{09B6955E-10DC-4968-92CF-E1C9819E5605}" srcOrd="0" destOrd="0" parTransId="{A22B95DF-9FE8-420F-A458-0ABF9054DDA8}" sibTransId="{C73EB503-5E35-420A-9A21-59932CE19BD4}"/>
    <dgm:cxn modelId="{E4AD93DF-6236-47C2-B398-9A40B78239C5}" type="presOf" srcId="{74C07CD9-03A2-472F-9D10-89398F18C5FF}" destId="{1992A5A9-39A4-43EF-B349-F3C4C172BA3E}" srcOrd="1" destOrd="0" presId="urn:microsoft.com/office/officeart/2005/8/layout/hierarchy2"/>
    <dgm:cxn modelId="{B3E5EDF1-37B8-40A2-AE86-7B7F70CDE7F5}" type="presOf" srcId="{A22B95DF-9FE8-420F-A458-0ABF9054DDA8}" destId="{FF1FABA0-D36A-4D54-B247-14BE9D94AEF0}" srcOrd="1" destOrd="0" presId="urn:microsoft.com/office/officeart/2005/8/layout/hierarchy2"/>
    <dgm:cxn modelId="{EA0EABD9-F3E7-4927-B22F-9E20CABC1353}" type="presParOf" srcId="{9D9A0CA1-8164-4592-AEA4-35677C424757}" destId="{2CCC041F-5372-4AC6-B4C5-74789650EAD3}" srcOrd="0" destOrd="0" presId="urn:microsoft.com/office/officeart/2005/8/layout/hierarchy2"/>
    <dgm:cxn modelId="{B7092B44-C017-4DB1-A5EC-3B2995489154}" type="presParOf" srcId="{2CCC041F-5372-4AC6-B4C5-74789650EAD3}" destId="{1B46BF3C-CDFA-4359-A082-13BD84A6C0BB}" srcOrd="0" destOrd="0" presId="urn:microsoft.com/office/officeart/2005/8/layout/hierarchy2"/>
    <dgm:cxn modelId="{5F3B3F5E-9133-4DE6-824A-A1610140E086}" type="presParOf" srcId="{2CCC041F-5372-4AC6-B4C5-74789650EAD3}" destId="{B9A1D65E-4165-4AE7-8D64-4D3B729688D5}" srcOrd="1" destOrd="0" presId="urn:microsoft.com/office/officeart/2005/8/layout/hierarchy2"/>
    <dgm:cxn modelId="{DF64F500-6617-464C-ADBF-2438D3BF07CF}" type="presParOf" srcId="{B9A1D65E-4165-4AE7-8D64-4D3B729688D5}" destId="{BB45BE9A-FF36-43D6-83C3-336A2E12976B}" srcOrd="0" destOrd="0" presId="urn:microsoft.com/office/officeart/2005/8/layout/hierarchy2"/>
    <dgm:cxn modelId="{C7A68622-CC87-445A-B084-57FDAC9C4668}" type="presParOf" srcId="{BB45BE9A-FF36-43D6-83C3-336A2E12976B}" destId="{FF1FABA0-D36A-4D54-B247-14BE9D94AEF0}" srcOrd="0" destOrd="0" presId="urn:microsoft.com/office/officeart/2005/8/layout/hierarchy2"/>
    <dgm:cxn modelId="{96DA79F2-FBFB-4FDF-88C2-7F7FCB8DBC72}" type="presParOf" srcId="{B9A1D65E-4165-4AE7-8D64-4D3B729688D5}" destId="{34C60CED-D817-49FB-B9BB-9118A6A363A3}" srcOrd="1" destOrd="0" presId="urn:microsoft.com/office/officeart/2005/8/layout/hierarchy2"/>
    <dgm:cxn modelId="{C7153360-373F-479F-9733-C14F874D6753}" type="presParOf" srcId="{34C60CED-D817-49FB-B9BB-9118A6A363A3}" destId="{DA0E9240-41B7-41B5-8F65-67C41791B0D9}" srcOrd="0" destOrd="0" presId="urn:microsoft.com/office/officeart/2005/8/layout/hierarchy2"/>
    <dgm:cxn modelId="{1AC1E39B-E666-46C5-BBDB-1BFA6AA98FCA}" type="presParOf" srcId="{34C60CED-D817-49FB-B9BB-9118A6A363A3}" destId="{6693B9B5-72C6-4946-A026-DFCE5CC564BD}" srcOrd="1" destOrd="0" presId="urn:microsoft.com/office/officeart/2005/8/layout/hierarchy2"/>
    <dgm:cxn modelId="{BD9A2782-44A7-4D10-89E2-6C85E5C06753}" type="presParOf" srcId="{B9A1D65E-4165-4AE7-8D64-4D3B729688D5}" destId="{94DAD3F8-2DD3-4D49-BCA3-0AA4CEA5327E}" srcOrd="2" destOrd="0" presId="urn:microsoft.com/office/officeart/2005/8/layout/hierarchy2"/>
    <dgm:cxn modelId="{19307C81-BE97-438B-9CBC-629DE5FEA912}" type="presParOf" srcId="{94DAD3F8-2DD3-4D49-BCA3-0AA4CEA5327E}" destId="{1992A5A9-39A4-43EF-B349-F3C4C172BA3E}" srcOrd="0" destOrd="0" presId="urn:microsoft.com/office/officeart/2005/8/layout/hierarchy2"/>
    <dgm:cxn modelId="{FA6A260E-BACB-4037-BEC7-FC28C486B655}" type="presParOf" srcId="{B9A1D65E-4165-4AE7-8D64-4D3B729688D5}" destId="{96C74287-B61F-407D-BFD4-4FCEB537C037}" srcOrd="3" destOrd="0" presId="urn:microsoft.com/office/officeart/2005/8/layout/hierarchy2"/>
    <dgm:cxn modelId="{F549FC22-1462-4B16-A05C-40A58B0F5542}" type="presParOf" srcId="{96C74287-B61F-407D-BFD4-4FCEB537C037}" destId="{FC825A99-0AF5-4BBD-A87F-DB1EBAD335DC}" srcOrd="0" destOrd="0" presId="urn:microsoft.com/office/officeart/2005/8/layout/hierarchy2"/>
    <dgm:cxn modelId="{D176BA43-AE67-4679-9654-5A7DA6CF6ABF}" type="presParOf" srcId="{96C74287-B61F-407D-BFD4-4FCEB537C037}" destId="{DA4EEE03-96FC-4895-961B-17A48177CF31}" srcOrd="1" destOrd="0" presId="urn:microsoft.com/office/officeart/2005/8/layout/hierarchy2"/>
    <dgm:cxn modelId="{9C570201-3161-47EB-8833-9912B39D4217}" type="presParOf" srcId="{B9A1D65E-4165-4AE7-8D64-4D3B729688D5}" destId="{CDABA905-00CC-4685-8E9D-590A386A3B8E}" srcOrd="4" destOrd="0" presId="urn:microsoft.com/office/officeart/2005/8/layout/hierarchy2"/>
    <dgm:cxn modelId="{2F8A09A8-7110-45C5-AB57-1A25DB2FCAA3}" type="presParOf" srcId="{CDABA905-00CC-4685-8E9D-590A386A3B8E}" destId="{58636808-5F2B-4961-A006-BFF4D8EA13A6}" srcOrd="0" destOrd="0" presId="urn:microsoft.com/office/officeart/2005/8/layout/hierarchy2"/>
    <dgm:cxn modelId="{78B88CD1-26BB-4F80-9760-9610949EA321}" type="presParOf" srcId="{B9A1D65E-4165-4AE7-8D64-4D3B729688D5}" destId="{EC0EA8B8-0BDD-4B34-AC1D-81C811C46B05}" srcOrd="5" destOrd="0" presId="urn:microsoft.com/office/officeart/2005/8/layout/hierarchy2"/>
    <dgm:cxn modelId="{ECF7E878-DBEE-4EF1-A933-0F8C0281BF82}" type="presParOf" srcId="{EC0EA8B8-0BDD-4B34-AC1D-81C811C46B05}" destId="{37AA57FA-6512-49C5-850D-0B5DBF1B5B11}" srcOrd="0" destOrd="0" presId="urn:microsoft.com/office/officeart/2005/8/layout/hierarchy2"/>
    <dgm:cxn modelId="{5D91536F-8CDB-4908-8028-139199733CEF}" type="presParOf" srcId="{EC0EA8B8-0BDD-4B34-AC1D-81C811C46B05}" destId="{E28AE99C-4D94-44FF-BB67-9F9102553C0D}"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6A876F-5FA3-42F9-A923-4E2C334EF9BC}">
      <dsp:nvSpPr>
        <dsp:cNvPr id="0" name=""/>
        <dsp:cNvSpPr/>
      </dsp:nvSpPr>
      <dsp:spPr>
        <a:xfrm rot="5400000">
          <a:off x="-106543" y="109307"/>
          <a:ext cx="710288" cy="497202"/>
        </a:xfrm>
        <a:prstGeom prst="chevron">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CO" sz="1600" kern="1200" dirty="0">
              <a:latin typeface="Century Gothic" panose="020B0502020202020204" pitchFamily="34" charset="0"/>
            </a:rPr>
            <a:t>1</a:t>
          </a:r>
          <a:endParaRPr lang="es-CO" sz="1200" kern="1200" dirty="0">
            <a:latin typeface="Century Gothic" panose="020B0502020202020204" pitchFamily="34" charset="0"/>
          </a:endParaRPr>
        </a:p>
      </dsp:txBody>
      <dsp:txXfrm rot="-5400000">
        <a:off x="0" y="251365"/>
        <a:ext cx="497202" cy="213086"/>
      </dsp:txXfrm>
    </dsp:sp>
    <dsp:sp modelId="{344A86B1-48E8-448F-9C6D-71580BFB5F83}">
      <dsp:nvSpPr>
        <dsp:cNvPr id="0" name=""/>
        <dsp:cNvSpPr/>
      </dsp:nvSpPr>
      <dsp:spPr>
        <a:xfrm rot="5400000">
          <a:off x="2825947" y="-2325981"/>
          <a:ext cx="461930" cy="5119421"/>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latin typeface="Century Gothic" panose="020B0502020202020204" pitchFamily="34" charset="0"/>
            </a:rPr>
            <a:t>Entender el problema</a:t>
          </a:r>
        </a:p>
      </dsp:txBody>
      <dsp:txXfrm rot="-5400000">
        <a:off x="497202" y="25314"/>
        <a:ext cx="5096871" cy="416830"/>
      </dsp:txXfrm>
    </dsp:sp>
    <dsp:sp modelId="{A651636C-CE47-4575-AA1E-AB00D80E941D}">
      <dsp:nvSpPr>
        <dsp:cNvPr id="0" name=""/>
        <dsp:cNvSpPr/>
      </dsp:nvSpPr>
      <dsp:spPr>
        <a:xfrm rot="5400000">
          <a:off x="-106543" y="658631"/>
          <a:ext cx="710288" cy="497202"/>
        </a:xfrm>
        <a:prstGeom prst="chevron">
          <a:avLst/>
        </a:prstGeom>
        <a:gradFill rotWithShape="0">
          <a:gsLst>
            <a:gs pos="0">
              <a:schemeClr val="accent3">
                <a:hueOff val="252426"/>
                <a:satOff val="3301"/>
                <a:lumOff val="-4052"/>
                <a:alphaOff val="0"/>
                <a:satMod val="103000"/>
                <a:lumMod val="102000"/>
                <a:tint val="94000"/>
              </a:schemeClr>
            </a:gs>
            <a:gs pos="50000">
              <a:schemeClr val="accent3">
                <a:hueOff val="252426"/>
                <a:satOff val="3301"/>
                <a:lumOff val="-4052"/>
                <a:alphaOff val="0"/>
                <a:satMod val="110000"/>
                <a:lumMod val="100000"/>
                <a:shade val="100000"/>
              </a:schemeClr>
            </a:gs>
            <a:gs pos="100000">
              <a:schemeClr val="accent3">
                <a:hueOff val="252426"/>
                <a:satOff val="3301"/>
                <a:lumOff val="-4052"/>
                <a:alphaOff val="0"/>
                <a:lumMod val="99000"/>
                <a:satMod val="120000"/>
                <a:shade val="78000"/>
              </a:schemeClr>
            </a:gs>
          </a:gsLst>
          <a:lin ang="5400000" scaled="0"/>
        </a:gradFill>
        <a:ln w="6350" cap="flat" cmpd="sng" algn="ctr">
          <a:solidFill>
            <a:schemeClr val="accent3">
              <a:hueOff val="252426"/>
              <a:satOff val="3301"/>
              <a:lumOff val="-4052"/>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CO" sz="1800" kern="1200" dirty="0">
              <a:latin typeface="Century Gothic" panose="020B0502020202020204" pitchFamily="34" charset="0"/>
            </a:rPr>
            <a:t>2</a:t>
          </a:r>
          <a:endParaRPr lang="es-CO" sz="2400" kern="1200" dirty="0">
            <a:latin typeface="Century Gothic" panose="020B0502020202020204" pitchFamily="34" charset="0"/>
          </a:endParaRPr>
        </a:p>
      </dsp:txBody>
      <dsp:txXfrm rot="-5400000">
        <a:off x="0" y="800689"/>
        <a:ext cx="497202" cy="213086"/>
      </dsp:txXfrm>
    </dsp:sp>
    <dsp:sp modelId="{79B0DE70-0A03-4A6F-B31F-EC81EB5DF7EA}">
      <dsp:nvSpPr>
        <dsp:cNvPr id="0" name=""/>
        <dsp:cNvSpPr/>
      </dsp:nvSpPr>
      <dsp:spPr>
        <a:xfrm rot="5400000">
          <a:off x="2826069" y="-1776779"/>
          <a:ext cx="461687" cy="5119421"/>
        </a:xfrm>
        <a:prstGeom prst="round2SameRect">
          <a:avLst/>
        </a:prstGeom>
        <a:solidFill>
          <a:schemeClr val="lt1">
            <a:alpha val="90000"/>
            <a:hueOff val="0"/>
            <a:satOff val="0"/>
            <a:lumOff val="0"/>
            <a:alphaOff val="0"/>
          </a:schemeClr>
        </a:solidFill>
        <a:ln w="6350" cap="flat" cmpd="sng" algn="ctr">
          <a:solidFill>
            <a:schemeClr val="accent3">
              <a:hueOff val="252426"/>
              <a:satOff val="3301"/>
              <a:lumOff val="-4052"/>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Diseñar un plan</a:t>
          </a:r>
        </a:p>
      </dsp:txBody>
      <dsp:txXfrm rot="-5400000">
        <a:off x="497202" y="574626"/>
        <a:ext cx="5096883" cy="416611"/>
      </dsp:txXfrm>
    </dsp:sp>
    <dsp:sp modelId="{2AA7B02C-023E-4537-897E-B54A048C8983}">
      <dsp:nvSpPr>
        <dsp:cNvPr id="0" name=""/>
        <dsp:cNvSpPr/>
      </dsp:nvSpPr>
      <dsp:spPr>
        <a:xfrm rot="5400000">
          <a:off x="-106543" y="1207954"/>
          <a:ext cx="710288" cy="497202"/>
        </a:xfrm>
        <a:prstGeom prst="chevron">
          <a:avLst/>
        </a:prstGeom>
        <a:gradFill rotWithShape="0">
          <a:gsLst>
            <a:gs pos="0">
              <a:schemeClr val="accent3">
                <a:hueOff val="504853"/>
                <a:satOff val="6602"/>
                <a:lumOff val="-8104"/>
                <a:alphaOff val="0"/>
                <a:satMod val="103000"/>
                <a:lumMod val="102000"/>
                <a:tint val="94000"/>
              </a:schemeClr>
            </a:gs>
            <a:gs pos="50000">
              <a:schemeClr val="accent3">
                <a:hueOff val="504853"/>
                <a:satOff val="6602"/>
                <a:lumOff val="-8104"/>
                <a:alphaOff val="0"/>
                <a:satMod val="110000"/>
                <a:lumMod val="100000"/>
                <a:shade val="100000"/>
              </a:schemeClr>
            </a:gs>
            <a:gs pos="100000">
              <a:schemeClr val="accent3">
                <a:hueOff val="504853"/>
                <a:satOff val="6602"/>
                <a:lumOff val="-8104"/>
                <a:alphaOff val="0"/>
                <a:lumMod val="99000"/>
                <a:satMod val="120000"/>
                <a:shade val="78000"/>
              </a:schemeClr>
            </a:gs>
          </a:gsLst>
          <a:lin ang="5400000" scaled="0"/>
        </a:gradFill>
        <a:ln w="6350" cap="flat" cmpd="sng" algn="ctr">
          <a:solidFill>
            <a:schemeClr val="accent3">
              <a:hueOff val="504853"/>
              <a:satOff val="6602"/>
              <a:lumOff val="-8104"/>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CO" sz="2000" kern="1200" dirty="0">
              <a:latin typeface="Century Gothic" panose="020B0502020202020204" pitchFamily="34" charset="0"/>
            </a:rPr>
            <a:t>3</a:t>
          </a:r>
        </a:p>
      </dsp:txBody>
      <dsp:txXfrm rot="-5400000">
        <a:off x="0" y="1350012"/>
        <a:ext cx="497202" cy="213086"/>
      </dsp:txXfrm>
    </dsp:sp>
    <dsp:sp modelId="{15D3D31F-A831-4E62-ADE9-6ACE81331CDC}">
      <dsp:nvSpPr>
        <dsp:cNvPr id="0" name=""/>
        <dsp:cNvSpPr/>
      </dsp:nvSpPr>
      <dsp:spPr>
        <a:xfrm rot="5400000">
          <a:off x="2826069" y="-1227455"/>
          <a:ext cx="461687" cy="5119421"/>
        </a:xfrm>
        <a:prstGeom prst="round2SameRect">
          <a:avLst/>
        </a:prstGeom>
        <a:solidFill>
          <a:schemeClr val="lt1">
            <a:alpha val="90000"/>
            <a:hueOff val="0"/>
            <a:satOff val="0"/>
            <a:lumOff val="0"/>
            <a:alphaOff val="0"/>
          </a:schemeClr>
        </a:solidFill>
        <a:ln w="6350" cap="flat" cmpd="sng" algn="ctr">
          <a:solidFill>
            <a:schemeClr val="accent3">
              <a:hueOff val="504853"/>
              <a:satOff val="6602"/>
              <a:lumOff val="-810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Implementar el plan</a:t>
          </a:r>
        </a:p>
      </dsp:txBody>
      <dsp:txXfrm rot="-5400000">
        <a:off x="497202" y="1123950"/>
        <a:ext cx="5096883" cy="416611"/>
      </dsp:txXfrm>
    </dsp:sp>
    <dsp:sp modelId="{58E45CBE-DE64-4E4E-8AAA-D376465B2BEE}">
      <dsp:nvSpPr>
        <dsp:cNvPr id="0" name=""/>
        <dsp:cNvSpPr/>
      </dsp:nvSpPr>
      <dsp:spPr>
        <a:xfrm rot="5400000">
          <a:off x="-106543" y="1757278"/>
          <a:ext cx="710288" cy="497202"/>
        </a:xfrm>
        <a:prstGeom prst="chevron">
          <a:avLst/>
        </a:prstGeom>
        <a:gradFill rotWithShape="0">
          <a:gsLst>
            <a:gs pos="0">
              <a:schemeClr val="accent3">
                <a:hueOff val="757279"/>
                <a:satOff val="9903"/>
                <a:lumOff val="-12156"/>
                <a:alphaOff val="0"/>
                <a:satMod val="103000"/>
                <a:lumMod val="102000"/>
                <a:tint val="94000"/>
              </a:schemeClr>
            </a:gs>
            <a:gs pos="50000">
              <a:schemeClr val="accent3">
                <a:hueOff val="757279"/>
                <a:satOff val="9903"/>
                <a:lumOff val="-12156"/>
                <a:alphaOff val="0"/>
                <a:satMod val="110000"/>
                <a:lumMod val="100000"/>
                <a:shade val="100000"/>
              </a:schemeClr>
            </a:gs>
            <a:gs pos="100000">
              <a:schemeClr val="accent3">
                <a:hueOff val="757279"/>
                <a:satOff val="9903"/>
                <a:lumOff val="-12156"/>
                <a:alphaOff val="0"/>
                <a:lumMod val="99000"/>
                <a:satMod val="120000"/>
                <a:shade val="78000"/>
              </a:schemeClr>
            </a:gs>
          </a:gsLst>
          <a:lin ang="5400000" scaled="0"/>
        </a:gradFill>
        <a:ln w="6350" cap="flat" cmpd="sng" algn="ctr">
          <a:solidFill>
            <a:schemeClr val="accent3">
              <a:hueOff val="757279"/>
              <a:satOff val="9903"/>
              <a:lumOff val="-12156"/>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CO" sz="2000" kern="1200" dirty="0">
              <a:latin typeface="Century Gothic" panose="020B0502020202020204" pitchFamily="34" charset="0"/>
            </a:rPr>
            <a:t>4</a:t>
          </a:r>
        </a:p>
      </dsp:txBody>
      <dsp:txXfrm rot="-5400000">
        <a:off x="0" y="1899336"/>
        <a:ext cx="497202" cy="213086"/>
      </dsp:txXfrm>
    </dsp:sp>
    <dsp:sp modelId="{C37D6712-7A35-4663-80F7-1B8FC410AF19}">
      <dsp:nvSpPr>
        <dsp:cNvPr id="0" name=""/>
        <dsp:cNvSpPr/>
      </dsp:nvSpPr>
      <dsp:spPr>
        <a:xfrm rot="5400000">
          <a:off x="2826069" y="-678132"/>
          <a:ext cx="461687" cy="5119421"/>
        </a:xfrm>
        <a:prstGeom prst="round2SameRect">
          <a:avLst/>
        </a:prstGeom>
        <a:solidFill>
          <a:schemeClr val="lt1">
            <a:alpha val="90000"/>
            <a:hueOff val="0"/>
            <a:satOff val="0"/>
            <a:lumOff val="0"/>
            <a:alphaOff val="0"/>
          </a:schemeClr>
        </a:solidFill>
        <a:ln w="6350" cap="flat" cmpd="sng" algn="ctr">
          <a:solidFill>
            <a:schemeClr val="accent3">
              <a:hueOff val="757279"/>
              <a:satOff val="9903"/>
              <a:lumOff val="-1215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Revisar el plan</a:t>
          </a:r>
        </a:p>
      </dsp:txBody>
      <dsp:txXfrm rot="-5400000">
        <a:off x="497202" y="1673273"/>
        <a:ext cx="5096883" cy="4166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46BF3C-CDFA-4359-A082-13BD84A6C0BB}">
      <dsp:nvSpPr>
        <dsp:cNvPr id="0" name=""/>
        <dsp:cNvSpPr/>
      </dsp:nvSpPr>
      <dsp:spPr>
        <a:xfrm>
          <a:off x="265709" y="1397444"/>
          <a:ext cx="2539999" cy="1269999"/>
        </a:xfrm>
        <a:prstGeom prst="roundRect">
          <a:avLst>
            <a:gd name="adj" fmla="val 10000"/>
          </a:avLst>
        </a:prstGeom>
        <a:solidFill>
          <a:schemeClr val="tx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CO" sz="2000" b="1" kern="1200" dirty="0">
              <a:latin typeface="+mn-lt"/>
            </a:rPr>
            <a:t>Alternativas en los problemas de decisión lógica</a:t>
          </a:r>
        </a:p>
      </dsp:txBody>
      <dsp:txXfrm>
        <a:off x="302906" y="1434641"/>
        <a:ext cx="2465605" cy="1195605"/>
      </dsp:txXfrm>
    </dsp:sp>
    <dsp:sp modelId="{BB45BE9A-FF36-43D6-83C3-336A2E12976B}">
      <dsp:nvSpPr>
        <dsp:cNvPr id="0" name=""/>
        <dsp:cNvSpPr/>
      </dsp:nvSpPr>
      <dsp:spPr>
        <a:xfrm rot="17749945">
          <a:off x="2319916" y="1229413"/>
          <a:ext cx="1721875" cy="56250"/>
        </a:xfrm>
        <a:custGeom>
          <a:avLst/>
          <a:gdLst/>
          <a:ahLst/>
          <a:cxnLst/>
          <a:rect l="0" t="0" r="0" b="0"/>
          <a:pathLst>
            <a:path>
              <a:moveTo>
                <a:pt x="0" y="28125"/>
              </a:moveTo>
              <a:lnTo>
                <a:pt x="1721875" y="28125"/>
              </a:lnTo>
            </a:path>
          </a:pathLst>
        </a:custGeom>
        <a:noFill/>
        <a:ln w="6350" cap="flat" cmpd="sng" algn="ctr">
          <a:solidFill>
            <a:schemeClr val="tx1"/>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s-CO" sz="600" kern="1200"/>
        </a:p>
      </dsp:txBody>
      <dsp:txXfrm>
        <a:off x="3137807" y="1214491"/>
        <a:ext cx="86093" cy="86093"/>
      </dsp:txXfrm>
    </dsp:sp>
    <dsp:sp modelId="{DA0E9240-41B7-41B5-8F65-67C41791B0D9}">
      <dsp:nvSpPr>
        <dsp:cNvPr id="0" name=""/>
        <dsp:cNvSpPr/>
      </dsp:nvSpPr>
      <dsp:spPr>
        <a:xfrm>
          <a:off x="3556000" y="233267"/>
          <a:ext cx="2539999" cy="498729"/>
        </a:xfrm>
        <a:prstGeom prst="roundRect">
          <a:avLst>
            <a:gd name="adj" fmla="val 10000"/>
          </a:avLst>
        </a:prstGeom>
        <a:solidFill>
          <a:schemeClr val="bg1">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CO" sz="2000" b="1" kern="1200" dirty="0">
              <a:latin typeface="+mn-lt"/>
            </a:rPr>
            <a:t>Alternativa simple</a:t>
          </a:r>
        </a:p>
      </dsp:txBody>
      <dsp:txXfrm>
        <a:off x="3570607" y="247874"/>
        <a:ext cx="2510785" cy="469515"/>
      </dsp:txXfrm>
    </dsp:sp>
    <dsp:sp modelId="{94DAD3F8-2DD3-4D49-BCA3-0AA4CEA5327E}">
      <dsp:nvSpPr>
        <dsp:cNvPr id="0" name=""/>
        <dsp:cNvSpPr/>
      </dsp:nvSpPr>
      <dsp:spPr>
        <a:xfrm rot="21534312">
          <a:off x="2805640" y="1997150"/>
          <a:ext cx="750427" cy="56250"/>
        </a:xfrm>
        <a:custGeom>
          <a:avLst/>
          <a:gdLst/>
          <a:ahLst/>
          <a:cxnLst/>
          <a:rect l="0" t="0" r="0" b="0"/>
          <a:pathLst>
            <a:path>
              <a:moveTo>
                <a:pt x="0" y="28125"/>
              </a:moveTo>
              <a:lnTo>
                <a:pt x="750427" y="28125"/>
              </a:lnTo>
            </a:path>
          </a:pathLst>
        </a:custGeom>
        <a:noFill/>
        <a:ln w="6350" cap="flat" cmpd="sng" algn="ctr">
          <a:solidFill>
            <a:schemeClr val="tx1"/>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CO" sz="500" kern="1200"/>
        </a:p>
      </dsp:txBody>
      <dsp:txXfrm>
        <a:off x="3162094" y="2006514"/>
        <a:ext cx="37521" cy="37521"/>
      </dsp:txXfrm>
    </dsp:sp>
    <dsp:sp modelId="{FC825A99-0AF5-4BBD-A87F-DB1EBAD335DC}">
      <dsp:nvSpPr>
        <dsp:cNvPr id="0" name=""/>
        <dsp:cNvSpPr/>
      </dsp:nvSpPr>
      <dsp:spPr>
        <a:xfrm>
          <a:off x="3556000" y="1785956"/>
          <a:ext cx="2539999" cy="464299"/>
        </a:xfrm>
        <a:prstGeom prst="roundRect">
          <a:avLst>
            <a:gd name="adj" fmla="val 10000"/>
          </a:avLst>
        </a:prstGeom>
        <a:solidFill>
          <a:schemeClr val="bg1">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CO" sz="2000" b="1" kern="1200" dirty="0">
              <a:latin typeface="+mn-lt"/>
            </a:rPr>
            <a:t>Alternativa doble </a:t>
          </a:r>
        </a:p>
      </dsp:txBody>
      <dsp:txXfrm>
        <a:off x="3569599" y="1799555"/>
        <a:ext cx="2512801" cy="437101"/>
      </dsp:txXfrm>
    </dsp:sp>
    <dsp:sp modelId="{CDABA905-00CC-4685-8E9D-590A386A3B8E}">
      <dsp:nvSpPr>
        <dsp:cNvPr id="0" name=""/>
        <dsp:cNvSpPr/>
      </dsp:nvSpPr>
      <dsp:spPr>
        <a:xfrm rot="3769132">
          <a:off x="2359617" y="2734864"/>
          <a:ext cx="1642474" cy="56250"/>
        </a:xfrm>
        <a:custGeom>
          <a:avLst/>
          <a:gdLst/>
          <a:ahLst/>
          <a:cxnLst/>
          <a:rect l="0" t="0" r="0" b="0"/>
          <a:pathLst>
            <a:path>
              <a:moveTo>
                <a:pt x="0" y="28125"/>
              </a:moveTo>
              <a:lnTo>
                <a:pt x="1642474" y="28125"/>
              </a:lnTo>
            </a:path>
          </a:pathLst>
        </a:custGeom>
        <a:noFill/>
        <a:ln w="6350" cap="flat" cmpd="sng" algn="ctr">
          <a:solidFill>
            <a:schemeClr val="tx1"/>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CO" sz="500" kern="1200"/>
        </a:p>
      </dsp:txBody>
      <dsp:txXfrm>
        <a:off x="3139792" y="2721927"/>
        <a:ext cx="82123" cy="82123"/>
      </dsp:txXfrm>
    </dsp:sp>
    <dsp:sp modelId="{37AA57FA-6512-49C5-850D-0B5DBF1B5B11}">
      <dsp:nvSpPr>
        <dsp:cNvPr id="0" name=""/>
        <dsp:cNvSpPr/>
      </dsp:nvSpPr>
      <dsp:spPr>
        <a:xfrm>
          <a:off x="3556000" y="3271132"/>
          <a:ext cx="2539999" cy="444804"/>
        </a:xfrm>
        <a:prstGeom prst="roundRect">
          <a:avLst>
            <a:gd name="adj" fmla="val 10000"/>
          </a:avLst>
        </a:prstGeom>
        <a:solidFill>
          <a:schemeClr val="bg1">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CO" sz="2000" b="1" kern="1200" dirty="0">
              <a:latin typeface="+mn-lt"/>
            </a:rPr>
            <a:t>Alternativa múltiple</a:t>
          </a:r>
        </a:p>
      </dsp:txBody>
      <dsp:txXfrm>
        <a:off x="3569028" y="3284160"/>
        <a:ext cx="2513943" cy="418748"/>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0943A3E-55B9-4706-BA6E-9364B5247742}" type="datetimeFigureOut">
              <a:rPr lang="es-CO" smtClean="0"/>
              <a:t>4/10/2026</a:t>
            </a:fld>
            <a:endParaRPr lang="es-CO"/>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C08B099-0CC4-41E8-A6BF-D10E445BFF74}" type="slidenum">
              <a:rPr lang="es-CO" smtClean="0"/>
              <a:t>‹Nº›</a:t>
            </a:fld>
            <a:endParaRPr lang="es-CO"/>
          </a:p>
        </p:txBody>
      </p:sp>
    </p:spTree>
    <p:extLst>
      <p:ext uri="{BB962C8B-B14F-4D97-AF65-F5344CB8AC3E}">
        <p14:creationId xmlns:p14="http://schemas.microsoft.com/office/powerpoint/2010/main" val="1715684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78FAE389-1891-4C1C-AE7B-96446A92669F}" type="datetime1">
              <a:rPr lang="es-CO" smtClean="0"/>
              <a:t>4/10/2026</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47DF11D6-2A43-477C-ACA3-F1025A79500F}" type="slidenum">
              <a:rPr lang="es-CO" smtClean="0"/>
              <a:pPr/>
              <a:t>‹Nº›</a:t>
            </a:fld>
            <a:endParaRPr lang="es-CO" dirty="0"/>
          </a:p>
        </p:txBody>
      </p:sp>
    </p:spTree>
    <p:extLst>
      <p:ext uri="{BB962C8B-B14F-4D97-AF65-F5344CB8AC3E}">
        <p14:creationId xmlns:p14="http://schemas.microsoft.com/office/powerpoint/2010/main" val="1366208883"/>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C197211-2E02-4E34-9D1C-742DBBA2E713}" type="datetime1">
              <a:rPr lang="es-CO" smtClean="0"/>
              <a:t>4/10/2026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7DF11D6-2A43-477C-ACA3-F1025A79500F}" type="slidenum">
              <a:rPr lang="es-CO" smtClean="0"/>
              <a:t>‹Nº›</a:t>
            </a:fld>
            <a:endParaRPr lang="es-CO" dirty="0"/>
          </a:p>
        </p:txBody>
      </p:sp>
    </p:spTree>
    <p:extLst>
      <p:ext uri="{BB962C8B-B14F-4D97-AF65-F5344CB8AC3E}">
        <p14:creationId xmlns:p14="http://schemas.microsoft.com/office/powerpoint/2010/main" val="3519918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F84A16AA-8F92-4F8D-9FF5-AE4F5F025475}" type="datetime1">
              <a:rPr lang="es-CO" smtClean="0"/>
              <a:t>4/10/2026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2432149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8A2889A-C4A3-4C6C-A514-E9566A95FF0B}" type="datetime1">
              <a:rPr lang="es-CO" smtClean="0"/>
              <a:t>4/10/2026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2031312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29842" y="2505075"/>
            <a:ext cx="3868340"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4629150" y="2505075"/>
            <a:ext cx="3887391"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FC549B8-F78E-4015-8DD3-99AC842EEF5C}" type="datetime1">
              <a:rPr lang="es-CO" smtClean="0"/>
              <a:t>4/10/2026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2473852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78FAE389-1891-4C1C-AE7B-96446A92669F}" type="datetime1">
              <a:rPr lang="es-CO" smtClean="0"/>
              <a:t>4/10/2026</a:t>
            </a:fld>
            <a:endParaRPr lang="es-CO" dirty="0"/>
          </a:p>
        </p:txBody>
      </p:sp>
      <p:sp>
        <p:nvSpPr>
          <p:cNvPr id="4" name="Footer Placeholder 3"/>
          <p:cNvSpPr>
            <a:spLocks noGrp="1"/>
          </p:cNvSpPr>
          <p:nvPr>
            <p:ph type="ftr" sz="quarter" idx="11"/>
          </p:nvPr>
        </p:nvSpPr>
        <p:spPr/>
        <p:txBody>
          <a:bodyPr/>
          <a:lstStyle/>
          <a:p>
            <a:endParaRPr lang="es-CO" dirty="0"/>
          </a:p>
        </p:txBody>
      </p:sp>
      <p:sp>
        <p:nvSpPr>
          <p:cNvPr id="5" name="Slide Number Placeholder 4"/>
          <p:cNvSpPr>
            <a:spLocks noGrp="1"/>
          </p:cNvSpPr>
          <p:nvPr>
            <p:ph type="sldNum" sz="quarter" idx="12"/>
          </p:nvPr>
        </p:nvSpPr>
        <p:spPr/>
        <p:txBody>
          <a:bodyPr/>
          <a:lstStyle/>
          <a:p>
            <a:fld id="{47DF11D6-2A43-477C-ACA3-F1025A79500F}" type="slidenum">
              <a:rPr lang="es-CO" smtClean="0"/>
              <a:pPr/>
              <a:t>‹Nº›</a:t>
            </a:fld>
            <a:endParaRPr lang="es-CO" dirty="0"/>
          </a:p>
        </p:txBody>
      </p:sp>
    </p:spTree>
    <p:extLst>
      <p:ext uri="{BB962C8B-B14F-4D97-AF65-F5344CB8AC3E}">
        <p14:creationId xmlns:p14="http://schemas.microsoft.com/office/powerpoint/2010/main" val="208510513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375FDE-4F9B-4FF4-9D4F-6D3ED15F62CE}" type="datetime1">
              <a:rPr lang="es-CO" smtClean="0"/>
              <a:t>4/10/2026</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2726837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AF392FA-6414-43D4-857F-1D16849F2AFB}" type="datetime1">
              <a:rPr lang="es-CO" smtClean="0"/>
              <a:t>4/10/2026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3088452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E2F1ADB1-43E6-4CC5-8BA6-A3F5A7E6EF55}" type="datetime1">
              <a:rPr lang="es-CO" smtClean="0"/>
              <a:t>4/10/2026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1530639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9921E5-6957-4C84-BD80-156D13F58C59}" type="datetime1">
              <a:rPr lang="es-CO" smtClean="0"/>
              <a:t>4/10/2026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771218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7BB61D7-E979-4A0B-B106-A9203ABD6AA5}" type="datetime1">
              <a:rPr lang="es-CO" smtClean="0"/>
              <a:t>4/10/2026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22225396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dirty="0"/>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BC197211-2E02-4E34-9D1C-742DBBA2E713}" type="datetime1">
              <a:rPr lang="es-CO" smtClean="0"/>
              <a:t>4/10/2026</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47DF11D6-2A43-477C-ACA3-F1025A79500F}" type="slidenum">
              <a:rPr lang="es-CO" smtClean="0"/>
              <a:t>‹Nº›</a:t>
            </a:fld>
            <a:endParaRPr lang="es-CO" dirty="0"/>
          </a:p>
        </p:txBody>
      </p:sp>
    </p:spTree>
    <p:extLst>
      <p:ext uri="{BB962C8B-B14F-4D97-AF65-F5344CB8AC3E}">
        <p14:creationId xmlns:p14="http://schemas.microsoft.com/office/powerpoint/2010/main" val="3864103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FAE389-1891-4C1C-AE7B-96446A92669F}" type="datetime1">
              <a:rPr lang="es-CO" smtClean="0"/>
              <a:t>4/10/2026</a:t>
            </a:fld>
            <a:endParaRPr lang="es-CO"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DF11D6-2A43-477C-ACA3-F1025A79500F}" type="slidenum">
              <a:rPr lang="es-CO" smtClean="0"/>
              <a:pPr/>
              <a:t>‹Nº›</a:t>
            </a:fld>
            <a:endParaRPr lang="es-CO" dirty="0"/>
          </a:p>
        </p:txBody>
      </p:sp>
    </p:spTree>
    <p:extLst>
      <p:ext uri="{BB962C8B-B14F-4D97-AF65-F5344CB8AC3E}">
        <p14:creationId xmlns:p14="http://schemas.microsoft.com/office/powerpoint/2010/main" val="4143474534"/>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65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hyperlink" Target="https://makecode.microbit.org/courses/csintro/conditionals/overview" TargetMode="Externa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Layout" Target="../diagrams/layout2.xml"/><Relationship Id="rId7" Type="http://schemas.openxmlformats.org/officeDocument/2006/relationships/image" Target="../media/image10.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10" Type="http://schemas.openxmlformats.org/officeDocument/2006/relationships/image" Target="../media/image8.png"/><Relationship Id="rId4" Type="http://schemas.openxmlformats.org/officeDocument/2006/relationships/diagramQuickStyle" Target="../diagrams/quickStyle2.xml"/><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pythontutor.com/visualize.html#code=N%20%3D%2010%0Ai%20%3D%201%0Awhile%20i%20%3C%3D%20N%3A%0A%20%20print%28i%29%0A%20%20i%20%3D%20i%20%2B%201&amp;curInstr=0&amp;mode=display&amp;origin=opt-frontend.js&amp;py=311" TargetMode="External"/><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jpeg"/><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hyperlink" Target="https://github.com/algoritmos-UdeA/logica1-20262/tree/main/clases/8/teoria/codigo/cine_sr_burns" TargetMode="External"/><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29.jpeg"/><Relationship Id="rId5" Type="http://schemas.openxmlformats.org/officeDocument/2006/relationships/image" Target="../media/image33.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pythontutor.com/visualize.html#code=N%20%3D%2010%0Afor%20i%20in%20range%20%281,N%20%2B%201,1%29%3A%0A%20%20print%28i%29&amp;curInstr=0&amp;mode=display&amp;origin=opt-frontend.js&amp;py=311"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hyperlink" Target="https://pythontutor.com/visualize.html#code=suma%20%3D%200%0AN%20%3D%20int%28input%28'Ingrese%20la%20candidad%20de%20n%C3%BAmeros%20a%20sumar%3A%20'%29%29%0Afor%20num%20in%20range%281,%20N%20%2B%201%29%3A%0A%20%20suma%20%3D%20suma%20%2B%20num%0Aprint%28f%22La%20suma%20de%20los%20%7BN%7D%20primeros%20n%C3%BAmeros%20da%20%7Bsuma%7D%22%29&amp;curInstr=0&amp;mode=display&amp;origin=opt-frontend.js&amp;py=311"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https://pythontutor.com/visualize.html#code=fact%20%3D%201%0An%20%3D%20int%28input%28'Digite%20el%20numero%20%28%3E%3D%200%29%3A%20'%29%29%0Afor%20i%20in%20range%20%281,n%20%2B%201%29%3A%0A%20%20fact%20%3D%20fact%20*%20i%0Aprint%28f%22%7Bn%7D!%20%3D%20%7Bfact%7D%22%29&amp;curInstr=0&amp;mode=display&amp;origin=opt-frontend.js&amp;py=311" TargetMode="Externa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hyperlink" Target="https://pythontutor.com/visualize.html#code=i%20%3D%200%0AN%20%3D%20int%28input%28'Digite%20un%20numero%20entero%20positivo%3A%20'%29%29%0Afor%20num%20in%20range%28N,0,-1%29%3A%0A%20%20print%28%28%28-1%29**i%29*num%29%0A%20%20i%20%2B%3D%201%0A&amp;curInstr=0&amp;mode=display&amp;origin=opt-frontend.js&amp;py=311"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hyperlink" Target="https://pythontutor.com/visualize.html#code=L1%20%3D%20%5B%5D%0AL2%20%3D%20%5B%22amarillo%22,%20%22azul%22,%20%22rojo%22%5D%0AL3%20%3D%20%5B1,%202,%203,%204%5D%0AL4%20%3D%20%5B%22uno%22,%201.0,%201%5D%0AL5%20%3D%20%5BTrue,%20False%5D%20%0AL6%20%3D%20%5B%5B1,%202,%203%5D,%5B4,%205,%206%5D,%5B7,%208,%209%5D%5D%0A%0Aprint%28L1%29%0Aprint%28L2%29%0Aprint%28L3%29%0Aprint%28L4%29%0Aprint%28L5%29%0Aprint%28L6%29&amp;curInstr=0&amp;mode=display&amp;origin=opt-frontend.js&amp;py=311"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pythontutor.com/visualize.html#code=C1%20%3D%20%22%22%0AC2%20%3D%20%22Hola%20mundo%22%0AC3%20%3D%20'Python'%0AC4%20%3D%20%22123%22%0AC5%20%3D%20%22L%C3%ADnea%201%5CnL%C3%ADnea%202%22%0AC6%20%3D%20%22%22%22Varias%0Al%C3%ADneas%22%22%22%0A%0Aprint%28C1%29%0Aprint%28C2%29%0Aprint%28C3%29%0Aprint%28C4%29%0Aprint%28C5%29%0Aprint%28C6%29&amp;curInstr=0&amp;mode=display&amp;origin=opt-frontend.js&amp;py=311" TargetMode="External"/><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s://pythontutor.com/visualize.html#code=R1%20%3D%20range%280%29%0AR2%20%3D%20range%285%29%0AR3%20%3D%20range%281,%205%29%0AR4%20%3D%20range%281,%2010,%202%29%0AR5%20%3D%20range%2810,%200,%20-1%29%0AR6%20%3D%20list%28range%285%29%29%0A%0Aprint%28R1%29%0Aprint%28R2%29%0Aprint%28R3%29%0Aprint%28R4%29%0Aprint%28R5%29%0Aprint%28R6%29&amp;curInstr=0&amp;mode=display&amp;origin=opt-frontend.js&amp;py=311"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hyperlink" Target="https://pythontutor.com/visualize.html#code=colores%20%3D%20%5B%22Amarillo%22,%20%22Azul%22,%20%22Rojo%22%5D%0Afor%20color%20in%20colores%3A%20%0A%20%20print%28color%29%0A&amp;curInstr=0&amp;mode=display&amp;origin=opt-frontend.js&amp;py=311" TargetMode="Externa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hyperlink" Target="https://pythontutor.com/visualize.html#code=saludo%20%3D%20%22Hola%20mundo%22%0Afor%20letra%20in%20saludo%3A%20%0A%20%20print%28letra,%20end%20%3D%20%22%20%22%29%0A&amp;curInstr=0&amp;mode=display&amp;origin=opt-frontend.js&amp;py=311"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hyperlink" Target="https://pythontutor.com/visualize.html#code=rango%20%3D%20range%281,11%29%0Afor%20num%20in%20rango%3A%20%0A%20%20print%28num%29&amp;curInstr=0&amp;mode=display&amp;origin=opt-frontend.js&amp;py=311"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hyperlink" Target="https://pythontutor.com/visualize.html#code=i%20%3D%200%0AN%20%3D%20int%28input%28'Digite%20un%20numero%20entero%20positivo%3A%20'%29%29%0Afor%20i%20in%20range%281,num//2%20%2B%201%29%3A%0A%20%20if%20num%20%25%20i%20%3D%3D%200%3A%0A%20%20%20%20num_divisores%20%2B%3D%201%0A%20%20%20%20print%28f%22%7Bi%7D%20es%20divisor%20de%20%7Bnum%7D%22%29%0Aprint%28f%22%7Bnum%7D%20tiene%20%7Bnum_divisores%7D%20divisores%22%29%0A&amp;curInstr=0&amp;mode=display&amp;origin=opt-frontend.js&amp;py=311"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hyperlink" Target="https://pythontutor.com/visualize.html#code=i%20%3D%200%0AN%20%3D%20int%28input%28'Digite%20un%20numero%20entero%20positivo%3A%20'%29%29%0Afor%20i%20in%20range%281,num//2%20%2B%201%29%3A%0A%20%20if%20num%20%25%20i%20%3D%3D%200%3A%0A%20%20%20%20num_divisores%20%2B%3D%201%0Aif%20%28num_divisores%20%3E%202%29%3A%0A%20%20print%28num,%20%22%20no%20es%20primo%22%29%0Aelse%3A%0A%20%20print%28num,%20%22%20es%20primo%22%29&amp;curInstr=0&amp;mode=display&amp;origin=opt-frontend.js&amp;py=311"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hyperlink" Target="https://pythontutor.com/visualize.html#code=es_primo%20%3D%20True%20%0AN%20%3D%20int%28input%28'Digite%20un%20numero%20entero%20positivo%3A%20'%29%29%0Afor%20i%20in%20range%282,num//2%20%2B%201%29%3A%0A%20%20if%20num%20%25%20i%20%3D%3D%200%3A%0A%20%20%20%20es_primo%20%3D%20False%0A%20%20%20%20break%0Aif%20%28es_primo%29%3A%0A%20%20print%28num,%20%22%20es%20primo%22%29%0Aelse%3A%0A%20%20print%28num,%20%22%20no%20es%20primo%22%29%0A&amp;curInstr=0&amp;mode=display&amp;origin=opt-frontend.js&amp;py=311"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hyperlink" Target="https://pythontutor.com/visualize.html#code=n0%20%3D%200%0An1%20%3D%201%0AN%20%3D%20int%28input%28'Ingrese%20N%3A%20'%29%29%0Aif%20N%20%3C%3D%200%3A%0A%20%20%20%20print%28%22ERROR%22%29%0Aelif%20N%20%3D%3D%201%3A%0A%20%20%20%20print%28n0%29%0Aelif%20N%20%3C%3D%202%3A%0A%20%20%20%20print%28n0,%20n1%29%0Aelse%3A%0A%20%20%20%20print%28n0,%20n1%29%0A%20%20%20%20for%20i%20in%20range%283,%20N%20%2B%201%29%3A%0A%20%20%20%20%20%20%20%20n2%20%3D%20n1%20%2B%20n0%0A%20%20%20%20%20%20%20%20print%28n2%29%0A%20%20%20%20%20%20%20%20n0%20%3D%20n1%0A%20%20%20%20%20%20%20%20n1%20%3D%20n2%0A&amp;curInstr=0&amp;mode=display&amp;origin=opt-frontend.js&amp;py=311"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s://pythontutor.com/visualize.html#code=i%20%3D%200%0ANUM_FINAL%20%3D%2010%0Aprint%28%22----------------%22%29%0Awhile%20i%20%3C%20NUM_FINAL%3A%0A%20%20i%20%2B%3D%201%20%0A%20%20if%20%28i%20%3E%3D%204%29%20and%20%28i%20%3C%3D%207%29%3A%0A%20%20%20%20break%0A%20%20print%28%22i%20%3D%20%22%20%2B%20str%28i%29%29%0Aprint%28%22----------------%22%29%0A%0A&amp;curInstr=0&amp;mode=display&amp;origin=opt-frontend.js&amp;py=311" TargetMode="External"/><Relationship Id="rId2" Type="http://schemas.openxmlformats.org/officeDocument/2006/relationships/hyperlink" Target="https://pythontutor.com/visualize.html#code=i%20%3D%200%0ANUM_FINAL%20%3D%2010%0Aprint%28%22----------------%22%29%0Awhile%20i%20%3C%20NUM_FINAL%3A%0A%20%20i%20%2B%3D%201%20%20%20%20%0A%20%20if%20%28i%20%3E%3D%204%29%20and%20%28i%20%3C%3D%207%29%3A%0A%20%20%20%20%20continue%0A%20%20print%28%22i%20%3D%20%22%20%2B%20str%28i%29%29%0Aprint%28%22----------------%22%29%0A&amp;curInstr=0&amp;mode=display&amp;origin=opt-frontend.js&amp;py=311"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8" Type="http://schemas.openxmlformats.org/officeDocument/2006/relationships/hyperlink" Target="https://realpython.com/python-conditional-statements/" TargetMode="External"/><Relationship Id="rId13" Type="http://schemas.openxmlformats.org/officeDocument/2006/relationships/hyperlink" Target="https://realpython.com/ref/keywords/while/" TargetMode="External"/><Relationship Id="rId3" Type="http://schemas.openxmlformats.org/officeDocument/2006/relationships/hyperlink" Target="https://www.w3resource.com/index.php" TargetMode="External"/><Relationship Id="rId7" Type="http://schemas.openxmlformats.org/officeDocument/2006/relationships/hyperlink" Target="https://realpython.com/cheatsheets/python/" TargetMode="External"/><Relationship Id="rId12" Type="http://schemas.openxmlformats.org/officeDocument/2006/relationships/hyperlink" Target="https://realpython.com/python-while-loop/" TargetMode="External"/><Relationship Id="rId2" Type="http://schemas.openxmlformats.org/officeDocument/2006/relationships/hyperlink" Target="https://ellibrodepython.com/" TargetMode="External"/><Relationship Id="rId1" Type="http://schemas.openxmlformats.org/officeDocument/2006/relationships/slideLayout" Target="../slideLayouts/slideLayout2.xml"/><Relationship Id="rId6" Type="http://schemas.openxmlformats.org/officeDocument/2006/relationships/hyperlink" Target="https://python-course.eu/" TargetMode="External"/><Relationship Id="rId11" Type="http://schemas.openxmlformats.org/officeDocument/2006/relationships/hyperlink" Target="https://makecode.microbit.org/courses" TargetMode="External"/><Relationship Id="rId5" Type="http://schemas.openxmlformats.org/officeDocument/2006/relationships/hyperlink" Target="https://curriculumresources.edu.gh/wp-content/uploads/2025/01/" TargetMode="External"/><Relationship Id="rId10" Type="http://schemas.openxmlformats.org/officeDocument/2006/relationships/hyperlink" Target="https://makecode.microbit.org/courses/csintro" TargetMode="External"/><Relationship Id="rId4" Type="http://schemas.openxmlformats.org/officeDocument/2006/relationships/hyperlink" Target="https://realpython.com/" TargetMode="External"/><Relationship Id="rId9" Type="http://schemas.openxmlformats.org/officeDocument/2006/relationships/hyperlink" Target="https://realpython.com/ref/best-practices/conditionals/"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phdcomics.com/comics/archive.php?comicid=1431" TargetMode="External"/><Relationship Id="rId2" Type="http://schemas.openxmlformats.org/officeDocument/2006/relationships/image" Target="../media/image56.gif"/><Relationship Id="rId1" Type="http://schemas.openxmlformats.org/officeDocument/2006/relationships/slideLayout" Target="../slideLayouts/slideLayout2.xml"/><Relationship Id="rId4" Type="http://schemas.openxmlformats.org/officeDocument/2006/relationships/image" Target="../media/image5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5909BB-6F92-48BA-A875-99E15D2253EC}"/>
              </a:ext>
            </a:extLst>
          </p:cNvPr>
          <p:cNvSpPr>
            <a:spLocks noGrp="1"/>
          </p:cNvSpPr>
          <p:nvPr>
            <p:ph type="ctrTitle"/>
          </p:nvPr>
        </p:nvSpPr>
        <p:spPr>
          <a:xfrm>
            <a:off x="323528" y="1122363"/>
            <a:ext cx="8568952" cy="2387600"/>
          </a:xfrm>
        </p:spPr>
        <p:txBody>
          <a:bodyPr/>
          <a:lstStyle/>
          <a:p>
            <a:r>
              <a:rPr lang="es-CO" dirty="0"/>
              <a:t>Lógica y Representación 1</a:t>
            </a:r>
          </a:p>
        </p:txBody>
      </p:sp>
      <p:sp>
        <p:nvSpPr>
          <p:cNvPr id="3" name="Subtítulo 2">
            <a:extLst>
              <a:ext uri="{FF2B5EF4-FFF2-40B4-BE49-F238E27FC236}">
                <a16:creationId xmlns:a16="http://schemas.microsoft.com/office/drawing/2014/main" id="{8A9999BC-7CCA-4677-B2C4-E913A7AA1FC0}"/>
              </a:ext>
            </a:extLst>
          </p:cNvPr>
          <p:cNvSpPr>
            <a:spLocks noGrp="1"/>
          </p:cNvSpPr>
          <p:nvPr>
            <p:ph type="subTitle" idx="1"/>
          </p:nvPr>
        </p:nvSpPr>
        <p:spPr/>
        <p:txBody>
          <a:bodyPr>
            <a:normAutofit/>
          </a:bodyPr>
          <a:lstStyle/>
          <a:p>
            <a:r>
              <a:rPr lang="es-CO" sz="3200" b="1" dirty="0"/>
              <a:t>Ciclos</a:t>
            </a:r>
          </a:p>
          <a:p>
            <a:r>
              <a:rPr lang="es-CO" dirty="0"/>
              <a:t>Ingeniería de Sistemas</a:t>
            </a:r>
          </a:p>
          <a:p>
            <a:r>
              <a:rPr lang="es-CO" dirty="0"/>
              <a:t>Universidad de Antioquia</a:t>
            </a:r>
          </a:p>
        </p:txBody>
      </p:sp>
    </p:spTree>
    <p:extLst>
      <p:ext uri="{BB962C8B-B14F-4D97-AF65-F5344CB8AC3E}">
        <p14:creationId xmlns:p14="http://schemas.microsoft.com/office/powerpoint/2010/main" val="774097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51520" y="188640"/>
            <a:ext cx="8263830" cy="845334"/>
          </a:xfrm>
        </p:spPr>
        <p:txBody>
          <a:bodyPr>
            <a:normAutofit/>
          </a:bodyPr>
          <a:lstStyle/>
          <a:p>
            <a:r>
              <a:rPr lang="es-CO" sz="4000" dirty="0"/>
              <a:t>Método de Polya - Resumen</a:t>
            </a:r>
            <a:endParaRPr lang="en-US" sz="4000" dirty="0"/>
          </a:p>
        </p:txBody>
      </p:sp>
      <p:graphicFrame>
        <p:nvGraphicFramePr>
          <p:cNvPr id="6" name="13 Diagrama">
            <a:extLst>
              <a:ext uri="{FF2B5EF4-FFF2-40B4-BE49-F238E27FC236}">
                <a16:creationId xmlns:a16="http://schemas.microsoft.com/office/drawing/2014/main" id="{D0B70736-976D-4675-A33E-9F94643ADC43}"/>
              </a:ext>
            </a:extLst>
          </p:cNvPr>
          <p:cNvGraphicFramePr/>
          <p:nvPr>
            <p:extLst>
              <p:ext uri="{D42A27DB-BD31-4B8C-83A1-F6EECF244321}">
                <p14:modId xmlns:p14="http://schemas.microsoft.com/office/powerpoint/2010/main" val="3245553215"/>
              </p:ext>
            </p:extLst>
          </p:nvPr>
        </p:nvGraphicFramePr>
        <p:xfrm>
          <a:off x="3059832" y="4221088"/>
          <a:ext cx="5616624" cy="23637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3">
            <a:extLst>
              <a:ext uri="{FF2B5EF4-FFF2-40B4-BE49-F238E27FC236}">
                <a16:creationId xmlns:a16="http://schemas.microsoft.com/office/drawing/2014/main" id="{9C9BD4AC-3A6A-4FE1-A719-F0D8329520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7544" y="4404101"/>
            <a:ext cx="2200014" cy="1977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2">
            <a:extLst>
              <a:ext uri="{FF2B5EF4-FFF2-40B4-BE49-F238E27FC236}">
                <a16:creationId xmlns:a16="http://schemas.microsoft.com/office/drawing/2014/main" id="{E6732E42-F6E4-4E10-A20E-82A4BE9E856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9016" y="1223168"/>
            <a:ext cx="3214687" cy="241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
            <a:extLst>
              <a:ext uri="{FF2B5EF4-FFF2-40B4-BE49-F238E27FC236}">
                <a16:creationId xmlns:a16="http://schemas.microsoft.com/office/drawing/2014/main" id="{5899AD60-028E-47EE-844F-916EBA585E1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13811" y="1248925"/>
            <a:ext cx="2857500" cy="236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17 Flecha abajo">
            <a:extLst>
              <a:ext uri="{FF2B5EF4-FFF2-40B4-BE49-F238E27FC236}">
                <a16:creationId xmlns:a16="http://schemas.microsoft.com/office/drawing/2014/main" id="{656E38FA-A37E-460A-AF17-E0C304C611BF}"/>
              </a:ext>
            </a:extLst>
          </p:cNvPr>
          <p:cNvSpPr/>
          <p:nvPr/>
        </p:nvSpPr>
        <p:spPr>
          <a:xfrm rot="16200000">
            <a:off x="4400922" y="1973262"/>
            <a:ext cx="322262" cy="965200"/>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CO"/>
          </a:p>
        </p:txBody>
      </p:sp>
      <p:sp>
        <p:nvSpPr>
          <p:cNvPr id="11" name="18 CuadroTexto">
            <a:extLst>
              <a:ext uri="{FF2B5EF4-FFF2-40B4-BE49-F238E27FC236}">
                <a16:creationId xmlns:a16="http://schemas.microsoft.com/office/drawing/2014/main" id="{B82BDCE9-7A82-42E8-98CF-353D30A777C0}"/>
              </a:ext>
            </a:extLst>
          </p:cNvPr>
          <p:cNvSpPr txBox="1"/>
          <p:nvPr/>
        </p:nvSpPr>
        <p:spPr>
          <a:xfrm>
            <a:off x="611560" y="3789040"/>
            <a:ext cx="3214688" cy="400110"/>
          </a:xfrm>
          <a:prstGeom prst="rect">
            <a:avLst/>
          </a:prstGeom>
          <a:noFill/>
        </p:spPr>
        <p:txBody>
          <a:bodyPr>
            <a:spAutoFit/>
          </a:bodyPr>
          <a:lstStyle/>
          <a:p>
            <a:pPr algn="ctr" fontAlgn="auto">
              <a:spcBef>
                <a:spcPts val="0"/>
              </a:spcBef>
              <a:spcAft>
                <a:spcPts val="0"/>
              </a:spcAft>
              <a:defRPr/>
            </a:pPr>
            <a:r>
              <a:rPr lang="es-CO" sz="2000" b="1" dirty="0"/>
              <a:t>PROBLEMA</a:t>
            </a:r>
            <a:endParaRPr lang="es-ES" sz="2000" dirty="0"/>
          </a:p>
        </p:txBody>
      </p:sp>
      <p:sp>
        <p:nvSpPr>
          <p:cNvPr id="12" name="19 CuadroTexto">
            <a:extLst>
              <a:ext uri="{FF2B5EF4-FFF2-40B4-BE49-F238E27FC236}">
                <a16:creationId xmlns:a16="http://schemas.microsoft.com/office/drawing/2014/main" id="{BFFC459E-C4D6-4371-ADA9-FB0FF4281118}"/>
              </a:ext>
            </a:extLst>
          </p:cNvPr>
          <p:cNvSpPr txBox="1"/>
          <p:nvPr/>
        </p:nvSpPr>
        <p:spPr>
          <a:xfrm>
            <a:off x="5148064" y="3752849"/>
            <a:ext cx="3214687" cy="400110"/>
          </a:xfrm>
          <a:prstGeom prst="rect">
            <a:avLst/>
          </a:prstGeom>
          <a:noFill/>
        </p:spPr>
        <p:txBody>
          <a:bodyPr>
            <a:spAutoFit/>
          </a:bodyPr>
          <a:lstStyle/>
          <a:p>
            <a:pPr algn="ctr" fontAlgn="auto">
              <a:spcBef>
                <a:spcPts val="0"/>
              </a:spcBef>
              <a:spcAft>
                <a:spcPts val="0"/>
              </a:spcAft>
              <a:defRPr/>
            </a:pPr>
            <a:r>
              <a:rPr lang="es-CO" sz="2000" b="1" dirty="0"/>
              <a:t>ALGORITMO</a:t>
            </a:r>
            <a:endParaRPr lang="es-ES" dirty="0"/>
          </a:p>
        </p:txBody>
      </p:sp>
    </p:spTree>
    <p:extLst>
      <p:ext uri="{BB962C8B-B14F-4D97-AF65-F5344CB8AC3E}">
        <p14:creationId xmlns:p14="http://schemas.microsoft.com/office/powerpoint/2010/main" val="3058404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467543" y="207926"/>
            <a:ext cx="7939037" cy="986803"/>
          </a:xfrm>
        </p:spPr>
        <p:txBody>
          <a:bodyPr/>
          <a:lstStyle/>
          <a:p>
            <a:r>
              <a:rPr lang="es-CO" sz="3200" dirty="0"/>
              <a:t>Entrada, procesamiento y salida</a:t>
            </a:r>
          </a:p>
        </p:txBody>
      </p:sp>
      <p:sp>
        <p:nvSpPr>
          <p:cNvPr id="2" name="1 Marcador de contenido"/>
          <p:cNvSpPr>
            <a:spLocks noGrp="1"/>
          </p:cNvSpPr>
          <p:nvPr>
            <p:ph idx="1"/>
          </p:nvPr>
        </p:nvSpPr>
        <p:spPr>
          <a:xfrm>
            <a:off x="435471" y="1238602"/>
            <a:ext cx="7886700" cy="1729296"/>
          </a:xfrm>
        </p:spPr>
        <p:txBody>
          <a:bodyPr>
            <a:normAutofit/>
          </a:bodyPr>
          <a:lstStyle/>
          <a:p>
            <a:pPr marL="0" indent="0">
              <a:buNone/>
            </a:pPr>
            <a:r>
              <a:rPr lang="es-MX" sz="2200" dirty="0"/>
              <a:t>Los programas de computadora realizan estos tres pasos:  </a:t>
            </a:r>
          </a:p>
          <a:p>
            <a:pPr marL="457200" indent="-457200">
              <a:buFont typeface="+mj-lt"/>
              <a:buAutoNum type="arabicPeriod"/>
            </a:pPr>
            <a:r>
              <a:rPr lang="es-MX" sz="2000" dirty="0"/>
              <a:t>Se recibe la </a:t>
            </a:r>
            <a:r>
              <a:rPr lang="es-MX" sz="2000" b="1" dirty="0"/>
              <a:t>entrada</a:t>
            </a:r>
            <a:r>
              <a:rPr lang="es-MX" sz="2000" dirty="0"/>
              <a:t>.  </a:t>
            </a:r>
          </a:p>
          <a:p>
            <a:pPr marL="457200" indent="-457200">
              <a:buFont typeface="+mj-lt"/>
              <a:buAutoNum type="arabicPeriod"/>
            </a:pPr>
            <a:r>
              <a:rPr lang="es-MX" sz="2000" dirty="0"/>
              <a:t>Se realiza un </a:t>
            </a:r>
            <a:r>
              <a:rPr lang="es-MX" sz="2000" b="1" dirty="0"/>
              <a:t>proceso</a:t>
            </a:r>
            <a:r>
              <a:rPr lang="es-MX" sz="2000" dirty="0"/>
              <a:t> sobre la entrada.  </a:t>
            </a:r>
          </a:p>
          <a:p>
            <a:pPr marL="457200" indent="-457200">
              <a:buFont typeface="+mj-lt"/>
              <a:buAutoNum type="arabicPeriod"/>
            </a:pPr>
            <a:r>
              <a:rPr lang="es-MX" sz="2000" dirty="0"/>
              <a:t>Se genera la </a:t>
            </a:r>
            <a:r>
              <a:rPr lang="es-MX" sz="2000" b="1" dirty="0"/>
              <a:t>salida</a:t>
            </a:r>
            <a:endParaRPr lang="es-CO" sz="2000" b="1" dirty="0"/>
          </a:p>
        </p:txBody>
      </p:sp>
      <p:grpSp>
        <p:nvGrpSpPr>
          <p:cNvPr id="15" name="14 Grupo"/>
          <p:cNvGrpSpPr/>
          <p:nvPr/>
        </p:nvGrpSpPr>
        <p:grpSpPr>
          <a:xfrm>
            <a:off x="1589010" y="4102449"/>
            <a:ext cx="5715000" cy="838200"/>
            <a:chOff x="1676400" y="4495800"/>
            <a:chExt cx="5715000" cy="838200"/>
          </a:xfrm>
        </p:grpSpPr>
        <p:sp>
          <p:nvSpPr>
            <p:cNvPr id="10" name="9 Rectángulo"/>
            <p:cNvSpPr/>
            <p:nvPr/>
          </p:nvSpPr>
          <p:spPr>
            <a:xfrm>
              <a:off x="1676400" y="4648200"/>
              <a:ext cx="1447800" cy="533400"/>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000" b="1" dirty="0">
                  <a:solidFill>
                    <a:schemeClr val="tx1">
                      <a:lumMod val="50000"/>
                      <a:lumOff val="50000"/>
                    </a:schemeClr>
                  </a:solidFill>
                  <a:latin typeface="Consolas" panose="020B0609020204030204" pitchFamily="49" charset="0"/>
                </a:rPr>
                <a:t>Inputs</a:t>
              </a:r>
              <a:endParaRPr lang="es-CO" b="1" dirty="0">
                <a:solidFill>
                  <a:schemeClr val="tx1">
                    <a:lumMod val="50000"/>
                    <a:lumOff val="50000"/>
                  </a:schemeClr>
                </a:solidFill>
                <a:latin typeface="Consolas" panose="020B0609020204030204" pitchFamily="49" charset="0"/>
              </a:endParaRPr>
            </a:p>
          </p:txBody>
        </p:sp>
        <p:sp>
          <p:nvSpPr>
            <p:cNvPr id="11" name="10 Rectángulo"/>
            <p:cNvSpPr/>
            <p:nvPr/>
          </p:nvSpPr>
          <p:spPr>
            <a:xfrm>
              <a:off x="3810000" y="4495800"/>
              <a:ext cx="1447800" cy="838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400" b="1" dirty="0">
                  <a:latin typeface="Consolas" panose="020B0609020204030204" pitchFamily="49" charset="0"/>
                </a:rPr>
                <a:t>Process</a:t>
              </a:r>
              <a:endParaRPr lang="es-CO" b="1" dirty="0">
                <a:latin typeface="Consolas" panose="020B0609020204030204" pitchFamily="49" charset="0"/>
              </a:endParaRPr>
            </a:p>
          </p:txBody>
        </p:sp>
        <p:sp>
          <p:nvSpPr>
            <p:cNvPr id="12" name="11 Rectángulo"/>
            <p:cNvSpPr/>
            <p:nvPr/>
          </p:nvSpPr>
          <p:spPr>
            <a:xfrm>
              <a:off x="5943600" y="4648200"/>
              <a:ext cx="1447800" cy="533400"/>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000" b="1" dirty="0">
                  <a:solidFill>
                    <a:schemeClr val="tx1">
                      <a:lumMod val="50000"/>
                      <a:lumOff val="50000"/>
                    </a:schemeClr>
                  </a:solidFill>
                  <a:latin typeface="Consolas" panose="020B0609020204030204" pitchFamily="49" charset="0"/>
                </a:rPr>
                <a:t>Outputs</a:t>
              </a:r>
              <a:endParaRPr lang="es-CO" sz="1600" b="1" dirty="0">
                <a:solidFill>
                  <a:schemeClr val="tx1">
                    <a:lumMod val="50000"/>
                    <a:lumOff val="50000"/>
                  </a:schemeClr>
                </a:solidFill>
                <a:latin typeface="Consolas" panose="020B0609020204030204" pitchFamily="49" charset="0"/>
              </a:endParaRPr>
            </a:p>
          </p:txBody>
        </p:sp>
        <p:sp>
          <p:nvSpPr>
            <p:cNvPr id="13" name="12 Flecha derecha"/>
            <p:cNvSpPr/>
            <p:nvPr/>
          </p:nvSpPr>
          <p:spPr>
            <a:xfrm>
              <a:off x="3124200" y="4800600"/>
              <a:ext cx="685800" cy="22860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13 Flecha derecha"/>
            <p:cNvSpPr/>
            <p:nvPr/>
          </p:nvSpPr>
          <p:spPr>
            <a:xfrm>
              <a:off x="5257800" y="4800600"/>
              <a:ext cx="685800" cy="22860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pic>
        <p:nvPicPr>
          <p:cNvPr id="16" name="Picture 2" descr="http://www.jegsworks.com/lessons/computerbasics/lesson3/keyboard-white.png">
            <a:extLst>
              <a:ext uri="{FF2B5EF4-FFF2-40B4-BE49-F238E27FC236}">
                <a16:creationId xmlns:a16="http://schemas.microsoft.com/office/drawing/2014/main" id="{CA5F3EB8-A827-4D08-B3D4-BC88856617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0116" y="3256265"/>
            <a:ext cx="1365108" cy="432285"/>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http://t2.gstatic.com/images?q=tbn:ANd9GcS51PGLkp34nPs-LewfkgAfjdZsyder21fNGFoRiZ_A6x7txo3e">
            <a:extLst>
              <a:ext uri="{FF2B5EF4-FFF2-40B4-BE49-F238E27FC236}">
                <a16:creationId xmlns:a16="http://schemas.microsoft.com/office/drawing/2014/main" id="{BB2AD59A-355A-4EC4-BD61-76D458710B8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59382" y="3198200"/>
            <a:ext cx="841456" cy="690065"/>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Settings Icon, Gear Icon Vector, Gear Symbol Illustration. for Web Sites  Our Mobile. Stock Illustration - Illustration of business, wheel: 151065188">
            <a:extLst>
              <a:ext uri="{FF2B5EF4-FFF2-40B4-BE49-F238E27FC236}">
                <a16:creationId xmlns:a16="http://schemas.microsoft.com/office/drawing/2014/main" id="{AC519BCB-3AA9-4258-9707-83D241823FB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33143" y="5159353"/>
            <a:ext cx="1007836" cy="10078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452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95536" y="116632"/>
            <a:ext cx="8119814" cy="831626"/>
          </a:xfrm>
        </p:spPr>
        <p:txBody>
          <a:bodyPr>
            <a:normAutofit/>
          </a:bodyPr>
          <a:lstStyle/>
          <a:p>
            <a:r>
              <a:rPr lang="es-CO" sz="4000" dirty="0"/>
              <a:t>Tabla resumen</a:t>
            </a:r>
            <a:endParaRPr lang="en-US" sz="4000" dirty="0"/>
          </a:p>
        </p:txBody>
      </p:sp>
      <p:sp>
        <p:nvSpPr>
          <p:cNvPr id="9" name="Marcador de contenido 8">
            <a:extLst>
              <a:ext uri="{FF2B5EF4-FFF2-40B4-BE49-F238E27FC236}">
                <a16:creationId xmlns:a16="http://schemas.microsoft.com/office/drawing/2014/main" id="{1C890BBD-1444-4CB9-97D4-FDDC5F53D6C3}"/>
              </a:ext>
            </a:extLst>
          </p:cNvPr>
          <p:cNvSpPr>
            <a:spLocks noGrp="1"/>
          </p:cNvSpPr>
          <p:nvPr>
            <p:ph idx="1"/>
          </p:nvPr>
        </p:nvSpPr>
        <p:spPr>
          <a:xfrm>
            <a:off x="394816" y="980728"/>
            <a:ext cx="7993607" cy="663501"/>
          </a:xfrm>
        </p:spPr>
        <p:txBody>
          <a:bodyPr>
            <a:normAutofit/>
          </a:bodyPr>
          <a:lstStyle/>
          <a:p>
            <a:pPr marL="0" indent="0">
              <a:buNone/>
            </a:pPr>
            <a:r>
              <a:rPr lang="es-MX" sz="2000" dirty="0"/>
              <a:t>La siguiente tabla muestra la representación equivalente de las piezas esenciales para construir código secuencial</a:t>
            </a:r>
            <a:endParaRPr lang="es-CO" sz="2000" dirty="0"/>
          </a:p>
        </p:txBody>
      </p:sp>
      <p:graphicFrame>
        <p:nvGraphicFramePr>
          <p:cNvPr id="2" name="Tabla 2">
            <a:extLst>
              <a:ext uri="{FF2B5EF4-FFF2-40B4-BE49-F238E27FC236}">
                <a16:creationId xmlns:a16="http://schemas.microsoft.com/office/drawing/2014/main" id="{1D2B5E36-52C4-42F4-8540-7CBD071455A5}"/>
              </a:ext>
            </a:extLst>
          </p:cNvPr>
          <p:cNvGraphicFramePr>
            <a:graphicFrameLocks noGrp="1"/>
          </p:cNvGraphicFramePr>
          <p:nvPr/>
        </p:nvGraphicFramePr>
        <p:xfrm>
          <a:off x="466826" y="1700808"/>
          <a:ext cx="7993606" cy="4211320"/>
        </p:xfrm>
        <a:graphic>
          <a:graphicData uri="http://schemas.openxmlformats.org/drawingml/2006/table">
            <a:tbl>
              <a:tblPr firstRow="1" bandRow="1">
                <a:tableStyleId>{5940675A-B579-460E-94D1-54222C63F5DA}</a:tableStyleId>
              </a:tblPr>
              <a:tblGrid>
                <a:gridCol w="1517343">
                  <a:extLst>
                    <a:ext uri="{9D8B030D-6E8A-4147-A177-3AD203B41FA5}">
                      <a16:colId xmlns:a16="http://schemas.microsoft.com/office/drawing/2014/main" val="4002968547"/>
                    </a:ext>
                  </a:extLst>
                </a:gridCol>
                <a:gridCol w="2352911">
                  <a:extLst>
                    <a:ext uri="{9D8B030D-6E8A-4147-A177-3AD203B41FA5}">
                      <a16:colId xmlns:a16="http://schemas.microsoft.com/office/drawing/2014/main" val="2376140116"/>
                    </a:ext>
                  </a:extLst>
                </a:gridCol>
                <a:gridCol w="2061676">
                  <a:extLst>
                    <a:ext uri="{9D8B030D-6E8A-4147-A177-3AD203B41FA5}">
                      <a16:colId xmlns:a16="http://schemas.microsoft.com/office/drawing/2014/main" val="1317388859"/>
                    </a:ext>
                  </a:extLst>
                </a:gridCol>
                <a:gridCol w="2061676">
                  <a:extLst>
                    <a:ext uri="{9D8B030D-6E8A-4147-A177-3AD203B41FA5}">
                      <a16:colId xmlns:a16="http://schemas.microsoft.com/office/drawing/2014/main" val="1620986510"/>
                    </a:ext>
                  </a:extLst>
                </a:gridCol>
              </a:tblGrid>
              <a:tr h="370840">
                <a:tc>
                  <a:txBody>
                    <a:bodyPr/>
                    <a:lstStyle/>
                    <a:p>
                      <a:pPr algn="ctr"/>
                      <a:r>
                        <a:rPr lang="es-CO" b="1" dirty="0"/>
                        <a:t>Tipo</a:t>
                      </a:r>
                    </a:p>
                  </a:txBody>
                  <a:tcPr/>
                </a:tc>
                <a:tc>
                  <a:txBody>
                    <a:bodyPr/>
                    <a:lstStyle/>
                    <a:p>
                      <a:pPr algn="ctr"/>
                      <a:r>
                        <a:rPr lang="es-CO" b="1" dirty="0"/>
                        <a:t>Diagrama de bloques</a:t>
                      </a:r>
                    </a:p>
                  </a:txBody>
                  <a:tcPr/>
                </a:tc>
                <a:tc>
                  <a:txBody>
                    <a:bodyPr/>
                    <a:lstStyle/>
                    <a:p>
                      <a:pPr algn="ctr"/>
                      <a:r>
                        <a:rPr lang="es-CO" b="1" dirty="0"/>
                        <a:t>Pseudocordigo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b="1" dirty="0"/>
                        <a:t>Python</a:t>
                      </a:r>
                    </a:p>
                  </a:txBody>
                  <a:tcPr/>
                </a:tc>
                <a:extLst>
                  <a:ext uri="{0D108BD9-81ED-4DB2-BD59-A6C34878D82A}">
                    <a16:rowId xmlns:a16="http://schemas.microsoft.com/office/drawing/2014/main" val="3153662098"/>
                  </a:ext>
                </a:extLst>
              </a:tr>
              <a:tr h="370840">
                <a:tc>
                  <a:txBody>
                    <a:bodyPr/>
                    <a:lstStyle/>
                    <a:p>
                      <a:pPr algn="ctr"/>
                      <a:r>
                        <a:rPr lang="es-CO" dirty="0"/>
                        <a:t>Entrada</a:t>
                      </a:r>
                    </a:p>
                    <a:p>
                      <a:pPr algn="ctr"/>
                      <a:endParaRPr lang="es-CO" dirty="0"/>
                    </a:p>
                    <a:p>
                      <a:pPr algn="ctr"/>
                      <a:endParaRPr lang="es-CO" dirty="0"/>
                    </a:p>
                  </a:txBody>
                  <a:tcPr/>
                </a:tc>
                <a:tc>
                  <a:txBody>
                    <a:bodyPr/>
                    <a:lstStyle/>
                    <a:p>
                      <a:endParaRPr lang="es-CO" dirty="0"/>
                    </a:p>
                    <a:p>
                      <a:endParaRPr lang="es-CO" dirty="0"/>
                    </a:p>
                    <a:p>
                      <a:endParaRPr lang="es-CO" dirty="0"/>
                    </a:p>
                    <a:p>
                      <a:endParaRPr lang="es-CO" dirty="0"/>
                    </a:p>
                  </a:txBody>
                  <a:tcPr/>
                </a:tc>
                <a:tc>
                  <a:txBody>
                    <a:bodyPr/>
                    <a:lstStyle/>
                    <a:p>
                      <a:pPr algn="ctr"/>
                      <a:r>
                        <a:rPr lang="es-CO" sz="1400" dirty="0">
                          <a:latin typeface="Consolas" panose="020B0609020204030204" pitchFamily="49" charset="0"/>
                        </a:rPr>
                        <a:t>Leer(v1,v2,…)</a:t>
                      </a:r>
                    </a:p>
                  </a:txBody>
                  <a:tcPr anchor="ctr"/>
                </a:tc>
                <a:tc>
                  <a:txBody>
                    <a:bodyPr/>
                    <a:lstStyle/>
                    <a:p>
                      <a:pPr algn="ctr"/>
                      <a:r>
                        <a:rPr lang="es-CO" sz="1400" dirty="0">
                          <a:latin typeface="Consolas" panose="020B0609020204030204" pitchFamily="49" charset="0"/>
                        </a:rPr>
                        <a:t>v1 = input(...)</a:t>
                      </a:r>
                    </a:p>
                    <a:p>
                      <a:pPr algn="ctr"/>
                      <a:r>
                        <a:rPr lang="es-CO" sz="1400" dirty="0">
                          <a:latin typeface="Consolas" panose="020B0609020204030204" pitchFamily="49" charset="0"/>
                        </a:rPr>
                        <a:t>v2 = input(...)</a:t>
                      </a:r>
                    </a:p>
                  </a:txBody>
                  <a:tcPr anchor="ctr"/>
                </a:tc>
                <a:extLst>
                  <a:ext uri="{0D108BD9-81ED-4DB2-BD59-A6C34878D82A}">
                    <a16:rowId xmlns:a16="http://schemas.microsoft.com/office/drawing/2014/main" val="2502274137"/>
                  </a:ext>
                </a:extLst>
              </a:tr>
              <a:tr h="370840">
                <a:tc>
                  <a:txBody>
                    <a:bodyPr/>
                    <a:lstStyle/>
                    <a:p>
                      <a:pPr algn="ctr"/>
                      <a:r>
                        <a:rPr lang="es-CO" dirty="0"/>
                        <a:t>Salida</a:t>
                      </a:r>
                    </a:p>
                  </a:txBody>
                  <a:tcPr/>
                </a:tc>
                <a:tc>
                  <a:txBody>
                    <a:bodyPr/>
                    <a:lstStyle/>
                    <a:p>
                      <a:endParaRPr lang="es-CO" dirty="0"/>
                    </a:p>
                    <a:p>
                      <a:endParaRPr lang="es-CO" dirty="0"/>
                    </a:p>
                    <a:p>
                      <a:endParaRPr lang="es-CO" dirty="0"/>
                    </a:p>
                    <a:p>
                      <a:endParaRPr lang="es-CO" dirty="0"/>
                    </a:p>
                    <a:p>
                      <a:endParaRPr lang="es-CO"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400" dirty="0">
                          <a:latin typeface="Consolas" panose="020B0609020204030204" pitchFamily="49" charset="0"/>
                        </a:rPr>
                        <a:t>Escribir(v1,v2,…)</a:t>
                      </a:r>
                    </a:p>
                    <a:p>
                      <a:pPr algn="ctr"/>
                      <a:endParaRPr lang="es-CO" sz="1400" dirty="0"/>
                    </a:p>
                  </a:txBody>
                  <a:tcPr anchor="ctr"/>
                </a:tc>
                <a:tc>
                  <a:txBody>
                    <a:bodyPr/>
                    <a:lstStyle/>
                    <a:p>
                      <a:pPr algn="ctr"/>
                      <a:r>
                        <a:rPr lang="es-CO" sz="1400" dirty="0">
                          <a:latin typeface="Consolas" panose="020B0609020204030204" pitchFamily="49" charset="0"/>
                        </a:rPr>
                        <a:t>print(v1,v2,…)</a:t>
                      </a:r>
                    </a:p>
                  </a:txBody>
                  <a:tcPr anchor="ctr"/>
                </a:tc>
                <a:extLst>
                  <a:ext uri="{0D108BD9-81ED-4DB2-BD59-A6C34878D82A}">
                    <a16:rowId xmlns:a16="http://schemas.microsoft.com/office/drawing/2014/main" val="325961845"/>
                  </a:ext>
                </a:extLst>
              </a:tr>
              <a:tr h="370840">
                <a:tc>
                  <a:txBody>
                    <a:bodyPr/>
                    <a:lstStyle/>
                    <a:p>
                      <a:pPr algn="ctr"/>
                      <a:r>
                        <a:rPr lang="es-CO" dirty="0"/>
                        <a:t>Proceso</a:t>
                      </a:r>
                    </a:p>
                  </a:txBody>
                  <a:tcPr/>
                </a:tc>
                <a:tc>
                  <a:txBody>
                    <a:bodyPr/>
                    <a:lstStyle/>
                    <a:p>
                      <a:endParaRPr lang="es-CO" dirty="0"/>
                    </a:p>
                    <a:p>
                      <a:endParaRPr lang="es-CO" dirty="0"/>
                    </a:p>
                    <a:p>
                      <a:endParaRPr lang="es-CO" dirty="0"/>
                    </a:p>
                    <a:p>
                      <a:endParaRPr lang="es-CO" dirty="0"/>
                    </a:p>
                  </a:txBody>
                  <a:tcPr/>
                </a:tc>
                <a:tc>
                  <a:txBody>
                    <a:bodyPr/>
                    <a:lstStyle/>
                    <a:p>
                      <a:pPr algn="ctr"/>
                      <a:endParaRPr lang="es-CO" sz="14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es-CO" sz="1400" dirty="0">
                          <a:latin typeface="Consolas" panose="020B0609020204030204" pitchFamily="49" charset="0"/>
                        </a:rPr>
                        <a:t>c = a + b</a:t>
                      </a:r>
                      <a:endParaRPr lang="es-CO" sz="1400" dirty="0"/>
                    </a:p>
                    <a:p>
                      <a:pPr algn="ctr"/>
                      <a:endParaRPr lang="es-CO" sz="1400" dirty="0"/>
                    </a:p>
                  </a:txBody>
                  <a:tcPr anchor="ctr"/>
                </a:tc>
                <a:tc>
                  <a:txBody>
                    <a:bodyPr/>
                    <a:lstStyle/>
                    <a:p>
                      <a:pPr algn="ctr"/>
                      <a:r>
                        <a:rPr lang="es-CO" sz="1400" dirty="0">
                          <a:latin typeface="Consolas" panose="020B0609020204030204" pitchFamily="49" charset="0"/>
                        </a:rPr>
                        <a:t>c = a + b</a:t>
                      </a:r>
                    </a:p>
                  </a:txBody>
                  <a:tcPr anchor="ctr"/>
                </a:tc>
                <a:extLst>
                  <a:ext uri="{0D108BD9-81ED-4DB2-BD59-A6C34878D82A}">
                    <a16:rowId xmlns:a16="http://schemas.microsoft.com/office/drawing/2014/main" val="2481907500"/>
                  </a:ext>
                </a:extLst>
              </a:tr>
            </a:tbl>
          </a:graphicData>
        </a:graphic>
      </p:graphicFrame>
      <p:sp>
        <p:nvSpPr>
          <p:cNvPr id="10" name="Flowchart: Data 6">
            <a:extLst>
              <a:ext uri="{FF2B5EF4-FFF2-40B4-BE49-F238E27FC236}">
                <a16:creationId xmlns:a16="http://schemas.microsoft.com/office/drawing/2014/main" id="{0844C778-9DE1-449B-B09C-237271C11B8A}"/>
              </a:ext>
            </a:extLst>
          </p:cNvPr>
          <p:cNvSpPr/>
          <p:nvPr/>
        </p:nvSpPr>
        <p:spPr>
          <a:xfrm>
            <a:off x="2051722" y="2285936"/>
            <a:ext cx="2231500" cy="715198"/>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onsolas" panose="020B0609020204030204" pitchFamily="49" charset="0"/>
              </a:rPr>
              <a:t>Read v1,v2,…</a:t>
            </a:r>
          </a:p>
        </p:txBody>
      </p:sp>
      <p:sp>
        <p:nvSpPr>
          <p:cNvPr id="11" name="Flowchart: Data 6">
            <a:extLst>
              <a:ext uri="{FF2B5EF4-FFF2-40B4-BE49-F238E27FC236}">
                <a16:creationId xmlns:a16="http://schemas.microsoft.com/office/drawing/2014/main" id="{9C39F37A-2A39-47E1-86A7-FAE0C0329172}"/>
              </a:ext>
            </a:extLst>
          </p:cNvPr>
          <p:cNvSpPr/>
          <p:nvPr/>
        </p:nvSpPr>
        <p:spPr>
          <a:xfrm>
            <a:off x="2051722" y="3654088"/>
            <a:ext cx="2214917" cy="715198"/>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onsolas" panose="020B0609020204030204" pitchFamily="49" charset="0"/>
              </a:rPr>
              <a:t>Print v1,v2,…</a:t>
            </a:r>
          </a:p>
        </p:txBody>
      </p:sp>
      <p:sp>
        <p:nvSpPr>
          <p:cNvPr id="12" name="Flowchart: Process 7">
            <a:extLst>
              <a:ext uri="{FF2B5EF4-FFF2-40B4-BE49-F238E27FC236}">
                <a16:creationId xmlns:a16="http://schemas.microsoft.com/office/drawing/2014/main" id="{6B08FC8C-52EF-4BF1-96B3-3C24D434D6C2}"/>
              </a:ext>
            </a:extLst>
          </p:cNvPr>
          <p:cNvSpPr/>
          <p:nvPr/>
        </p:nvSpPr>
        <p:spPr>
          <a:xfrm>
            <a:off x="2461374" y="5019720"/>
            <a:ext cx="1395611" cy="6096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onsolas" panose="020B0609020204030204" pitchFamily="49" charset="0"/>
              </a:rPr>
              <a:t>c </a:t>
            </a:r>
            <a:r>
              <a:rPr lang="en-US" sz="1200" dirty="0">
                <a:latin typeface="Consolas" panose="020B0609020204030204" pitchFamily="49" charset="0"/>
                <a:sym typeface="Wingdings" panose="05000000000000000000" pitchFamily="2" charset="2"/>
              </a:rPr>
              <a:t> a + b</a:t>
            </a:r>
            <a:r>
              <a:rPr lang="en-US" sz="1200" dirty="0">
                <a:latin typeface="Consolas" panose="020B0609020204030204" pitchFamily="49" charset="0"/>
              </a:rPr>
              <a:t> </a:t>
            </a:r>
          </a:p>
        </p:txBody>
      </p:sp>
      <p:pic>
        <p:nvPicPr>
          <p:cNvPr id="8" name="Picture 2" descr="http://www.jegsworks.com/lessons/computerbasics/lesson3/keyboard-white.png">
            <a:extLst>
              <a:ext uri="{FF2B5EF4-FFF2-40B4-BE49-F238E27FC236}">
                <a16:creationId xmlns:a16="http://schemas.microsoft.com/office/drawing/2014/main" id="{D62F66DF-1E4D-4961-A500-E613E89785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5510" y="2565896"/>
            <a:ext cx="1108159" cy="35091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http://t2.gstatic.com/images?q=tbn:ANd9GcS51PGLkp34nPs-LewfkgAfjdZsyder21fNGFoRiZ_A6x7txo3e">
            <a:extLst>
              <a:ext uri="{FF2B5EF4-FFF2-40B4-BE49-F238E27FC236}">
                <a16:creationId xmlns:a16="http://schemas.microsoft.com/office/drawing/2014/main" id="{1D582CE4-942A-4E2B-8410-CB4053B31A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1465" y="3741286"/>
            <a:ext cx="716248" cy="58738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Settings Icon, Gear Icon Vector, Gear Symbol Illustration. for Web Sites  Our Mobile. Stock Illustration - Illustration of business, wheel: 151065188">
            <a:extLst>
              <a:ext uri="{FF2B5EF4-FFF2-40B4-BE49-F238E27FC236}">
                <a16:creationId xmlns:a16="http://schemas.microsoft.com/office/drawing/2014/main" id="{53F8DCC6-0D98-4EEC-91B9-C840D748923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1465" y="5038329"/>
            <a:ext cx="728448" cy="728448"/>
          </a:xfrm>
          <a:prstGeom prst="rect">
            <a:avLst/>
          </a:prstGeom>
          <a:noFill/>
          <a:extLst>
            <a:ext uri="{909E8E84-426E-40DD-AFC4-6F175D3DCCD1}">
              <a14:hiddenFill xmlns:a14="http://schemas.microsoft.com/office/drawing/2010/main">
                <a:solidFill>
                  <a:srgbClr val="FFFFFF"/>
                </a:solidFill>
              </a14:hiddenFill>
            </a:ext>
          </a:extLst>
        </p:spPr>
      </p:pic>
      <p:sp>
        <p:nvSpPr>
          <p:cNvPr id="15" name="Marcador de contenido 8">
            <a:extLst>
              <a:ext uri="{FF2B5EF4-FFF2-40B4-BE49-F238E27FC236}">
                <a16:creationId xmlns:a16="http://schemas.microsoft.com/office/drawing/2014/main" id="{A781356A-A35A-48D6-BC89-058C09E8F029}"/>
              </a:ext>
            </a:extLst>
          </p:cNvPr>
          <p:cNvSpPr txBox="1">
            <a:spLocks/>
          </p:cNvSpPr>
          <p:nvPr/>
        </p:nvSpPr>
        <p:spPr>
          <a:xfrm>
            <a:off x="394817" y="6072698"/>
            <a:ext cx="8281640" cy="596662"/>
          </a:xfrm>
          <a:prstGeom prst="rect">
            <a:avLst/>
          </a:prstGeom>
          <a:solidFill>
            <a:schemeClr val="bg2"/>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MX" sz="1600" dirty="0"/>
              <a:t>En Python, </a:t>
            </a:r>
            <a:r>
              <a:rPr lang="es-MX" sz="1400" dirty="0">
                <a:solidFill>
                  <a:srgbClr val="C00000"/>
                </a:solidFill>
                <a:latin typeface="Consolas" panose="020B0609020204030204" pitchFamily="49" charset="0"/>
              </a:rPr>
              <a:t>input()</a:t>
            </a:r>
            <a:r>
              <a:rPr lang="es-MX" sz="1600" dirty="0"/>
              <a:t> siempre devuelve texto (</a:t>
            </a:r>
            <a:r>
              <a:rPr lang="es-MX" sz="1400" dirty="0">
                <a:solidFill>
                  <a:srgbClr val="C00000"/>
                </a:solidFill>
                <a:latin typeface="Consolas" panose="020B0609020204030204" pitchFamily="49" charset="0"/>
              </a:rPr>
              <a:t>str</a:t>
            </a:r>
            <a:r>
              <a:rPr lang="es-MX" sz="1600" dirty="0"/>
              <a:t>); si el valor se va a usar en una operación numérica, debe convertirse con </a:t>
            </a:r>
            <a:r>
              <a:rPr lang="es-MX" sz="1400" dirty="0" err="1">
                <a:solidFill>
                  <a:srgbClr val="C00000"/>
                </a:solidFill>
                <a:latin typeface="Consolas" panose="020B0609020204030204" pitchFamily="49" charset="0"/>
              </a:rPr>
              <a:t>int</a:t>
            </a:r>
            <a:r>
              <a:rPr lang="es-MX" sz="1400" dirty="0">
                <a:solidFill>
                  <a:srgbClr val="C00000"/>
                </a:solidFill>
                <a:latin typeface="Consolas" panose="020B0609020204030204" pitchFamily="49" charset="0"/>
              </a:rPr>
              <a:t>()</a:t>
            </a:r>
            <a:r>
              <a:rPr lang="es-MX" sz="1600" dirty="0"/>
              <a:t> o </a:t>
            </a:r>
            <a:r>
              <a:rPr lang="es-MX" sz="1400" dirty="0" err="1">
                <a:solidFill>
                  <a:srgbClr val="C00000"/>
                </a:solidFill>
                <a:latin typeface="Consolas" panose="020B0609020204030204" pitchFamily="49" charset="0"/>
              </a:rPr>
              <a:t>float</a:t>
            </a:r>
            <a:r>
              <a:rPr lang="es-MX" sz="1400" dirty="0">
                <a:solidFill>
                  <a:srgbClr val="C00000"/>
                </a:solidFill>
                <a:latin typeface="Consolas" panose="020B0609020204030204" pitchFamily="49" charset="0"/>
              </a:rPr>
              <a:t>()</a:t>
            </a:r>
            <a:r>
              <a:rPr lang="es-MX" sz="1600" dirty="0"/>
              <a:t> (por ejemplo: </a:t>
            </a:r>
            <a:r>
              <a:rPr lang="es-MX" sz="1400" dirty="0">
                <a:solidFill>
                  <a:srgbClr val="C00000"/>
                </a:solidFill>
                <a:latin typeface="Consolas" panose="020B0609020204030204" pitchFamily="49" charset="0"/>
              </a:rPr>
              <a:t>v1 = </a:t>
            </a:r>
            <a:r>
              <a:rPr lang="es-MX" sz="1400" dirty="0" err="1">
                <a:solidFill>
                  <a:srgbClr val="C00000"/>
                </a:solidFill>
                <a:latin typeface="Consolas" panose="020B0609020204030204" pitchFamily="49" charset="0"/>
              </a:rPr>
              <a:t>float</a:t>
            </a:r>
            <a:r>
              <a:rPr lang="es-MX" sz="1400" dirty="0">
                <a:solidFill>
                  <a:srgbClr val="C00000"/>
                </a:solidFill>
                <a:latin typeface="Consolas" panose="020B0609020204030204" pitchFamily="49" charset="0"/>
              </a:rPr>
              <a:t>(input(...))</a:t>
            </a:r>
            <a:r>
              <a:rPr lang="es-MX" sz="1600" dirty="0"/>
              <a:t>).</a:t>
            </a:r>
            <a:endParaRPr lang="es-CO" sz="1600" dirty="0"/>
          </a:p>
        </p:txBody>
      </p:sp>
    </p:spTree>
    <p:extLst>
      <p:ext uri="{BB962C8B-B14F-4D97-AF65-F5344CB8AC3E}">
        <p14:creationId xmlns:p14="http://schemas.microsoft.com/office/powerpoint/2010/main" val="1444131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95536" y="116632"/>
            <a:ext cx="8119814" cy="831626"/>
          </a:xfrm>
        </p:spPr>
        <p:txBody>
          <a:bodyPr>
            <a:normAutofit/>
          </a:bodyPr>
          <a:lstStyle/>
          <a:p>
            <a:r>
              <a:rPr lang="es-CO" sz="4000" dirty="0"/>
              <a:t>Tabla resumen</a:t>
            </a:r>
            <a:endParaRPr lang="en-US" sz="4000" dirty="0"/>
          </a:p>
        </p:txBody>
      </p:sp>
      <p:sp>
        <p:nvSpPr>
          <p:cNvPr id="9" name="Marcador de contenido 8">
            <a:extLst>
              <a:ext uri="{FF2B5EF4-FFF2-40B4-BE49-F238E27FC236}">
                <a16:creationId xmlns:a16="http://schemas.microsoft.com/office/drawing/2014/main" id="{1C890BBD-1444-4CB9-97D4-FDDC5F53D6C3}"/>
              </a:ext>
            </a:extLst>
          </p:cNvPr>
          <p:cNvSpPr>
            <a:spLocks noGrp="1"/>
          </p:cNvSpPr>
          <p:nvPr>
            <p:ph idx="1"/>
          </p:nvPr>
        </p:nvSpPr>
        <p:spPr>
          <a:xfrm>
            <a:off x="394817" y="908719"/>
            <a:ext cx="8569672" cy="644309"/>
          </a:xfrm>
        </p:spPr>
        <p:txBody>
          <a:bodyPr>
            <a:normAutofit/>
          </a:bodyPr>
          <a:lstStyle/>
          <a:p>
            <a:pPr marL="0" indent="0">
              <a:buNone/>
            </a:pPr>
            <a:r>
              <a:rPr lang="es-MX" sz="2000" dirty="0"/>
              <a:t>La siguiente tabla, agrega la nueva el nuevo bloque que permite implementar toma de decisiones en los programas.</a:t>
            </a:r>
            <a:endParaRPr lang="es-CO" sz="2000" dirty="0"/>
          </a:p>
        </p:txBody>
      </p:sp>
      <p:graphicFrame>
        <p:nvGraphicFramePr>
          <p:cNvPr id="2" name="Tabla 2">
            <a:extLst>
              <a:ext uri="{FF2B5EF4-FFF2-40B4-BE49-F238E27FC236}">
                <a16:creationId xmlns:a16="http://schemas.microsoft.com/office/drawing/2014/main" id="{1D2B5E36-52C4-42F4-8540-7CBD071455A5}"/>
              </a:ext>
            </a:extLst>
          </p:cNvPr>
          <p:cNvGraphicFramePr>
            <a:graphicFrameLocks noGrp="1"/>
          </p:cNvGraphicFramePr>
          <p:nvPr>
            <p:extLst>
              <p:ext uri="{D42A27DB-BD31-4B8C-83A1-F6EECF244321}">
                <p14:modId xmlns:p14="http://schemas.microsoft.com/office/powerpoint/2010/main" val="3350735739"/>
              </p:ext>
            </p:extLst>
          </p:nvPr>
        </p:nvGraphicFramePr>
        <p:xfrm>
          <a:off x="394816" y="1653416"/>
          <a:ext cx="8065615" cy="1559560"/>
        </p:xfrm>
        <a:graphic>
          <a:graphicData uri="http://schemas.openxmlformats.org/drawingml/2006/table">
            <a:tbl>
              <a:tblPr firstRow="1" bandRow="1">
                <a:tableStyleId>{5940675A-B579-460E-94D1-54222C63F5DA}</a:tableStyleId>
              </a:tblPr>
              <a:tblGrid>
                <a:gridCol w="3052305">
                  <a:extLst>
                    <a:ext uri="{9D8B030D-6E8A-4147-A177-3AD203B41FA5}">
                      <a16:colId xmlns:a16="http://schemas.microsoft.com/office/drawing/2014/main" val="2376140116"/>
                    </a:ext>
                  </a:extLst>
                </a:gridCol>
                <a:gridCol w="2615640">
                  <a:extLst>
                    <a:ext uri="{9D8B030D-6E8A-4147-A177-3AD203B41FA5}">
                      <a16:colId xmlns:a16="http://schemas.microsoft.com/office/drawing/2014/main" val="1317388859"/>
                    </a:ext>
                  </a:extLst>
                </a:gridCol>
                <a:gridCol w="2397670">
                  <a:extLst>
                    <a:ext uri="{9D8B030D-6E8A-4147-A177-3AD203B41FA5}">
                      <a16:colId xmlns:a16="http://schemas.microsoft.com/office/drawing/2014/main" val="1620986510"/>
                    </a:ext>
                  </a:extLst>
                </a:gridCol>
              </a:tblGrid>
              <a:tr h="370840">
                <a:tc>
                  <a:txBody>
                    <a:bodyPr/>
                    <a:lstStyle/>
                    <a:p>
                      <a:pPr algn="ctr"/>
                      <a:r>
                        <a:rPr lang="es-CO" b="1" dirty="0"/>
                        <a:t>Diagrama de bloques</a:t>
                      </a:r>
                    </a:p>
                  </a:txBody>
                  <a:tcPr/>
                </a:tc>
                <a:tc>
                  <a:txBody>
                    <a:bodyPr/>
                    <a:lstStyle/>
                    <a:p>
                      <a:pPr algn="ctr"/>
                      <a:r>
                        <a:rPr lang="es-CO" b="1" dirty="0"/>
                        <a:t>Pseudocordigo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b="1" dirty="0"/>
                        <a:t>Python</a:t>
                      </a:r>
                    </a:p>
                  </a:txBody>
                  <a:tcPr/>
                </a:tc>
                <a:extLst>
                  <a:ext uri="{0D108BD9-81ED-4DB2-BD59-A6C34878D82A}">
                    <a16:rowId xmlns:a16="http://schemas.microsoft.com/office/drawing/2014/main" val="3153662098"/>
                  </a:ext>
                </a:extLst>
              </a:tr>
              <a:tr h="370840">
                <a:tc>
                  <a:txBody>
                    <a:bodyPr/>
                    <a:lstStyle/>
                    <a:p>
                      <a:endParaRPr lang="es-CO" dirty="0"/>
                    </a:p>
                    <a:p>
                      <a:endParaRPr lang="es-CO" dirty="0"/>
                    </a:p>
                    <a:p>
                      <a:endParaRPr lang="es-CO" dirty="0"/>
                    </a:p>
                    <a:p>
                      <a:endParaRPr lang="es-CO" dirty="0"/>
                    </a:p>
                  </a:txBody>
                  <a:tcPr/>
                </a:tc>
                <a:tc>
                  <a:txBody>
                    <a:bodyPr/>
                    <a:lstStyle/>
                    <a:p>
                      <a:pPr indent="-57150"/>
                      <a:r>
                        <a:rPr lang="es-ES" sz="1200" dirty="0">
                          <a:solidFill>
                            <a:schemeClr val="tx1"/>
                          </a:solidFill>
                          <a:latin typeface="Consolas" panose="020B0609020204030204" pitchFamily="49" charset="0"/>
                        </a:rPr>
                        <a:t>Si (</a:t>
                      </a:r>
                      <a:r>
                        <a:rPr lang="es-ES" sz="1200" dirty="0" err="1">
                          <a:solidFill>
                            <a:schemeClr val="tx1"/>
                          </a:solidFill>
                          <a:latin typeface="Consolas" panose="020B0609020204030204" pitchFamily="49" charset="0"/>
                        </a:rPr>
                        <a:t>condicion</a:t>
                      </a:r>
                      <a:r>
                        <a:rPr lang="es-ES" sz="1200" dirty="0">
                          <a:solidFill>
                            <a:schemeClr val="tx1"/>
                          </a:solidFill>
                          <a:latin typeface="Consolas" panose="020B0609020204030204" pitchFamily="49" charset="0"/>
                        </a:rPr>
                        <a:t>) Entonces</a:t>
                      </a:r>
                    </a:p>
                    <a:p>
                      <a:pPr indent="-57150"/>
                      <a:r>
                        <a:rPr lang="es-ES" sz="1200" dirty="0">
                          <a:solidFill>
                            <a:schemeClr val="tx1"/>
                          </a:solidFill>
                          <a:latin typeface="Consolas" panose="020B0609020204030204" pitchFamily="49" charset="0"/>
                        </a:rPr>
                        <a:t>  instrucciones verdad</a:t>
                      </a:r>
                    </a:p>
                    <a:p>
                      <a:pPr indent="-57150"/>
                      <a:r>
                        <a:rPr lang="es-ES" sz="1200" dirty="0">
                          <a:solidFill>
                            <a:schemeClr val="tx1"/>
                          </a:solidFill>
                          <a:latin typeface="Consolas" panose="020B0609020204030204" pitchFamily="49" charset="0"/>
                        </a:rPr>
                        <a:t>Sino</a:t>
                      </a:r>
                    </a:p>
                    <a:p>
                      <a:pPr indent="-57150"/>
                      <a:r>
                        <a:rPr lang="es-ES" sz="1200" dirty="0">
                          <a:solidFill>
                            <a:schemeClr val="tx1"/>
                          </a:solidFill>
                          <a:latin typeface="Consolas" panose="020B0609020204030204" pitchFamily="49" charset="0"/>
                        </a:rPr>
                        <a:t>  instrucciones falsa</a:t>
                      </a:r>
                    </a:p>
                    <a:p>
                      <a:pPr indent="-57150"/>
                      <a:r>
                        <a:rPr lang="es-ES" sz="1200" dirty="0" err="1">
                          <a:solidFill>
                            <a:schemeClr val="tx1"/>
                          </a:solidFill>
                          <a:latin typeface="Consolas" panose="020B0609020204030204" pitchFamily="49" charset="0"/>
                        </a:rPr>
                        <a:t>Fin_Si</a:t>
                      </a:r>
                      <a:endParaRPr lang="es-CO" sz="1200" dirty="0">
                        <a:solidFill>
                          <a:schemeClr val="tx1"/>
                        </a:solidFill>
                        <a:latin typeface="Consolas" panose="020B0609020204030204" pitchFamily="49" charset="0"/>
                      </a:endParaRPr>
                    </a:p>
                  </a:txBody>
                  <a:tcPr anchor="ctr"/>
                </a:tc>
                <a:tc>
                  <a:txBody>
                    <a:bodyPr/>
                    <a:lstStyle/>
                    <a:p>
                      <a:pPr indent="-57150"/>
                      <a:r>
                        <a:rPr lang="es-ES" sz="1200" dirty="0" err="1">
                          <a:solidFill>
                            <a:schemeClr val="tx1"/>
                          </a:solidFill>
                          <a:latin typeface="Consolas" panose="020B0609020204030204" pitchFamily="49" charset="0"/>
                        </a:rPr>
                        <a:t>if</a:t>
                      </a:r>
                      <a:r>
                        <a:rPr lang="es-ES" sz="1200" dirty="0">
                          <a:solidFill>
                            <a:schemeClr val="tx1"/>
                          </a:solidFill>
                          <a:latin typeface="Consolas" panose="020B0609020204030204" pitchFamily="49" charset="0"/>
                        </a:rPr>
                        <a:t> (</a:t>
                      </a:r>
                      <a:r>
                        <a:rPr lang="es-ES" sz="1200" dirty="0" err="1">
                          <a:solidFill>
                            <a:schemeClr val="tx1"/>
                          </a:solidFill>
                          <a:latin typeface="Consolas" panose="020B0609020204030204" pitchFamily="49" charset="0"/>
                        </a:rPr>
                        <a:t>condicion</a:t>
                      </a:r>
                      <a:r>
                        <a:rPr lang="es-ES" sz="1200" dirty="0">
                          <a:solidFill>
                            <a:schemeClr val="tx1"/>
                          </a:solidFill>
                          <a:latin typeface="Consolas" panose="020B0609020204030204" pitchFamily="49" charset="0"/>
                        </a:rPr>
                        <a:t>):</a:t>
                      </a:r>
                    </a:p>
                    <a:p>
                      <a:pPr indent="-57150"/>
                      <a:r>
                        <a:rPr lang="es-ES" sz="1200" dirty="0">
                          <a:solidFill>
                            <a:schemeClr val="tx1"/>
                          </a:solidFill>
                          <a:latin typeface="Consolas" panose="020B0609020204030204" pitchFamily="49" charset="0"/>
                        </a:rPr>
                        <a:t>  instrucciones verdad</a:t>
                      </a:r>
                    </a:p>
                    <a:p>
                      <a:pPr indent="-57150"/>
                      <a:r>
                        <a:rPr lang="es-ES" sz="1200" dirty="0" err="1">
                          <a:solidFill>
                            <a:schemeClr val="tx1"/>
                          </a:solidFill>
                          <a:latin typeface="Consolas" panose="020B0609020204030204" pitchFamily="49" charset="0"/>
                        </a:rPr>
                        <a:t>else</a:t>
                      </a:r>
                      <a:r>
                        <a:rPr lang="es-ES" sz="1200" dirty="0">
                          <a:solidFill>
                            <a:schemeClr val="tx1"/>
                          </a:solidFill>
                          <a:latin typeface="Consolas" panose="020B0609020204030204" pitchFamily="49" charset="0"/>
                        </a:rPr>
                        <a:t>:</a:t>
                      </a:r>
                    </a:p>
                    <a:p>
                      <a:pPr indent="-57150"/>
                      <a:r>
                        <a:rPr lang="es-ES" sz="1200" dirty="0">
                          <a:solidFill>
                            <a:schemeClr val="tx1"/>
                          </a:solidFill>
                          <a:latin typeface="Consolas" panose="020B0609020204030204" pitchFamily="49" charset="0"/>
                        </a:rPr>
                        <a:t>  instrucciones falso</a:t>
                      </a:r>
                    </a:p>
                  </a:txBody>
                  <a:tcPr anchor="ctr"/>
                </a:tc>
                <a:extLst>
                  <a:ext uri="{0D108BD9-81ED-4DB2-BD59-A6C34878D82A}">
                    <a16:rowId xmlns:a16="http://schemas.microsoft.com/office/drawing/2014/main" val="2502274137"/>
                  </a:ext>
                </a:extLst>
              </a:tr>
            </a:tbl>
          </a:graphicData>
        </a:graphic>
      </p:graphicFrame>
      <p:grpSp>
        <p:nvGrpSpPr>
          <p:cNvPr id="16" name="Grupo 15">
            <a:extLst>
              <a:ext uri="{FF2B5EF4-FFF2-40B4-BE49-F238E27FC236}">
                <a16:creationId xmlns:a16="http://schemas.microsoft.com/office/drawing/2014/main" id="{3D9378DB-47BD-4E38-B9E2-60CC14868C14}"/>
              </a:ext>
            </a:extLst>
          </p:cNvPr>
          <p:cNvGrpSpPr/>
          <p:nvPr/>
        </p:nvGrpSpPr>
        <p:grpSpPr>
          <a:xfrm>
            <a:off x="467544" y="2111326"/>
            <a:ext cx="2876849" cy="957634"/>
            <a:chOff x="802903" y="2612529"/>
            <a:chExt cx="2876849" cy="957634"/>
          </a:xfrm>
        </p:grpSpPr>
        <p:sp>
          <p:nvSpPr>
            <p:cNvPr id="17" name="TextBox 75">
              <a:extLst>
                <a:ext uri="{FF2B5EF4-FFF2-40B4-BE49-F238E27FC236}">
                  <a16:creationId xmlns:a16="http://schemas.microsoft.com/office/drawing/2014/main" id="{3E386359-4887-48E6-A90C-AB0498055EA7}"/>
                </a:ext>
              </a:extLst>
            </p:cNvPr>
            <p:cNvSpPr txBox="1"/>
            <p:nvPr/>
          </p:nvSpPr>
          <p:spPr>
            <a:xfrm>
              <a:off x="3237955" y="2924944"/>
              <a:ext cx="427508" cy="246221"/>
            </a:xfrm>
            <a:prstGeom prst="rect">
              <a:avLst/>
            </a:prstGeom>
            <a:noFill/>
          </p:spPr>
          <p:txBody>
            <a:bodyPr wrap="square" rtlCol="0">
              <a:spAutoFit/>
            </a:bodyPr>
            <a:lstStyle/>
            <a:p>
              <a:pPr algn="ctr"/>
              <a:r>
                <a:rPr lang="en-US" sz="1000" dirty="0">
                  <a:latin typeface="Consolas" panose="020B0609020204030204" pitchFamily="49" charset="0"/>
                </a:rPr>
                <a:t>yes</a:t>
              </a:r>
            </a:p>
          </p:txBody>
        </p:sp>
        <p:sp>
          <p:nvSpPr>
            <p:cNvPr id="18" name="TextBox 76">
              <a:extLst>
                <a:ext uri="{FF2B5EF4-FFF2-40B4-BE49-F238E27FC236}">
                  <a16:creationId xmlns:a16="http://schemas.microsoft.com/office/drawing/2014/main" id="{6CB5130F-2760-4686-95D3-9F6E662E0BDD}"/>
                </a:ext>
              </a:extLst>
            </p:cNvPr>
            <p:cNvSpPr txBox="1"/>
            <p:nvPr/>
          </p:nvSpPr>
          <p:spPr>
            <a:xfrm>
              <a:off x="918640" y="2924944"/>
              <a:ext cx="374527" cy="246221"/>
            </a:xfrm>
            <a:prstGeom prst="rect">
              <a:avLst/>
            </a:prstGeom>
            <a:noFill/>
          </p:spPr>
          <p:txBody>
            <a:bodyPr wrap="square" rtlCol="0">
              <a:spAutoFit/>
            </a:bodyPr>
            <a:lstStyle/>
            <a:p>
              <a:pPr algn="ctr"/>
              <a:r>
                <a:rPr lang="en-US" sz="1000" dirty="0">
                  <a:latin typeface="Consolas" panose="020B0609020204030204" pitchFamily="49" charset="0"/>
                </a:rPr>
                <a:t>no</a:t>
              </a:r>
            </a:p>
          </p:txBody>
        </p:sp>
        <p:sp>
          <p:nvSpPr>
            <p:cNvPr id="19" name="Flowchart: Decision 5">
              <a:extLst>
                <a:ext uri="{FF2B5EF4-FFF2-40B4-BE49-F238E27FC236}">
                  <a16:creationId xmlns:a16="http://schemas.microsoft.com/office/drawing/2014/main" id="{8130C2A4-8430-4415-AAF6-7D501E4C8CDD}"/>
                </a:ext>
              </a:extLst>
            </p:cNvPr>
            <p:cNvSpPr/>
            <p:nvPr/>
          </p:nvSpPr>
          <p:spPr>
            <a:xfrm>
              <a:off x="1315133" y="2977639"/>
              <a:ext cx="1852352" cy="457200"/>
            </a:xfrm>
            <a:prstGeom prst="flowChartDecisi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onsolas" panose="020B0609020204030204" pitchFamily="49" charset="0"/>
                </a:rPr>
                <a:t>Decision</a:t>
              </a:r>
            </a:p>
          </p:txBody>
        </p:sp>
        <p:grpSp>
          <p:nvGrpSpPr>
            <p:cNvPr id="20" name="40 Grupo">
              <a:extLst>
                <a:ext uri="{FF2B5EF4-FFF2-40B4-BE49-F238E27FC236}">
                  <a16:creationId xmlns:a16="http://schemas.microsoft.com/office/drawing/2014/main" id="{0AE61B74-EF32-4C9E-89B5-46136054B4E0}"/>
                </a:ext>
              </a:extLst>
            </p:cNvPr>
            <p:cNvGrpSpPr/>
            <p:nvPr/>
          </p:nvGrpSpPr>
          <p:grpSpPr>
            <a:xfrm>
              <a:off x="802903" y="3202855"/>
              <a:ext cx="528637" cy="367308"/>
              <a:chOff x="4631531" y="4280892"/>
              <a:chExt cx="528637" cy="367308"/>
            </a:xfrm>
          </p:grpSpPr>
          <p:cxnSp>
            <p:nvCxnSpPr>
              <p:cNvPr id="25" name="Straight Arrow Connector 18">
                <a:extLst>
                  <a:ext uri="{FF2B5EF4-FFF2-40B4-BE49-F238E27FC236}">
                    <a16:creationId xmlns:a16="http://schemas.microsoft.com/office/drawing/2014/main" id="{1595D196-89B8-4FA2-AA80-D2026FBBACD8}"/>
                  </a:ext>
                </a:extLst>
              </p:cNvPr>
              <p:cNvCxnSpPr/>
              <p:nvPr/>
            </p:nvCxnSpPr>
            <p:spPr>
              <a:xfrm>
                <a:off x="4633913" y="4281488"/>
                <a:ext cx="4763" cy="36671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18">
                <a:extLst>
                  <a:ext uri="{FF2B5EF4-FFF2-40B4-BE49-F238E27FC236}">
                    <a16:creationId xmlns:a16="http://schemas.microsoft.com/office/drawing/2014/main" id="{AE31C54A-1503-407A-A3C8-0DF172701F4F}"/>
                  </a:ext>
                </a:extLst>
              </p:cNvPr>
              <p:cNvCxnSpPr/>
              <p:nvPr/>
            </p:nvCxnSpPr>
            <p:spPr>
              <a:xfrm flipH="1">
                <a:off x="4631531" y="4280892"/>
                <a:ext cx="528637"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1" name="65 Grupo">
              <a:extLst>
                <a:ext uri="{FF2B5EF4-FFF2-40B4-BE49-F238E27FC236}">
                  <a16:creationId xmlns:a16="http://schemas.microsoft.com/office/drawing/2014/main" id="{C6B718B9-220F-439A-AC3D-01EC85F6E93B}"/>
                </a:ext>
              </a:extLst>
            </p:cNvPr>
            <p:cNvGrpSpPr/>
            <p:nvPr/>
          </p:nvGrpSpPr>
          <p:grpSpPr>
            <a:xfrm flipH="1">
              <a:off x="3146352" y="3203451"/>
              <a:ext cx="533400" cy="366712"/>
              <a:chOff x="4959846" y="4281488"/>
              <a:chExt cx="533400" cy="366712"/>
            </a:xfrm>
          </p:grpSpPr>
          <p:cxnSp>
            <p:nvCxnSpPr>
              <p:cNvPr id="23" name="Straight Arrow Connector 18">
                <a:extLst>
                  <a:ext uri="{FF2B5EF4-FFF2-40B4-BE49-F238E27FC236}">
                    <a16:creationId xmlns:a16="http://schemas.microsoft.com/office/drawing/2014/main" id="{484928C3-EB88-44C2-8AA5-9E1A9218AF85}"/>
                  </a:ext>
                </a:extLst>
              </p:cNvPr>
              <p:cNvCxnSpPr/>
              <p:nvPr/>
            </p:nvCxnSpPr>
            <p:spPr>
              <a:xfrm>
                <a:off x="4959846" y="4281488"/>
                <a:ext cx="4763" cy="36671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18">
                <a:extLst>
                  <a:ext uri="{FF2B5EF4-FFF2-40B4-BE49-F238E27FC236}">
                    <a16:creationId xmlns:a16="http://schemas.microsoft.com/office/drawing/2014/main" id="{1C4ED988-ED91-4723-9518-4FD7B1995577}"/>
                  </a:ext>
                </a:extLst>
              </p:cNvPr>
              <p:cNvCxnSpPr/>
              <p:nvPr/>
            </p:nvCxnSpPr>
            <p:spPr>
              <a:xfrm flipH="1">
                <a:off x="4964609" y="4281488"/>
                <a:ext cx="528637"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2" name="Straight Arrow Connector 18">
              <a:extLst>
                <a:ext uri="{FF2B5EF4-FFF2-40B4-BE49-F238E27FC236}">
                  <a16:creationId xmlns:a16="http://schemas.microsoft.com/office/drawing/2014/main" id="{E38D67C6-99FA-4E32-B5E5-CC717213D7C0}"/>
                </a:ext>
              </a:extLst>
            </p:cNvPr>
            <p:cNvCxnSpPr/>
            <p:nvPr/>
          </p:nvCxnSpPr>
          <p:spPr>
            <a:xfrm flipH="1">
              <a:off x="2241773" y="2612529"/>
              <a:ext cx="4763" cy="36671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pic>
        <p:nvPicPr>
          <p:cNvPr id="27" name="Imagen 26">
            <a:extLst>
              <a:ext uri="{FF2B5EF4-FFF2-40B4-BE49-F238E27FC236}">
                <a16:creationId xmlns:a16="http://schemas.microsoft.com/office/drawing/2014/main" id="{3C0BA5DF-4993-4B02-A595-095E15B1A2C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67316" y="4281506"/>
            <a:ext cx="1562788" cy="1448637"/>
          </a:xfrm>
          <a:prstGeom prst="rect">
            <a:avLst/>
          </a:prstGeom>
        </p:spPr>
      </p:pic>
      <p:pic>
        <p:nvPicPr>
          <p:cNvPr id="1026" name="Picture 2" descr="If-Then workflow">
            <a:extLst>
              <a:ext uri="{FF2B5EF4-FFF2-40B4-BE49-F238E27FC236}">
                <a16:creationId xmlns:a16="http://schemas.microsoft.com/office/drawing/2014/main" id="{2C25287B-29BF-47A8-8786-9EAF620BA9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9952" y="3406282"/>
            <a:ext cx="3286795" cy="2834861"/>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F74D470D-37F8-4F20-A4E4-829A08FE1FD5}"/>
              </a:ext>
            </a:extLst>
          </p:cNvPr>
          <p:cNvSpPr txBox="1"/>
          <p:nvPr/>
        </p:nvSpPr>
        <p:spPr>
          <a:xfrm>
            <a:off x="4211960" y="6309320"/>
            <a:ext cx="2927276" cy="338554"/>
          </a:xfrm>
          <a:prstGeom prst="rect">
            <a:avLst/>
          </a:prstGeom>
          <a:noFill/>
        </p:spPr>
        <p:txBody>
          <a:bodyPr wrap="none" rtlCol="0">
            <a:spAutoFit/>
          </a:bodyPr>
          <a:lstStyle/>
          <a:p>
            <a:r>
              <a:rPr lang="es-CO" sz="1600" dirty="0"/>
              <a:t>Imagen tomada de </a:t>
            </a:r>
            <a:r>
              <a:rPr lang="es-CO" sz="1600" b="1" dirty="0"/>
              <a:t>CS Intro</a:t>
            </a:r>
            <a:r>
              <a:rPr lang="es-CO" sz="1600" dirty="0"/>
              <a:t> (</a:t>
            </a:r>
            <a:r>
              <a:rPr lang="es-CO" sz="1600" dirty="0">
                <a:hlinkClick r:id="rId4"/>
              </a:rPr>
              <a:t>link</a:t>
            </a:r>
            <a:r>
              <a:rPr lang="es-CO" sz="1600" dirty="0"/>
              <a:t>)</a:t>
            </a:r>
          </a:p>
        </p:txBody>
      </p:sp>
    </p:spTree>
    <p:extLst>
      <p:ext uri="{BB962C8B-B14F-4D97-AF65-F5344CB8AC3E}">
        <p14:creationId xmlns:p14="http://schemas.microsoft.com/office/powerpoint/2010/main" val="1483962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81484" y="252929"/>
            <a:ext cx="8576766" cy="1267245"/>
          </a:xfrm>
        </p:spPr>
        <p:txBody>
          <a:bodyPr>
            <a:normAutofit/>
          </a:bodyPr>
          <a:lstStyle/>
          <a:p>
            <a:r>
              <a:rPr lang="es-CO" sz="3600" dirty="0"/>
              <a:t>Casos en los problemas de decisión lógica</a:t>
            </a:r>
          </a:p>
        </p:txBody>
      </p:sp>
      <p:sp>
        <p:nvSpPr>
          <p:cNvPr id="4" name="3 Marcador de número de diapositiva"/>
          <p:cNvSpPr>
            <a:spLocks noGrp="1"/>
          </p:cNvSpPr>
          <p:nvPr>
            <p:ph type="sldNum" sz="quarter" idx="12"/>
          </p:nvPr>
        </p:nvSpPr>
        <p:spPr/>
        <p:txBody>
          <a:bodyPr/>
          <a:lstStyle/>
          <a:p>
            <a:fld id="{45F1CE28-A3C7-48DC-84A2-8FB08D6123C5}" type="slidenum">
              <a:rPr lang="en-US" smtClean="0"/>
              <a:pPr/>
              <a:t>6</a:t>
            </a:fld>
            <a:endParaRPr lang="en-US" dirty="0"/>
          </a:p>
        </p:txBody>
      </p:sp>
      <p:graphicFrame>
        <p:nvGraphicFramePr>
          <p:cNvPr id="7" name="6 Diagrama"/>
          <p:cNvGraphicFramePr/>
          <p:nvPr>
            <p:extLst>
              <p:ext uri="{D42A27DB-BD31-4B8C-83A1-F6EECF244321}">
                <p14:modId xmlns:p14="http://schemas.microsoft.com/office/powerpoint/2010/main" val="3190068776"/>
              </p:ext>
            </p:extLst>
          </p:nvPr>
        </p:nvGraphicFramePr>
        <p:xfrm>
          <a:off x="273844" y="2235552"/>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15125" y="3632994"/>
            <a:ext cx="2143125" cy="116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89" name="Picture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08781" y="1949619"/>
            <a:ext cx="2003811" cy="13629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0" name="Picture 2"/>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715125" y="4839802"/>
            <a:ext cx="2321183" cy="17652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Imagen 9">
            <a:extLst>
              <a:ext uri="{FF2B5EF4-FFF2-40B4-BE49-F238E27FC236}">
                <a16:creationId xmlns:a16="http://schemas.microsoft.com/office/drawing/2014/main" id="{A56CB6FA-B43E-40A5-ADB1-20CD5CDF8D2A}"/>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64846" y="2066027"/>
            <a:ext cx="1470374" cy="1362973"/>
          </a:xfrm>
          <a:prstGeom prst="rect">
            <a:avLst/>
          </a:prstGeom>
        </p:spPr>
      </p:pic>
    </p:spTree>
    <p:extLst>
      <p:ext uri="{BB962C8B-B14F-4D97-AF65-F5344CB8AC3E}">
        <p14:creationId xmlns:p14="http://schemas.microsoft.com/office/powerpoint/2010/main" val="1853270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89427" y="292891"/>
            <a:ext cx="8229600" cy="688648"/>
          </a:xfrm>
        </p:spPr>
        <p:txBody>
          <a:bodyPr>
            <a:normAutofit fontScale="90000"/>
          </a:bodyPr>
          <a:lstStyle/>
          <a:p>
            <a:r>
              <a:rPr lang="es-CO" dirty="0"/>
              <a:t>Alternativa simple</a:t>
            </a:r>
          </a:p>
        </p:txBody>
      </p:sp>
      <p:sp>
        <p:nvSpPr>
          <p:cNvPr id="13" name="12 Rectángulo"/>
          <p:cNvSpPr/>
          <p:nvPr/>
        </p:nvSpPr>
        <p:spPr>
          <a:xfrm>
            <a:off x="189427" y="977073"/>
            <a:ext cx="8517068" cy="430887"/>
          </a:xfrm>
          <a:prstGeom prst="rect">
            <a:avLst/>
          </a:prstGeom>
        </p:spPr>
        <p:txBody>
          <a:bodyPr wrap="square">
            <a:spAutoFit/>
          </a:bodyPr>
          <a:lstStyle/>
          <a:p>
            <a:r>
              <a:rPr lang="es-CO" altLang="es-CO" sz="2200" dirty="0"/>
              <a:t>En los problemas de este tipo la condición </a:t>
            </a:r>
            <a:r>
              <a:rPr lang="es-CO" altLang="es-CO" sz="2200" b="1" dirty="0">
                <a:solidFill>
                  <a:srgbClr val="C00000"/>
                </a:solidFill>
              </a:rPr>
              <a:t>falsa</a:t>
            </a:r>
            <a:r>
              <a:rPr lang="es-CO" altLang="es-CO" sz="2200" dirty="0"/>
              <a:t> no posee instrucciones.</a:t>
            </a:r>
            <a:endParaRPr lang="es-CO" sz="2200" dirty="0"/>
          </a:p>
        </p:txBody>
      </p:sp>
      <p:pic>
        <p:nvPicPr>
          <p:cNvPr id="1126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47" y="2243380"/>
            <a:ext cx="4814125" cy="32745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8" descr="http://t0.gstatic.com/images?q=tbn:ANd9GcQBQUfA-17F7VG9bKeqzV6MF0-Z-9iE_3GOSyV1UJYC9LTt32B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5014271"/>
            <a:ext cx="862480" cy="1101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uadroTexto 7">
            <a:extLst>
              <a:ext uri="{FF2B5EF4-FFF2-40B4-BE49-F238E27FC236}">
                <a16:creationId xmlns:a16="http://schemas.microsoft.com/office/drawing/2014/main" id="{AC32FD90-4058-401D-982D-5EBFA6936A2A}"/>
              </a:ext>
            </a:extLst>
          </p:cNvPr>
          <p:cNvSpPr txBox="1"/>
          <p:nvPr/>
        </p:nvSpPr>
        <p:spPr>
          <a:xfrm>
            <a:off x="4861248" y="2341048"/>
            <a:ext cx="4102701" cy="738664"/>
          </a:xfrm>
          <a:prstGeom prst="rect">
            <a:avLst/>
          </a:prstGeom>
          <a:noFill/>
          <a:ln>
            <a:solidFill>
              <a:schemeClr val="tx1"/>
            </a:solidFill>
          </a:ln>
        </p:spPr>
        <p:txBody>
          <a:bodyPr wrap="square">
            <a:spAutoFit/>
          </a:bodyPr>
          <a:lstStyle/>
          <a:p>
            <a:pPr indent="-57150"/>
            <a:r>
              <a:rPr lang="es-ES" sz="1400" dirty="0">
                <a:solidFill>
                  <a:schemeClr val="accent4"/>
                </a:solidFill>
                <a:latin typeface="Consolas" panose="020B0609020204030204" pitchFamily="49" charset="0"/>
              </a:rPr>
              <a:t>Si (</a:t>
            </a:r>
            <a:r>
              <a:rPr lang="es-ES" sz="1400" dirty="0">
                <a:solidFill>
                  <a:schemeClr val="accent6"/>
                </a:solidFill>
                <a:latin typeface="Consolas" panose="020B0609020204030204" pitchFamily="49" charset="0"/>
              </a:rPr>
              <a:t>condicion</a:t>
            </a:r>
            <a:r>
              <a:rPr lang="es-ES" sz="1400" dirty="0">
                <a:solidFill>
                  <a:schemeClr val="accent4"/>
                </a:solidFill>
                <a:latin typeface="Consolas" panose="020B0609020204030204" pitchFamily="49" charset="0"/>
              </a:rPr>
              <a:t>) Entonces</a:t>
            </a:r>
          </a:p>
          <a:p>
            <a:pPr indent="-57150"/>
            <a:r>
              <a:rPr lang="es-ES" sz="1400" dirty="0">
                <a:latin typeface="Consolas" panose="020B0609020204030204" pitchFamily="49" charset="0"/>
              </a:rPr>
              <a:t>  instrucciones condicion verdadera</a:t>
            </a:r>
          </a:p>
          <a:p>
            <a:pPr indent="-57150"/>
            <a:r>
              <a:rPr lang="es-ES" sz="1400" dirty="0">
                <a:solidFill>
                  <a:schemeClr val="accent4"/>
                </a:solidFill>
                <a:latin typeface="Consolas" panose="020B0609020204030204" pitchFamily="49" charset="0"/>
              </a:rPr>
              <a:t>Fin_Si</a:t>
            </a:r>
            <a:endParaRPr lang="es-CO" sz="1400" dirty="0">
              <a:solidFill>
                <a:schemeClr val="accent4"/>
              </a:solidFill>
              <a:latin typeface="Consolas" panose="020B0609020204030204" pitchFamily="49" charset="0"/>
            </a:endParaRPr>
          </a:p>
        </p:txBody>
      </p:sp>
      <p:sp>
        <p:nvSpPr>
          <p:cNvPr id="10" name="CuadroTexto 9">
            <a:extLst>
              <a:ext uri="{FF2B5EF4-FFF2-40B4-BE49-F238E27FC236}">
                <a16:creationId xmlns:a16="http://schemas.microsoft.com/office/drawing/2014/main" id="{CA87FB65-D4A5-4A74-BDD3-51E4F16B1B28}"/>
              </a:ext>
            </a:extLst>
          </p:cNvPr>
          <p:cNvSpPr txBox="1"/>
          <p:nvPr/>
        </p:nvSpPr>
        <p:spPr>
          <a:xfrm>
            <a:off x="5626858" y="1843270"/>
            <a:ext cx="2424161" cy="400110"/>
          </a:xfrm>
          <a:prstGeom prst="rect">
            <a:avLst/>
          </a:prstGeom>
          <a:noFill/>
        </p:spPr>
        <p:txBody>
          <a:bodyPr wrap="square" rtlCol="0">
            <a:spAutoFit/>
          </a:bodyPr>
          <a:lstStyle/>
          <a:p>
            <a:pPr algn="ctr"/>
            <a:r>
              <a:rPr lang="es-CO" sz="2000" b="1" dirty="0"/>
              <a:t>Pseudocódigo</a:t>
            </a:r>
          </a:p>
        </p:txBody>
      </p:sp>
      <p:sp>
        <p:nvSpPr>
          <p:cNvPr id="11" name="CuadroTexto 10">
            <a:extLst>
              <a:ext uri="{FF2B5EF4-FFF2-40B4-BE49-F238E27FC236}">
                <a16:creationId xmlns:a16="http://schemas.microsoft.com/office/drawing/2014/main" id="{F10E4D25-B8E6-4A9C-9AB4-C0347C3716F8}"/>
              </a:ext>
            </a:extLst>
          </p:cNvPr>
          <p:cNvSpPr txBox="1"/>
          <p:nvPr/>
        </p:nvSpPr>
        <p:spPr>
          <a:xfrm>
            <a:off x="5661758" y="3717032"/>
            <a:ext cx="2424161" cy="400110"/>
          </a:xfrm>
          <a:prstGeom prst="rect">
            <a:avLst/>
          </a:prstGeom>
          <a:noFill/>
        </p:spPr>
        <p:txBody>
          <a:bodyPr wrap="square" rtlCol="0">
            <a:spAutoFit/>
          </a:bodyPr>
          <a:lstStyle/>
          <a:p>
            <a:pPr algn="ctr"/>
            <a:r>
              <a:rPr lang="es-CO" sz="2000" b="1" dirty="0"/>
              <a:t>Python</a:t>
            </a:r>
          </a:p>
        </p:txBody>
      </p:sp>
      <p:sp>
        <p:nvSpPr>
          <p:cNvPr id="14" name="CuadroTexto 13">
            <a:extLst>
              <a:ext uri="{FF2B5EF4-FFF2-40B4-BE49-F238E27FC236}">
                <a16:creationId xmlns:a16="http://schemas.microsoft.com/office/drawing/2014/main" id="{873E636D-5469-4C08-BBB0-8DB2503F2CAF}"/>
              </a:ext>
            </a:extLst>
          </p:cNvPr>
          <p:cNvSpPr txBox="1"/>
          <p:nvPr/>
        </p:nvSpPr>
        <p:spPr>
          <a:xfrm>
            <a:off x="4907682" y="4207545"/>
            <a:ext cx="4102701" cy="523220"/>
          </a:xfrm>
          <a:prstGeom prst="rect">
            <a:avLst/>
          </a:prstGeom>
          <a:noFill/>
          <a:ln>
            <a:solidFill>
              <a:schemeClr val="tx1"/>
            </a:solidFill>
          </a:ln>
        </p:spPr>
        <p:txBody>
          <a:bodyPr wrap="square">
            <a:spAutoFit/>
          </a:bodyPr>
          <a:lstStyle/>
          <a:p>
            <a:pPr indent="-57150"/>
            <a:r>
              <a:rPr lang="es-ES" sz="1400" dirty="0">
                <a:solidFill>
                  <a:schemeClr val="accent4"/>
                </a:solidFill>
                <a:latin typeface="Consolas" panose="020B0609020204030204" pitchFamily="49" charset="0"/>
              </a:rPr>
              <a:t>if (</a:t>
            </a:r>
            <a:r>
              <a:rPr lang="es-ES" sz="1400" dirty="0">
                <a:solidFill>
                  <a:schemeClr val="accent6"/>
                </a:solidFill>
                <a:latin typeface="Consolas" panose="020B0609020204030204" pitchFamily="49" charset="0"/>
              </a:rPr>
              <a:t>condicion</a:t>
            </a:r>
            <a:r>
              <a:rPr lang="es-ES" sz="1400" dirty="0">
                <a:solidFill>
                  <a:schemeClr val="accent4"/>
                </a:solidFill>
                <a:latin typeface="Consolas" panose="020B0609020204030204" pitchFamily="49" charset="0"/>
              </a:rPr>
              <a:t>):</a:t>
            </a:r>
          </a:p>
          <a:p>
            <a:pPr indent="-57150"/>
            <a:r>
              <a:rPr lang="es-ES" sz="1400" dirty="0">
                <a:latin typeface="Consolas" panose="020B0609020204030204" pitchFamily="49" charset="0"/>
              </a:rPr>
              <a:t>  instrucciones condicion verdadera</a:t>
            </a:r>
          </a:p>
        </p:txBody>
      </p:sp>
      <p:sp>
        <p:nvSpPr>
          <p:cNvPr id="15" name="CuadroTexto 14">
            <a:extLst>
              <a:ext uri="{FF2B5EF4-FFF2-40B4-BE49-F238E27FC236}">
                <a16:creationId xmlns:a16="http://schemas.microsoft.com/office/drawing/2014/main" id="{0FFE230E-C2E4-45A1-8069-85EE5BA8E8BE}"/>
              </a:ext>
            </a:extLst>
          </p:cNvPr>
          <p:cNvSpPr txBox="1"/>
          <p:nvPr/>
        </p:nvSpPr>
        <p:spPr>
          <a:xfrm>
            <a:off x="1609462" y="1892087"/>
            <a:ext cx="2424161" cy="400110"/>
          </a:xfrm>
          <a:prstGeom prst="rect">
            <a:avLst/>
          </a:prstGeom>
          <a:noFill/>
        </p:spPr>
        <p:txBody>
          <a:bodyPr wrap="square" rtlCol="0">
            <a:spAutoFit/>
          </a:bodyPr>
          <a:lstStyle/>
          <a:p>
            <a:pPr algn="ctr"/>
            <a:r>
              <a:rPr lang="es-CO" sz="2000" b="1" dirty="0"/>
              <a:t>Diagrama de flujo</a:t>
            </a:r>
          </a:p>
        </p:txBody>
      </p:sp>
    </p:spTree>
    <p:extLst>
      <p:ext uri="{BB962C8B-B14F-4D97-AF65-F5344CB8AC3E}">
        <p14:creationId xmlns:p14="http://schemas.microsoft.com/office/powerpoint/2010/main" val="946365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63061" y="223755"/>
            <a:ext cx="8045354" cy="628407"/>
          </a:xfrm>
        </p:spPr>
        <p:txBody>
          <a:bodyPr>
            <a:normAutofit fontScale="90000"/>
          </a:bodyPr>
          <a:lstStyle/>
          <a:p>
            <a:r>
              <a:rPr lang="es-CO" dirty="0"/>
              <a:t>Alternativa doble</a:t>
            </a:r>
          </a:p>
        </p:txBody>
      </p:sp>
      <p:sp>
        <p:nvSpPr>
          <p:cNvPr id="13" name="12 Rectángulo"/>
          <p:cNvSpPr/>
          <p:nvPr/>
        </p:nvSpPr>
        <p:spPr>
          <a:xfrm>
            <a:off x="179513" y="921879"/>
            <a:ext cx="8796866" cy="707886"/>
          </a:xfrm>
          <a:prstGeom prst="rect">
            <a:avLst/>
          </a:prstGeom>
        </p:spPr>
        <p:txBody>
          <a:bodyPr wrap="square">
            <a:spAutoFit/>
          </a:bodyPr>
          <a:lstStyle/>
          <a:p>
            <a:r>
              <a:rPr lang="es-CO" altLang="es-CO" sz="2000" dirty="0"/>
              <a:t>En los problemas de este tipo, ambos casos (</a:t>
            </a:r>
            <a:r>
              <a:rPr lang="es-CO" altLang="es-CO" sz="2000" b="1" dirty="0">
                <a:solidFill>
                  <a:srgbClr val="C00000"/>
                </a:solidFill>
              </a:rPr>
              <a:t>Falso</a:t>
            </a:r>
            <a:r>
              <a:rPr lang="es-CO" altLang="es-CO" sz="2000" dirty="0"/>
              <a:t> y </a:t>
            </a:r>
            <a:r>
              <a:rPr lang="es-CO" altLang="es-CO" sz="2000" b="1" dirty="0">
                <a:solidFill>
                  <a:schemeClr val="accent2">
                    <a:lumMod val="75000"/>
                  </a:schemeClr>
                </a:solidFill>
              </a:rPr>
              <a:t>Verdadero</a:t>
            </a:r>
            <a:r>
              <a:rPr lang="es-CO" altLang="es-CO" sz="2000" dirty="0"/>
              <a:t>) poseen instrucciones asociadas.</a:t>
            </a:r>
            <a:endParaRPr lang="es-CO" sz="2000" dirty="0"/>
          </a:p>
        </p:txBody>
      </p:sp>
      <p:pic>
        <p:nvPicPr>
          <p:cNvPr id="1024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695" y="1988840"/>
            <a:ext cx="4743505" cy="29349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CuadroTexto 6">
            <a:extLst>
              <a:ext uri="{FF2B5EF4-FFF2-40B4-BE49-F238E27FC236}">
                <a16:creationId xmlns:a16="http://schemas.microsoft.com/office/drawing/2014/main" id="{ADCD1815-B299-412B-B0C7-515E157D83D8}"/>
              </a:ext>
            </a:extLst>
          </p:cNvPr>
          <p:cNvSpPr txBox="1"/>
          <p:nvPr/>
        </p:nvSpPr>
        <p:spPr>
          <a:xfrm>
            <a:off x="5220072" y="2268160"/>
            <a:ext cx="3742661" cy="1169551"/>
          </a:xfrm>
          <a:prstGeom prst="rect">
            <a:avLst/>
          </a:prstGeom>
          <a:noFill/>
          <a:ln>
            <a:solidFill>
              <a:schemeClr val="tx1"/>
            </a:solidFill>
          </a:ln>
        </p:spPr>
        <p:txBody>
          <a:bodyPr wrap="square">
            <a:spAutoFit/>
          </a:bodyPr>
          <a:lstStyle/>
          <a:p>
            <a:pPr indent="-57150"/>
            <a:r>
              <a:rPr lang="es-ES" sz="1400" dirty="0">
                <a:solidFill>
                  <a:schemeClr val="accent4"/>
                </a:solidFill>
                <a:latin typeface="Consolas" panose="020B0609020204030204" pitchFamily="49" charset="0"/>
              </a:rPr>
              <a:t>Si (</a:t>
            </a:r>
            <a:r>
              <a:rPr lang="es-ES" sz="1400" dirty="0">
                <a:solidFill>
                  <a:schemeClr val="accent6"/>
                </a:solidFill>
                <a:latin typeface="Consolas" panose="020B0609020204030204" pitchFamily="49" charset="0"/>
              </a:rPr>
              <a:t>condicion</a:t>
            </a:r>
            <a:r>
              <a:rPr lang="es-ES" sz="1400" dirty="0">
                <a:solidFill>
                  <a:schemeClr val="accent4"/>
                </a:solidFill>
                <a:latin typeface="Consolas" panose="020B0609020204030204" pitchFamily="49" charset="0"/>
              </a:rPr>
              <a:t>) Entonces</a:t>
            </a:r>
          </a:p>
          <a:p>
            <a:pPr indent="-57150"/>
            <a:r>
              <a:rPr lang="es-ES" sz="1400" dirty="0">
                <a:latin typeface="Consolas" panose="020B0609020204030204" pitchFamily="49" charset="0"/>
              </a:rPr>
              <a:t>  instrucciones condicion verdadera</a:t>
            </a:r>
          </a:p>
          <a:p>
            <a:pPr indent="-57150"/>
            <a:r>
              <a:rPr lang="es-ES" sz="1400" dirty="0">
                <a:solidFill>
                  <a:schemeClr val="accent4"/>
                </a:solidFill>
                <a:latin typeface="Consolas" panose="020B0609020204030204" pitchFamily="49" charset="0"/>
              </a:rPr>
              <a:t>Sino</a:t>
            </a:r>
          </a:p>
          <a:p>
            <a:pPr indent="-57150"/>
            <a:r>
              <a:rPr lang="es-ES" sz="1400" dirty="0">
                <a:solidFill>
                  <a:schemeClr val="accent5"/>
                </a:solidFill>
                <a:latin typeface="Consolas" panose="020B0609020204030204" pitchFamily="49" charset="0"/>
              </a:rPr>
              <a:t>  </a:t>
            </a:r>
            <a:r>
              <a:rPr lang="es-ES" sz="1400" dirty="0">
                <a:latin typeface="Consolas" panose="020B0609020204030204" pitchFamily="49" charset="0"/>
              </a:rPr>
              <a:t>instrucciones condición falsa</a:t>
            </a:r>
          </a:p>
          <a:p>
            <a:pPr indent="-57150"/>
            <a:r>
              <a:rPr lang="es-ES" sz="1400" dirty="0">
                <a:solidFill>
                  <a:schemeClr val="accent4"/>
                </a:solidFill>
                <a:latin typeface="Consolas" panose="020B0609020204030204" pitchFamily="49" charset="0"/>
              </a:rPr>
              <a:t>Fin_Si</a:t>
            </a:r>
            <a:endParaRPr lang="es-CO" sz="1400" dirty="0">
              <a:solidFill>
                <a:schemeClr val="accent4"/>
              </a:solidFill>
              <a:latin typeface="Consolas" panose="020B0609020204030204" pitchFamily="49" charset="0"/>
            </a:endParaRPr>
          </a:p>
        </p:txBody>
      </p:sp>
      <p:sp>
        <p:nvSpPr>
          <p:cNvPr id="8" name="CuadroTexto 7">
            <a:extLst>
              <a:ext uri="{FF2B5EF4-FFF2-40B4-BE49-F238E27FC236}">
                <a16:creationId xmlns:a16="http://schemas.microsoft.com/office/drawing/2014/main" id="{31EA861C-CD1C-4583-91F4-3A788EADC024}"/>
              </a:ext>
            </a:extLst>
          </p:cNvPr>
          <p:cNvSpPr txBox="1"/>
          <p:nvPr/>
        </p:nvSpPr>
        <p:spPr>
          <a:xfrm>
            <a:off x="5233717" y="4036875"/>
            <a:ext cx="3742661" cy="954107"/>
          </a:xfrm>
          <a:prstGeom prst="rect">
            <a:avLst/>
          </a:prstGeom>
          <a:noFill/>
          <a:ln>
            <a:solidFill>
              <a:schemeClr val="tx1"/>
            </a:solidFill>
          </a:ln>
        </p:spPr>
        <p:txBody>
          <a:bodyPr wrap="square">
            <a:spAutoFit/>
          </a:bodyPr>
          <a:lstStyle/>
          <a:p>
            <a:pPr indent="-57150"/>
            <a:r>
              <a:rPr lang="es-ES" sz="1400" dirty="0">
                <a:solidFill>
                  <a:schemeClr val="accent4"/>
                </a:solidFill>
                <a:latin typeface="Consolas" panose="020B0609020204030204" pitchFamily="49" charset="0"/>
              </a:rPr>
              <a:t>if (</a:t>
            </a:r>
            <a:r>
              <a:rPr lang="es-ES" sz="1400" dirty="0">
                <a:solidFill>
                  <a:schemeClr val="accent6"/>
                </a:solidFill>
                <a:latin typeface="Consolas" panose="020B0609020204030204" pitchFamily="49" charset="0"/>
              </a:rPr>
              <a:t>condicion</a:t>
            </a:r>
            <a:r>
              <a:rPr lang="es-ES" sz="1400" dirty="0">
                <a:solidFill>
                  <a:schemeClr val="accent4"/>
                </a:solidFill>
                <a:latin typeface="Consolas" panose="020B0609020204030204" pitchFamily="49" charset="0"/>
              </a:rPr>
              <a:t>):</a:t>
            </a:r>
          </a:p>
          <a:p>
            <a:pPr indent="-57150"/>
            <a:r>
              <a:rPr lang="es-ES" sz="1400" dirty="0">
                <a:latin typeface="Consolas" panose="020B0609020204030204" pitchFamily="49" charset="0"/>
              </a:rPr>
              <a:t>  instrucciones condicion verdadera</a:t>
            </a:r>
          </a:p>
          <a:p>
            <a:pPr indent="-57150"/>
            <a:r>
              <a:rPr lang="es-ES" sz="1400" dirty="0">
                <a:solidFill>
                  <a:schemeClr val="accent4"/>
                </a:solidFill>
                <a:latin typeface="Consolas" panose="020B0609020204030204" pitchFamily="49" charset="0"/>
              </a:rPr>
              <a:t>else:</a:t>
            </a:r>
          </a:p>
          <a:p>
            <a:pPr indent="-57150"/>
            <a:r>
              <a:rPr lang="es-ES" sz="1400" dirty="0">
                <a:solidFill>
                  <a:schemeClr val="accent5"/>
                </a:solidFill>
                <a:latin typeface="Consolas" panose="020B0609020204030204" pitchFamily="49" charset="0"/>
              </a:rPr>
              <a:t>  </a:t>
            </a:r>
            <a:r>
              <a:rPr lang="es-ES" sz="1400" dirty="0">
                <a:latin typeface="Consolas" panose="020B0609020204030204" pitchFamily="49" charset="0"/>
              </a:rPr>
              <a:t>instrucciones condición falsa</a:t>
            </a:r>
          </a:p>
        </p:txBody>
      </p:sp>
      <p:sp>
        <p:nvSpPr>
          <p:cNvPr id="9" name="CuadroTexto 8">
            <a:extLst>
              <a:ext uri="{FF2B5EF4-FFF2-40B4-BE49-F238E27FC236}">
                <a16:creationId xmlns:a16="http://schemas.microsoft.com/office/drawing/2014/main" id="{2CAD278B-B3C9-4233-A314-4192331BDF8A}"/>
              </a:ext>
            </a:extLst>
          </p:cNvPr>
          <p:cNvSpPr txBox="1"/>
          <p:nvPr/>
        </p:nvSpPr>
        <p:spPr>
          <a:xfrm>
            <a:off x="5625642" y="1770382"/>
            <a:ext cx="2424161" cy="400110"/>
          </a:xfrm>
          <a:prstGeom prst="rect">
            <a:avLst/>
          </a:prstGeom>
          <a:noFill/>
        </p:spPr>
        <p:txBody>
          <a:bodyPr wrap="square" rtlCol="0">
            <a:spAutoFit/>
          </a:bodyPr>
          <a:lstStyle/>
          <a:p>
            <a:pPr algn="ctr"/>
            <a:r>
              <a:rPr lang="es-CO" sz="2000" b="1" dirty="0"/>
              <a:t>Pseudocódigo</a:t>
            </a:r>
          </a:p>
        </p:txBody>
      </p:sp>
      <p:sp>
        <p:nvSpPr>
          <p:cNvPr id="10" name="CuadroTexto 9">
            <a:extLst>
              <a:ext uri="{FF2B5EF4-FFF2-40B4-BE49-F238E27FC236}">
                <a16:creationId xmlns:a16="http://schemas.microsoft.com/office/drawing/2014/main" id="{84C8790F-1E43-4459-99ED-5878BD3C40D4}"/>
              </a:ext>
            </a:extLst>
          </p:cNvPr>
          <p:cNvSpPr txBox="1"/>
          <p:nvPr/>
        </p:nvSpPr>
        <p:spPr>
          <a:xfrm>
            <a:off x="5660542" y="3612642"/>
            <a:ext cx="2424161" cy="400110"/>
          </a:xfrm>
          <a:prstGeom prst="rect">
            <a:avLst/>
          </a:prstGeom>
          <a:noFill/>
        </p:spPr>
        <p:txBody>
          <a:bodyPr wrap="square" rtlCol="0">
            <a:spAutoFit/>
          </a:bodyPr>
          <a:lstStyle/>
          <a:p>
            <a:pPr algn="ctr"/>
            <a:r>
              <a:rPr lang="es-CO" sz="2000" b="1" dirty="0"/>
              <a:t>Python</a:t>
            </a:r>
          </a:p>
        </p:txBody>
      </p:sp>
      <p:pic>
        <p:nvPicPr>
          <p:cNvPr id="11" name="Picture 4" descr="http://fc08.deviantart.net/fs46/f/2009/234/c/4/c49c0ed56535d564df12843469ecf56f.jpg">
            <a:extLst>
              <a:ext uri="{FF2B5EF4-FFF2-40B4-BE49-F238E27FC236}">
                <a16:creationId xmlns:a16="http://schemas.microsoft.com/office/drawing/2014/main" id="{F2646DE8-05CC-4E3C-AEA0-15FB072265E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7427" y="4437112"/>
            <a:ext cx="460643" cy="109283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http://images4.wikia.nocookie.net/__cb20111104190436/looneytunes/es/images/4/49/Gallo_Claudio.jpg">
            <a:extLst>
              <a:ext uri="{FF2B5EF4-FFF2-40B4-BE49-F238E27FC236}">
                <a16:creationId xmlns:a16="http://schemas.microsoft.com/office/drawing/2014/main" id="{B395B6A8-46AD-457F-BA38-D27F104C10C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06776" y="4437112"/>
            <a:ext cx="1081248" cy="1066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7633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63061" y="223755"/>
            <a:ext cx="8045354" cy="628407"/>
          </a:xfrm>
        </p:spPr>
        <p:txBody>
          <a:bodyPr>
            <a:normAutofit fontScale="90000"/>
          </a:bodyPr>
          <a:lstStyle/>
          <a:p>
            <a:r>
              <a:rPr lang="es-CO" dirty="0"/>
              <a:t>Alternativa múltiple – Mismo criterio</a:t>
            </a:r>
          </a:p>
        </p:txBody>
      </p:sp>
      <p:pic>
        <p:nvPicPr>
          <p:cNvPr id="12" name="Imagen 11">
            <a:extLst>
              <a:ext uri="{FF2B5EF4-FFF2-40B4-BE49-F238E27FC236}">
                <a16:creationId xmlns:a16="http://schemas.microsoft.com/office/drawing/2014/main" id="{C2661223-A77C-4546-A1DB-3499A28DCF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061" y="2051550"/>
            <a:ext cx="4808820" cy="3384263"/>
          </a:xfrm>
          <a:prstGeom prst="rect">
            <a:avLst/>
          </a:prstGeom>
        </p:spPr>
      </p:pic>
      <p:sp>
        <p:nvSpPr>
          <p:cNvPr id="7" name="CuadroTexto 6">
            <a:extLst>
              <a:ext uri="{FF2B5EF4-FFF2-40B4-BE49-F238E27FC236}">
                <a16:creationId xmlns:a16="http://schemas.microsoft.com/office/drawing/2014/main" id="{7EF0C72B-D8A1-4E3E-9FCD-98E4B022325B}"/>
              </a:ext>
            </a:extLst>
          </p:cNvPr>
          <p:cNvSpPr txBox="1"/>
          <p:nvPr/>
        </p:nvSpPr>
        <p:spPr>
          <a:xfrm>
            <a:off x="5220072" y="1691511"/>
            <a:ext cx="3699295" cy="4185761"/>
          </a:xfrm>
          <a:prstGeom prst="rect">
            <a:avLst/>
          </a:prstGeom>
          <a:noFill/>
          <a:ln>
            <a:solidFill>
              <a:schemeClr val="tx1"/>
            </a:solidFill>
          </a:ln>
        </p:spPr>
        <p:txBody>
          <a:bodyPr wrap="square">
            <a:spAutoFit/>
          </a:bodyPr>
          <a:lstStyle/>
          <a:p>
            <a:pPr indent="-57150"/>
            <a:r>
              <a:rPr lang="es-ES" sz="1400" dirty="0">
                <a:solidFill>
                  <a:schemeClr val="accent4"/>
                </a:solidFill>
                <a:latin typeface="Consolas" panose="020B0609020204030204" pitchFamily="49" charset="0"/>
              </a:rPr>
              <a:t>Si (</a:t>
            </a:r>
            <a:r>
              <a:rPr lang="es-ES" sz="1400" dirty="0">
                <a:solidFill>
                  <a:schemeClr val="accent6"/>
                </a:solidFill>
                <a:latin typeface="Consolas" panose="020B0609020204030204" pitchFamily="49" charset="0"/>
              </a:rPr>
              <a:t>condicion_1</a:t>
            </a:r>
            <a:r>
              <a:rPr lang="es-ES" sz="1400" dirty="0">
                <a:solidFill>
                  <a:schemeClr val="accent4"/>
                </a:solidFill>
                <a:latin typeface="Consolas" panose="020B0609020204030204" pitchFamily="49" charset="0"/>
              </a:rPr>
              <a:t>) Entonces</a:t>
            </a:r>
          </a:p>
          <a:p>
            <a:pPr indent="-57150"/>
            <a:r>
              <a:rPr lang="es-ES" sz="1400" dirty="0">
                <a:latin typeface="Consolas" panose="020B0609020204030204" pitchFamily="49" charset="0"/>
              </a:rPr>
              <a:t>  condicion_1 verdad</a:t>
            </a:r>
          </a:p>
          <a:p>
            <a:pPr indent="-57150"/>
            <a:r>
              <a:rPr lang="es-ES" sz="1400" dirty="0">
                <a:solidFill>
                  <a:schemeClr val="accent4"/>
                </a:solidFill>
                <a:latin typeface="Consolas" panose="020B0609020204030204" pitchFamily="49" charset="0"/>
              </a:rPr>
              <a:t>Sino</a:t>
            </a:r>
          </a:p>
          <a:p>
            <a:pPr indent="-57150"/>
            <a:r>
              <a:rPr lang="es-ES" sz="1400" dirty="0">
                <a:solidFill>
                  <a:schemeClr val="accent4"/>
                </a:solidFill>
                <a:latin typeface="Consolas" panose="020B0609020204030204" pitchFamily="49" charset="0"/>
              </a:rPr>
              <a:t>  Si (</a:t>
            </a:r>
            <a:r>
              <a:rPr lang="es-ES" sz="1400" dirty="0">
                <a:solidFill>
                  <a:schemeClr val="accent6"/>
                </a:solidFill>
                <a:latin typeface="Consolas" panose="020B0609020204030204" pitchFamily="49" charset="0"/>
              </a:rPr>
              <a:t>condicion_2</a:t>
            </a:r>
            <a:r>
              <a:rPr lang="es-ES" sz="1400" dirty="0">
                <a:solidFill>
                  <a:schemeClr val="accent4"/>
                </a:solidFill>
                <a:latin typeface="Consolas" panose="020B0609020204030204" pitchFamily="49" charset="0"/>
              </a:rPr>
              <a:t>) Entonces</a:t>
            </a:r>
          </a:p>
          <a:p>
            <a:pPr indent="-57150"/>
            <a:r>
              <a:rPr lang="es-ES" sz="1400" dirty="0">
                <a:latin typeface="Consolas" panose="020B0609020204030204" pitchFamily="49" charset="0"/>
              </a:rPr>
              <a:t>    condicion_2 verdad</a:t>
            </a:r>
          </a:p>
          <a:p>
            <a:pPr indent="-57150"/>
            <a:r>
              <a:rPr lang="es-ES" sz="1400" dirty="0">
                <a:solidFill>
                  <a:schemeClr val="accent4"/>
                </a:solidFill>
                <a:latin typeface="Consolas" panose="020B0609020204030204" pitchFamily="49" charset="0"/>
              </a:rPr>
              <a:t>  Sino</a:t>
            </a:r>
          </a:p>
          <a:p>
            <a:pPr indent="-57150"/>
            <a:r>
              <a:rPr lang="es-ES" sz="1400" dirty="0">
                <a:solidFill>
                  <a:schemeClr val="accent4"/>
                </a:solidFill>
                <a:latin typeface="Consolas" panose="020B0609020204030204" pitchFamily="49" charset="0"/>
              </a:rPr>
              <a:t>    Si (</a:t>
            </a:r>
            <a:r>
              <a:rPr lang="es-ES" sz="1400" dirty="0">
                <a:solidFill>
                  <a:schemeClr val="accent6"/>
                </a:solidFill>
                <a:latin typeface="Consolas" panose="020B0609020204030204" pitchFamily="49" charset="0"/>
              </a:rPr>
              <a:t>condicion_3</a:t>
            </a:r>
            <a:r>
              <a:rPr lang="es-ES" sz="1400" dirty="0">
                <a:solidFill>
                  <a:schemeClr val="accent4"/>
                </a:solidFill>
                <a:latin typeface="Consolas" panose="020B0609020204030204" pitchFamily="49" charset="0"/>
              </a:rPr>
              <a:t>) Entonces</a:t>
            </a:r>
          </a:p>
          <a:p>
            <a:pPr indent="-57150"/>
            <a:r>
              <a:rPr lang="es-ES" sz="1400" dirty="0">
                <a:latin typeface="Consolas" panose="020B0609020204030204" pitchFamily="49" charset="0"/>
              </a:rPr>
              <a:t>      condicion_3 verdad</a:t>
            </a:r>
          </a:p>
          <a:p>
            <a:pPr indent="-57150"/>
            <a:r>
              <a:rPr lang="es-ES" sz="1400" dirty="0">
                <a:solidFill>
                  <a:schemeClr val="accent4"/>
                </a:solidFill>
                <a:latin typeface="Consolas" panose="020B0609020204030204" pitchFamily="49" charset="0"/>
              </a:rPr>
              <a:t>    Sino</a:t>
            </a:r>
          </a:p>
          <a:p>
            <a:pPr indent="-57150"/>
            <a:r>
              <a:rPr lang="es-ES" sz="1400" dirty="0">
                <a:solidFill>
                  <a:schemeClr val="accent4"/>
                </a:solidFill>
                <a:latin typeface="Consolas" panose="020B0609020204030204" pitchFamily="49" charset="0"/>
              </a:rPr>
              <a:t>      ...</a:t>
            </a:r>
          </a:p>
          <a:p>
            <a:pPr indent="-57150"/>
            <a:r>
              <a:rPr lang="es-ES" sz="1400" dirty="0">
                <a:solidFill>
                  <a:schemeClr val="accent4"/>
                </a:solidFill>
                <a:latin typeface="Consolas" panose="020B0609020204030204" pitchFamily="49" charset="0"/>
              </a:rPr>
              <a:t>      Si (</a:t>
            </a:r>
            <a:r>
              <a:rPr lang="es-ES" sz="1400" dirty="0">
                <a:solidFill>
                  <a:schemeClr val="accent6"/>
                </a:solidFill>
                <a:latin typeface="Consolas" panose="020B0609020204030204" pitchFamily="49" charset="0"/>
              </a:rPr>
              <a:t>condicion_n</a:t>
            </a:r>
            <a:r>
              <a:rPr lang="es-ES" sz="1400" dirty="0">
                <a:solidFill>
                  <a:schemeClr val="accent4"/>
                </a:solidFill>
                <a:latin typeface="Consolas" panose="020B0609020204030204" pitchFamily="49" charset="0"/>
              </a:rPr>
              <a:t>) Entonces</a:t>
            </a:r>
          </a:p>
          <a:p>
            <a:pPr indent="-57150"/>
            <a:r>
              <a:rPr lang="es-ES" sz="1400" dirty="0">
                <a:latin typeface="Consolas" panose="020B0609020204030204" pitchFamily="49" charset="0"/>
              </a:rPr>
              <a:t>        condicion_n verdad</a:t>
            </a:r>
          </a:p>
          <a:p>
            <a:pPr indent="-57150"/>
            <a:r>
              <a:rPr lang="es-ES" sz="1400" dirty="0">
                <a:solidFill>
                  <a:schemeClr val="accent4"/>
                </a:solidFill>
                <a:latin typeface="Consolas" panose="020B0609020204030204" pitchFamily="49" charset="0"/>
              </a:rPr>
              <a:t>      Sino</a:t>
            </a:r>
          </a:p>
          <a:p>
            <a:pPr indent="-57150"/>
            <a:r>
              <a:rPr lang="es-ES" sz="1400" dirty="0">
                <a:latin typeface="Consolas" panose="020B0609020204030204" pitchFamily="49" charset="0"/>
              </a:rPr>
              <a:t>        condicion_n falso</a:t>
            </a:r>
          </a:p>
          <a:p>
            <a:pPr indent="-57150"/>
            <a:r>
              <a:rPr lang="es-ES" sz="1400" dirty="0">
                <a:solidFill>
                  <a:schemeClr val="accent4"/>
                </a:solidFill>
                <a:latin typeface="Consolas" panose="020B0609020204030204" pitchFamily="49" charset="0"/>
              </a:rPr>
              <a:t>      Fin_Si</a:t>
            </a:r>
          </a:p>
          <a:p>
            <a:pPr indent="-57150"/>
            <a:r>
              <a:rPr lang="es-ES" sz="1400" dirty="0">
                <a:solidFill>
                  <a:schemeClr val="accent4"/>
                </a:solidFill>
                <a:latin typeface="Consolas" panose="020B0609020204030204" pitchFamily="49" charset="0"/>
              </a:rPr>
              <a:t>      ...</a:t>
            </a:r>
            <a:endParaRPr lang="es-ES" sz="1400" dirty="0">
              <a:latin typeface="Consolas" panose="020B0609020204030204" pitchFamily="49" charset="0"/>
            </a:endParaRPr>
          </a:p>
          <a:p>
            <a:pPr indent="-57150"/>
            <a:r>
              <a:rPr lang="es-ES" sz="1400" dirty="0">
                <a:solidFill>
                  <a:schemeClr val="accent4"/>
                </a:solidFill>
                <a:latin typeface="Consolas" panose="020B0609020204030204" pitchFamily="49" charset="0"/>
              </a:rPr>
              <a:t>    Fin_Si </a:t>
            </a:r>
            <a:endParaRPr lang="es-ES" sz="1400" dirty="0">
              <a:latin typeface="Consolas" panose="020B0609020204030204" pitchFamily="49" charset="0"/>
            </a:endParaRPr>
          </a:p>
          <a:p>
            <a:pPr indent="-57150"/>
            <a:r>
              <a:rPr lang="es-ES" sz="1400" dirty="0">
                <a:solidFill>
                  <a:schemeClr val="accent4"/>
                </a:solidFill>
                <a:latin typeface="Consolas" panose="020B0609020204030204" pitchFamily="49" charset="0"/>
              </a:rPr>
              <a:t>  Fin_Si</a:t>
            </a:r>
            <a:endParaRPr lang="es-ES" sz="1400" dirty="0">
              <a:latin typeface="Consolas" panose="020B0609020204030204" pitchFamily="49" charset="0"/>
            </a:endParaRPr>
          </a:p>
          <a:p>
            <a:pPr indent="-57150"/>
            <a:r>
              <a:rPr lang="es-ES" sz="1400" dirty="0">
                <a:solidFill>
                  <a:schemeClr val="accent4"/>
                </a:solidFill>
                <a:latin typeface="Consolas" panose="020B0609020204030204" pitchFamily="49" charset="0"/>
              </a:rPr>
              <a:t>Fin_Si</a:t>
            </a:r>
            <a:endParaRPr lang="es-CO" sz="1400" dirty="0">
              <a:solidFill>
                <a:schemeClr val="accent4"/>
              </a:solidFill>
              <a:latin typeface="Consolas" panose="020B0609020204030204" pitchFamily="49" charset="0"/>
            </a:endParaRPr>
          </a:p>
        </p:txBody>
      </p:sp>
      <p:sp>
        <p:nvSpPr>
          <p:cNvPr id="8" name="CuadroTexto 7">
            <a:extLst>
              <a:ext uri="{FF2B5EF4-FFF2-40B4-BE49-F238E27FC236}">
                <a16:creationId xmlns:a16="http://schemas.microsoft.com/office/drawing/2014/main" id="{0CE8C173-7707-48F4-A17E-7B72328AD3B5}"/>
              </a:ext>
            </a:extLst>
          </p:cNvPr>
          <p:cNvSpPr txBox="1"/>
          <p:nvPr/>
        </p:nvSpPr>
        <p:spPr>
          <a:xfrm>
            <a:off x="5524870" y="1275972"/>
            <a:ext cx="2424161" cy="400110"/>
          </a:xfrm>
          <a:prstGeom prst="rect">
            <a:avLst/>
          </a:prstGeom>
          <a:noFill/>
        </p:spPr>
        <p:txBody>
          <a:bodyPr wrap="square" rtlCol="0">
            <a:spAutoFit/>
          </a:bodyPr>
          <a:lstStyle/>
          <a:p>
            <a:pPr algn="ctr"/>
            <a:r>
              <a:rPr lang="es-CO" sz="2000" b="1" dirty="0"/>
              <a:t>Pseudocódigo</a:t>
            </a:r>
          </a:p>
        </p:txBody>
      </p:sp>
      <p:sp>
        <p:nvSpPr>
          <p:cNvPr id="9" name="CuadroTexto 8">
            <a:extLst>
              <a:ext uri="{FF2B5EF4-FFF2-40B4-BE49-F238E27FC236}">
                <a16:creationId xmlns:a16="http://schemas.microsoft.com/office/drawing/2014/main" id="{9B118BBB-98AA-4C68-B5A2-15748A12FB6E}"/>
              </a:ext>
            </a:extLst>
          </p:cNvPr>
          <p:cNvSpPr txBox="1"/>
          <p:nvPr/>
        </p:nvSpPr>
        <p:spPr>
          <a:xfrm>
            <a:off x="1455390" y="1307307"/>
            <a:ext cx="2424161" cy="400110"/>
          </a:xfrm>
          <a:prstGeom prst="rect">
            <a:avLst/>
          </a:prstGeom>
          <a:noFill/>
        </p:spPr>
        <p:txBody>
          <a:bodyPr wrap="square" rtlCol="0">
            <a:spAutoFit/>
          </a:bodyPr>
          <a:lstStyle/>
          <a:p>
            <a:pPr algn="ctr"/>
            <a:r>
              <a:rPr lang="es-CO" sz="2000" b="1" dirty="0"/>
              <a:t>Diagrama de flujo</a:t>
            </a:r>
          </a:p>
        </p:txBody>
      </p:sp>
    </p:spTree>
    <p:extLst>
      <p:ext uri="{BB962C8B-B14F-4D97-AF65-F5344CB8AC3E}">
        <p14:creationId xmlns:p14="http://schemas.microsoft.com/office/powerpoint/2010/main" val="1157519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63061" y="223755"/>
            <a:ext cx="8045354" cy="628407"/>
          </a:xfrm>
        </p:spPr>
        <p:txBody>
          <a:bodyPr>
            <a:normAutofit fontScale="90000"/>
          </a:bodyPr>
          <a:lstStyle/>
          <a:p>
            <a:r>
              <a:rPr lang="es-CO" dirty="0"/>
              <a:t>Alternativa múltiple – Mismo criterio</a:t>
            </a:r>
          </a:p>
        </p:txBody>
      </p:sp>
      <p:pic>
        <p:nvPicPr>
          <p:cNvPr id="12" name="Imagen 11">
            <a:extLst>
              <a:ext uri="{FF2B5EF4-FFF2-40B4-BE49-F238E27FC236}">
                <a16:creationId xmlns:a16="http://schemas.microsoft.com/office/drawing/2014/main" id="{C2661223-A77C-4546-A1DB-3499A28DCF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635" y="2365757"/>
            <a:ext cx="4808820" cy="3384263"/>
          </a:xfrm>
          <a:prstGeom prst="rect">
            <a:avLst/>
          </a:prstGeom>
        </p:spPr>
      </p:pic>
      <p:sp>
        <p:nvSpPr>
          <p:cNvPr id="7" name="CuadroTexto 6">
            <a:extLst>
              <a:ext uri="{FF2B5EF4-FFF2-40B4-BE49-F238E27FC236}">
                <a16:creationId xmlns:a16="http://schemas.microsoft.com/office/drawing/2014/main" id="{7EF0C72B-D8A1-4E3E-9FCD-98E4B022325B}"/>
              </a:ext>
            </a:extLst>
          </p:cNvPr>
          <p:cNvSpPr txBox="1"/>
          <p:nvPr/>
        </p:nvSpPr>
        <p:spPr>
          <a:xfrm>
            <a:off x="5220070" y="1380233"/>
            <a:ext cx="3699295" cy="2677656"/>
          </a:xfrm>
          <a:prstGeom prst="rect">
            <a:avLst/>
          </a:prstGeom>
          <a:noFill/>
          <a:ln>
            <a:solidFill>
              <a:schemeClr val="tx1"/>
            </a:solidFill>
          </a:ln>
        </p:spPr>
        <p:txBody>
          <a:bodyPr wrap="square">
            <a:spAutoFit/>
          </a:bodyPr>
          <a:lstStyle/>
          <a:p>
            <a:pPr indent="-57150"/>
            <a:r>
              <a:rPr lang="es-ES" sz="1200" dirty="0" err="1">
                <a:solidFill>
                  <a:schemeClr val="accent4"/>
                </a:solidFill>
                <a:latin typeface="Consolas" panose="020B0609020204030204" pitchFamily="49" charset="0"/>
              </a:rPr>
              <a:t>if</a:t>
            </a:r>
            <a:r>
              <a:rPr lang="es-ES" sz="1200" dirty="0">
                <a:solidFill>
                  <a:schemeClr val="accent4"/>
                </a:solidFill>
                <a:latin typeface="Consolas" panose="020B0609020204030204" pitchFamily="49" charset="0"/>
              </a:rPr>
              <a:t> (</a:t>
            </a:r>
            <a:r>
              <a:rPr lang="es-ES" sz="1200" dirty="0">
                <a:solidFill>
                  <a:schemeClr val="accent6"/>
                </a:solidFill>
                <a:latin typeface="Consolas" panose="020B0609020204030204" pitchFamily="49" charset="0"/>
              </a:rPr>
              <a:t>condicion_1</a:t>
            </a:r>
            <a:r>
              <a:rPr lang="es-ES" sz="1200" dirty="0">
                <a:solidFill>
                  <a:schemeClr val="accent4"/>
                </a:solidFill>
                <a:latin typeface="Consolas" panose="020B0609020204030204" pitchFamily="49" charset="0"/>
              </a:rPr>
              <a:t>):</a:t>
            </a:r>
          </a:p>
          <a:p>
            <a:pPr indent="-57150"/>
            <a:r>
              <a:rPr lang="es-ES" sz="1200" dirty="0">
                <a:latin typeface="Consolas" panose="020B0609020204030204" pitchFamily="49" charset="0"/>
              </a:rPr>
              <a:t>  condicion_1 verdad</a:t>
            </a:r>
          </a:p>
          <a:p>
            <a:pPr indent="-57150"/>
            <a:r>
              <a:rPr lang="es-ES" sz="1200" dirty="0" err="1">
                <a:solidFill>
                  <a:schemeClr val="accent4"/>
                </a:solidFill>
                <a:latin typeface="Consolas" panose="020B0609020204030204" pitchFamily="49" charset="0"/>
              </a:rPr>
              <a:t>else</a:t>
            </a:r>
            <a:r>
              <a:rPr lang="es-ES" sz="1200" dirty="0">
                <a:solidFill>
                  <a:schemeClr val="accent4"/>
                </a:solidFill>
                <a:latin typeface="Consolas" panose="020B0609020204030204" pitchFamily="49" charset="0"/>
              </a:rPr>
              <a:t>:</a:t>
            </a:r>
          </a:p>
          <a:p>
            <a:pPr indent="-57150"/>
            <a:r>
              <a:rPr lang="es-ES" sz="1200" dirty="0">
                <a:solidFill>
                  <a:schemeClr val="accent4"/>
                </a:solidFill>
                <a:latin typeface="Consolas" panose="020B0609020204030204" pitchFamily="49" charset="0"/>
              </a:rPr>
              <a:t>  </a:t>
            </a:r>
            <a:r>
              <a:rPr lang="es-ES" sz="1200" dirty="0" err="1">
                <a:solidFill>
                  <a:schemeClr val="accent4"/>
                </a:solidFill>
                <a:latin typeface="Consolas" panose="020B0609020204030204" pitchFamily="49" charset="0"/>
              </a:rPr>
              <a:t>if</a:t>
            </a:r>
            <a:r>
              <a:rPr lang="es-ES" sz="1200" dirty="0">
                <a:solidFill>
                  <a:schemeClr val="accent4"/>
                </a:solidFill>
                <a:latin typeface="Consolas" panose="020B0609020204030204" pitchFamily="49" charset="0"/>
              </a:rPr>
              <a:t> (</a:t>
            </a:r>
            <a:r>
              <a:rPr lang="es-ES" sz="1200" dirty="0">
                <a:solidFill>
                  <a:schemeClr val="accent6"/>
                </a:solidFill>
                <a:latin typeface="Consolas" panose="020B0609020204030204" pitchFamily="49" charset="0"/>
              </a:rPr>
              <a:t>condicion_2</a:t>
            </a:r>
            <a:r>
              <a:rPr lang="es-ES" sz="1200" dirty="0">
                <a:solidFill>
                  <a:schemeClr val="accent4"/>
                </a:solidFill>
                <a:latin typeface="Consolas" panose="020B0609020204030204" pitchFamily="49" charset="0"/>
              </a:rPr>
              <a:t>):</a:t>
            </a:r>
          </a:p>
          <a:p>
            <a:pPr indent="-57150"/>
            <a:r>
              <a:rPr lang="es-ES" sz="1200" dirty="0">
                <a:latin typeface="Consolas" panose="020B0609020204030204" pitchFamily="49" charset="0"/>
              </a:rPr>
              <a:t>    condicion_2 verdad</a:t>
            </a:r>
          </a:p>
          <a:p>
            <a:pPr indent="-57150"/>
            <a:r>
              <a:rPr lang="es-ES" sz="1200" dirty="0">
                <a:solidFill>
                  <a:schemeClr val="accent4"/>
                </a:solidFill>
                <a:latin typeface="Consolas" panose="020B0609020204030204" pitchFamily="49" charset="0"/>
              </a:rPr>
              <a:t>  </a:t>
            </a:r>
            <a:r>
              <a:rPr lang="es-ES" sz="1200" dirty="0" err="1">
                <a:solidFill>
                  <a:schemeClr val="accent4"/>
                </a:solidFill>
                <a:latin typeface="Consolas" panose="020B0609020204030204" pitchFamily="49" charset="0"/>
              </a:rPr>
              <a:t>else</a:t>
            </a:r>
            <a:r>
              <a:rPr lang="es-ES" sz="1200" dirty="0">
                <a:solidFill>
                  <a:schemeClr val="accent4"/>
                </a:solidFill>
                <a:latin typeface="Consolas" panose="020B0609020204030204" pitchFamily="49" charset="0"/>
              </a:rPr>
              <a:t>:</a:t>
            </a:r>
          </a:p>
          <a:p>
            <a:pPr indent="-57150"/>
            <a:r>
              <a:rPr lang="es-ES" sz="1200" dirty="0">
                <a:solidFill>
                  <a:schemeClr val="accent4"/>
                </a:solidFill>
                <a:latin typeface="Consolas" panose="020B0609020204030204" pitchFamily="49" charset="0"/>
              </a:rPr>
              <a:t>    </a:t>
            </a:r>
            <a:r>
              <a:rPr lang="es-ES" sz="1200" dirty="0" err="1">
                <a:solidFill>
                  <a:schemeClr val="accent4"/>
                </a:solidFill>
                <a:latin typeface="Consolas" panose="020B0609020204030204" pitchFamily="49" charset="0"/>
              </a:rPr>
              <a:t>if</a:t>
            </a:r>
            <a:r>
              <a:rPr lang="es-ES" sz="1200" dirty="0">
                <a:solidFill>
                  <a:schemeClr val="accent4"/>
                </a:solidFill>
                <a:latin typeface="Consolas" panose="020B0609020204030204" pitchFamily="49" charset="0"/>
              </a:rPr>
              <a:t> (</a:t>
            </a:r>
            <a:r>
              <a:rPr lang="es-ES" sz="1200" dirty="0">
                <a:solidFill>
                  <a:schemeClr val="accent6"/>
                </a:solidFill>
                <a:latin typeface="Consolas" panose="020B0609020204030204" pitchFamily="49" charset="0"/>
              </a:rPr>
              <a:t>condicion_3</a:t>
            </a:r>
            <a:r>
              <a:rPr lang="es-ES" sz="1200" dirty="0">
                <a:solidFill>
                  <a:schemeClr val="accent4"/>
                </a:solidFill>
                <a:latin typeface="Consolas" panose="020B0609020204030204" pitchFamily="49" charset="0"/>
              </a:rPr>
              <a:t>):</a:t>
            </a:r>
          </a:p>
          <a:p>
            <a:pPr indent="-57150"/>
            <a:r>
              <a:rPr lang="es-ES" sz="1200" dirty="0">
                <a:latin typeface="Consolas" panose="020B0609020204030204" pitchFamily="49" charset="0"/>
              </a:rPr>
              <a:t>      condicion_3 verdad</a:t>
            </a:r>
          </a:p>
          <a:p>
            <a:pPr indent="-57150"/>
            <a:r>
              <a:rPr lang="es-ES" sz="1200" dirty="0">
                <a:solidFill>
                  <a:schemeClr val="accent4"/>
                </a:solidFill>
                <a:latin typeface="Consolas" panose="020B0609020204030204" pitchFamily="49" charset="0"/>
              </a:rPr>
              <a:t>    </a:t>
            </a:r>
            <a:r>
              <a:rPr lang="es-ES" sz="1200" dirty="0" err="1">
                <a:solidFill>
                  <a:schemeClr val="accent4"/>
                </a:solidFill>
                <a:latin typeface="Consolas" panose="020B0609020204030204" pitchFamily="49" charset="0"/>
              </a:rPr>
              <a:t>else</a:t>
            </a:r>
            <a:r>
              <a:rPr lang="es-ES" sz="1200" dirty="0">
                <a:solidFill>
                  <a:schemeClr val="accent4"/>
                </a:solidFill>
                <a:latin typeface="Consolas" panose="020B0609020204030204" pitchFamily="49" charset="0"/>
              </a:rPr>
              <a:t>:</a:t>
            </a:r>
          </a:p>
          <a:p>
            <a:pPr indent="-57150"/>
            <a:r>
              <a:rPr lang="es-ES" sz="1200" dirty="0">
                <a:solidFill>
                  <a:schemeClr val="accent4"/>
                </a:solidFill>
                <a:latin typeface="Consolas" panose="020B0609020204030204" pitchFamily="49" charset="0"/>
              </a:rPr>
              <a:t>      ...</a:t>
            </a:r>
          </a:p>
          <a:p>
            <a:pPr indent="-57150"/>
            <a:r>
              <a:rPr lang="es-ES" sz="1200" dirty="0">
                <a:solidFill>
                  <a:schemeClr val="accent4"/>
                </a:solidFill>
                <a:latin typeface="Consolas" panose="020B0609020204030204" pitchFamily="49" charset="0"/>
              </a:rPr>
              <a:t>      </a:t>
            </a:r>
            <a:r>
              <a:rPr lang="es-ES" sz="1200" dirty="0" err="1">
                <a:solidFill>
                  <a:schemeClr val="accent4"/>
                </a:solidFill>
                <a:latin typeface="Consolas" panose="020B0609020204030204" pitchFamily="49" charset="0"/>
              </a:rPr>
              <a:t>if</a:t>
            </a:r>
            <a:r>
              <a:rPr lang="es-ES" sz="1200" dirty="0">
                <a:solidFill>
                  <a:schemeClr val="accent4"/>
                </a:solidFill>
                <a:latin typeface="Consolas" panose="020B0609020204030204" pitchFamily="49" charset="0"/>
              </a:rPr>
              <a:t> (</a:t>
            </a:r>
            <a:r>
              <a:rPr lang="es-ES" sz="1200" dirty="0" err="1">
                <a:solidFill>
                  <a:schemeClr val="accent6"/>
                </a:solidFill>
                <a:latin typeface="Consolas" panose="020B0609020204030204" pitchFamily="49" charset="0"/>
              </a:rPr>
              <a:t>condicion_n</a:t>
            </a:r>
            <a:r>
              <a:rPr lang="es-ES" sz="1200" dirty="0">
                <a:solidFill>
                  <a:schemeClr val="accent4"/>
                </a:solidFill>
                <a:latin typeface="Consolas" panose="020B0609020204030204" pitchFamily="49" charset="0"/>
              </a:rPr>
              <a:t>):</a:t>
            </a:r>
          </a:p>
          <a:p>
            <a:pPr indent="-57150"/>
            <a:r>
              <a:rPr lang="es-ES" sz="1200" dirty="0">
                <a:latin typeface="Consolas" panose="020B0609020204030204" pitchFamily="49" charset="0"/>
              </a:rPr>
              <a:t>        condicion_n verdad</a:t>
            </a:r>
          </a:p>
          <a:p>
            <a:pPr indent="-57150"/>
            <a:r>
              <a:rPr lang="es-ES" sz="1200" dirty="0">
                <a:solidFill>
                  <a:schemeClr val="accent4"/>
                </a:solidFill>
                <a:latin typeface="Consolas" panose="020B0609020204030204" pitchFamily="49" charset="0"/>
              </a:rPr>
              <a:t>      </a:t>
            </a:r>
            <a:r>
              <a:rPr lang="es-ES" sz="1200" dirty="0" err="1">
                <a:solidFill>
                  <a:schemeClr val="accent4"/>
                </a:solidFill>
                <a:latin typeface="Consolas" panose="020B0609020204030204" pitchFamily="49" charset="0"/>
              </a:rPr>
              <a:t>else</a:t>
            </a:r>
            <a:r>
              <a:rPr lang="es-ES" sz="1200" dirty="0">
                <a:solidFill>
                  <a:schemeClr val="accent4"/>
                </a:solidFill>
                <a:latin typeface="Consolas" panose="020B0609020204030204" pitchFamily="49" charset="0"/>
              </a:rPr>
              <a:t>:</a:t>
            </a:r>
          </a:p>
          <a:p>
            <a:pPr indent="-57150"/>
            <a:r>
              <a:rPr lang="es-ES" sz="1200" dirty="0">
                <a:latin typeface="Consolas" panose="020B0609020204030204" pitchFamily="49" charset="0"/>
              </a:rPr>
              <a:t>        </a:t>
            </a:r>
            <a:r>
              <a:rPr lang="es-ES" sz="1200" dirty="0" err="1">
                <a:latin typeface="Consolas" panose="020B0609020204030204" pitchFamily="49" charset="0"/>
              </a:rPr>
              <a:t>condicion_n</a:t>
            </a:r>
            <a:r>
              <a:rPr lang="es-ES" sz="1200" dirty="0">
                <a:latin typeface="Consolas" panose="020B0609020204030204" pitchFamily="49" charset="0"/>
              </a:rPr>
              <a:t> falso</a:t>
            </a:r>
          </a:p>
        </p:txBody>
      </p:sp>
      <p:sp>
        <p:nvSpPr>
          <p:cNvPr id="8" name="CuadroTexto 7">
            <a:extLst>
              <a:ext uri="{FF2B5EF4-FFF2-40B4-BE49-F238E27FC236}">
                <a16:creationId xmlns:a16="http://schemas.microsoft.com/office/drawing/2014/main" id="{0CE8C173-7707-48F4-A17E-7B72328AD3B5}"/>
              </a:ext>
            </a:extLst>
          </p:cNvPr>
          <p:cNvSpPr txBox="1"/>
          <p:nvPr/>
        </p:nvSpPr>
        <p:spPr>
          <a:xfrm>
            <a:off x="5857638" y="852162"/>
            <a:ext cx="2424161" cy="400110"/>
          </a:xfrm>
          <a:prstGeom prst="rect">
            <a:avLst/>
          </a:prstGeom>
          <a:noFill/>
        </p:spPr>
        <p:txBody>
          <a:bodyPr wrap="square" rtlCol="0">
            <a:spAutoFit/>
          </a:bodyPr>
          <a:lstStyle/>
          <a:p>
            <a:pPr algn="ctr"/>
            <a:r>
              <a:rPr lang="es-CO" sz="2000" b="1" dirty="0"/>
              <a:t>python</a:t>
            </a:r>
          </a:p>
        </p:txBody>
      </p:sp>
      <p:sp>
        <p:nvSpPr>
          <p:cNvPr id="9" name="CuadroTexto 8">
            <a:extLst>
              <a:ext uri="{FF2B5EF4-FFF2-40B4-BE49-F238E27FC236}">
                <a16:creationId xmlns:a16="http://schemas.microsoft.com/office/drawing/2014/main" id="{9B118BBB-98AA-4C68-B5A2-15748A12FB6E}"/>
              </a:ext>
            </a:extLst>
          </p:cNvPr>
          <p:cNvSpPr txBox="1"/>
          <p:nvPr/>
        </p:nvSpPr>
        <p:spPr>
          <a:xfrm>
            <a:off x="1187624" y="1772816"/>
            <a:ext cx="2424161" cy="400110"/>
          </a:xfrm>
          <a:prstGeom prst="rect">
            <a:avLst/>
          </a:prstGeom>
          <a:noFill/>
        </p:spPr>
        <p:txBody>
          <a:bodyPr wrap="square" rtlCol="0">
            <a:spAutoFit/>
          </a:bodyPr>
          <a:lstStyle/>
          <a:p>
            <a:pPr algn="ctr"/>
            <a:r>
              <a:rPr lang="es-CO" sz="2000" b="1" dirty="0"/>
              <a:t>Diagrama de flujo</a:t>
            </a:r>
          </a:p>
        </p:txBody>
      </p:sp>
      <p:sp>
        <p:nvSpPr>
          <p:cNvPr id="10" name="CuadroTexto 9">
            <a:extLst>
              <a:ext uri="{FF2B5EF4-FFF2-40B4-BE49-F238E27FC236}">
                <a16:creationId xmlns:a16="http://schemas.microsoft.com/office/drawing/2014/main" id="{DB7763D3-EDA7-4736-A130-D3D6501B4BC6}"/>
              </a:ext>
            </a:extLst>
          </p:cNvPr>
          <p:cNvSpPr txBox="1"/>
          <p:nvPr/>
        </p:nvSpPr>
        <p:spPr>
          <a:xfrm>
            <a:off x="5249445" y="4415938"/>
            <a:ext cx="3699295" cy="2123658"/>
          </a:xfrm>
          <a:prstGeom prst="rect">
            <a:avLst/>
          </a:prstGeom>
          <a:noFill/>
          <a:ln>
            <a:solidFill>
              <a:schemeClr val="tx1"/>
            </a:solidFill>
          </a:ln>
        </p:spPr>
        <p:txBody>
          <a:bodyPr wrap="square">
            <a:spAutoFit/>
          </a:bodyPr>
          <a:lstStyle/>
          <a:p>
            <a:pPr indent="-57150"/>
            <a:r>
              <a:rPr lang="es-ES" sz="1200" dirty="0" err="1">
                <a:solidFill>
                  <a:schemeClr val="accent4"/>
                </a:solidFill>
                <a:latin typeface="Consolas" panose="020B0609020204030204" pitchFamily="49" charset="0"/>
              </a:rPr>
              <a:t>if</a:t>
            </a:r>
            <a:r>
              <a:rPr lang="es-ES" sz="1200" dirty="0">
                <a:solidFill>
                  <a:schemeClr val="accent4"/>
                </a:solidFill>
                <a:latin typeface="Consolas" panose="020B0609020204030204" pitchFamily="49" charset="0"/>
              </a:rPr>
              <a:t> (</a:t>
            </a:r>
            <a:r>
              <a:rPr lang="es-ES" sz="1200" dirty="0">
                <a:solidFill>
                  <a:schemeClr val="accent6"/>
                </a:solidFill>
                <a:latin typeface="Consolas" panose="020B0609020204030204" pitchFamily="49" charset="0"/>
              </a:rPr>
              <a:t>condicion_1</a:t>
            </a:r>
            <a:r>
              <a:rPr lang="es-ES" sz="1200" dirty="0">
                <a:solidFill>
                  <a:schemeClr val="accent4"/>
                </a:solidFill>
                <a:latin typeface="Consolas" panose="020B0609020204030204" pitchFamily="49" charset="0"/>
              </a:rPr>
              <a:t>):</a:t>
            </a:r>
          </a:p>
          <a:p>
            <a:pPr indent="-57150"/>
            <a:r>
              <a:rPr lang="es-ES" sz="1200" dirty="0">
                <a:latin typeface="Consolas" panose="020B0609020204030204" pitchFamily="49" charset="0"/>
              </a:rPr>
              <a:t>  condicion_1 verdad</a:t>
            </a:r>
          </a:p>
          <a:p>
            <a:pPr indent="-57150"/>
            <a:r>
              <a:rPr lang="es-ES" sz="1200" dirty="0" err="1">
                <a:solidFill>
                  <a:schemeClr val="accent4"/>
                </a:solidFill>
                <a:latin typeface="Consolas" panose="020B0609020204030204" pitchFamily="49" charset="0"/>
              </a:rPr>
              <a:t>elif</a:t>
            </a:r>
            <a:r>
              <a:rPr lang="es-ES" sz="1200" dirty="0">
                <a:solidFill>
                  <a:schemeClr val="accent4"/>
                </a:solidFill>
                <a:latin typeface="Consolas" panose="020B0609020204030204" pitchFamily="49" charset="0"/>
              </a:rPr>
              <a:t> (</a:t>
            </a:r>
            <a:r>
              <a:rPr lang="es-ES" sz="1200" dirty="0">
                <a:solidFill>
                  <a:schemeClr val="accent6"/>
                </a:solidFill>
                <a:latin typeface="Consolas" panose="020B0609020204030204" pitchFamily="49" charset="0"/>
              </a:rPr>
              <a:t>condicion_2</a:t>
            </a:r>
            <a:r>
              <a:rPr lang="es-ES" sz="1200" dirty="0">
                <a:solidFill>
                  <a:schemeClr val="accent4"/>
                </a:solidFill>
                <a:latin typeface="Consolas" panose="020B0609020204030204" pitchFamily="49" charset="0"/>
              </a:rPr>
              <a:t>):</a:t>
            </a:r>
          </a:p>
          <a:p>
            <a:pPr indent="-57150"/>
            <a:r>
              <a:rPr lang="es-ES" sz="1200" dirty="0">
                <a:latin typeface="Consolas" panose="020B0609020204030204" pitchFamily="49" charset="0"/>
              </a:rPr>
              <a:t>  condicion_2 verdad</a:t>
            </a:r>
          </a:p>
          <a:p>
            <a:pPr indent="-57150"/>
            <a:r>
              <a:rPr lang="es-ES" sz="1200" dirty="0" err="1">
                <a:solidFill>
                  <a:schemeClr val="accent4"/>
                </a:solidFill>
                <a:latin typeface="Consolas" panose="020B0609020204030204" pitchFamily="49" charset="0"/>
              </a:rPr>
              <a:t>elif</a:t>
            </a:r>
            <a:r>
              <a:rPr lang="es-ES" sz="1200" dirty="0">
                <a:solidFill>
                  <a:schemeClr val="accent4"/>
                </a:solidFill>
                <a:latin typeface="Consolas" panose="020B0609020204030204" pitchFamily="49" charset="0"/>
              </a:rPr>
              <a:t> (</a:t>
            </a:r>
            <a:r>
              <a:rPr lang="es-ES" sz="1200" dirty="0">
                <a:solidFill>
                  <a:schemeClr val="accent6"/>
                </a:solidFill>
                <a:latin typeface="Consolas" panose="020B0609020204030204" pitchFamily="49" charset="0"/>
              </a:rPr>
              <a:t>condicion_3</a:t>
            </a:r>
            <a:r>
              <a:rPr lang="es-ES" sz="1200" dirty="0">
                <a:solidFill>
                  <a:schemeClr val="accent4"/>
                </a:solidFill>
                <a:latin typeface="Consolas" panose="020B0609020204030204" pitchFamily="49" charset="0"/>
              </a:rPr>
              <a:t>):</a:t>
            </a:r>
          </a:p>
          <a:p>
            <a:pPr indent="-57150"/>
            <a:r>
              <a:rPr lang="es-ES" sz="1200" dirty="0">
                <a:latin typeface="Consolas" panose="020B0609020204030204" pitchFamily="49" charset="0"/>
              </a:rPr>
              <a:t>  condicion_3 verdad</a:t>
            </a:r>
          </a:p>
          <a:p>
            <a:pPr indent="-57150"/>
            <a:r>
              <a:rPr lang="es-ES" sz="1200" dirty="0">
                <a:solidFill>
                  <a:schemeClr val="accent4"/>
                </a:solidFill>
                <a:latin typeface="Consolas" panose="020B0609020204030204" pitchFamily="49" charset="0"/>
              </a:rPr>
              <a:t>  ...</a:t>
            </a:r>
          </a:p>
          <a:p>
            <a:pPr indent="-57150"/>
            <a:r>
              <a:rPr lang="es-ES" sz="1200" dirty="0" err="1">
                <a:solidFill>
                  <a:schemeClr val="accent4"/>
                </a:solidFill>
                <a:latin typeface="Consolas" panose="020B0609020204030204" pitchFamily="49" charset="0"/>
              </a:rPr>
              <a:t>elif</a:t>
            </a:r>
            <a:r>
              <a:rPr lang="es-ES" sz="1200" dirty="0">
                <a:solidFill>
                  <a:schemeClr val="accent4"/>
                </a:solidFill>
                <a:latin typeface="Consolas" panose="020B0609020204030204" pitchFamily="49" charset="0"/>
              </a:rPr>
              <a:t> (</a:t>
            </a:r>
            <a:r>
              <a:rPr lang="es-ES" sz="1200" dirty="0" err="1">
                <a:solidFill>
                  <a:schemeClr val="accent6"/>
                </a:solidFill>
                <a:latin typeface="Consolas" panose="020B0609020204030204" pitchFamily="49" charset="0"/>
              </a:rPr>
              <a:t>condicion_n</a:t>
            </a:r>
            <a:r>
              <a:rPr lang="es-ES" sz="1200" dirty="0">
                <a:solidFill>
                  <a:schemeClr val="accent4"/>
                </a:solidFill>
                <a:latin typeface="Consolas" panose="020B0609020204030204" pitchFamily="49" charset="0"/>
              </a:rPr>
              <a:t>):</a:t>
            </a:r>
          </a:p>
          <a:p>
            <a:pPr indent="-57150"/>
            <a:r>
              <a:rPr lang="es-ES" sz="1200" dirty="0">
                <a:latin typeface="Consolas" panose="020B0609020204030204" pitchFamily="49" charset="0"/>
              </a:rPr>
              <a:t>  </a:t>
            </a:r>
            <a:r>
              <a:rPr lang="es-ES" sz="1200" dirty="0" err="1">
                <a:latin typeface="Consolas" panose="020B0609020204030204" pitchFamily="49" charset="0"/>
              </a:rPr>
              <a:t>condicion_n</a:t>
            </a:r>
            <a:r>
              <a:rPr lang="es-ES" sz="1200" dirty="0">
                <a:latin typeface="Consolas" panose="020B0609020204030204" pitchFamily="49" charset="0"/>
              </a:rPr>
              <a:t> verdad</a:t>
            </a:r>
          </a:p>
          <a:p>
            <a:pPr indent="-57150"/>
            <a:r>
              <a:rPr lang="es-ES" sz="1200" dirty="0" err="1">
                <a:solidFill>
                  <a:schemeClr val="accent4"/>
                </a:solidFill>
                <a:latin typeface="Consolas" panose="020B0609020204030204" pitchFamily="49" charset="0"/>
              </a:rPr>
              <a:t>else</a:t>
            </a:r>
            <a:r>
              <a:rPr lang="es-ES" sz="1200" dirty="0">
                <a:solidFill>
                  <a:schemeClr val="accent4"/>
                </a:solidFill>
                <a:latin typeface="Consolas" panose="020B0609020204030204" pitchFamily="49" charset="0"/>
              </a:rPr>
              <a:t>:</a:t>
            </a:r>
          </a:p>
          <a:p>
            <a:pPr indent="-57150"/>
            <a:r>
              <a:rPr lang="es-ES" sz="1200" dirty="0">
                <a:latin typeface="Consolas" panose="020B0609020204030204" pitchFamily="49" charset="0"/>
              </a:rPr>
              <a:t>  </a:t>
            </a:r>
            <a:r>
              <a:rPr lang="es-ES" sz="1200" dirty="0" err="1">
                <a:latin typeface="Consolas" panose="020B0609020204030204" pitchFamily="49" charset="0"/>
              </a:rPr>
              <a:t>condicion_n</a:t>
            </a:r>
            <a:r>
              <a:rPr lang="es-ES" sz="1200" dirty="0">
                <a:latin typeface="Consolas" panose="020B0609020204030204" pitchFamily="49" charset="0"/>
              </a:rPr>
              <a:t> falso</a:t>
            </a:r>
          </a:p>
        </p:txBody>
      </p:sp>
    </p:spTree>
    <p:extLst>
      <p:ext uri="{BB962C8B-B14F-4D97-AF65-F5344CB8AC3E}">
        <p14:creationId xmlns:p14="http://schemas.microsoft.com/office/powerpoint/2010/main" val="16422051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63060" y="223755"/>
            <a:ext cx="8269379" cy="628407"/>
          </a:xfrm>
        </p:spPr>
        <p:txBody>
          <a:bodyPr>
            <a:normAutofit fontScale="90000"/>
          </a:bodyPr>
          <a:lstStyle/>
          <a:p>
            <a:r>
              <a:rPr lang="es-CO" dirty="0"/>
              <a:t>Alternativa múltiple – Diferente criterio</a:t>
            </a:r>
          </a:p>
        </p:txBody>
      </p:sp>
      <p:sp>
        <p:nvSpPr>
          <p:cNvPr id="7" name="CuadroTexto 6">
            <a:extLst>
              <a:ext uri="{FF2B5EF4-FFF2-40B4-BE49-F238E27FC236}">
                <a16:creationId xmlns:a16="http://schemas.microsoft.com/office/drawing/2014/main" id="{7EF0C72B-D8A1-4E3E-9FCD-98E4B022325B}"/>
              </a:ext>
            </a:extLst>
          </p:cNvPr>
          <p:cNvSpPr txBox="1"/>
          <p:nvPr/>
        </p:nvSpPr>
        <p:spPr>
          <a:xfrm>
            <a:off x="5215801" y="1556792"/>
            <a:ext cx="3699295" cy="2893100"/>
          </a:xfrm>
          <a:prstGeom prst="rect">
            <a:avLst/>
          </a:prstGeom>
          <a:noFill/>
          <a:ln>
            <a:solidFill>
              <a:schemeClr val="tx1"/>
            </a:solidFill>
          </a:ln>
        </p:spPr>
        <p:txBody>
          <a:bodyPr wrap="square">
            <a:spAutoFit/>
          </a:bodyPr>
          <a:lstStyle/>
          <a:p>
            <a:pPr indent="-57150"/>
            <a:r>
              <a:rPr lang="es-ES" sz="1400" dirty="0">
                <a:solidFill>
                  <a:schemeClr val="accent4"/>
                </a:solidFill>
                <a:latin typeface="Consolas" panose="020B0609020204030204" pitchFamily="49" charset="0"/>
              </a:rPr>
              <a:t>Si (</a:t>
            </a:r>
            <a:r>
              <a:rPr lang="es-ES" sz="1400" dirty="0">
                <a:solidFill>
                  <a:schemeClr val="accent6"/>
                </a:solidFill>
                <a:latin typeface="Consolas" panose="020B0609020204030204" pitchFamily="49" charset="0"/>
              </a:rPr>
              <a:t>condicion_1</a:t>
            </a:r>
            <a:r>
              <a:rPr lang="es-ES" sz="1400" dirty="0">
                <a:solidFill>
                  <a:schemeClr val="accent4"/>
                </a:solidFill>
                <a:latin typeface="Consolas" panose="020B0609020204030204" pitchFamily="49" charset="0"/>
              </a:rPr>
              <a:t>) Entonces</a:t>
            </a:r>
          </a:p>
          <a:p>
            <a:pPr indent="-57150"/>
            <a:r>
              <a:rPr lang="es-ES" sz="1400" dirty="0">
                <a:solidFill>
                  <a:schemeClr val="accent4"/>
                </a:solidFill>
                <a:latin typeface="Consolas" panose="020B0609020204030204" pitchFamily="49" charset="0"/>
              </a:rPr>
              <a:t>  Si (</a:t>
            </a:r>
            <a:r>
              <a:rPr lang="es-ES" sz="1400" dirty="0">
                <a:solidFill>
                  <a:schemeClr val="accent6"/>
                </a:solidFill>
                <a:latin typeface="Consolas" panose="020B0609020204030204" pitchFamily="49" charset="0"/>
              </a:rPr>
              <a:t>condicion_3</a:t>
            </a:r>
            <a:r>
              <a:rPr lang="es-ES" sz="1400" dirty="0">
                <a:solidFill>
                  <a:schemeClr val="accent4"/>
                </a:solidFill>
                <a:latin typeface="Consolas" panose="020B0609020204030204" pitchFamily="49" charset="0"/>
              </a:rPr>
              <a:t>) Entonces</a:t>
            </a:r>
          </a:p>
          <a:p>
            <a:pPr indent="-57150"/>
            <a:r>
              <a:rPr lang="es-ES" sz="1400" dirty="0">
                <a:latin typeface="Consolas" panose="020B0609020204030204" pitchFamily="49" charset="0"/>
              </a:rPr>
              <a:t>    condicion_3a verdad</a:t>
            </a:r>
          </a:p>
          <a:p>
            <a:pPr indent="-57150"/>
            <a:r>
              <a:rPr lang="es-ES" sz="1400" dirty="0">
                <a:solidFill>
                  <a:schemeClr val="accent4"/>
                </a:solidFill>
                <a:latin typeface="Consolas" panose="020B0609020204030204" pitchFamily="49" charset="0"/>
              </a:rPr>
              <a:t>  Sino</a:t>
            </a:r>
          </a:p>
          <a:p>
            <a:pPr indent="-57150"/>
            <a:r>
              <a:rPr lang="es-ES" sz="1400" dirty="0">
                <a:solidFill>
                  <a:schemeClr val="accent4"/>
                </a:solidFill>
                <a:latin typeface="Consolas" panose="020B0609020204030204" pitchFamily="49" charset="0"/>
              </a:rPr>
              <a:t>    </a:t>
            </a:r>
            <a:r>
              <a:rPr lang="es-ES" sz="1400" dirty="0">
                <a:latin typeface="Consolas" panose="020B0609020204030204" pitchFamily="49" charset="0"/>
              </a:rPr>
              <a:t>condicion_3b </a:t>
            </a:r>
          </a:p>
          <a:p>
            <a:pPr indent="-57150"/>
            <a:r>
              <a:rPr lang="es-ES" sz="1400" dirty="0">
                <a:solidFill>
                  <a:schemeClr val="accent4"/>
                </a:solidFill>
                <a:latin typeface="Consolas" panose="020B0609020204030204" pitchFamily="49" charset="0"/>
              </a:rPr>
              <a:t>  Fin_Si</a:t>
            </a:r>
            <a:endParaRPr lang="es-ES" sz="1400" dirty="0">
              <a:latin typeface="Consolas" panose="020B0609020204030204" pitchFamily="49" charset="0"/>
            </a:endParaRPr>
          </a:p>
          <a:p>
            <a:pPr indent="-57150"/>
            <a:r>
              <a:rPr lang="es-ES" sz="1400" dirty="0">
                <a:solidFill>
                  <a:schemeClr val="accent4"/>
                </a:solidFill>
                <a:latin typeface="Consolas" panose="020B0609020204030204" pitchFamily="49" charset="0"/>
              </a:rPr>
              <a:t>Sino</a:t>
            </a:r>
          </a:p>
          <a:p>
            <a:pPr indent="-57150"/>
            <a:r>
              <a:rPr lang="es-ES" sz="1400" dirty="0">
                <a:solidFill>
                  <a:schemeClr val="accent4"/>
                </a:solidFill>
                <a:latin typeface="Consolas" panose="020B0609020204030204" pitchFamily="49" charset="0"/>
              </a:rPr>
              <a:t>  Si (</a:t>
            </a:r>
            <a:r>
              <a:rPr lang="es-ES" sz="1400" dirty="0">
                <a:solidFill>
                  <a:schemeClr val="accent6"/>
                </a:solidFill>
                <a:latin typeface="Consolas" panose="020B0609020204030204" pitchFamily="49" charset="0"/>
              </a:rPr>
              <a:t>condicion_2</a:t>
            </a:r>
            <a:r>
              <a:rPr lang="es-ES" sz="1400" dirty="0">
                <a:solidFill>
                  <a:schemeClr val="accent4"/>
                </a:solidFill>
                <a:latin typeface="Consolas" panose="020B0609020204030204" pitchFamily="49" charset="0"/>
              </a:rPr>
              <a:t>) Entonces</a:t>
            </a:r>
          </a:p>
          <a:p>
            <a:pPr indent="-57150"/>
            <a:r>
              <a:rPr lang="es-ES" sz="1400" dirty="0">
                <a:latin typeface="Consolas" panose="020B0609020204030204" pitchFamily="49" charset="0"/>
              </a:rPr>
              <a:t>    condicion_2a</a:t>
            </a:r>
          </a:p>
          <a:p>
            <a:pPr indent="-57150"/>
            <a:r>
              <a:rPr lang="es-ES" sz="1400" dirty="0">
                <a:solidFill>
                  <a:schemeClr val="accent4"/>
                </a:solidFill>
                <a:latin typeface="Consolas" panose="020B0609020204030204" pitchFamily="49" charset="0"/>
              </a:rPr>
              <a:t>  Sino</a:t>
            </a:r>
          </a:p>
          <a:p>
            <a:pPr indent="-57150"/>
            <a:r>
              <a:rPr lang="es-ES" sz="1400" dirty="0">
                <a:solidFill>
                  <a:schemeClr val="accent4"/>
                </a:solidFill>
                <a:latin typeface="Consolas" panose="020B0609020204030204" pitchFamily="49" charset="0"/>
              </a:rPr>
              <a:t>    </a:t>
            </a:r>
            <a:r>
              <a:rPr lang="es-ES" sz="1400" dirty="0">
                <a:latin typeface="Consolas" panose="020B0609020204030204" pitchFamily="49" charset="0"/>
              </a:rPr>
              <a:t>condicion_2b</a:t>
            </a:r>
            <a:endParaRPr lang="es-ES" sz="1400" dirty="0">
              <a:solidFill>
                <a:schemeClr val="accent4"/>
              </a:solidFill>
              <a:latin typeface="Consolas" panose="020B0609020204030204" pitchFamily="49" charset="0"/>
            </a:endParaRPr>
          </a:p>
          <a:p>
            <a:pPr indent="-57150"/>
            <a:r>
              <a:rPr lang="es-ES" sz="1400" dirty="0">
                <a:solidFill>
                  <a:schemeClr val="accent4"/>
                </a:solidFill>
                <a:latin typeface="Consolas" panose="020B0609020204030204" pitchFamily="49" charset="0"/>
              </a:rPr>
              <a:t>  Fin_Si</a:t>
            </a:r>
            <a:endParaRPr lang="es-ES" sz="1400" dirty="0">
              <a:latin typeface="Consolas" panose="020B0609020204030204" pitchFamily="49" charset="0"/>
            </a:endParaRPr>
          </a:p>
          <a:p>
            <a:pPr indent="-57150"/>
            <a:r>
              <a:rPr lang="es-ES" sz="1400" dirty="0">
                <a:solidFill>
                  <a:schemeClr val="accent4"/>
                </a:solidFill>
                <a:latin typeface="Consolas" panose="020B0609020204030204" pitchFamily="49" charset="0"/>
              </a:rPr>
              <a:t>Fin_Si</a:t>
            </a:r>
            <a:endParaRPr lang="es-CO" sz="1400" dirty="0">
              <a:solidFill>
                <a:schemeClr val="accent4"/>
              </a:solidFill>
              <a:latin typeface="Consolas" panose="020B0609020204030204" pitchFamily="49" charset="0"/>
            </a:endParaRPr>
          </a:p>
        </p:txBody>
      </p:sp>
      <p:sp>
        <p:nvSpPr>
          <p:cNvPr id="8" name="CuadroTexto 7">
            <a:extLst>
              <a:ext uri="{FF2B5EF4-FFF2-40B4-BE49-F238E27FC236}">
                <a16:creationId xmlns:a16="http://schemas.microsoft.com/office/drawing/2014/main" id="{0CE8C173-7707-48F4-A17E-7B72328AD3B5}"/>
              </a:ext>
            </a:extLst>
          </p:cNvPr>
          <p:cNvSpPr txBox="1"/>
          <p:nvPr/>
        </p:nvSpPr>
        <p:spPr>
          <a:xfrm>
            <a:off x="5520599" y="1141253"/>
            <a:ext cx="2424161" cy="400110"/>
          </a:xfrm>
          <a:prstGeom prst="rect">
            <a:avLst/>
          </a:prstGeom>
          <a:noFill/>
        </p:spPr>
        <p:txBody>
          <a:bodyPr wrap="square" rtlCol="0">
            <a:spAutoFit/>
          </a:bodyPr>
          <a:lstStyle/>
          <a:p>
            <a:pPr algn="ctr"/>
            <a:r>
              <a:rPr lang="es-CO" sz="2000" b="1" dirty="0"/>
              <a:t>Pseudocódigo</a:t>
            </a:r>
          </a:p>
        </p:txBody>
      </p:sp>
      <p:sp>
        <p:nvSpPr>
          <p:cNvPr id="9" name="CuadroTexto 8">
            <a:extLst>
              <a:ext uri="{FF2B5EF4-FFF2-40B4-BE49-F238E27FC236}">
                <a16:creationId xmlns:a16="http://schemas.microsoft.com/office/drawing/2014/main" id="{9B118BBB-98AA-4C68-B5A2-15748A12FB6E}"/>
              </a:ext>
            </a:extLst>
          </p:cNvPr>
          <p:cNvSpPr txBox="1"/>
          <p:nvPr/>
        </p:nvSpPr>
        <p:spPr>
          <a:xfrm>
            <a:off x="1451119" y="1172588"/>
            <a:ext cx="2424161" cy="400110"/>
          </a:xfrm>
          <a:prstGeom prst="rect">
            <a:avLst/>
          </a:prstGeom>
          <a:noFill/>
        </p:spPr>
        <p:txBody>
          <a:bodyPr wrap="square" rtlCol="0">
            <a:spAutoFit/>
          </a:bodyPr>
          <a:lstStyle/>
          <a:p>
            <a:pPr algn="ctr"/>
            <a:r>
              <a:rPr lang="es-CO" sz="2000" b="1" dirty="0"/>
              <a:t>Diagrama de flujo</a:t>
            </a:r>
          </a:p>
        </p:txBody>
      </p:sp>
      <p:pic>
        <p:nvPicPr>
          <p:cNvPr id="10" name="Picture 3">
            <a:extLst>
              <a:ext uri="{FF2B5EF4-FFF2-40B4-BE49-F238E27FC236}">
                <a16:creationId xmlns:a16="http://schemas.microsoft.com/office/drawing/2014/main" id="{C047F0E5-EEF4-45FC-B86C-DAD924B135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613" y="1736086"/>
            <a:ext cx="4741172" cy="29062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08393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63060" y="223755"/>
            <a:ext cx="8269379" cy="628407"/>
          </a:xfrm>
        </p:spPr>
        <p:txBody>
          <a:bodyPr>
            <a:normAutofit fontScale="90000"/>
          </a:bodyPr>
          <a:lstStyle/>
          <a:p>
            <a:r>
              <a:rPr lang="es-CO" dirty="0"/>
              <a:t>Alternativa múltiple – Diferente criterio</a:t>
            </a:r>
          </a:p>
        </p:txBody>
      </p:sp>
      <p:sp>
        <p:nvSpPr>
          <p:cNvPr id="7" name="CuadroTexto 6">
            <a:extLst>
              <a:ext uri="{FF2B5EF4-FFF2-40B4-BE49-F238E27FC236}">
                <a16:creationId xmlns:a16="http://schemas.microsoft.com/office/drawing/2014/main" id="{7EF0C72B-D8A1-4E3E-9FCD-98E4B022325B}"/>
              </a:ext>
            </a:extLst>
          </p:cNvPr>
          <p:cNvSpPr txBox="1"/>
          <p:nvPr/>
        </p:nvSpPr>
        <p:spPr>
          <a:xfrm>
            <a:off x="5152092" y="2780928"/>
            <a:ext cx="3699295" cy="2246769"/>
          </a:xfrm>
          <a:prstGeom prst="rect">
            <a:avLst/>
          </a:prstGeom>
          <a:noFill/>
          <a:ln>
            <a:solidFill>
              <a:schemeClr val="tx1"/>
            </a:solidFill>
          </a:ln>
        </p:spPr>
        <p:txBody>
          <a:bodyPr wrap="square">
            <a:spAutoFit/>
          </a:bodyPr>
          <a:lstStyle/>
          <a:p>
            <a:pPr indent="-57150"/>
            <a:r>
              <a:rPr lang="es-ES" sz="1400" dirty="0" err="1">
                <a:solidFill>
                  <a:schemeClr val="accent4"/>
                </a:solidFill>
                <a:latin typeface="Consolas" panose="020B0609020204030204" pitchFamily="49" charset="0"/>
              </a:rPr>
              <a:t>if</a:t>
            </a:r>
            <a:r>
              <a:rPr lang="es-ES" sz="1400" dirty="0">
                <a:solidFill>
                  <a:schemeClr val="accent4"/>
                </a:solidFill>
                <a:latin typeface="Consolas" panose="020B0609020204030204" pitchFamily="49" charset="0"/>
              </a:rPr>
              <a:t> (</a:t>
            </a:r>
            <a:r>
              <a:rPr lang="es-ES" sz="1400" dirty="0">
                <a:solidFill>
                  <a:schemeClr val="accent6"/>
                </a:solidFill>
                <a:latin typeface="Consolas" panose="020B0609020204030204" pitchFamily="49" charset="0"/>
              </a:rPr>
              <a:t>condicion_1</a:t>
            </a:r>
            <a:r>
              <a:rPr lang="es-ES" sz="1400" dirty="0">
                <a:solidFill>
                  <a:schemeClr val="accent4"/>
                </a:solidFill>
                <a:latin typeface="Consolas" panose="020B0609020204030204" pitchFamily="49" charset="0"/>
              </a:rPr>
              <a:t>):</a:t>
            </a:r>
          </a:p>
          <a:p>
            <a:pPr indent="-57150"/>
            <a:r>
              <a:rPr lang="es-ES" sz="1400" dirty="0">
                <a:solidFill>
                  <a:schemeClr val="accent4"/>
                </a:solidFill>
                <a:latin typeface="Consolas" panose="020B0609020204030204" pitchFamily="49" charset="0"/>
              </a:rPr>
              <a:t>  </a:t>
            </a:r>
            <a:r>
              <a:rPr lang="es-ES" sz="1400" dirty="0" err="1">
                <a:solidFill>
                  <a:schemeClr val="accent4"/>
                </a:solidFill>
                <a:latin typeface="Consolas" panose="020B0609020204030204" pitchFamily="49" charset="0"/>
              </a:rPr>
              <a:t>if</a:t>
            </a:r>
            <a:r>
              <a:rPr lang="es-ES" sz="1400" dirty="0">
                <a:solidFill>
                  <a:schemeClr val="accent4"/>
                </a:solidFill>
                <a:latin typeface="Consolas" panose="020B0609020204030204" pitchFamily="49" charset="0"/>
              </a:rPr>
              <a:t> (</a:t>
            </a:r>
            <a:r>
              <a:rPr lang="es-ES" sz="1400" dirty="0">
                <a:solidFill>
                  <a:schemeClr val="accent6"/>
                </a:solidFill>
                <a:latin typeface="Consolas" panose="020B0609020204030204" pitchFamily="49" charset="0"/>
              </a:rPr>
              <a:t>condicion_3</a:t>
            </a:r>
            <a:r>
              <a:rPr lang="es-ES" sz="1400" dirty="0">
                <a:solidFill>
                  <a:schemeClr val="accent4"/>
                </a:solidFill>
                <a:latin typeface="Consolas" panose="020B0609020204030204" pitchFamily="49" charset="0"/>
              </a:rPr>
              <a:t>):</a:t>
            </a:r>
          </a:p>
          <a:p>
            <a:pPr indent="-57150"/>
            <a:r>
              <a:rPr lang="es-ES" sz="1400" dirty="0">
                <a:latin typeface="Consolas" panose="020B0609020204030204" pitchFamily="49" charset="0"/>
              </a:rPr>
              <a:t>    condicion_3a verdad</a:t>
            </a:r>
          </a:p>
          <a:p>
            <a:pPr indent="-57150"/>
            <a:r>
              <a:rPr lang="es-ES" sz="1400" dirty="0">
                <a:solidFill>
                  <a:schemeClr val="accent4"/>
                </a:solidFill>
                <a:latin typeface="Consolas" panose="020B0609020204030204" pitchFamily="49" charset="0"/>
              </a:rPr>
              <a:t>  </a:t>
            </a:r>
            <a:r>
              <a:rPr lang="es-ES" sz="1400" dirty="0" err="1">
                <a:solidFill>
                  <a:schemeClr val="accent4"/>
                </a:solidFill>
                <a:latin typeface="Consolas" panose="020B0609020204030204" pitchFamily="49" charset="0"/>
              </a:rPr>
              <a:t>else</a:t>
            </a:r>
            <a:r>
              <a:rPr lang="es-ES" sz="1400" dirty="0">
                <a:solidFill>
                  <a:schemeClr val="accent4"/>
                </a:solidFill>
                <a:latin typeface="Consolas" panose="020B0609020204030204" pitchFamily="49" charset="0"/>
              </a:rPr>
              <a:t>:</a:t>
            </a:r>
          </a:p>
          <a:p>
            <a:pPr indent="-57150"/>
            <a:r>
              <a:rPr lang="es-ES" sz="1400" dirty="0">
                <a:solidFill>
                  <a:schemeClr val="accent4"/>
                </a:solidFill>
                <a:latin typeface="Consolas" panose="020B0609020204030204" pitchFamily="49" charset="0"/>
              </a:rPr>
              <a:t>    </a:t>
            </a:r>
            <a:r>
              <a:rPr lang="es-ES" sz="1400" dirty="0">
                <a:latin typeface="Consolas" panose="020B0609020204030204" pitchFamily="49" charset="0"/>
              </a:rPr>
              <a:t>condicion_3b </a:t>
            </a:r>
          </a:p>
          <a:p>
            <a:pPr indent="-57150"/>
            <a:r>
              <a:rPr lang="es-ES" sz="1400" dirty="0" err="1">
                <a:solidFill>
                  <a:schemeClr val="accent4"/>
                </a:solidFill>
                <a:latin typeface="Consolas" panose="020B0609020204030204" pitchFamily="49" charset="0"/>
              </a:rPr>
              <a:t>else</a:t>
            </a:r>
            <a:r>
              <a:rPr lang="es-ES" sz="1400" dirty="0">
                <a:solidFill>
                  <a:schemeClr val="accent4"/>
                </a:solidFill>
                <a:latin typeface="Consolas" panose="020B0609020204030204" pitchFamily="49" charset="0"/>
              </a:rPr>
              <a:t>:</a:t>
            </a:r>
          </a:p>
          <a:p>
            <a:pPr indent="-57150"/>
            <a:r>
              <a:rPr lang="es-ES" sz="1400" dirty="0">
                <a:solidFill>
                  <a:schemeClr val="accent4"/>
                </a:solidFill>
                <a:latin typeface="Consolas" panose="020B0609020204030204" pitchFamily="49" charset="0"/>
              </a:rPr>
              <a:t>  </a:t>
            </a:r>
            <a:r>
              <a:rPr lang="es-ES" sz="1400" dirty="0" err="1">
                <a:solidFill>
                  <a:schemeClr val="accent4"/>
                </a:solidFill>
                <a:latin typeface="Consolas" panose="020B0609020204030204" pitchFamily="49" charset="0"/>
              </a:rPr>
              <a:t>if</a:t>
            </a:r>
            <a:r>
              <a:rPr lang="es-ES" sz="1400" dirty="0">
                <a:solidFill>
                  <a:schemeClr val="accent4"/>
                </a:solidFill>
                <a:latin typeface="Consolas" panose="020B0609020204030204" pitchFamily="49" charset="0"/>
              </a:rPr>
              <a:t> (</a:t>
            </a:r>
            <a:r>
              <a:rPr lang="es-ES" sz="1400" dirty="0">
                <a:solidFill>
                  <a:schemeClr val="accent6"/>
                </a:solidFill>
                <a:latin typeface="Consolas" panose="020B0609020204030204" pitchFamily="49" charset="0"/>
              </a:rPr>
              <a:t>condicion_2</a:t>
            </a:r>
            <a:r>
              <a:rPr lang="es-ES" sz="1400" dirty="0">
                <a:solidFill>
                  <a:schemeClr val="accent4"/>
                </a:solidFill>
                <a:latin typeface="Consolas" panose="020B0609020204030204" pitchFamily="49" charset="0"/>
              </a:rPr>
              <a:t>):</a:t>
            </a:r>
          </a:p>
          <a:p>
            <a:pPr indent="-57150"/>
            <a:r>
              <a:rPr lang="es-ES" sz="1400" dirty="0">
                <a:latin typeface="Consolas" panose="020B0609020204030204" pitchFamily="49" charset="0"/>
              </a:rPr>
              <a:t>    condicion_2a</a:t>
            </a:r>
          </a:p>
          <a:p>
            <a:pPr indent="-57150"/>
            <a:r>
              <a:rPr lang="es-ES" sz="1400" dirty="0">
                <a:solidFill>
                  <a:schemeClr val="accent4"/>
                </a:solidFill>
                <a:latin typeface="Consolas" panose="020B0609020204030204" pitchFamily="49" charset="0"/>
              </a:rPr>
              <a:t>  </a:t>
            </a:r>
            <a:r>
              <a:rPr lang="es-ES" sz="1400" dirty="0" err="1">
                <a:solidFill>
                  <a:schemeClr val="accent4"/>
                </a:solidFill>
                <a:latin typeface="Consolas" panose="020B0609020204030204" pitchFamily="49" charset="0"/>
              </a:rPr>
              <a:t>else</a:t>
            </a:r>
            <a:r>
              <a:rPr lang="es-ES" sz="1400" dirty="0">
                <a:solidFill>
                  <a:schemeClr val="accent4"/>
                </a:solidFill>
                <a:latin typeface="Consolas" panose="020B0609020204030204" pitchFamily="49" charset="0"/>
              </a:rPr>
              <a:t>:</a:t>
            </a:r>
          </a:p>
          <a:p>
            <a:pPr indent="-57150"/>
            <a:r>
              <a:rPr lang="es-ES" sz="1400" dirty="0">
                <a:solidFill>
                  <a:schemeClr val="accent4"/>
                </a:solidFill>
                <a:latin typeface="Consolas" panose="020B0609020204030204" pitchFamily="49" charset="0"/>
              </a:rPr>
              <a:t>    </a:t>
            </a:r>
            <a:r>
              <a:rPr lang="es-ES" sz="1400" dirty="0">
                <a:latin typeface="Consolas" panose="020B0609020204030204" pitchFamily="49" charset="0"/>
              </a:rPr>
              <a:t>condicion_2b</a:t>
            </a:r>
            <a:endParaRPr lang="es-ES" sz="1400" dirty="0">
              <a:solidFill>
                <a:schemeClr val="accent4"/>
              </a:solidFill>
              <a:latin typeface="Consolas" panose="020B0609020204030204" pitchFamily="49" charset="0"/>
            </a:endParaRPr>
          </a:p>
        </p:txBody>
      </p:sp>
      <p:sp>
        <p:nvSpPr>
          <p:cNvPr id="8" name="CuadroTexto 7">
            <a:extLst>
              <a:ext uri="{FF2B5EF4-FFF2-40B4-BE49-F238E27FC236}">
                <a16:creationId xmlns:a16="http://schemas.microsoft.com/office/drawing/2014/main" id="{0CE8C173-7707-48F4-A17E-7B72328AD3B5}"/>
              </a:ext>
            </a:extLst>
          </p:cNvPr>
          <p:cNvSpPr txBox="1"/>
          <p:nvPr/>
        </p:nvSpPr>
        <p:spPr>
          <a:xfrm>
            <a:off x="5789658" y="2137231"/>
            <a:ext cx="2424161" cy="400110"/>
          </a:xfrm>
          <a:prstGeom prst="rect">
            <a:avLst/>
          </a:prstGeom>
          <a:noFill/>
        </p:spPr>
        <p:txBody>
          <a:bodyPr wrap="square" rtlCol="0">
            <a:spAutoFit/>
          </a:bodyPr>
          <a:lstStyle/>
          <a:p>
            <a:pPr algn="ctr"/>
            <a:r>
              <a:rPr lang="es-CO" sz="2000" b="1" dirty="0"/>
              <a:t>Python</a:t>
            </a:r>
          </a:p>
        </p:txBody>
      </p:sp>
      <p:sp>
        <p:nvSpPr>
          <p:cNvPr id="9" name="CuadroTexto 8">
            <a:extLst>
              <a:ext uri="{FF2B5EF4-FFF2-40B4-BE49-F238E27FC236}">
                <a16:creationId xmlns:a16="http://schemas.microsoft.com/office/drawing/2014/main" id="{9B118BBB-98AA-4C68-B5A2-15748A12FB6E}"/>
              </a:ext>
            </a:extLst>
          </p:cNvPr>
          <p:cNvSpPr txBox="1"/>
          <p:nvPr/>
        </p:nvSpPr>
        <p:spPr>
          <a:xfrm>
            <a:off x="1619672" y="2137231"/>
            <a:ext cx="2424161" cy="400110"/>
          </a:xfrm>
          <a:prstGeom prst="rect">
            <a:avLst/>
          </a:prstGeom>
          <a:noFill/>
        </p:spPr>
        <p:txBody>
          <a:bodyPr wrap="square" rtlCol="0">
            <a:spAutoFit/>
          </a:bodyPr>
          <a:lstStyle/>
          <a:p>
            <a:pPr algn="ctr"/>
            <a:r>
              <a:rPr lang="es-CO" sz="2000" b="1" dirty="0"/>
              <a:t>Diagrama de flujo</a:t>
            </a:r>
          </a:p>
        </p:txBody>
      </p:sp>
      <p:pic>
        <p:nvPicPr>
          <p:cNvPr id="10" name="Picture 3">
            <a:extLst>
              <a:ext uri="{FF2B5EF4-FFF2-40B4-BE49-F238E27FC236}">
                <a16:creationId xmlns:a16="http://schemas.microsoft.com/office/drawing/2014/main" id="{C047F0E5-EEF4-45FC-B86C-DAD924B135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613" y="2564904"/>
            <a:ext cx="4741172" cy="29062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24125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309845" y="552481"/>
            <a:ext cx="7934563" cy="549746"/>
          </a:xfrm>
        </p:spPr>
        <p:txBody>
          <a:bodyPr>
            <a:normAutofit fontScale="90000"/>
          </a:bodyPr>
          <a:lstStyle/>
          <a:p>
            <a:r>
              <a:rPr lang="es-CO" dirty="0"/>
              <a:t>Ciclos</a:t>
            </a:r>
          </a:p>
        </p:txBody>
      </p:sp>
      <p:pic>
        <p:nvPicPr>
          <p:cNvPr id="13" name="Picture 2" descr="http://bartsblackboard.com/files/2010/04/the.simpsons.s20e21.jpg">
            <a:extLst>
              <a:ext uri="{FF2B5EF4-FFF2-40B4-BE49-F238E27FC236}">
                <a16:creationId xmlns:a16="http://schemas.microsoft.com/office/drawing/2014/main" id="{5036F255-FF37-4792-9665-9EE71CC726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484784"/>
            <a:ext cx="3960440" cy="2234095"/>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5F40F0EB-21B8-4DD2-BA92-90CCB9849735}"/>
              </a:ext>
            </a:extLst>
          </p:cNvPr>
          <p:cNvPicPr>
            <a:picLocks noChangeAspect="1"/>
          </p:cNvPicPr>
          <p:nvPr/>
        </p:nvPicPr>
        <p:blipFill>
          <a:blip r:embed="rId3"/>
          <a:stretch>
            <a:fillRect/>
          </a:stretch>
        </p:blipFill>
        <p:spPr>
          <a:xfrm>
            <a:off x="1014297" y="4509120"/>
            <a:ext cx="6525658" cy="2142591"/>
          </a:xfrm>
          <a:prstGeom prst="rect">
            <a:avLst/>
          </a:prstGeom>
        </p:spPr>
      </p:pic>
      <p:pic>
        <p:nvPicPr>
          <p:cNvPr id="2056" name="Picture 8" descr="Loop">
            <a:extLst>
              <a:ext uri="{FF2B5EF4-FFF2-40B4-BE49-F238E27FC236}">
                <a16:creationId xmlns:a16="http://schemas.microsoft.com/office/drawing/2014/main" id="{9A1FFD7C-2B46-4E12-9741-6FC5019F93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6136" y="1232418"/>
            <a:ext cx="2181225"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6503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63061" y="223755"/>
            <a:ext cx="8045354" cy="628407"/>
          </a:xfrm>
        </p:spPr>
        <p:txBody>
          <a:bodyPr>
            <a:normAutofit fontScale="90000"/>
          </a:bodyPr>
          <a:lstStyle/>
          <a:p>
            <a:r>
              <a:rPr lang="es-CO" dirty="0"/>
              <a:t>Ciclos</a:t>
            </a:r>
          </a:p>
        </p:txBody>
      </p:sp>
      <p:sp>
        <p:nvSpPr>
          <p:cNvPr id="6" name="12 Rectángulo">
            <a:extLst>
              <a:ext uri="{FF2B5EF4-FFF2-40B4-BE49-F238E27FC236}">
                <a16:creationId xmlns:a16="http://schemas.microsoft.com/office/drawing/2014/main" id="{8508C4C5-CBF9-4C17-AEB9-2B6B8EA367F8}"/>
              </a:ext>
            </a:extLst>
          </p:cNvPr>
          <p:cNvSpPr/>
          <p:nvPr/>
        </p:nvSpPr>
        <p:spPr>
          <a:xfrm>
            <a:off x="263061" y="884954"/>
            <a:ext cx="8443434" cy="707886"/>
          </a:xfrm>
          <a:prstGeom prst="rect">
            <a:avLst/>
          </a:prstGeom>
        </p:spPr>
        <p:txBody>
          <a:bodyPr wrap="square">
            <a:spAutoFit/>
          </a:bodyPr>
          <a:lstStyle/>
          <a:p>
            <a:pPr marL="342900" indent="-342900">
              <a:buFont typeface="Arial" panose="020B0604020202020204" pitchFamily="34" charset="0"/>
              <a:buChar char="•"/>
            </a:pPr>
            <a:r>
              <a:rPr lang="es-MX" sz="2000" dirty="0"/>
              <a:t>Un </a:t>
            </a:r>
            <a:r>
              <a:rPr lang="es-MX" sz="2000" b="1" dirty="0"/>
              <a:t>ciclo</a:t>
            </a:r>
            <a:r>
              <a:rPr lang="es-MX" sz="2000" dirty="0"/>
              <a:t> (bucle o iteración) es una estructura que repite un conjunto de instrucciones mientras se cumpla una condición.</a:t>
            </a:r>
            <a:endParaRPr lang="es-CO" sz="2000" dirty="0"/>
          </a:p>
        </p:txBody>
      </p:sp>
      <p:grpSp>
        <p:nvGrpSpPr>
          <p:cNvPr id="10" name="Grupo 9">
            <a:extLst>
              <a:ext uri="{FF2B5EF4-FFF2-40B4-BE49-F238E27FC236}">
                <a16:creationId xmlns:a16="http://schemas.microsoft.com/office/drawing/2014/main" id="{C493C3FD-9CCB-42CD-A6CC-EF5B6F5ECD3D}"/>
              </a:ext>
            </a:extLst>
          </p:cNvPr>
          <p:cNvGrpSpPr/>
          <p:nvPr/>
        </p:nvGrpSpPr>
        <p:grpSpPr>
          <a:xfrm>
            <a:off x="5468965" y="2581898"/>
            <a:ext cx="3063475" cy="2503286"/>
            <a:chOff x="5004048" y="2843063"/>
            <a:chExt cx="3063475" cy="2503286"/>
          </a:xfrm>
        </p:grpSpPr>
        <p:sp>
          <p:nvSpPr>
            <p:cNvPr id="11" name="TextBox 75">
              <a:extLst>
                <a:ext uri="{FF2B5EF4-FFF2-40B4-BE49-F238E27FC236}">
                  <a16:creationId xmlns:a16="http://schemas.microsoft.com/office/drawing/2014/main" id="{8CA5090F-363D-4978-948F-CF04F030816A}"/>
                </a:ext>
              </a:extLst>
            </p:cNvPr>
            <p:cNvSpPr txBox="1"/>
            <p:nvPr/>
          </p:nvSpPr>
          <p:spPr>
            <a:xfrm>
              <a:off x="7375373" y="3907169"/>
              <a:ext cx="692150" cy="261610"/>
            </a:xfrm>
            <a:prstGeom prst="rect">
              <a:avLst/>
            </a:prstGeom>
            <a:noFill/>
          </p:spPr>
          <p:txBody>
            <a:bodyPr wrap="square" rtlCol="0">
              <a:spAutoFit/>
            </a:bodyPr>
            <a:lstStyle/>
            <a:p>
              <a:pPr algn="ctr"/>
              <a:r>
                <a:rPr lang="en-US" sz="1050" dirty="0">
                  <a:latin typeface="Consolas" panose="020B0609020204030204" pitchFamily="49" charset="0"/>
                </a:rPr>
                <a:t>no</a:t>
              </a:r>
            </a:p>
          </p:txBody>
        </p:sp>
        <p:sp>
          <p:nvSpPr>
            <p:cNvPr id="13" name="Flowchart: Decision 40">
              <a:extLst>
                <a:ext uri="{FF2B5EF4-FFF2-40B4-BE49-F238E27FC236}">
                  <a16:creationId xmlns:a16="http://schemas.microsoft.com/office/drawing/2014/main" id="{89D35F81-5D98-4099-AA14-C534E074C0BC}"/>
                </a:ext>
              </a:extLst>
            </p:cNvPr>
            <p:cNvSpPr/>
            <p:nvPr/>
          </p:nvSpPr>
          <p:spPr>
            <a:xfrm>
              <a:off x="5339244" y="3916526"/>
              <a:ext cx="2222288" cy="519113"/>
            </a:xfrm>
            <a:prstGeom prst="flowChartDecision">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condición</a:t>
              </a:r>
            </a:p>
          </p:txBody>
        </p:sp>
        <p:cxnSp>
          <p:nvCxnSpPr>
            <p:cNvPr id="14" name="Straight Arrow Connector 47">
              <a:extLst>
                <a:ext uri="{FF2B5EF4-FFF2-40B4-BE49-F238E27FC236}">
                  <a16:creationId xmlns:a16="http://schemas.microsoft.com/office/drawing/2014/main" id="{6BE6B442-5DAD-4E41-AB0C-437431C74F0B}"/>
                </a:ext>
              </a:extLst>
            </p:cNvPr>
            <p:cNvCxnSpPr/>
            <p:nvPr/>
          </p:nvCxnSpPr>
          <p:spPr>
            <a:xfrm>
              <a:off x="6450388" y="3570496"/>
              <a:ext cx="0" cy="346075"/>
            </a:xfrm>
            <a:prstGeom prst="straightConnector1">
              <a:avLst/>
            </a:prstGeom>
            <a:ln>
              <a:solidFill>
                <a:schemeClr val="tx1">
                  <a:lumMod val="50000"/>
                  <a:lumOff val="50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49">
              <a:extLst>
                <a:ext uri="{FF2B5EF4-FFF2-40B4-BE49-F238E27FC236}">
                  <a16:creationId xmlns:a16="http://schemas.microsoft.com/office/drawing/2014/main" id="{51A448FA-D77B-4F54-A842-F07EBF6C7AFE}"/>
                </a:ext>
              </a:extLst>
            </p:cNvPr>
            <p:cNvCxnSpPr>
              <a:cxnSpLocks/>
            </p:cNvCxnSpPr>
            <p:nvPr/>
          </p:nvCxnSpPr>
          <p:spPr>
            <a:xfrm flipH="1">
              <a:off x="7548563" y="4176713"/>
              <a:ext cx="335756"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TextBox 76">
              <a:extLst>
                <a:ext uri="{FF2B5EF4-FFF2-40B4-BE49-F238E27FC236}">
                  <a16:creationId xmlns:a16="http://schemas.microsoft.com/office/drawing/2014/main" id="{E43FA420-C10C-41C2-97DE-47BC226341F6}"/>
                </a:ext>
              </a:extLst>
            </p:cNvPr>
            <p:cNvSpPr txBox="1"/>
            <p:nvPr/>
          </p:nvSpPr>
          <p:spPr>
            <a:xfrm>
              <a:off x="6325499" y="4428825"/>
              <a:ext cx="575871" cy="261610"/>
            </a:xfrm>
            <a:prstGeom prst="rect">
              <a:avLst/>
            </a:prstGeom>
            <a:noFill/>
          </p:spPr>
          <p:txBody>
            <a:bodyPr wrap="square" rtlCol="0">
              <a:spAutoFit/>
            </a:bodyPr>
            <a:lstStyle/>
            <a:p>
              <a:pPr algn="ctr"/>
              <a:r>
                <a:rPr lang="en-US" sz="1050" dirty="0">
                  <a:latin typeface="Consolas" panose="020B0609020204030204" pitchFamily="49" charset="0"/>
                </a:rPr>
                <a:t>yes</a:t>
              </a:r>
            </a:p>
          </p:txBody>
        </p:sp>
        <p:cxnSp>
          <p:nvCxnSpPr>
            <p:cNvPr id="17" name="Straight Arrow Connector 47">
              <a:extLst>
                <a:ext uri="{FF2B5EF4-FFF2-40B4-BE49-F238E27FC236}">
                  <a16:creationId xmlns:a16="http://schemas.microsoft.com/office/drawing/2014/main" id="{729AF809-0D15-485D-9CA9-1FA61FF44B83}"/>
                </a:ext>
              </a:extLst>
            </p:cNvPr>
            <p:cNvCxnSpPr/>
            <p:nvPr/>
          </p:nvCxnSpPr>
          <p:spPr>
            <a:xfrm>
              <a:off x="6450388" y="4430733"/>
              <a:ext cx="0" cy="346075"/>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Flowchart: Process 42">
              <a:extLst>
                <a:ext uri="{FF2B5EF4-FFF2-40B4-BE49-F238E27FC236}">
                  <a16:creationId xmlns:a16="http://schemas.microsoft.com/office/drawing/2014/main" id="{240A9118-D905-4956-BAE5-805B23BB674A}"/>
                </a:ext>
              </a:extLst>
            </p:cNvPr>
            <p:cNvSpPr/>
            <p:nvPr/>
          </p:nvSpPr>
          <p:spPr>
            <a:xfrm>
              <a:off x="5894534" y="4776808"/>
              <a:ext cx="1109562" cy="432594"/>
            </a:xfrm>
            <a:prstGeom prst="flowChartProcess">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sym typeface="Wingdings" pitchFamily="2" charset="2"/>
                </a:rPr>
                <a:t>Cuerpo</a:t>
              </a:r>
              <a:endParaRPr lang="en-US" sz="1400" dirty="0">
                <a:latin typeface="Consolas" panose="020B0609020204030204" pitchFamily="49" charset="0"/>
              </a:endParaRPr>
            </a:p>
          </p:txBody>
        </p:sp>
        <p:sp>
          <p:nvSpPr>
            <p:cNvPr id="19" name="Flowchart: Process 42">
              <a:extLst>
                <a:ext uri="{FF2B5EF4-FFF2-40B4-BE49-F238E27FC236}">
                  <a16:creationId xmlns:a16="http://schemas.microsoft.com/office/drawing/2014/main" id="{FD52C528-03C3-466F-ABD9-B12A86B7FF9A}"/>
                </a:ext>
              </a:extLst>
            </p:cNvPr>
            <p:cNvSpPr/>
            <p:nvPr/>
          </p:nvSpPr>
          <p:spPr>
            <a:xfrm>
              <a:off x="5604866" y="3158034"/>
              <a:ext cx="1688898" cy="432594"/>
            </a:xfrm>
            <a:prstGeom prst="flowChartProcess">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Initialization</a:t>
              </a:r>
            </a:p>
          </p:txBody>
        </p:sp>
        <p:cxnSp>
          <p:nvCxnSpPr>
            <p:cNvPr id="20" name="Straight Arrow Connector 49">
              <a:extLst>
                <a:ext uri="{FF2B5EF4-FFF2-40B4-BE49-F238E27FC236}">
                  <a16:creationId xmlns:a16="http://schemas.microsoft.com/office/drawing/2014/main" id="{1C01D11D-412F-4959-967B-AFBA64E5F00B}"/>
                </a:ext>
              </a:extLst>
            </p:cNvPr>
            <p:cNvCxnSpPr/>
            <p:nvPr/>
          </p:nvCxnSpPr>
          <p:spPr>
            <a:xfrm flipV="1">
              <a:off x="6449315" y="5209402"/>
              <a:ext cx="0" cy="136947"/>
            </a:xfrm>
            <a:prstGeom prst="straightConnector1">
              <a:avLst/>
            </a:prstGeom>
            <a:ln>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47">
              <a:extLst>
                <a:ext uri="{FF2B5EF4-FFF2-40B4-BE49-F238E27FC236}">
                  <a16:creationId xmlns:a16="http://schemas.microsoft.com/office/drawing/2014/main" id="{D8DE8B33-F6E4-43C2-A03A-BBA5CF37603A}"/>
                </a:ext>
              </a:extLst>
            </p:cNvPr>
            <p:cNvCxnSpPr>
              <a:cxnSpLocks/>
            </p:cNvCxnSpPr>
            <p:nvPr/>
          </p:nvCxnSpPr>
          <p:spPr>
            <a:xfrm>
              <a:off x="5010150" y="4174331"/>
              <a:ext cx="333961" cy="17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Arrow Connector 47">
              <a:extLst>
                <a:ext uri="{FF2B5EF4-FFF2-40B4-BE49-F238E27FC236}">
                  <a16:creationId xmlns:a16="http://schemas.microsoft.com/office/drawing/2014/main" id="{4CBEAD36-6453-4D93-9902-6E1C8E06D5BA}"/>
                </a:ext>
              </a:extLst>
            </p:cNvPr>
            <p:cNvCxnSpPr/>
            <p:nvPr/>
          </p:nvCxnSpPr>
          <p:spPr>
            <a:xfrm>
              <a:off x="6450388" y="2843063"/>
              <a:ext cx="0" cy="313473"/>
            </a:xfrm>
            <a:prstGeom prst="straightConnector1">
              <a:avLst/>
            </a:prstGeom>
            <a:ln>
              <a:solidFill>
                <a:schemeClr val="tx1">
                  <a:lumMod val="50000"/>
                  <a:lumOff val="50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47">
              <a:extLst>
                <a:ext uri="{FF2B5EF4-FFF2-40B4-BE49-F238E27FC236}">
                  <a16:creationId xmlns:a16="http://schemas.microsoft.com/office/drawing/2014/main" id="{04360220-9938-4420-830C-0D6574AAD873}"/>
                </a:ext>
              </a:extLst>
            </p:cNvPr>
            <p:cNvCxnSpPr>
              <a:cxnSpLocks/>
            </p:cNvCxnSpPr>
            <p:nvPr/>
          </p:nvCxnSpPr>
          <p:spPr>
            <a:xfrm>
              <a:off x="7881363" y="4175939"/>
              <a:ext cx="1" cy="790293"/>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47">
              <a:extLst>
                <a:ext uri="{FF2B5EF4-FFF2-40B4-BE49-F238E27FC236}">
                  <a16:creationId xmlns:a16="http://schemas.microsoft.com/office/drawing/2014/main" id="{31FE8FAC-E285-4A48-9EB2-EDB31AAE784B}"/>
                </a:ext>
              </a:extLst>
            </p:cNvPr>
            <p:cNvCxnSpPr>
              <a:cxnSpLocks/>
            </p:cNvCxnSpPr>
            <p:nvPr/>
          </p:nvCxnSpPr>
          <p:spPr>
            <a:xfrm flipH="1">
              <a:off x="5011192" y="4178300"/>
              <a:ext cx="4486" cy="1163512"/>
            </a:xfrm>
            <a:prstGeom prst="straightConnector1">
              <a:avLst/>
            </a:prstGeom>
            <a:ln>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47">
              <a:extLst>
                <a:ext uri="{FF2B5EF4-FFF2-40B4-BE49-F238E27FC236}">
                  <a16:creationId xmlns:a16="http://schemas.microsoft.com/office/drawing/2014/main" id="{06A7B863-3BF8-479B-8460-4653CA3F253E}"/>
                </a:ext>
              </a:extLst>
            </p:cNvPr>
            <p:cNvCxnSpPr>
              <a:cxnSpLocks/>
            </p:cNvCxnSpPr>
            <p:nvPr/>
          </p:nvCxnSpPr>
          <p:spPr>
            <a:xfrm flipH="1">
              <a:off x="5004048" y="5346349"/>
              <a:ext cx="1445268"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8" name="12 Rectángulo">
            <a:extLst>
              <a:ext uri="{FF2B5EF4-FFF2-40B4-BE49-F238E27FC236}">
                <a16:creationId xmlns:a16="http://schemas.microsoft.com/office/drawing/2014/main" id="{CBA584A0-41C2-4FE2-84D1-B2D45048294D}"/>
              </a:ext>
            </a:extLst>
          </p:cNvPr>
          <p:cNvSpPr/>
          <p:nvPr/>
        </p:nvSpPr>
        <p:spPr>
          <a:xfrm>
            <a:off x="211297" y="1641110"/>
            <a:ext cx="4847721" cy="4708981"/>
          </a:xfrm>
          <a:prstGeom prst="rect">
            <a:avLst/>
          </a:prstGeom>
        </p:spPr>
        <p:txBody>
          <a:bodyPr wrap="square">
            <a:spAutoFit/>
          </a:bodyPr>
          <a:lstStyle/>
          <a:p>
            <a:pPr marL="342900" indent="-342900">
              <a:buFont typeface="Arial" panose="020B0604020202020204" pitchFamily="34" charset="0"/>
              <a:buChar char="•"/>
            </a:pPr>
            <a:r>
              <a:rPr lang="es-MX" sz="2000" dirty="0"/>
              <a:t>Para describir un ciclo se requieren los siguientes componentes :</a:t>
            </a:r>
          </a:p>
          <a:p>
            <a:pPr marL="800100" lvl="1" indent="-342900">
              <a:buFont typeface="Arial" panose="020B0604020202020204" pitchFamily="34" charset="0"/>
              <a:buChar char="•"/>
            </a:pPr>
            <a:r>
              <a:rPr lang="es-MX" sz="2000" b="1" dirty="0"/>
              <a:t>Inicialización</a:t>
            </a:r>
            <a:r>
              <a:rPr lang="es-MX" sz="2000" dirty="0"/>
              <a:t>: parte donde se establece el valor inicial de la variable de control, antes de que el ciclo arranque.</a:t>
            </a:r>
          </a:p>
          <a:p>
            <a:pPr marL="800100" lvl="1" indent="-342900">
              <a:buFont typeface="Arial" panose="020B0604020202020204" pitchFamily="34" charset="0"/>
              <a:buChar char="•"/>
            </a:pPr>
            <a:r>
              <a:rPr lang="es-MX" sz="2000" b="1" dirty="0"/>
              <a:t>Condición de control o parada</a:t>
            </a:r>
            <a:r>
              <a:rPr lang="es-MX" sz="2000" dirty="0"/>
              <a:t>: Expresión lógica evaluada en cada iteración. Si es verdadera, el ciclo continúa; si es falsa, se detiene</a:t>
            </a:r>
          </a:p>
          <a:p>
            <a:pPr marL="800100" lvl="1" indent="-342900">
              <a:buFont typeface="Arial" panose="020B0604020202020204" pitchFamily="34" charset="0"/>
              <a:buChar char="•"/>
            </a:pPr>
            <a:r>
              <a:rPr lang="es-CO" sz="2000" b="1" dirty="0"/>
              <a:t>Cuerpo del ciclo</a:t>
            </a:r>
            <a:r>
              <a:rPr lang="es-MX" sz="2000" dirty="0"/>
              <a:t>: Instrucciones que se ejecutan repetidamente. Incluye la modificación obligatoria de la variable de control para asegurar que el ciclo pueda terminar.</a:t>
            </a:r>
            <a:endParaRPr lang="es-CO" sz="2800" dirty="0"/>
          </a:p>
        </p:txBody>
      </p:sp>
    </p:spTree>
    <p:extLst>
      <p:ext uri="{BB962C8B-B14F-4D97-AF65-F5344CB8AC3E}">
        <p14:creationId xmlns:p14="http://schemas.microsoft.com/office/powerpoint/2010/main" val="1871566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57056" y="276634"/>
            <a:ext cx="8131368" cy="782960"/>
          </a:xfrm>
        </p:spPr>
        <p:txBody>
          <a:bodyPr>
            <a:normAutofit/>
          </a:bodyPr>
          <a:lstStyle/>
          <a:p>
            <a:r>
              <a:rPr lang="es-CO" dirty="0"/>
              <a:t>Ciclo mientras</a:t>
            </a:r>
          </a:p>
        </p:txBody>
      </p:sp>
      <p:sp>
        <p:nvSpPr>
          <p:cNvPr id="8" name="CuadroTexto 7">
            <a:extLst>
              <a:ext uri="{FF2B5EF4-FFF2-40B4-BE49-F238E27FC236}">
                <a16:creationId xmlns:a16="http://schemas.microsoft.com/office/drawing/2014/main" id="{791D7E60-39B9-4748-947F-38A8F97E2D1C}"/>
              </a:ext>
            </a:extLst>
          </p:cNvPr>
          <p:cNvSpPr txBox="1"/>
          <p:nvPr/>
        </p:nvSpPr>
        <p:spPr>
          <a:xfrm>
            <a:off x="4732404" y="1694530"/>
            <a:ext cx="3742661" cy="738664"/>
          </a:xfrm>
          <a:prstGeom prst="rect">
            <a:avLst/>
          </a:prstGeom>
          <a:noFill/>
          <a:ln>
            <a:solidFill>
              <a:schemeClr val="tx1"/>
            </a:solidFill>
          </a:ln>
        </p:spPr>
        <p:txBody>
          <a:bodyPr wrap="square">
            <a:spAutoFit/>
          </a:bodyPr>
          <a:lstStyle/>
          <a:p>
            <a:pPr indent="-57150"/>
            <a:r>
              <a:rPr lang="es-ES" sz="1400" dirty="0">
                <a:solidFill>
                  <a:schemeClr val="accent4"/>
                </a:solidFill>
                <a:latin typeface="Consolas" panose="020B0609020204030204" pitchFamily="49" charset="0"/>
              </a:rPr>
              <a:t>Mientras (</a:t>
            </a:r>
            <a:r>
              <a:rPr lang="es-ES" sz="1400" dirty="0">
                <a:solidFill>
                  <a:srgbClr val="C00000"/>
                </a:solidFill>
                <a:latin typeface="Consolas" panose="020B0609020204030204" pitchFamily="49" charset="0"/>
              </a:rPr>
              <a:t>condicion</a:t>
            </a:r>
            <a:r>
              <a:rPr lang="es-ES" sz="1400" dirty="0">
                <a:solidFill>
                  <a:schemeClr val="accent4"/>
                </a:solidFill>
                <a:latin typeface="Consolas" panose="020B0609020204030204" pitchFamily="49" charset="0"/>
              </a:rPr>
              <a:t>) Haga</a:t>
            </a:r>
          </a:p>
          <a:p>
            <a:pPr indent="-57150"/>
            <a:r>
              <a:rPr lang="es-ES" sz="1400" dirty="0">
                <a:latin typeface="Consolas" panose="020B0609020204030204" pitchFamily="49" charset="0"/>
              </a:rPr>
              <a:t>  instrucciones cuerpo</a:t>
            </a:r>
          </a:p>
          <a:p>
            <a:pPr indent="-57150"/>
            <a:r>
              <a:rPr lang="es-ES" sz="1400" dirty="0" err="1">
                <a:solidFill>
                  <a:schemeClr val="accent4"/>
                </a:solidFill>
                <a:latin typeface="Consolas" panose="020B0609020204030204" pitchFamily="49" charset="0"/>
              </a:rPr>
              <a:t>Fin_Mientras</a:t>
            </a:r>
            <a:endParaRPr lang="es-CO" sz="1400" dirty="0">
              <a:solidFill>
                <a:schemeClr val="accent4"/>
              </a:solidFill>
              <a:latin typeface="Consolas" panose="020B0609020204030204" pitchFamily="49" charset="0"/>
            </a:endParaRPr>
          </a:p>
        </p:txBody>
      </p:sp>
      <p:sp>
        <p:nvSpPr>
          <p:cNvPr id="9" name="CuadroTexto 8">
            <a:extLst>
              <a:ext uri="{FF2B5EF4-FFF2-40B4-BE49-F238E27FC236}">
                <a16:creationId xmlns:a16="http://schemas.microsoft.com/office/drawing/2014/main" id="{F8D1186C-BAA6-4BB7-8BDA-437F19BE7947}"/>
              </a:ext>
            </a:extLst>
          </p:cNvPr>
          <p:cNvSpPr txBox="1"/>
          <p:nvPr/>
        </p:nvSpPr>
        <p:spPr>
          <a:xfrm>
            <a:off x="4746049" y="3463245"/>
            <a:ext cx="3742661" cy="523220"/>
          </a:xfrm>
          <a:prstGeom prst="rect">
            <a:avLst/>
          </a:prstGeom>
          <a:noFill/>
          <a:ln>
            <a:solidFill>
              <a:schemeClr val="tx1"/>
            </a:solidFill>
          </a:ln>
        </p:spPr>
        <p:txBody>
          <a:bodyPr wrap="square">
            <a:spAutoFit/>
          </a:bodyPr>
          <a:lstStyle/>
          <a:p>
            <a:pPr indent="-57150"/>
            <a:r>
              <a:rPr lang="es-ES" sz="1400" dirty="0">
                <a:solidFill>
                  <a:schemeClr val="accent4"/>
                </a:solidFill>
                <a:latin typeface="Consolas" panose="020B0609020204030204" pitchFamily="49" charset="0"/>
              </a:rPr>
              <a:t>while (</a:t>
            </a:r>
            <a:r>
              <a:rPr lang="es-ES" sz="1400" dirty="0">
                <a:solidFill>
                  <a:schemeClr val="accent6"/>
                </a:solidFill>
                <a:latin typeface="Consolas" panose="020B0609020204030204" pitchFamily="49" charset="0"/>
              </a:rPr>
              <a:t>condicion</a:t>
            </a:r>
            <a:r>
              <a:rPr lang="es-ES" sz="1400" dirty="0">
                <a:solidFill>
                  <a:schemeClr val="accent4"/>
                </a:solidFill>
                <a:latin typeface="Consolas" panose="020B0609020204030204" pitchFamily="49" charset="0"/>
              </a:rPr>
              <a:t>):</a:t>
            </a:r>
          </a:p>
          <a:p>
            <a:pPr indent="-57150"/>
            <a:r>
              <a:rPr lang="es-ES" sz="1400" dirty="0">
                <a:latin typeface="Consolas" panose="020B0609020204030204" pitchFamily="49" charset="0"/>
              </a:rPr>
              <a:t>  instrucciones cuerpo</a:t>
            </a:r>
          </a:p>
        </p:txBody>
      </p:sp>
      <p:sp>
        <p:nvSpPr>
          <p:cNvPr id="10" name="CuadroTexto 9">
            <a:extLst>
              <a:ext uri="{FF2B5EF4-FFF2-40B4-BE49-F238E27FC236}">
                <a16:creationId xmlns:a16="http://schemas.microsoft.com/office/drawing/2014/main" id="{23C017E7-0175-4F4C-9063-3C6EA1BA3C91}"/>
              </a:ext>
            </a:extLst>
          </p:cNvPr>
          <p:cNvSpPr txBox="1"/>
          <p:nvPr/>
        </p:nvSpPr>
        <p:spPr>
          <a:xfrm>
            <a:off x="5137974" y="1196752"/>
            <a:ext cx="2424161" cy="400110"/>
          </a:xfrm>
          <a:prstGeom prst="rect">
            <a:avLst/>
          </a:prstGeom>
          <a:noFill/>
        </p:spPr>
        <p:txBody>
          <a:bodyPr wrap="square" rtlCol="0">
            <a:spAutoFit/>
          </a:bodyPr>
          <a:lstStyle/>
          <a:p>
            <a:pPr algn="ctr"/>
            <a:r>
              <a:rPr lang="es-CO" sz="2000" b="1" dirty="0"/>
              <a:t>Pseudocódigo</a:t>
            </a:r>
          </a:p>
        </p:txBody>
      </p:sp>
      <p:sp>
        <p:nvSpPr>
          <p:cNvPr id="11" name="CuadroTexto 10">
            <a:extLst>
              <a:ext uri="{FF2B5EF4-FFF2-40B4-BE49-F238E27FC236}">
                <a16:creationId xmlns:a16="http://schemas.microsoft.com/office/drawing/2014/main" id="{F70CDB5E-01B0-44CF-BEA6-A41F1D5A02A9}"/>
              </a:ext>
            </a:extLst>
          </p:cNvPr>
          <p:cNvSpPr txBox="1"/>
          <p:nvPr/>
        </p:nvSpPr>
        <p:spPr>
          <a:xfrm>
            <a:off x="5172874" y="3039012"/>
            <a:ext cx="2424161" cy="400110"/>
          </a:xfrm>
          <a:prstGeom prst="rect">
            <a:avLst/>
          </a:prstGeom>
          <a:noFill/>
        </p:spPr>
        <p:txBody>
          <a:bodyPr wrap="square" rtlCol="0">
            <a:spAutoFit/>
          </a:bodyPr>
          <a:lstStyle/>
          <a:p>
            <a:pPr algn="ctr"/>
            <a:r>
              <a:rPr lang="es-CO" sz="2000" b="1" dirty="0"/>
              <a:t>Python</a:t>
            </a:r>
          </a:p>
        </p:txBody>
      </p:sp>
      <p:pic>
        <p:nvPicPr>
          <p:cNvPr id="3" name="Imagen 2">
            <a:extLst>
              <a:ext uri="{FF2B5EF4-FFF2-40B4-BE49-F238E27FC236}">
                <a16:creationId xmlns:a16="http://schemas.microsoft.com/office/drawing/2014/main" id="{1DDC4803-A744-4439-BB5C-A2B5E2F7C7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1640" y="1556792"/>
            <a:ext cx="2438400" cy="2819400"/>
          </a:xfrm>
          <a:prstGeom prst="rect">
            <a:avLst/>
          </a:prstGeom>
        </p:spPr>
      </p:pic>
      <p:sp>
        <p:nvSpPr>
          <p:cNvPr id="14" name="CuadroTexto 13">
            <a:extLst>
              <a:ext uri="{FF2B5EF4-FFF2-40B4-BE49-F238E27FC236}">
                <a16:creationId xmlns:a16="http://schemas.microsoft.com/office/drawing/2014/main" id="{CACE4E4F-A4E8-46E2-AB13-7E2ACF4519A0}"/>
              </a:ext>
            </a:extLst>
          </p:cNvPr>
          <p:cNvSpPr txBox="1"/>
          <p:nvPr/>
        </p:nvSpPr>
        <p:spPr>
          <a:xfrm>
            <a:off x="1338759" y="1124744"/>
            <a:ext cx="2424161" cy="400110"/>
          </a:xfrm>
          <a:prstGeom prst="rect">
            <a:avLst/>
          </a:prstGeom>
          <a:noFill/>
        </p:spPr>
        <p:txBody>
          <a:bodyPr wrap="square" rtlCol="0">
            <a:spAutoFit/>
          </a:bodyPr>
          <a:lstStyle/>
          <a:p>
            <a:pPr algn="ctr"/>
            <a:r>
              <a:rPr lang="es-CO" sz="2000" b="1" dirty="0"/>
              <a:t>Diagrama de flujo</a:t>
            </a:r>
          </a:p>
        </p:txBody>
      </p:sp>
      <p:sp>
        <p:nvSpPr>
          <p:cNvPr id="4" name="CuadroTexto 3">
            <a:extLst>
              <a:ext uri="{FF2B5EF4-FFF2-40B4-BE49-F238E27FC236}">
                <a16:creationId xmlns:a16="http://schemas.microsoft.com/office/drawing/2014/main" id="{463FC496-7EBC-4F9A-8C33-D4B8F5F43481}"/>
              </a:ext>
            </a:extLst>
          </p:cNvPr>
          <p:cNvSpPr txBox="1"/>
          <p:nvPr/>
        </p:nvSpPr>
        <p:spPr>
          <a:xfrm>
            <a:off x="266678" y="4590635"/>
            <a:ext cx="8610644" cy="1631216"/>
          </a:xfrm>
          <a:prstGeom prst="rect">
            <a:avLst/>
          </a:prstGeom>
          <a:solidFill>
            <a:schemeClr val="bg1">
              <a:lumMod val="95000"/>
            </a:schemeClr>
          </a:solidFill>
        </p:spPr>
        <p:txBody>
          <a:bodyPr wrap="square" rtlCol="0">
            <a:spAutoFit/>
          </a:bodyPr>
          <a:lstStyle/>
          <a:p>
            <a:r>
              <a:rPr lang="es-CO" sz="2000" b="1" dirty="0"/>
              <a:t>Observaciones importantes</a:t>
            </a:r>
            <a:r>
              <a:rPr lang="es-CO" sz="2000" dirty="0"/>
              <a:t>:</a:t>
            </a:r>
          </a:p>
          <a:p>
            <a:pPr marL="285750" indent="-285750">
              <a:buFont typeface="Arial" panose="020B0604020202020204" pitchFamily="34" charset="0"/>
              <a:buChar char="•"/>
            </a:pPr>
            <a:r>
              <a:rPr lang="es-CO" sz="2000" dirty="0"/>
              <a:t>Note que aunque la inicialización es importante para el ciclo, es previa a este (por eso no aparece).</a:t>
            </a:r>
          </a:p>
          <a:p>
            <a:pPr marL="285750" indent="-285750">
              <a:buFont typeface="Arial" panose="020B0604020202020204" pitchFamily="34" charset="0"/>
              <a:buChar char="•"/>
            </a:pPr>
            <a:r>
              <a:rPr lang="es-CO" sz="2000" dirty="0"/>
              <a:t>Dentro del cuerpo del ciclo están las instrucciones propias de lo que en este se debe realizar y la actualización de la variable de condición</a:t>
            </a:r>
          </a:p>
        </p:txBody>
      </p:sp>
    </p:spTree>
    <p:extLst>
      <p:ext uri="{BB962C8B-B14F-4D97-AF65-F5344CB8AC3E}">
        <p14:creationId xmlns:p14="http://schemas.microsoft.com/office/powerpoint/2010/main" val="1131513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63060" y="223755"/>
            <a:ext cx="8269379" cy="628407"/>
          </a:xfrm>
        </p:spPr>
        <p:txBody>
          <a:bodyPr>
            <a:normAutofit fontScale="90000"/>
          </a:bodyPr>
          <a:lstStyle/>
          <a:p>
            <a:r>
              <a:rPr lang="es-CO" dirty="0"/>
              <a:t>Ciclos - Ejemplo 1</a:t>
            </a:r>
          </a:p>
        </p:txBody>
      </p:sp>
      <p:sp>
        <p:nvSpPr>
          <p:cNvPr id="6" name="12 Rectángulo">
            <a:extLst>
              <a:ext uri="{FF2B5EF4-FFF2-40B4-BE49-F238E27FC236}">
                <a16:creationId xmlns:a16="http://schemas.microsoft.com/office/drawing/2014/main" id="{8508C4C5-CBF9-4C17-AEB9-2B6B8EA367F8}"/>
              </a:ext>
            </a:extLst>
          </p:cNvPr>
          <p:cNvSpPr/>
          <p:nvPr/>
        </p:nvSpPr>
        <p:spPr>
          <a:xfrm>
            <a:off x="263060" y="829161"/>
            <a:ext cx="8617880" cy="1015663"/>
          </a:xfrm>
          <a:prstGeom prst="rect">
            <a:avLst/>
          </a:prstGeom>
        </p:spPr>
        <p:txBody>
          <a:bodyPr wrap="square">
            <a:spAutoFit/>
          </a:bodyPr>
          <a:lstStyle/>
          <a:p>
            <a:r>
              <a:rPr lang="es-MX" sz="2000" dirty="0"/>
              <a:t>Retomando el problema inicial de imprimir los N = 10 primeros números, el uso de ciclos permite solucionar fácilmente la cantidad de números a imprimir cambiando solo el valor de N. </a:t>
            </a:r>
            <a:endParaRPr lang="es-CO" sz="2000" dirty="0"/>
          </a:p>
        </p:txBody>
      </p:sp>
      <p:grpSp>
        <p:nvGrpSpPr>
          <p:cNvPr id="67" name="Grupo 66">
            <a:extLst>
              <a:ext uri="{FF2B5EF4-FFF2-40B4-BE49-F238E27FC236}">
                <a16:creationId xmlns:a16="http://schemas.microsoft.com/office/drawing/2014/main" id="{981390AE-6BA8-4E06-8A9F-4BC1E07967ED}"/>
              </a:ext>
            </a:extLst>
          </p:cNvPr>
          <p:cNvGrpSpPr/>
          <p:nvPr/>
        </p:nvGrpSpPr>
        <p:grpSpPr>
          <a:xfrm>
            <a:off x="299803" y="1990594"/>
            <a:ext cx="4200189" cy="4750774"/>
            <a:chOff x="4427984" y="481854"/>
            <a:chExt cx="4200189" cy="4750774"/>
          </a:xfrm>
        </p:grpSpPr>
        <p:pic>
          <p:nvPicPr>
            <p:cNvPr id="68" name="Imagen 67">
              <a:extLst>
                <a:ext uri="{FF2B5EF4-FFF2-40B4-BE49-F238E27FC236}">
                  <a16:creationId xmlns:a16="http://schemas.microsoft.com/office/drawing/2014/main" id="{AAF42F27-8114-466C-9F89-AD5E8F3E37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9695" y="481854"/>
              <a:ext cx="2528478" cy="4750774"/>
            </a:xfrm>
            <a:prstGeom prst="rect">
              <a:avLst/>
            </a:prstGeom>
          </p:spPr>
        </p:pic>
        <p:grpSp>
          <p:nvGrpSpPr>
            <p:cNvPr id="69" name="Grupo 68">
              <a:extLst>
                <a:ext uri="{FF2B5EF4-FFF2-40B4-BE49-F238E27FC236}">
                  <a16:creationId xmlns:a16="http://schemas.microsoft.com/office/drawing/2014/main" id="{4C8BDEF8-0E62-48EB-80B5-9E93AACB0F7F}"/>
                </a:ext>
              </a:extLst>
            </p:cNvPr>
            <p:cNvGrpSpPr/>
            <p:nvPr/>
          </p:nvGrpSpPr>
          <p:grpSpPr>
            <a:xfrm>
              <a:off x="4427984" y="1700808"/>
              <a:ext cx="3647217" cy="2611373"/>
              <a:chOff x="3846925" y="3127038"/>
              <a:chExt cx="3647217" cy="2611373"/>
            </a:xfrm>
          </p:grpSpPr>
          <p:sp>
            <p:nvSpPr>
              <p:cNvPr id="70" name="CuadroTexto 69">
                <a:extLst>
                  <a:ext uri="{FF2B5EF4-FFF2-40B4-BE49-F238E27FC236}">
                    <a16:creationId xmlns:a16="http://schemas.microsoft.com/office/drawing/2014/main" id="{9FB9D9DC-9568-46AA-B061-1A166F16DFDC}"/>
                  </a:ext>
                </a:extLst>
              </p:cNvPr>
              <p:cNvSpPr txBox="1"/>
              <p:nvPr/>
            </p:nvSpPr>
            <p:spPr>
              <a:xfrm>
                <a:off x="4017749" y="3199570"/>
                <a:ext cx="1142557" cy="307777"/>
              </a:xfrm>
              <a:prstGeom prst="rect">
                <a:avLst/>
              </a:prstGeom>
              <a:noFill/>
            </p:spPr>
            <p:txBody>
              <a:bodyPr wrap="none" rtlCol="0">
                <a:spAutoFit/>
              </a:bodyPr>
              <a:lstStyle/>
              <a:p>
                <a:pPr algn="r"/>
                <a:r>
                  <a:rPr lang="es-CO" sz="1400" b="1" dirty="0">
                    <a:solidFill>
                      <a:schemeClr val="accent6"/>
                    </a:solidFill>
                  </a:rPr>
                  <a:t>Inicialización</a:t>
                </a:r>
              </a:p>
            </p:txBody>
          </p:sp>
          <p:sp>
            <p:nvSpPr>
              <p:cNvPr id="71" name="CuadroTexto 70">
                <a:extLst>
                  <a:ext uri="{FF2B5EF4-FFF2-40B4-BE49-F238E27FC236}">
                    <a16:creationId xmlns:a16="http://schemas.microsoft.com/office/drawing/2014/main" id="{CD420B9E-CF23-4802-8A53-7DBAC7F8BA06}"/>
                  </a:ext>
                </a:extLst>
              </p:cNvPr>
              <p:cNvSpPr txBox="1"/>
              <p:nvPr/>
            </p:nvSpPr>
            <p:spPr>
              <a:xfrm>
                <a:off x="3846925" y="3694346"/>
                <a:ext cx="1284998" cy="523220"/>
              </a:xfrm>
              <a:prstGeom prst="rect">
                <a:avLst/>
              </a:prstGeom>
              <a:noFill/>
            </p:spPr>
            <p:txBody>
              <a:bodyPr wrap="square" rtlCol="0">
                <a:spAutoFit/>
              </a:bodyPr>
              <a:lstStyle/>
              <a:p>
                <a:pPr algn="r"/>
                <a:r>
                  <a:rPr lang="es-CO" sz="1400" b="1" dirty="0">
                    <a:solidFill>
                      <a:srgbClr val="C00000"/>
                    </a:solidFill>
                  </a:rPr>
                  <a:t>Condición de</a:t>
                </a:r>
              </a:p>
              <a:p>
                <a:pPr algn="r"/>
                <a:r>
                  <a:rPr lang="es-CO" sz="1400" b="1" dirty="0">
                    <a:solidFill>
                      <a:srgbClr val="C00000"/>
                    </a:solidFill>
                  </a:rPr>
                  <a:t>control</a:t>
                </a:r>
              </a:p>
            </p:txBody>
          </p:sp>
          <p:sp>
            <p:nvSpPr>
              <p:cNvPr id="72" name="CuadroTexto 71">
                <a:extLst>
                  <a:ext uri="{FF2B5EF4-FFF2-40B4-BE49-F238E27FC236}">
                    <a16:creationId xmlns:a16="http://schemas.microsoft.com/office/drawing/2014/main" id="{07132349-E2D2-42D6-B3EF-FC83ED4B4DB5}"/>
                  </a:ext>
                </a:extLst>
              </p:cNvPr>
              <p:cNvSpPr txBox="1"/>
              <p:nvPr/>
            </p:nvSpPr>
            <p:spPr>
              <a:xfrm>
                <a:off x="4411843" y="4603406"/>
                <a:ext cx="721672" cy="307777"/>
              </a:xfrm>
              <a:prstGeom prst="rect">
                <a:avLst/>
              </a:prstGeom>
              <a:noFill/>
            </p:spPr>
            <p:txBody>
              <a:bodyPr wrap="none" rtlCol="0">
                <a:spAutoFit/>
              </a:bodyPr>
              <a:lstStyle/>
              <a:p>
                <a:pPr algn="r"/>
                <a:r>
                  <a:rPr lang="es-CO" sz="1400" b="1" dirty="0">
                    <a:solidFill>
                      <a:srgbClr val="00B050"/>
                    </a:solidFill>
                  </a:rPr>
                  <a:t>Cuerpo</a:t>
                </a:r>
              </a:p>
            </p:txBody>
          </p:sp>
          <p:sp>
            <p:nvSpPr>
              <p:cNvPr id="73" name="CuadroTexto 72">
                <a:extLst>
                  <a:ext uri="{FF2B5EF4-FFF2-40B4-BE49-F238E27FC236}">
                    <a16:creationId xmlns:a16="http://schemas.microsoft.com/office/drawing/2014/main" id="{F9A0752C-5183-432E-AEE7-3A0E3FBDF61D}"/>
                  </a:ext>
                </a:extLst>
              </p:cNvPr>
              <p:cNvSpPr txBox="1"/>
              <p:nvPr/>
            </p:nvSpPr>
            <p:spPr>
              <a:xfrm>
                <a:off x="3983890" y="5235014"/>
                <a:ext cx="1176219" cy="307777"/>
              </a:xfrm>
              <a:prstGeom prst="rect">
                <a:avLst/>
              </a:prstGeom>
              <a:noFill/>
            </p:spPr>
            <p:txBody>
              <a:bodyPr wrap="none" rtlCol="0">
                <a:spAutoFit/>
              </a:bodyPr>
              <a:lstStyle/>
              <a:p>
                <a:pPr algn="r"/>
                <a:r>
                  <a:rPr lang="es-CO" sz="1400" b="1" dirty="0">
                    <a:solidFill>
                      <a:srgbClr val="0070C0"/>
                    </a:solidFill>
                  </a:rPr>
                  <a:t>Actualización</a:t>
                </a:r>
              </a:p>
            </p:txBody>
          </p:sp>
          <p:sp>
            <p:nvSpPr>
              <p:cNvPr id="74" name="Rectángulo: esquinas redondeadas 73">
                <a:extLst>
                  <a:ext uri="{FF2B5EF4-FFF2-40B4-BE49-F238E27FC236}">
                    <a16:creationId xmlns:a16="http://schemas.microsoft.com/office/drawing/2014/main" id="{60D94335-2797-44F1-AEBE-3EACF92099CC}"/>
                  </a:ext>
                </a:extLst>
              </p:cNvPr>
              <p:cNvSpPr/>
              <p:nvPr/>
            </p:nvSpPr>
            <p:spPr>
              <a:xfrm>
                <a:off x="6369914" y="3127038"/>
                <a:ext cx="804189" cy="441960"/>
              </a:xfrm>
              <a:prstGeom prst="roundRect">
                <a:avLst/>
              </a:prstGeom>
              <a:noFill/>
              <a:ln>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75" name="Conector recto de flecha 74">
                <a:extLst>
                  <a:ext uri="{FF2B5EF4-FFF2-40B4-BE49-F238E27FC236}">
                    <a16:creationId xmlns:a16="http://schemas.microsoft.com/office/drawing/2014/main" id="{885907DD-E7C6-489A-B82D-4CDE545BAD5B}"/>
                  </a:ext>
                </a:extLst>
              </p:cNvPr>
              <p:cNvCxnSpPr>
                <a:stCxn id="70" idx="3"/>
                <a:endCxn id="74" idx="1"/>
              </p:cNvCxnSpPr>
              <p:nvPr/>
            </p:nvCxnSpPr>
            <p:spPr>
              <a:xfrm flipV="1">
                <a:off x="5160306" y="3348018"/>
                <a:ext cx="1209608" cy="5441"/>
              </a:xfrm>
              <a:prstGeom prst="straightConnector1">
                <a:avLst/>
              </a:prstGeom>
              <a:ln w="127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76" name="Rectángulo: esquinas redondeadas 75">
                <a:extLst>
                  <a:ext uri="{FF2B5EF4-FFF2-40B4-BE49-F238E27FC236}">
                    <a16:creationId xmlns:a16="http://schemas.microsoft.com/office/drawing/2014/main" id="{29E12B77-BEE7-4E54-9F6F-4F0465A7E024}"/>
                  </a:ext>
                </a:extLst>
              </p:cNvPr>
              <p:cNvSpPr/>
              <p:nvPr/>
            </p:nvSpPr>
            <p:spPr>
              <a:xfrm>
                <a:off x="6000623" y="3694346"/>
                <a:ext cx="1493519" cy="777240"/>
              </a:xfrm>
              <a:prstGeom prst="roundRect">
                <a:avLst>
                  <a:gd name="adj" fmla="val 10540"/>
                </a:avLst>
              </a:prstGeom>
              <a:noFill/>
              <a:ln>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77" name="Conector recto de flecha 76">
                <a:extLst>
                  <a:ext uri="{FF2B5EF4-FFF2-40B4-BE49-F238E27FC236}">
                    <a16:creationId xmlns:a16="http://schemas.microsoft.com/office/drawing/2014/main" id="{8F7F534A-1510-44E5-AC45-19A9650DBDF8}"/>
                  </a:ext>
                </a:extLst>
              </p:cNvPr>
              <p:cNvCxnSpPr>
                <a:cxnSpLocks/>
                <a:stCxn id="71" idx="3"/>
              </p:cNvCxnSpPr>
              <p:nvPr/>
            </p:nvCxnSpPr>
            <p:spPr>
              <a:xfrm>
                <a:off x="5131923" y="3955956"/>
                <a:ext cx="864096" cy="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8" name="Rectángulo: esquinas redondeadas 77">
                <a:extLst>
                  <a:ext uri="{FF2B5EF4-FFF2-40B4-BE49-F238E27FC236}">
                    <a16:creationId xmlns:a16="http://schemas.microsoft.com/office/drawing/2014/main" id="{050B2B81-B742-491B-A538-313B6593C635}"/>
                  </a:ext>
                </a:extLst>
              </p:cNvPr>
              <p:cNvSpPr/>
              <p:nvPr/>
            </p:nvSpPr>
            <p:spPr>
              <a:xfrm>
                <a:off x="6000623" y="4603406"/>
                <a:ext cx="1493519" cy="1135005"/>
              </a:xfrm>
              <a:prstGeom prst="roundRect">
                <a:avLst>
                  <a:gd name="adj" fmla="val 7883"/>
                </a:avLst>
              </a:prstGeom>
              <a:noFill/>
              <a:ln>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9" name="Rectángulo: esquinas redondeadas 78">
                <a:extLst>
                  <a:ext uri="{FF2B5EF4-FFF2-40B4-BE49-F238E27FC236}">
                    <a16:creationId xmlns:a16="http://schemas.microsoft.com/office/drawing/2014/main" id="{8FCEB6BF-0926-40E1-8F10-0DE766F1505F}"/>
                  </a:ext>
                </a:extLst>
              </p:cNvPr>
              <p:cNvSpPr/>
              <p:nvPr/>
            </p:nvSpPr>
            <p:spPr>
              <a:xfrm>
                <a:off x="6381459" y="5167258"/>
                <a:ext cx="804189" cy="441960"/>
              </a:xfrm>
              <a:prstGeom prst="roundRect">
                <a:avLst/>
              </a:prstGeom>
              <a:noFill/>
              <a:ln>
                <a:solidFill>
                  <a:schemeClr val="accent4"/>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80" name="Conector recto de flecha 79">
                <a:extLst>
                  <a:ext uri="{FF2B5EF4-FFF2-40B4-BE49-F238E27FC236}">
                    <a16:creationId xmlns:a16="http://schemas.microsoft.com/office/drawing/2014/main" id="{B6EE9B33-A92B-4BED-98EA-CAF64BC7E200}"/>
                  </a:ext>
                </a:extLst>
              </p:cNvPr>
              <p:cNvCxnSpPr>
                <a:cxnSpLocks/>
                <a:stCxn id="72" idx="3"/>
              </p:cNvCxnSpPr>
              <p:nvPr/>
            </p:nvCxnSpPr>
            <p:spPr>
              <a:xfrm>
                <a:off x="5133515" y="4757295"/>
                <a:ext cx="862504" cy="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1" name="Conector recto de flecha 80">
                <a:extLst>
                  <a:ext uri="{FF2B5EF4-FFF2-40B4-BE49-F238E27FC236}">
                    <a16:creationId xmlns:a16="http://schemas.microsoft.com/office/drawing/2014/main" id="{B7D3F1E3-8AD2-4ED9-B57E-7E1A5FF2A9CF}"/>
                  </a:ext>
                </a:extLst>
              </p:cNvPr>
              <p:cNvCxnSpPr>
                <a:cxnSpLocks/>
                <a:stCxn id="73" idx="3"/>
              </p:cNvCxnSpPr>
              <p:nvPr/>
            </p:nvCxnSpPr>
            <p:spPr>
              <a:xfrm>
                <a:off x="5160109" y="5388903"/>
                <a:ext cx="1212942" cy="372"/>
              </a:xfrm>
              <a:prstGeom prst="straightConnector1">
                <a:avLst/>
              </a:prstGeom>
              <a:ln w="127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21" name="CuadroTexto 20">
            <a:extLst>
              <a:ext uri="{FF2B5EF4-FFF2-40B4-BE49-F238E27FC236}">
                <a16:creationId xmlns:a16="http://schemas.microsoft.com/office/drawing/2014/main" id="{24C39BCC-4B8F-405F-A6FB-819857822DF0}"/>
              </a:ext>
            </a:extLst>
          </p:cNvPr>
          <p:cNvSpPr txBox="1"/>
          <p:nvPr/>
        </p:nvSpPr>
        <p:spPr>
          <a:xfrm>
            <a:off x="5947418" y="6032321"/>
            <a:ext cx="1545785" cy="276999"/>
          </a:xfrm>
          <a:prstGeom prst="rect">
            <a:avLst/>
          </a:prstGeom>
          <a:noFill/>
        </p:spPr>
        <p:txBody>
          <a:bodyPr wrap="square" rtlCol="0">
            <a:spAutoFit/>
          </a:bodyPr>
          <a:lstStyle/>
          <a:p>
            <a:pPr algn="ctr"/>
            <a:r>
              <a:rPr lang="es-MX" sz="1200" dirty="0">
                <a:hlinkClick r:id="rId3"/>
              </a:rPr>
              <a:t>Link de ejecución</a:t>
            </a:r>
            <a:endParaRPr lang="es-CO" sz="1200" dirty="0"/>
          </a:p>
        </p:txBody>
      </p:sp>
      <p:sp>
        <p:nvSpPr>
          <p:cNvPr id="22" name="CuadroTexto 21">
            <a:extLst>
              <a:ext uri="{FF2B5EF4-FFF2-40B4-BE49-F238E27FC236}">
                <a16:creationId xmlns:a16="http://schemas.microsoft.com/office/drawing/2014/main" id="{3B13C42A-09BB-40E5-B636-B89EBD30265E}"/>
              </a:ext>
            </a:extLst>
          </p:cNvPr>
          <p:cNvSpPr txBox="1"/>
          <p:nvPr/>
        </p:nvSpPr>
        <p:spPr>
          <a:xfrm>
            <a:off x="4749906" y="2100920"/>
            <a:ext cx="3354440" cy="400110"/>
          </a:xfrm>
          <a:prstGeom prst="rect">
            <a:avLst/>
          </a:prstGeom>
          <a:noFill/>
        </p:spPr>
        <p:txBody>
          <a:bodyPr wrap="square" rtlCol="0">
            <a:spAutoFit/>
          </a:bodyPr>
          <a:lstStyle/>
          <a:p>
            <a:r>
              <a:rPr lang="es-CO" sz="2000" b="1" dirty="0"/>
              <a:t>Pseudocódigo</a:t>
            </a:r>
          </a:p>
        </p:txBody>
      </p:sp>
      <p:sp>
        <p:nvSpPr>
          <p:cNvPr id="23" name="CuadroTexto 22">
            <a:extLst>
              <a:ext uri="{FF2B5EF4-FFF2-40B4-BE49-F238E27FC236}">
                <a16:creationId xmlns:a16="http://schemas.microsoft.com/office/drawing/2014/main" id="{7A1EDE65-0F33-4047-BBD8-874E90F96E96}"/>
              </a:ext>
            </a:extLst>
          </p:cNvPr>
          <p:cNvSpPr txBox="1"/>
          <p:nvPr/>
        </p:nvSpPr>
        <p:spPr>
          <a:xfrm>
            <a:off x="4697329" y="4578535"/>
            <a:ext cx="2424161" cy="400110"/>
          </a:xfrm>
          <a:prstGeom prst="rect">
            <a:avLst/>
          </a:prstGeom>
          <a:noFill/>
        </p:spPr>
        <p:txBody>
          <a:bodyPr wrap="square" rtlCol="0">
            <a:spAutoFit/>
          </a:bodyPr>
          <a:lstStyle/>
          <a:p>
            <a:r>
              <a:rPr lang="es-CO" sz="2000" b="1" dirty="0"/>
              <a:t>Python</a:t>
            </a:r>
          </a:p>
        </p:txBody>
      </p:sp>
      <p:sp>
        <p:nvSpPr>
          <p:cNvPr id="24" name="CuadroTexto 23">
            <a:extLst>
              <a:ext uri="{FF2B5EF4-FFF2-40B4-BE49-F238E27FC236}">
                <a16:creationId xmlns:a16="http://schemas.microsoft.com/office/drawing/2014/main" id="{3AB0375D-E721-4185-9C08-075387E711F5}"/>
              </a:ext>
            </a:extLst>
          </p:cNvPr>
          <p:cNvSpPr txBox="1"/>
          <p:nvPr/>
        </p:nvSpPr>
        <p:spPr>
          <a:xfrm>
            <a:off x="4783483" y="4978645"/>
            <a:ext cx="3873657" cy="1015663"/>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N = 10</a:t>
            </a:r>
          </a:p>
          <a:p>
            <a:r>
              <a:rPr lang="es-MX" sz="1200" dirty="0">
                <a:latin typeface="Consolas" panose="020B0609020204030204" pitchFamily="49" charset="0"/>
              </a:rPr>
              <a:t>i = 1</a:t>
            </a:r>
          </a:p>
          <a:p>
            <a:r>
              <a:rPr lang="es-MX" sz="1200" dirty="0">
                <a:solidFill>
                  <a:schemeClr val="accent5"/>
                </a:solidFill>
                <a:latin typeface="Consolas" panose="020B0609020204030204" pitchFamily="49" charset="0"/>
              </a:rPr>
              <a:t>while</a:t>
            </a:r>
            <a:r>
              <a:rPr lang="es-MX" sz="1200" dirty="0">
                <a:latin typeface="Consolas" panose="020B0609020204030204" pitchFamily="49" charset="0"/>
              </a:rPr>
              <a:t> i &lt;= N:</a:t>
            </a:r>
          </a:p>
          <a:p>
            <a:r>
              <a:rPr lang="es-MX" sz="1200" dirty="0">
                <a:solidFill>
                  <a:srgbClr val="00B050"/>
                </a:solidFill>
                <a:latin typeface="Consolas" panose="020B0609020204030204" pitchFamily="49" charset="0"/>
              </a:rPr>
              <a:t>  print(i)</a:t>
            </a:r>
          </a:p>
          <a:p>
            <a:r>
              <a:rPr lang="es-MX" sz="1200" dirty="0">
                <a:solidFill>
                  <a:srgbClr val="00B050"/>
                </a:solidFill>
                <a:latin typeface="Consolas" panose="020B0609020204030204" pitchFamily="49" charset="0"/>
              </a:rPr>
              <a:t>  i = i + 1</a:t>
            </a:r>
          </a:p>
        </p:txBody>
      </p:sp>
      <p:sp>
        <p:nvSpPr>
          <p:cNvPr id="25" name="CuadroTexto 24">
            <a:extLst>
              <a:ext uri="{FF2B5EF4-FFF2-40B4-BE49-F238E27FC236}">
                <a16:creationId xmlns:a16="http://schemas.microsoft.com/office/drawing/2014/main" id="{779AFA52-E853-4637-848F-F2713B1A0E9A}"/>
              </a:ext>
            </a:extLst>
          </p:cNvPr>
          <p:cNvSpPr txBox="1"/>
          <p:nvPr/>
        </p:nvSpPr>
        <p:spPr>
          <a:xfrm>
            <a:off x="4783483" y="2523656"/>
            <a:ext cx="3873657" cy="1569660"/>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Inicio</a:t>
            </a:r>
          </a:p>
          <a:p>
            <a:r>
              <a:rPr lang="es-MX" sz="1200" dirty="0">
                <a:latin typeface="Consolas" panose="020B0609020204030204" pitchFamily="49" charset="0"/>
              </a:rPr>
              <a:t>  N = 10</a:t>
            </a:r>
          </a:p>
          <a:p>
            <a:r>
              <a:rPr lang="es-MX" sz="1200" dirty="0">
                <a:latin typeface="Consolas" panose="020B0609020204030204" pitchFamily="49" charset="0"/>
              </a:rPr>
              <a:t>  i = 1</a:t>
            </a:r>
          </a:p>
          <a:p>
            <a:r>
              <a:rPr lang="es-MX" sz="1200" dirty="0">
                <a:latin typeface="Consolas" panose="020B0609020204030204" pitchFamily="49" charset="0"/>
              </a:rPr>
              <a:t>  </a:t>
            </a:r>
            <a:r>
              <a:rPr lang="es-MX" sz="1200" dirty="0">
                <a:solidFill>
                  <a:schemeClr val="accent5"/>
                </a:solidFill>
                <a:latin typeface="Consolas" panose="020B0609020204030204" pitchFamily="49" charset="0"/>
              </a:rPr>
              <a:t>Mientras</a:t>
            </a:r>
            <a:r>
              <a:rPr lang="es-MX" sz="1200" dirty="0">
                <a:latin typeface="Consolas" panose="020B0609020204030204" pitchFamily="49" charset="0"/>
              </a:rPr>
              <a:t> (i &lt;= N) </a:t>
            </a:r>
            <a:r>
              <a:rPr lang="es-MX" sz="1200" dirty="0">
                <a:solidFill>
                  <a:schemeClr val="accent5"/>
                </a:solidFill>
                <a:latin typeface="Consolas" panose="020B0609020204030204" pitchFamily="49" charset="0"/>
              </a:rPr>
              <a:t>Haga    </a:t>
            </a:r>
          </a:p>
          <a:p>
            <a:r>
              <a:rPr lang="es-MX" sz="1200" dirty="0">
                <a:solidFill>
                  <a:srgbClr val="00B050"/>
                </a:solidFill>
                <a:latin typeface="Consolas" panose="020B0609020204030204" pitchFamily="49" charset="0"/>
              </a:rPr>
              <a:t>    Escribir(i)</a:t>
            </a:r>
          </a:p>
          <a:p>
            <a:r>
              <a:rPr lang="es-MX" sz="1200" dirty="0">
                <a:solidFill>
                  <a:srgbClr val="00B050"/>
                </a:solidFill>
                <a:latin typeface="Consolas" panose="020B0609020204030204" pitchFamily="49" charset="0"/>
              </a:rPr>
              <a:t>    i = i + 1</a:t>
            </a:r>
          </a:p>
          <a:p>
            <a:r>
              <a:rPr lang="es-MX" sz="1200" dirty="0">
                <a:solidFill>
                  <a:srgbClr val="00B050"/>
                </a:solidFill>
                <a:latin typeface="Consolas" panose="020B0609020204030204" pitchFamily="49" charset="0"/>
              </a:rPr>
              <a:t>  </a:t>
            </a:r>
            <a:r>
              <a:rPr lang="es-MX" sz="1200" dirty="0">
                <a:solidFill>
                  <a:srgbClr val="C00000"/>
                </a:solidFill>
                <a:latin typeface="Consolas" panose="020B0609020204030204" pitchFamily="49" charset="0"/>
              </a:rPr>
              <a:t>Fin_Mientras</a:t>
            </a:r>
          </a:p>
          <a:p>
            <a:r>
              <a:rPr lang="es-MX" sz="1200" dirty="0">
                <a:latin typeface="Consolas" panose="020B0609020204030204" pitchFamily="49" charset="0"/>
              </a:rPr>
              <a:t>Fin</a:t>
            </a:r>
            <a:endParaRPr lang="es-CO" sz="1200" dirty="0">
              <a:latin typeface="Consolas" panose="020B0609020204030204" pitchFamily="49" charset="0"/>
            </a:endParaRPr>
          </a:p>
        </p:txBody>
      </p:sp>
    </p:spTree>
    <p:extLst>
      <p:ext uri="{BB962C8B-B14F-4D97-AF65-F5344CB8AC3E}">
        <p14:creationId xmlns:p14="http://schemas.microsoft.com/office/powerpoint/2010/main" val="33958007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79512" y="134971"/>
            <a:ext cx="8701428" cy="773749"/>
          </a:xfrm>
        </p:spPr>
        <p:txBody>
          <a:bodyPr>
            <a:normAutofit/>
          </a:bodyPr>
          <a:lstStyle/>
          <a:p>
            <a:r>
              <a:rPr lang="en-US" dirty="0"/>
              <a:t>Tipos de variables </a:t>
            </a:r>
            <a:r>
              <a:rPr lang="es-CO" dirty="0"/>
              <a:t>útiles</a:t>
            </a:r>
            <a:r>
              <a:rPr lang="en-US" dirty="0"/>
              <a:t> en los ciclos</a:t>
            </a:r>
          </a:p>
        </p:txBody>
      </p:sp>
      <p:sp>
        <p:nvSpPr>
          <p:cNvPr id="23" name="12 Rectángulo">
            <a:extLst>
              <a:ext uri="{FF2B5EF4-FFF2-40B4-BE49-F238E27FC236}">
                <a16:creationId xmlns:a16="http://schemas.microsoft.com/office/drawing/2014/main" id="{7789A76E-CF65-4031-95FC-AF6BE5FC3D10}"/>
              </a:ext>
            </a:extLst>
          </p:cNvPr>
          <p:cNvSpPr/>
          <p:nvPr/>
        </p:nvSpPr>
        <p:spPr>
          <a:xfrm>
            <a:off x="263060" y="971600"/>
            <a:ext cx="8617880" cy="3785652"/>
          </a:xfrm>
          <a:prstGeom prst="rect">
            <a:avLst/>
          </a:prstGeom>
        </p:spPr>
        <p:txBody>
          <a:bodyPr wrap="square">
            <a:spAutoFit/>
          </a:bodyPr>
          <a:lstStyle/>
          <a:p>
            <a:r>
              <a:rPr lang="es-MX" sz="2000" dirty="0"/>
              <a:t>Todo ciclo suele apoyarse en algunos tipos de variables que cumplen roles específicos:</a:t>
            </a:r>
          </a:p>
          <a:p>
            <a:pPr marL="342900" indent="-342900">
              <a:buFont typeface="Arial" panose="020B0604020202020204" pitchFamily="34" charset="0"/>
              <a:buChar char="•"/>
            </a:pPr>
            <a:r>
              <a:rPr lang="es-MX" sz="2000" b="1" dirty="0"/>
              <a:t>Variable de control</a:t>
            </a:r>
            <a:r>
              <a:rPr lang="es-MX" sz="2000" dirty="0"/>
              <a:t>: se evalúa en la condición del ciclo para decidir si continúa o termina </a:t>
            </a:r>
          </a:p>
          <a:p>
            <a:pPr marL="342900" indent="-342900">
              <a:buFont typeface="Arial" panose="020B0604020202020204" pitchFamily="34" charset="0"/>
              <a:buChar char="•"/>
            </a:pPr>
            <a:r>
              <a:rPr lang="es-MX" sz="2000" b="1" dirty="0"/>
              <a:t>Contador</a:t>
            </a:r>
            <a:r>
              <a:rPr lang="es-MX" sz="2000" dirty="0"/>
              <a:t>: lleva la cuenta de repeticiones; se actualiza en una cantidad constante.</a:t>
            </a:r>
          </a:p>
          <a:p>
            <a:pPr marL="342900" indent="-342900">
              <a:buFont typeface="Arial" panose="020B0604020202020204" pitchFamily="34" charset="0"/>
              <a:buChar char="•"/>
            </a:pPr>
            <a:r>
              <a:rPr lang="es-MX" sz="2000" b="1" dirty="0"/>
              <a:t>Acumulador</a:t>
            </a:r>
            <a:r>
              <a:rPr lang="es-MX" sz="2000" dirty="0"/>
              <a:t>: acumula el resultado de una operación que se repite; se actualiza en un valor variable.</a:t>
            </a:r>
          </a:p>
          <a:p>
            <a:pPr marL="342900" indent="-342900">
              <a:buFont typeface="Arial" panose="020B0604020202020204" pitchFamily="34" charset="0"/>
              <a:buChar char="•"/>
            </a:pPr>
            <a:r>
              <a:rPr lang="es-MX" sz="2000" b="1" dirty="0"/>
              <a:t>Bandera</a:t>
            </a:r>
            <a:r>
              <a:rPr lang="es-MX" sz="2000" dirty="0"/>
              <a:t>: variable de dos valores excluyentes usada para controlar el ciclo o recordar un estado dentro de él.</a:t>
            </a:r>
          </a:p>
          <a:p>
            <a:pPr marL="342900" indent="-342900">
              <a:buFont typeface="Arial" panose="020B0604020202020204" pitchFamily="34" charset="0"/>
              <a:buChar char="•"/>
            </a:pPr>
            <a:r>
              <a:rPr lang="es-MX" sz="2000" b="1" dirty="0"/>
              <a:t>Centinela</a:t>
            </a:r>
            <a:r>
              <a:rPr lang="es-MX" sz="2000" dirty="0"/>
              <a:t>: valor especial, fuera del rango válido de los datos, que señala el fin de la entrada.</a:t>
            </a:r>
            <a:endParaRPr lang="es-CO" sz="2000" dirty="0"/>
          </a:p>
        </p:txBody>
      </p:sp>
      <p:pic>
        <p:nvPicPr>
          <p:cNvPr id="6" name="Imagen 5">
            <a:extLst>
              <a:ext uri="{FF2B5EF4-FFF2-40B4-BE49-F238E27FC236}">
                <a16:creationId xmlns:a16="http://schemas.microsoft.com/office/drawing/2014/main" id="{C628C91B-6B35-4CCA-9E5E-061F524BA4BD}"/>
              </a:ext>
            </a:extLst>
          </p:cNvPr>
          <p:cNvPicPr>
            <a:picLocks noChangeAspect="1"/>
          </p:cNvPicPr>
          <p:nvPr/>
        </p:nvPicPr>
        <p:blipFill>
          <a:blip r:embed="rId2"/>
          <a:stretch>
            <a:fillRect/>
          </a:stretch>
        </p:blipFill>
        <p:spPr>
          <a:xfrm>
            <a:off x="5488976" y="5148382"/>
            <a:ext cx="1038147" cy="1062383"/>
          </a:xfrm>
          <a:prstGeom prst="rect">
            <a:avLst/>
          </a:prstGeom>
        </p:spPr>
      </p:pic>
      <p:pic>
        <p:nvPicPr>
          <p:cNvPr id="8" name="Imagen 7">
            <a:extLst>
              <a:ext uri="{FF2B5EF4-FFF2-40B4-BE49-F238E27FC236}">
                <a16:creationId xmlns:a16="http://schemas.microsoft.com/office/drawing/2014/main" id="{694643B5-DC67-4F7C-BC79-F0BA667769C9}"/>
              </a:ext>
            </a:extLst>
          </p:cNvPr>
          <p:cNvPicPr>
            <a:picLocks noChangeAspect="1"/>
          </p:cNvPicPr>
          <p:nvPr/>
        </p:nvPicPr>
        <p:blipFill>
          <a:blip r:embed="rId3"/>
          <a:stretch>
            <a:fillRect/>
          </a:stretch>
        </p:blipFill>
        <p:spPr>
          <a:xfrm>
            <a:off x="3838333" y="5226403"/>
            <a:ext cx="918608" cy="906339"/>
          </a:xfrm>
          <a:prstGeom prst="rect">
            <a:avLst/>
          </a:prstGeom>
        </p:spPr>
      </p:pic>
      <p:pic>
        <p:nvPicPr>
          <p:cNvPr id="9" name="Picture 10" descr="Electric Flow Control Icons - Free SVG &amp; PNG Electric Flow Control ...">
            <a:extLst>
              <a:ext uri="{FF2B5EF4-FFF2-40B4-BE49-F238E27FC236}">
                <a16:creationId xmlns:a16="http://schemas.microsoft.com/office/drawing/2014/main" id="{274487F1-0748-4346-85E4-D33A532AD6D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7158" y="5135038"/>
            <a:ext cx="918607" cy="918607"/>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615704D8-FD5A-49E7-8FBA-BE16A7AB073A}"/>
              </a:ext>
            </a:extLst>
          </p:cNvPr>
          <p:cNvPicPr>
            <a:picLocks noChangeAspect="1"/>
          </p:cNvPicPr>
          <p:nvPr/>
        </p:nvPicPr>
        <p:blipFill>
          <a:blip r:embed="rId5"/>
          <a:stretch>
            <a:fillRect/>
          </a:stretch>
        </p:blipFill>
        <p:spPr>
          <a:xfrm>
            <a:off x="2203667" y="5158353"/>
            <a:ext cx="918608" cy="918608"/>
          </a:xfrm>
          <a:prstGeom prst="rect">
            <a:avLst/>
          </a:prstGeom>
        </p:spPr>
      </p:pic>
      <p:pic>
        <p:nvPicPr>
          <p:cNvPr id="1026" name="Picture 2" descr="Toggles Icon Stock Illustrations – 155 Toggles Icon Stock Illustrations,  Vectors &amp; Clipart - Dreamstime">
            <a:extLst>
              <a:ext uri="{FF2B5EF4-FFF2-40B4-BE49-F238E27FC236}">
                <a16:creationId xmlns:a16="http://schemas.microsoft.com/office/drawing/2014/main" id="{4E245C6B-0D14-4CF7-A0D9-8F4D1F14180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524328" y="5145066"/>
            <a:ext cx="1113555" cy="10285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52112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79512" y="134971"/>
            <a:ext cx="7617582" cy="773749"/>
          </a:xfrm>
        </p:spPr>
        <p:txBody>
          <a:bodyPr/>
          <a:lstStyle/>
          <a:p>
            <a:r>
              <a:rPr lang="en-US" dirty="0"/>
              <a:t>Recapitulando lo visto</a:t>
            </a:r>
          </a:p>
        </p:txBody>
      </p:sp>
      <p:grpSp>
        <p:nvGrpSpPr>
          <p:cNvPr id="6" name="Grupo 5">
            <a:extLst>
              <a:ext uri="{FF2B5EF4-FFF2-40B4-BE49-F238E27FC236}">
                <a16:creationId xmlns:a16="http://schemas.microsoft.com/office/drawing/2014/main" id="{645D3D08-4B3C-4C18-B8C6-669D7CE9CF27}"/>
              </a:ext>
            </a:extLst>
          </p:cNvPr>
          <p:cNvGrpSpPr/>
          <p:nvPr/>
        </p:nvGrpSpPr>
        <p:grpSpPr>
          <a:xfrm>
            <a:off x="689991" y="1124744"/>
            <a:ext cx="7986465" cy="3527899"/>
            <a:chOff x="614553" y="996468"/>
            <a:chExt cx="7986465" cy="3527899"/>
          </a:xfrm>
        </p:grpSpPr>
        <p:sp>
          <p:nvSpPr>
            <p:cNvPr id="7" name="Rectángulo 6">
              <a:extLst>
                <a:ext uri="{FF2B5EF4-FFF2-40B4-BE49-F238E27FC236}">
                  <a16:creationId xmlns:a16="http://schemas.microsoft.com/office/drawing/2014/main" id="{17FF6CF8-A2C7-4534-B777-0480DC2C43FD}"/>
                </a:ext>
              </a:extLst>
            </p:cNvPr>
            <p:cNvSpPr/>
            <p:nvPr/>
          </p:nvSpPr>
          <p:spPr>
            <a:xfrm>
              <a:off x="3642527" y="996468"/>
              <a:ext cx="1871662" cy="801147"/>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2000" b="1" dirty="0">
                  <a:solidFill>
                    <a:sysClr val="windowText" lastClr="000000"/>
                  </a:solidFill>
                  <a:latin typeface="Century Gothic" panose="020B0502020202020204" pitchFamily="34" charset="0"/>
                </a:rPr>
                <a:t>Tipos de ciclos</a:t>
              </a:r>
              <a:endParaRPr lang="es-CO" sz="2000" b="1" dirty="0">
                <a:solidFill>
                  <a:sysClr val="windowText" lastClr="000000"/>
                </a:solidFill>
                <a:latin typeface="Century Gothic" panose="020B0502020202020204" pitchFamily="34" charset="0"/>
              </a:endParaRPr>
            </a:p>
          </p:txBody>
        </p:sp>
        <p:sp>
          <p:nvSpPr>
            <p:cNvPr id="8" name="Rectángulo 7">
              <a:extLst>
                <a:ext uri="{FF2B5EF4-FFF2-40B4-BE49-F238E27FC236}">
                  <a16:creationId xmlns:a16="http://schemas.microsoft.com/office/drawing/2014/main" id="{9CA508EB-3624-4EAD-B04A-051BFD3BC767}"/>
                </a:ext>
              </a:extLst>
            </p:cNvPr>
            <p:cNvSpPr/>
            <p:nvPr/>
          </p:nvSpPr>
          <p:spPr>
            <a:xfrm>
              <a:off x="2057123" y="2248886"/>
              <a:ext cx="2092234" cy="70586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2000" b="1" dirty="0">
                  <a:solidFill>
                    <a:sysClr val="windowText" lastClr="000000"/>
                  </a:solidFill>
                  <a:latin typeface="Century Gothic" panose="020B0502020202020204" pitchFamily="34" charset="0"/>
                </a:rPr>
                <a:t>Iteración desconocidas</a:t>
              </a:r>
              <a:endParaRPr lang="es-CO" sz="2000" b="1" dirty="0">
                <a:solidFill>
                  <a:sysClr val="windowText" lastClr="000000"/>
                </a:solidFill>
                <a:latin typeface="Century Gothic" panose="020B0502020202020204" pitchFamily="34" charset="0"/>
              </a:endParaRPr>
            </a:p>
          </p:txBody>
        </p:sp>
        <p:sp>
          <p:nvSpPr>
            <p:cNvPr id="9" name="Rectángulo 8">
              <a:extLst>
                <a:ext uri="{FF2B5EF4-FFF2-40B4-BE49-F238E27FC236}">
                  <a16:creationId xmlns:a16="http://schemas.microsoft.com/office/drawing/2014/main" id="{9C04CFF0-15AE-46AD-8545-CA10432DFBC7}"/>
                </a:ext>
              </a:extLst>
            </p:cNvPr>
            <p:cNvSpPr/>
            <p:nvPr/>
          </p:nvSpPr>
          <p:spPr>
            <a:xfrm>
              <a:off x="6508784" y="2248887"/>
              <a:ext cx="2092234" cy="705865"/>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2000" b="1" dirty="0">
                  <a:solidFill>
                    <a:sysClr val="windowText" lastClr="000000"/>
                  </a:solidFill>
                  <a:latin typeface="Century Gothic" panose="020B0502020202020204" pitchFamily="34" charset="0"/>
                </a:rPr>
                <a:t>Iteraciones conocidas</a:t>
              </a:r>
              <a:endParaRPr lang="es-CO" sz="2000" b="1" dirty="0">
                <a:solidFill>
                  <a:sysClr val="windowText" lastClr="000000"/>
                </a:solidFill>
                <a:latin typeface="Century Gothic" panose="020B0502020202020204" pitchFamily="34" charset="0"/>
              </a:endParaRPr>
            </a:p>
          </p:txBody>
        </p:sp>
        <p:grpSp>
          <p:nvGrpSpPr>
            <p:cNvPr id="10" name="Grupo 9">
              <a:extLst>
                <a:ext uri="{FF2B5EF4-FFF2-40B4-BE49-F238E27FC236}">
                  <a16:creationId xmlns:a16="http://schemas.microsoft.com/office/drawing/2014/main" id="{434EF194-3464-4FF9-AE5F-801860475EF7}"/>
                </a:ext>
              </a:extLst>
            </p:cNvPr>
            <p:cNvGrpSpPr/>
            <p:nvPr/>
          </p:nvGrpSpPr>
          <p:grpSpPr>
            <a:xfrm>
              <a:off x="3103241" y="1797614"/>
              <a:ext cx="4451659" cy="451273"/>
              <a:chOff x="4636088" y="2226292"/>
              <a:chExt cx="4451659" cy="451273"/>
            </a:xfrm>
          </p:grpSpPr>
          <p:cxnSp>
            <p:nvCxnSpPr>
              <p:cNvPr id="15" name="Conector: angular 14">
                <a:extLst>
                  <a:ext uri="{FF2B5EF4-FFF2-40B4-BE49-F238E27FC236}">
                    <a16:creationId xmlns:a16="http://schemas.microsoft.com/office/drawing/2014/main" id="{3F59C4E0-0B53-42D6-8730-893ACEB8422E}"/>
                  </a:ext>
                </a:extLst>
              </p:cNvPr>
              <p:cNvCxnSpPr>
                <a:cxnSpLocks/>
                <a:stCxn id="7" idx="2"/>
                <a:endCxn id="9" idx="0"/>
              </p:cNvCxnSpPr>
              <p:nvPr/>
            </p:nvCxnSpPr>
            <p:spPr>
              <a:xfrm rot="16200000" flipH="1">
                <a:off x="7373840" y="963657"/>
                <a:ext cx="451272" cy="2976543"/>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angular 15">
                <a:extLst>
                  <a:ext uri="{FF2B5EF4-FFF2-40B4-BE49-F238E27FC236}">
                    <a16:creationId xmlns:a16="http://schemas.microsoft.com/office/drawing/2014/main" id="{4691D068-4A98-4040-A207-0FE3A9106C1D}"/>
                  </a:ext>
                </a:extLst>
              </p:cNvPr>
              <p:cNvCxnSpPr>
                <a:cxnSpLocks/>
                <a:stCxn id="7" idx="2"/>
                <a:endCxn id="8" idx="0"/>
              </p:cNvCxnSpPr>
              <p:nvPr/>
            </p:nvCxnSpPr>
            <p:spPr>
              <a:xfrm rot="5400000">
                <a:off x="5148011" y="1714369"/>
                <a:ext cx="451271" cy="1475118"/>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1" name="Rectángulo 10">
              <a:extLst>
                <a:ext uri="{FF2B5EF4-FFF2-40B4-BE49-F238E27FC236}">
                  <a16:creationId xmlns:a16="http://schemas.microsoft.com/office/drawing/2014/main" id="{1ED136B1-85F4-41B9-BB93-29C0E5EDC2CA}"/>
                </a:ext>
              </a:extLst>
            </p:cNvPr>
            <p:cNvSpPr/>
            <p:nvPr/>
          </p:nvSpPr>
          <p:spPr>
            <a:xfrm>
              <a:off x="614553" y="3722679"/>
              <a:ext cx="2092234" cy="8016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b="1" dirty="0">
                  <a:solidFill>
                    <a:sysClr val="windowText" lastClr="000000"/>
                  </a:solidFill>
                  <a:latin typeface="Century Gothic" panose="020B0502020202020204" pitchFamily="34" charset="0"/>
                </a:rPr>
                <a:t>Preguntar antes de cada iteración (uso de bandera)</a:t>
              </a:r>
              <a:endParaRPr lang="es-CO" sz="1600" b="1" dirty="0">
                <a:solidFill>
                  <a:sysClr val="windowText" lastClr="000000"/>
                </a:solidFill>
                <a:latin typeface="Century Gothic" panose="020B0502020202020204" pitchFamily="34" charset="0"/>
              </a:endParaRPr>
            </a:p>
          </p:txBody>
        </p:sp>
        <p:sp>
          <p:nvSpPr>
            <p:cNvPr id="12" name="Rectángulo 11">
              <a:extLst>
                <a:ext uri="{FF2B5EF4-FFF2-40B4-BE49-F238E27FC236}">
                  <a16:creationId xmlns:a16="http://schemas.microsoft.com/office/drawing/2014/main" id="{F7499249-A05E-40A5-8B3D-18F1995942AE}"/>
                </a:ext>
              </a:extLst>
            </p:cNvPr>
            <p:cNvSpPr/>
            <p:nvPr/>
          </p:nvSpPr>
          <p:spPr>
            <a:xfrm>
              <a:off x="3532240" y="3722679"/>
              <a:ext cx="2092234" cy="8016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b="1" dirty="0">
                  <a:solidFill>
                    <a:sysClr val="windowText" lastClr="000000"/>
                  </a:solidFill>
                  <a:latin typeface="Century Gothic" panose="020B0502020202020204" pitchFamily="34" charset="0"/>
                </a:rPr>
                <a:t>Usando registro centinela</a:t>
              </a:r>
              <a:endParaRPr lang="es-CO" sz="1600" b="1" dirty="0">
                <a:solidFill>
                  <a:sysClr val="windowText" lastClr="000000"/>
                </a:solidFill>
                <a:latin typeface="Century Gothic" panose="020B0502020202020204" pitchFamily="34" charset="0"/>
              </a:endParaRPr>
            </a:p>
          </p:txBody>
        </p:sp>
        <p:cxnSp>
          <p:nvCxnSpPr>
            <p:cNvPr id="13" name="Conector: angular 12">
              <a:extLst>
                <a:ext uri="{FF2B5EF4-FFF2-40B4-BE49-F238E27FC236}">
                  <a16:creationId xmlns:a16="http://schemas.microsoft.com/office/drawing/2014/main" id="{3F80EB01-383C-40DF-83C3-441DB3D1E0E9}"/>
                </a:ext>
              </a:extLst>
            </p:cNvPr>
            <p:cNvCxnSpPr>
              <a:cxnSpLocks/>
              <a:stCxn id="8" idx="2"/>
              <a:endCxn id="12" idx="0"/>
            </p:cNvCxnSpPr>
            <p:nvPr/>
          </p:nvCxnSpPr>
          <p:spPr>
            <a:xfrm rot="16200000" flipH="1">
              <a:off x="3456835" y="2601156"/>
              <a:ext cx="767927" cy="1475117"/>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angular 13">
              <a:extLst>
                <a:ext uri="{FF2B5EF4-FFF2-40B4-BE49-F238E27FC236}">
                  <a16:creationId xmlns:a16="http://schemas.microsoft.com/office/drawing/2014/main" id="{21B524B9-84F4-491B-AAC9-0AE576377AC4}"/>
                </a:ext>
              </a:extLst>
            </p:cNvPr>
            <p:cNvCxnSpPr>
              <a:cxnSpLocks/>
              <a:stCxn id="8" idx="2"/>
              <a:endCxn id="11" idx="0"/>
            </p:cNvCxnSpPr>
            <p:nvPr/>
          </p:nvCxnSpPr>
          <p:spPr>
            <a:xfrm rot="5400000">
              <a:off x="1997992" y="2617430"/>
              <a:ext cx="767927" cy="1442570"/>
            </a:xfrm>
            <a:prstGeom prst="bentConnector3">
              <a:avLst>
                <a:gd name="adj1" fmla="val 50000"/>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7" name="CuadroTexto 16">
            <a:extLst>
              <a:ext uri="{FF2B5EF4-FFF2-40B4-BE49-F238E27FC236}">
                <a16:creationId xmlns:a16="http://schemas.microsoft.com/office/drawing/2014/main" id="{BD82673E-C4DA-45AC-97A5-D7F4C00FAD8A}"/>
              </a:ext>
            </a:extLst>
          </p:cNvPr>
          <p:cNvSpPr txBox="1"/>
          <p:nvPr/>
        </p:nvSpPr>
        <p:spPr>
          <a:xfrm>
            <a:off x="6423951" y="3232376"/>
            <a:ext cx="2412776" cy="1569660"/>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 = 0 </a:t>
            </a:r>
          </a:p>
          <a:p>
            <a:r>
              <a:rPr lang="es-MX" sz="1200" dirty="0">
                <a:latin typeface="Consolas" panose="020B0609020204030204" pitchFamily="49" charset="0"/>
              </a:rPr>
              <a:t>... </a:t>
            </a:r>
          </a:p>
          <a:p>
            <a:r>
              <a:rPr lang="es-MX" sz="1200" dirty="0">
                <a:latin typeface="Consolas" panose="020B0609020204030204" pitchFamily="49" charset="0"/>
              </a:rPr>
              <a:t>Mientras (</a:t>
            </a:r>
            <a:r>
              <a:rPr lang="es-MX" sz="1200" dirty="0">
                <a:solidFill>
                  <a:srgbClr val="C00000"/>
                </a:solidFill>
                <a:latin typeface="Consolas" panose="020B0609020204030204" pitchFamily="49" charset="0"/>
              </a:rPr>
              <a:t>i &lt; N</a:t>
            </a:r>
            <a:r>
              <a:rPr lang="es-MX" sz="1200" dirty="0">
                <a:latin typeface="Consolas" panose="020B0609020204030204" pitchFamily="49" charset="0"/>
              </a:rPr>
              <a:t>) Haga </a:t>
            </a:r>
          </a:p>
          <a:p>
            <a:r>
              <a:rPr lang="es-MX" sz="1200" dirty="0">
                <a:latin typeface="Consolas" panose="020B0609020204030204" pitchFamily="49" charset="0"/>
              </a:rPr>
              <a:t>  Leer(nota) </a:t>
            </a:r>
          </a:p>
          <a:p>
            <a:r>
              <a:rPr lang="es-MX" sz="1200" dirty="0">
                <a:latin typeface="Consolas" panose="020B0609020204030204" pitchFamily="49" charset="0"/>
              </a:rPr>
              <a:t>  ...</a:t>
            </a:r>
          </a:p>
          <a:p>
            <a:r>
              <a:rPr lang="es-MX" sz="1200" dirty="0">
                <a:latin typeface="Consolas" panose="020B0609020204030204" pitchFamily="49" charset="0"/>
              </a:rPr>
              <a:t>  i = i + 1</a:t>
            </a:r>
          </a:p>
          <a:p>
            <a:r>
              <a:rPr lang="es-MX" sz="1200" dirty="0">
                <a:latin typeface="Consolas" panose="020B0609020204030204" pitchFamily="49" charset="0"/>
              </a:rPr>
              <a:t>Fin_Mientras</a:t>
            </a:r>
          </a:p>
          <a:p>
            <a:r>
              <a:rPr lang="es-MX" sz="1200" dirty="0">
                <a:latin typeface="Consolas" panose="020B0609020204030204" pitchFamily="49" charset="0"/>
              </a:rPr>
              <a:t>...</a:t>
            </a:r>
          </a:p>
        </p:txBody>
      </p:sp>
      <p:sp>
        <p:nvSpPr>
          <p:cNvPr id="18" name="CuadroTexto 17">
            <a:extLst>
              <a:ext uri="{FF2B5EF4-FFF2-40B4-BE49-F238E27FC236}">
                <a16:creationId xmlns:a16="http://schemas.microsoft.com/office/drawing/2014/main" id="{848EAF0A-C0B4-45A5-A1A6-ABED1BAD1C4E}"/>
              </a:ext>
            </a:extLst>
          </p:cNvPr>
          <p:cNvSpPr txBox="1"/>
          <p:nvPr/>
        </p:nvSpPr>
        <p:spPr>
          <a:xfrm>
            <a:off x="3423511" y="4894368"/>
            <a:ext cx="2718556" cy="1384995"/>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 </a:t>
            </a:r>
          </a:p>
          <a:p>
            <a:r>
              <a:rPr lang="es-MX" sz="1200" dirty="0">
                <a:latin typeface="Consolas" panose="020B0609020204030204" pitchFamily="49" charset="0"/>
              </a:rPr>
              <a:t>Leer(nota) </a:t>
            </a:r>
          </a:p>
          <a:p>
            <a:r>
              <a:rPr lang="es-MX" sz="1200" dirty="0">
                <a:latin typeface="Consolas" panose="020B0609020204030204" pitchFamily="49" charset="0"/>
              </a:rPr>
              <a:t>Mientras (</a:t>
            </a:r>
            <a:r>
              <a:rPr lang="es-MX" sz="1200" dirty="0">
                <a:solidFill>
                  <a:srgbClr val="C00000"/>
                </a:solidFill>
                <a:latin typeface="Consolas" panose="020B0609020204030204" pitchFamily="49" charset="0"/>
              </a:rPr>
              <a:t>nota != -1</a:t>
            </a:r>
            <a:r>
              <a:rPr lang="es-MX" sz="1200" dirty="0">
                <a:latin typeface="Consolas" panose="020B0609020204030204" pitchFamily="49" charset="0"/>
              </a:rPr>
              <a:t>) Haga </a:t>
            </a:r>
          </a:p>
          <a:p>
            <a:r>
              <a:rPr lang="es-MX" sz="1200" dirty="0">
                <a:latin typeface="Consolas" panose="020B0609020204030204" pitchFamily="49" charset="0"/>
              </a:rPr>
              <a:t>  ...</a:t>
            </a:r>
          </a:p>
          <a:p>
            <a:r>
              <a:rPr lang="es-MX" sz="1200" dirty="0">
                <a:latin typeface="Consolas" panose="020B0609020204030204" pitchFamily="49" charset="0"/>
              </a:rPr>
              <a:t>  Leer(nota) </a:t>
            </a:r>
          </a:p>
          <a:p>
            <a:r>
              <a:rPr lang="es-MX" sz="1200" dirty="0">
                <a:latin typeface="Consolas" panose="020B0609020204030204" pitchFamily="49" charset="0"/>
              </a:rPr>
              <a:t>Fin_Mientras</a:t>
            </a:r>
          </a:p>
          <a:p>
            <a:r>
              <a:rPr lang="es-MX" sz="1200" dirty="0">
                <a:latin typeface="Consolas" panose="020B0609020204030204" pitchFamily="49" charset="0"/>
              </a:rPr>
              <a:t>...</a:t>
            </a:r>
          </a:p>
        </p:txBody>
      </p:sp>
      <p:sp>
        <p:nvSpPr>
          <p:cNvPr id="19" name="CuadroTexto 18">
            <a:extLst>
              <a:ext uri="{FF2B5EF4-FFF2-40B4-BE49-F238E27FC236}">
                <a16:creationId xmlns:a16="http://schemas.microsoft.com/office/drawing/2014/main" id="{12AEE7FC-91E3-4CCC-ABEF-C1E40A15FC5B}"/>
              </a:ext>
            </a:extLst>
          </p:cNvPr>
          <p:cNvSpPr txBox="1"/>
          <p:nvPr/>
        </p:nvSpPr>
        <p:spPr>
          <a:xfrm>
            <a:off x="149264" y="4802036"/>
            <a:ext cx="3078329" cy="1569660"/>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 </a:t>
            </a:r>
          </a:p>
          <a:p>
            <a:r>
              <a:rPr lang="es-MX" sz="1200" dirty="0">
                <a:latin typeface="Consolas" panose="020B0609020204030204" pitchFamily="49" charset="0"/>
              </a:rPr>
              <a:t>Leer(</a:t>
            </a:r>
            <a:r>
              <a:rPr lang="es-MX" sz="1200" dirty="0" err="1">
                <a:solidFill>
                  <a:srgbClr val="00B050"/>
                </a:solidFill>
                <a:latin typeface="Consolas" panose="020B0609020204030204" pitchFamily="49" charset="0"/>
              </a:rPr>
              <a:t>hay_est</a:t>
            </a:r>
            <a:r>
              <a:rPr lang="es-MX" sz="1200" dirty="0">
                <a:latin typeface="Consolas" panose="020B0609020204030204" pitchFamily="49" charset="0"/>
              </a:rPr>
              <a:t>) </a:t>
            </a:r>
          </a:p>
          <a:p>
            <a:r>
              <a:rPr lang="es-MX" sz="1200" dirty="0">
                <a:latin typeface="Consolas" panose="020B0609020204030204" pitchFamily="49" charset="0"/>
              </a:rPr>
              <a:t>Mientras (</a:t>
            </a:r>
            <a:r>
              <a:rPr lang="es-MX" sz="1200" dirty="0" err="1">
                <a:solidFill>
                  <a:srgbClr val="00B050"/>
                </a:solidFill>
                <a:latin typeface="Consolas" panose="020B0609020204030204" pitchFamily="49" charset="0"/>
              </a:rPr>
              <a:t>hay_est</a:t>
            </a:r>
            <a:r>
              <a:rPr lang="es-MX" sz="1200" dirty="0">
                <a:solidFill>
                  <a:srgbClr val="C00000"/>
                </a:solidFill>
                <a:latin typeface="Consolas" panose="020B0609020204030204" pitchFamily="49" charset="0"/>
              </a:rPr>
              <a:t> == 's'</a:t>
            </a:r>
            <a:r>
              <a:rPr lang="es-MX" sz="1200" dirty="0">
                <a:latin typeface="Consolas" panose="020B0609020204030204" pitchFamily="49" charset="0"/>
              </a:rPr>
              <a:t>) Haga </a:t>
            </a:r>
          </a:p>
          <a:p>
            <a:r>
              <a:rPr lang="es-MX" sz="1200" dirty="0">
                <a:latin typeface="Consolas" panose="020B0609020204030204" pitchFamily="49" charset="0"/>
              </a:rPr>
              <a:t>  Leer(nota)</a:t>
            </a:r>
          </a:p>
          <a:p>
            <a:r>
              <a:rPr lang="es-MX" sz="1200" dirty="0">
                <a:latin typeface="Consolas" panose="020B0609020204030204" pitchFamily="49" charset="0"/>
              </a:rPr>
              <a:t>  ...</a:t>
            </a:r>
          </a:p>
          <a:p>
            <a:r>
              <a:rPr lang="es-MX" sz="1200" dirty="0">
                <a:latin typeface="Consolas" panose="020B0609020204030204" pitchFamily="49" charset="0"/>
              </a:rPr>
              <a:t>  Leer(</a:t>
            </a:r>
            <a:r>
              <a:rPr lang="es-MX" sz="1200" dirty="0" err="1">
                <a:solidFill>
                  <a:srgbClr val="00B050"/>
                </a:solidFill>
                <a:latin typeface="Consolas" panose="020B0609020204030204" pitchFamily="49" charset="0"/>
              </a:rPr>
              <a:t>hay_est</a:t>
            </a:r>
            <a:r>
              <a:rPr lang="es-MX" sz="1200" dirty="0">
                <a:latin typeface="Consolas" panose="020B0609020204030204" pitchFamily="49" charset="0"/>
              </a:rPr>
              <a:t>)  </a:t>
            </a:r>
          </a:p>
          <a:p>
            <a:r>
              <a:rPr lang="es-MX" sz="1200" dirty="0">
                <a:latin typeface="Consolas" panose="020B0609020204030204" pitchFamily="49" charset="0"/>
              </a:rPr>
              <a:t>Fin_Mientras</a:t>
            </a:r>
          </a:p>
          <a:p>
            <a:r>
              <a:rPr lang="es-MX" sz="1200" dirty="0">
                <a:latin typeface="Consolas" panose="020B0609020204030204" pitchFamily="49" charset="0"/>
              </a:rPr>
              <a:t>...</a:t>
            </a:r>
          </a:p>
        </p:txBody>
      </p:sp>
    </p:spTree>
    <p:extLst>
      <p:ext uri="{BB962C8B-B14F-4D97-AF65-F5344CB8AC3E}">
        <p14:creationId xmlns:p14="http://schemas.microsoft.com/office/powerpoint/2010/main" val="3631222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7451022" cy="710952"/>
          </a:xfrm>
        </p:spPr>
        <p:txBody>
          <a:bodyPr>
            <a:normAutofit/>
          </a:bodyPr>
          <a:lstStyle/>
          <a:p>
            <a:r>
              <a:rPr lang="es-CO" dirty="0"/>
              <a:t>Ciclos – Problema repaso</a:t>
            </a:r>
          </a:p>
        </p:txBody>
      </p:sp>
      <p:sp>
        <p:nvSpPr>
          <p:cNvPr id="13" name="12 Rectángulo"/>
          <p:cNvSpPr/>
          <p:nvPr/>
        </p:nvSpPr>
        <p:spPr>
          <a:xfrm>
            <a:off x="145314" y="807401"/>
            <a:ext cx="8819174" cy="5909310"/>
          </a:xfrm>
          <a:prstGeom prst="rect">
            <a:avLst/>
          </a:prstGeom>
        </p:spPr>
        <p:txBody>
          <a:bodyPr wrap="square">
            <a:spAutoFit/>
          </a:bodyPr>
          <a:lstStyle/>
          <a:p>
            <a:r>
              <a:rPr lang="es-MX" dirty="0"/>
              <a:t>El señor Burns, como buen capitalista que es, decidió construir un cine en Springfield. El cine es pequeño: tiene capacidad para 8 puestos VIP (a $7000 cada uno) y 40 puestos normales (a $5000 cada uno).</a:t>
            </a:r>
          </a:p>
          <a:p>
            <a:endParaRPr lang="es-MX" dirty="0"/>
          </a:p>
          <a:p>
            <a:r>
              <a:rPr lang="es-MX" dirty="0"/>
              <a:t>Para cada función, el señor Burns no sabe de antemano cuántos clientes van a asistir — puede que se llenen todos los puestos, o que la venta se cierre antes con puestos disponibles. Desarrolle una aplicación que:</a:t>
            </a:r>
          </a:p>
          <a:p>
            <a:pPr marL="285750" indent="-285750">
              <a:buFont typeface="Arial" panose="020B0604020202020204" pitchFamily="34" charset="0"/>
              <a:buChar char="•"/>
            </a:pPr>
            <a:r>
              <a:rPr lang="es-MX" dirty="0"/>
              <a:t>Registre la venta de una boleta solicitando al cajero el tipo de puesto (VIP o normal), y repita este registro hasta que ocurra una de estas dos condiciones: se agoten los 48 puestos, o el cajero ingrese -1 como tipo de puesto para indicar que no hay más clientes y cerrar la venta.</a:t>
            </a:r>
          </a:p>
          <a:p>
            <a:pPr marL="285750" indent="-285750">
              <a:buFont typeface="Arial" panose="020B0604020202020204" pitchFamily="34" charset="0"/>
              <a:buChar char="•"/>
            </a:pPr>
            <a:r>
              <a:rPr lang="es-MX" dirty="0"/>
              <a:t>Si el tipo de puesto solicitado ya alcanzó su capacidad máxima, no contabilizar esa venta, informarlo al cajero, y volver a solicitar el tipo de puesto (sin que esto se interprete como el cierre de la venta)</a:t>
            </a:r>
          </a:p>
          <a:p>
            <a:pPr marL="285750" indent="-285750">
              <a:buFont typeface="Arial" panose="020B0604020202020204" pitchFamily="34" charset="0"/>
              <a:buChar char="•"/>
            </a:pPr>
            <a:r>
              <a:rPr lang="es-MX" dirty="0"/>
              <a:t>Obtener, para cada tipo de puesto, el total de asistentes y la ganancia obtenida.</a:t>
            </a:r>
          </a:p>
          <a:p>
            <a:pPr marL="285750" indent="-285750">
              <a:buFont typeface="Arial" panose="020B0604020202020204" pitchFamily="34" charset="0"/>
              <a:buChar char="•"/>
            </a:pPr>
            <a:r>
              <a:rPr lang="es-MX" dirty="0"/>
              <a:t>Cuando se cierre la venta de boletas para la función (por cualquiera de las dos condiciones anteriores), imprimir el total de asistentes y las siguientes estadísticas:</a:t>
            </a:r>
          </a:p>
          <a:p>
            <a:pPr marL="742950" lvl="1" indent="-285750">
              <a:buFont typeface="Arial" panose="020B0604020202020204" pitchFamily="34" charset="0"/>
              <a:buChar char="•"/>
            </a:pPr>
            <a:r>
              <a:rPr lang="es-MX" dirty="0"/>
              <a:t>El porcentaje de ocupación de cada zona (qué porcentaje de la capacidad VIP y de la capacidad Normal se logró vender).</a:t>
            </a:r>
          </a:p>
          <a:p>
            <a:pPr marL="742950" lvl="1" indent="-285750">
              <a:buFont typeface="Arial" panose="020B0604020202020204" pitchFamily="34" charset="0"/>
              <a:buChar char="•"/>
            </a:pPr>
            <a:r>
              <a:rPr lang="es-MX" dirty="0"/>
              <a:t>El dinero total recaudado por las entradas VIP, por las entradas Normales y la taquilla total del cine.</a:t>
            </a:r>
          </a:p>
        </p:txBody>
      </p:sp>
    </p:spTree>
    <p:extLst>
      <p:ext uri="{BB962C8B-B14F-4D97-AF65-F5344CB8AC3E}">
        <p14:creationId xmlns:p14="http://schemas.microsoft.com/office/powerpoint/2010/main" val="41081458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3" y="135162"/>
            <a:ext cx="6749135" cy="710952"/>
          </a:xfrm>
        </p:spPr>
        <p:txBody>
          <a:bodyPr>
            <a:normAutofit/>
          </a:bodyPr>
          <a:lstStyle/>
          <a:p>
            <a:r>
              <a:rPr lang="es-CO" dirty="0"/>
              <a:t>Ciclos – Problema repaso</a:t>
            </a:r>
          </a:p>
        </p:txBody>
      </p:sp>
      <p:grpSp>
        <p:nvGrpSpPr>
          <p:cNvPr id="29" name="27 Grupo">
            <a:extLst>
              <a:ext uri="{FF2B5EF4-FFF2-40B4-BE49-F238E27FC236}">
                <a16:creationId xmlns:a16="http://schemas.microsoft.com/office/drawing/2014/main" id="{19B00129-C57B-4599-977F-B511285429CE}"/>
              </a:ext>
            </a:extLst>
          </p:cNvPr>
          <p:cNvGrpSpPr>
            <a:grpSpLocks/>
          </p:cNvGrpSpPr>
          <p:nvPr/>
        </p:nvGrpSpPr>
        <p:grpSpPr bwMode="auto">
          <a:xfrm>
            <a:off x="4632712" y="4785146"/>
            <a:ext cx="2568575" cy="710247"/>
            <a:chOff x="4162928" y="5881089"/>
            <a:chExt cx="2569312" cy="709598"/>
          </a:xfrm>
        </p:grpSpPr>
        <p:sp>
          <p:nvSpPr>
            <p:cNvPr id="30" name="34 Rectángulo">
              <a:extLst>
                <a:ext uri="{FF2B5EF4-FFF2-40B4-BE49-F238E27FC236}">
                  <a16:creationId xmlns:a16="http://schemas.microsoft.com/office/drawing/2014/main" id="{EE9BE19E-C993-41A8-A932-A5461C78E623}"/>
                </a:ext>
              </a:extLst>
            </p:cNvPr>
            <p:cNvSpPr/>
            <p:nvPr/>
          </p:nvSpPr>
          <p:spPr>
            <a:xfrm>
              <a:off x="4162928" y="5915982"/>
              <a:ext cx="215962" cy="2379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31" name="35 Rectángulo">
              <a:extLst>
                <a:ext uri="{FF2B5EF4-FFF2-40B4-BE49-F238E27FC236}">
                  <a16:creationId xmlns:a16="http://schemas.microsoft.com/office/drawing/2014/main" id="{6AA62DE3-AE03-4E19-833D-40C8834CECE3}"/>
                </a:ext>
              </a:extLst>
            </p:cNvPr>
            <p:cNvSpPr/>
            <p:nvPr/>
          </p:nvSpPr>
          <p:spPr>
            <a:xfrm>
              <a:off x="4162928" y="6309323"/>
              <a:ext cx="215962" cy="23949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32" name="9 CuadroTexto">
              <a:extLst>
                <a:ext uri="{FF2B5EF4-FFF2-40B4-BE49-F238E27FC236}">
                  <a16:creationId xmlns:a16="http://schemas.microsoft.com/office/drawing/2014/main" id="{849CAE1D-7DE7-4974-B2F1-53EA215E8A6A}"/>
                </a:ext>
              </a:extLst>
            </p:cNvPr>
            <p:cNvSpPr txBox="1">
              <a:spLocks noChangeArrowheads="1"/>
            </p:cNvSpPr>
            <p:nvPr/>
          </p:nvSpPr>
          <p:spPr bwMode="auto">
            <a:xfrm>
              <a:off x="4553106" y="5881089"/>
              <a:ext cx="1872208" cy="338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CO" altLang="es-CO" sz="1600" b="1" dirty="0">
                  <a:latin typeface="Century Gothic" panose="020B0502020202020204" pitchFamily="34" charset="0"/>
                  <a:cs typeface="Courier New" pitchFamily="49" charset="0"/>
                </a:rPr>
                <a:t>VIP: </a:t>
              </a:r>
              <a:r>
                <a:rPr lang="es-CO" altLang="es-CO" sz="1600" dirty="0">
                  <a:latin typeface="Century Gothic" panose="020B0502020202020204" pitchFamily="34" charset="0"/>
                  <a:cs typeface="Courier New" pitchFamily="49" charset="0"/>
                </a:rPr>
                <a:t>$7000</a:t>
              </a:r>
            </a:p>
          </p:txBody>
        </p:sp>
        <p:sp>
          <p:nvSpPr>
            <p:cNvPr id="33" name="9 CuadroTexto">
              <a:extLst>
                <a:ext uri="{FF2B5EF4-FFF2-40B4-BE49-F238E27FC236}">
                  <a16:creationId xmlns:a16="http://schemas.microsoft.com/office/drawing/2014/main" id="{D2630175-4023-47BE-A5DC-4D5DA5EACB7A}"/>
                </a:ext>
              </a:extLst>
            </p:cNvPr>
            <p:cNvSpPr txBox="1">
              <a:spLocks noChangeArrowheads="1"/>
            </p:cNvSpPr>
            <p:nvPr/>
          </p:nvSpPr>
          <p:spPr bwMode="auto">
            <a:xfrm>
              <a:off x="4553106" y="6252442"/>
              <a:ext cx="2179134" cy="338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CO" altLang="es-CO" sz="1600" b="1" dirty="0">
                  <a:latin typeface="Century Gothic" panose="020B0502020202020204" pitchFamily="34" charset="0"/>
                  <a:cs typeface="Courier New" pitchFamily="49" charset="0"/>
                </a:rPr>
                <a:t>Normal: </a:t>
              </a:r>
              <a:r>
                <a:rPr lang="es-CO" altLang="es-CO" sz="1600" dirty="0">
                  <a:latin typeface="Century Gothic" panose="020B0502020202020204" pitchFamily="34" charset="0"/>
                  <a:cs typeface="Courier New" pitchFamily="49" charset="0"/>
                </a:rPr>
                <a:t>$5000</a:t>
              </a:r>
            </a:p>
          </p:txBody>
        </p:sp>
      </p:grpSp>
      <p:pic>
        <p:nvPicPr>
          <p:cNvPr id="34" name="Picture 2" descr="Springfield Googolplex Theatres | Simpsons Wiki | Fandom">
            <a:extLst>
              <a:ext uri="{FF2B5EF4-FFF2-40B4-BE49-F238E27FC236}">
                <a16:creationId xmlns:a16="http://schemas.microsoft.com/office/drawing/2014/main" id="{565E8F6B-584A-49B6-B876-7C4D110ED09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2580" y="2021784"/>
            <a:ext cx="3149887" cy="2399915"/>
          </a:xfrm>
          <a:prstGeom prst="rect">
            <a:avLst/>
          </a:prstGeom>
          <a:noFill/>
          <a:extLst>
            <a:ext uri="{909E8E84-426E-40DD-AFC4-6F175D3DCCD1}">
              <a14:hiddenFill xmlns:a14="http://schemas.microsoft.com/office/drawing/2010/main">
                <a:solidFill>
                  <a:srgbClr val="FFFFFF"/>
                </a:solidFill>
              </a14:hiddenFill>
            </a:ext>
          </a:extLst>
        </p:spPr>
      </p:pic>
      <p:grpSp>
        <p:nvGrpSpPr>
          <p:cNvPr id="107" name="Grupo 106">
            <a:extLst>
              <a:ext uri="{FF2B5EF4-FFF2-40B4-BE49-F238E27FC236}">
                <a16:creationId xmlns:a16="http://schemas.microsoft.com/office/drawing/2014/main" id="{EE8AF934-40F8-458A-A131-0D006472F0AF}"/>
              </a:ext>
            </a:extLst>
          </p:cNvPr>
          <p:cNvGrpSpPr/>
          <p:nvPr/>
        </p:nvGrpSpPr>
        <p:grpSpPr>
          <a:xfrm>
            <a:off x="4595540" y="1789957"/>
            <a:ext cx="3627717" cy="2839996"/>
            <a:chOff x="4849271" y="2749244"/>
            <a:chExt cx="3627717" cy="2839996"/>
          </a:xfrm>
        </p:grpSpPr>
        <p:cxnSp>
          <p:nvCxnSpPr>
            <p:cNvPr id="11" name="16 Conector recto">
              <a:extLst>
                <a:ext uri="{FF2B5EF4-FFF2-40B4-BE49-F238E27FC236}">
                  <a16:creationId xmlns:a16="http://schemas.microsoft.com/office/drawing/2014/main" id="{449E2544-E219-4366-926F-AEE4F32CF55B}"/>
                </a:ext>
              </a:extLst>
            </p:cNvPr>
            <p:cNvCxnSpPr>
              <a:cxnSpLocks/>
            </p:cNvCxnSpPr>
            <p:nvPr/>
          </p:nvCxnSpPr>
          <p:spPr bwMode="auto">
            <a:xfrm>
              <a:off x="5667573" y="5589240"/>
              <a:ext cx="196645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 name="Grupo 1">
              <a:extLst>
                <a:ext uri="{FF2B5EF4-FFF2-40B4-BE49-F238E27FC236}">
                  <a16:creationId xmlns:a16="http://schemas.microsoft.com/office/drawing/2014/main" id="{53D254EE-46A3-4D21-85AB-7783B4A7C2D8}"/>
                </a:ext>
              </a:extLst>
            </p:cNvPr>
            <p:cNvGrpSpPr/>
            <p:nvPr/>
          </p:nvGrpSpPr>
          <p:grpSpPr>
            <a:xfrm>
              <a:off x="4849271" y="2762210"/>
              <a:ext cx="1486368" cy="2493942"/>
              <a:chOff x="4849271" y="2762210"/>
              <a:chExt cx="1486368" cy="2493942"/>
            </a:xfrm>
          </p:grpSpPr>
          <p:grpSp>
            <p:nvGrpSpPr>
              <p:cNvPr id="7" name="22 Grupo">
                <a:extLst>
                  <a:ext uri="{FF2B5EF4-FFF2-40B4-BE49-F238E27FC236}">
                    <a16:creationId xmlns:a16="http://schemas.microsoft.com/office/drawing/2014/main" id="{E7A7E5FA-D6C8-4394-9828-470C4E79BE49}"/>
                  </a:ext>
                </a:extLst>
              </p:cNvPr>
              <p:cNvGrpSpPr>
                <a:grpSpLocks/>
              </p:cNvGrpSpPr>
              <p:nvPr/>
            </p:nvGrpSpPr>
            <p:grpSpPr bwMode="auto">
              <a:xfrm>
                <a:off x="4849271" y="3108318"/>
                <a:ext cx="1484312" cy="245107"/>
                <a:chOff x="1382440" y="4126387"/>
                <a:chExt cx="1484226" cy="245067"/>
              </a:xfrm>
            </p:grpSpPr>
            <p:sp>
              <p:nvSpPr>
                <p:cNvPr id="25" name="29 Rectángulo">
                  <a:extLst>
                    <a:ext uri="{FF2B5EF4-FFF2-40B4-BE49-F238E27FC236}">
                      <a16:creationId xmlns:a16="http://schemas.microsoft.com/office/drawing/2014/main" id="{02611C33-5F24-46B3-BD80-5EC34E2D3C96}"/>
                    </a:ext>
                  </a:extLst>
                </p:cNvPr>
                <p:cNvSpPr/>
                <p:nvPr/>
              </p:nvSpPr>
              <p:spPr>
                <a:xfrm>
                  <a:off x="1382440" y="4132736"/>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6" name="30 Rectángulo">
                  <a:extLst>
                    <a:ext uri="{FF2B5EF4-FFF2-40B4-BE49-F238E27FC236}">
                      <a16:creationId xmlns:a16="http://schemas.microsoft.com/office/drawing/2014/main" id="{D1BE216B-CF27-4F6D-AE9E-385B6C9951E6}"/>
                    </a:ext>
                  </a:extLst>
                </p:cNvPr>
                <p:cNvSpPr/>
                <p:nvPr/>
              </p:nvSpPr>
              <p:spPr>
                <a:xfrm>
                  <a:off x="1807865"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7" name="31 Rectángulo">
                  <a:extLst>
                    <a:ext uri="{FF2B5EF4-FFF2-40B4-BE49-F238E27FC236}">
                      <a16:creationId xmlns:a16="http://schemas.microsoft.com/office/drawing/2014/main" id="{1EC112B1-37C7-4DD0-8A1C-FDF1A7A6149D}"/>
                    </a:ext>
                  </a:extLst>
                </p:cNvPr>
                <p:cNvSpPr/>
                <p:nvPr/>
              </p:nvSpPr>
              <p:spPr>
                <a:xfrm>
                  <a:off x="2233291"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8" name="32 Rectángulo">
                  <a:extLst>
                    <a:ext uri="{FF2B5EF4-FFF2-40B4-BE49-F238E27FC236}">
                      <a16:creationId xmlns:a16="http://schemas.microsoft.com/office/drawing/2014/main" id="{EB2C2A82-8191-4BF2-8F07-ADCAC3912AE9}"/>
                    </a:ext>
                  </a:extLst>
                </p:cNvPr>
                <p:cNvSpPr/>
                <p:nvPr/>
              </p:nvSpPr>
              <p:spPr>
                <a:xfrm>
                  <a:off x="2650779"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8" name="23 Grupo">
                <a:extLst>
                  <a:ext uri="{FF2B5EF4-FFF2-40B4-BE49-F238E27FC236}">
                    <a16:creationId xmlns:a16="http://schemas.microsoft.com/office/drawing/2014/main" id="{C91A9263-45F1-4C98-887E-92915D26CBBB}"/>
                  </a:ext>
                </a:extLst>
              </p:cNvPr>
              <p:cNvGrpSpPr>
                <a:grpSpLocks/>
              </p:cNvGrpSpPr>
              <p:nvPr/>
            </p:nvGrpSpPr>
            <p:grpSpPr bwMode="auto">
              <a:xfrm>
                <a:off x="4849271" y="3502082"/>
                <a:ext cx="1484312" cy="245107"/>
                <a:chOff x="1382440" y="4520087"/>
                <a:chExt cx="1484226" cy="245067"/>
              </a:xfrm>
            </p:grpSpPr>
            <p:sp>
              <p:nvSpPr>
                <p:cNvPr id="21" name="25 Rectángulo">
                  <a:extLst>
                    <a:ext uri="{FF2B5EF4-FFF2-40B4-BE49-F238E27FC236}">
                      <a16:creationId xmlns:a16="http://schemas.microsoft.com/office/drawing/2014/main" id="{9F6496AF-942F-4C1E-9C80-394AE8C2B19F}"/>
                    </a:ext>
                  </a:extLst>
                </p:cNvPr>
                <p:cNvSpPr/>
                <p:nvPr/>
              </p:nvSpPr>
              <p:spPr>
                <a:xfrm>
                  <a:off x="1382440" y="4526372"/>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2" name="26 Rectángulo">
                  <a:extLst>
                    <a:ext uri="{FF2B5EF4-FFF2-40B4-BE49-F238E27FC236}">
                      <a16:creationId xmlns:a16="http://schemas.microsoft.com/office/drawing/2014/main" id="{9470D467-73FD-4625-9018-63FE5DD0E294}"/>
                    </a:ext>
                  </a:extLst>
                </p:cNvPr>
                <p:cNvSpPr/>
                <p:nvPr/>
              </p:nvSpPr>
              <p:spPr>
                <a:xfrm>
                  <a:off x="1807865" y="4520023"/>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3" name="27 Rectángulo">
                  <a:extLst>
                    <a:ext uri="{FF2B5EF4-FFF2-40B4-BE49-F238E27FC236}">
                      <a16:creationId xmlns:a16="http://schemas.microsoft.com/office/drawing/2014/main" id="{C3D58233-6983-4919-80E8-29720AA764F1}"/>
                    </a:ext>
                  </a:extLst>
                </p:cNvPr>
                <p:cNvSpPr/>
                <p:nvPr/>
              </p:nvSpPr>
              <p:spPr>
                <a:xfrm>
                  <a:off x="2233291" y="4520023"/>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4" name="28 Rectángulo">
                  <a:extLst>
                    <a:ext uri="{FF2B5EF4-FFF2-40B4-BE49-F238E27FC236}">
                      <a16:creationId xmlns:a16="http://schemas.microsoft.com/office/drawing/2014/main" id="{1222B0B2-817A-495C-AC19-A84BB7CF42C0}"/>
                    </a:ext>
                  </a:extLst>
                </p:cNvPr>
                <p:cNvSpPr/>
                <p:nvPr/>
              </p:nvSpPr>
              <p:spPr>
                <a:xfrm>
                  <a:off x="2650779" y="4520023"/>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9" name="24 Grupo">
                <a:extLst>
                  <a:ext uri="{FF2B5EF4-FFF2-40B4-BE49-F238E27FC236}">
                    <a16:creationId xmlns:a16="http://schemas.microsoft.com/office/drawing/2014/main" id="{BED1F3EA-BFA2-4323-A258-C63F2FE12058}"/>
                  </a:ext>
                </a:extLst>
              </p:cNvPr>
              <p:cNvGrpSpPr>
                <a:grpSpLocks/>
              </p:cNvGrpSpPr>
              <p:nvPr/>
            </p:nvGrpSpPr>
            <p:grpSpPr bwMode="auto">
              <a:xfrm>
                <a:off x="4849271" y="3895847"/>
                <a:ext cx="1484312" cy="245107"/>
                <a:chOff x="1382440" y="4913787"/>
                <a:chExt cx="1484226" cy="245067"/>
              </a:xfrm>
            </p:grpSpPr>
            <p:sp>
              <p:nvSpPr>
                <p:cNvPr id="17" name="21 Rectángulo">
                  <a:extLst>
                    <a:ext uri="{FF2B5EF4-FFF2-40B4-BE49-F238E27FC236}">
                      <a16:creationId xmlns:a16="http://schemas.microsoft.com/office/drawing/2014/main" id="{8F3E7DEB-C5F4-4F1E-91C2-D43F00BB0D22}"/>
                    </a:ext>
                  </a:extLst>
                </p:cNvPr>
                <p:cNvSpPr/>
                <p:nvPr/>
              </p:nvSpPr>
              <p:spPr>
                <a:xfrm>
                  <a:off x="1382440" y="4920007"/>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8" name="22 Rectángulo">
                  <a:extLst>
                    <a:ext uri="{FF2B5EF4-FFF2-40B4-BE49-F238E27FC236}">
                      <a16:creationId xmlns:a16="http://schemas.microsoft.com/office/drawing/2014/main" id="{6018BF0C-A1D0-43BF-BC52-73048076BDAC}"/>
                    </a:ext>
                  </a:extLst>
                </p:cNvPr>
                <p:cNvSpPr/>
                <p:nvPr/>
              </p:nvSpPr>
              <p:spPr>
                <a:xfrm>
                  <a:off x="1807865"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9" name="23 Rectángulo">
                  <a:extLst>
                    <a:ext uri="{FF2B5EF4-FFF2-40B4-BE49-F238E27FC236}">
                      <a16:creationId xmlns:a16="http://schemas.microsoft.com/office/drawing/2014/main" id="{0A11C85F-B172-4B85-AB88-4417DA3E3772}"/>
                    </a:ext>
                  </a:extLst>
                </p:cNvPr>
                <p:cNvSpPr/>
                <p:nvPr/>
              </p:nvSpPr>
              <p:spPr>
                <a:xfrm>
                  <a:off x="2233291"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0" name="24 Rectángulo">
                  <a:extLst>
                    <a:ext uri="{FF2B5EF4-FFF2-40B4-BE49-F238E27FC236}">
                      <a16:creationId xmlns:a16="http://schemas.microsoft.com/office/drawing/2014/main" id="{1AC2F307-A1CC-4E47-B75C-F994B0A3EAFB}"/>
                    </a:ext>
                  </a:extLst>
                </p:cNvPr>
                <p:cNvSpPr/>
                <p:nvPr/>
              </p:nvSpPr>
              <p:spPr>
                <a:xfrm>
                  <a:off x="2650779"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10" name="25 Grupo">
                <a:extLst>
                  <a:ext uri="{FF2B5EF4-FFF2-40B4-BE49-F238E27FC236}">
                    <a16:creationId xmlns:a16="http://schemas.microsoft.com/office/drawing/2014/main" id="{D161696C-2691-42A9-8E3B-E74DDF410F5B}"/>
                  </a:ext>
                </a:extLst>
              </p:cNvPr>
              <p:cNvGrpSpPr>
                <a:grpSpLocks/>
              </p:cNvGrpSpPr>
              <p:nvPr/>
            </p:nvGrpSpPr>
            <p:grpSpPr bwMode="auto">
              <a:xfrm>
                <a:off x="4849271" y="4264207"/>
                <a:ext cx="1484312" cy="245107"/>
                <a:chOff x="1382440" y="5282087"/>
                <a:chExt cx="1484226" cy="245067"/>
              </a:xfrm>
            </p:grpSpPr>
            <p:sp>
              <p:nvSpPr>
                <p:cNvPr id="12" name="17 Rectángulo">
                  <a:extLst>
                    <a:ext uri="{FF2B5EF4-FFF2-40B4-BE49-F238E27FC236}">
                      <a16:creationId xmlns:a16="http://schemas.microsoft.com/office/drawing/2014/main" id="{4CC8F31C-A919-47DA-872B-B5D55B1D8601}"/>
                    </a:ext>
                  </a:extLst>
                </p:cNvPr>
                <p:cNvSpPr/>
                <p:nvPr/>
              </p:nvSpPr>
              <p:spPr>
                <a:xfrm>
                  <a:off x="1382440" y="5288247"/>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4" name="18 Rectángulo">
                  <a:extLst>
                    <a:ext uri="{FF2B5EF4-FFF2-40B4-BE49-F238E27FC236}">
                      <a16:creationId xmlns:a16="http://schemas.microsoft.com/office/drawing/2014/main" id="{80968FD1-C455-49DC-8867-D33F288C18A0}"/>
                    </a:ext>
                  </a:extLst>
                </p:cNvPr>
                <p:cNvSpPr/>
                <p:nvPr/>
              </p:nvSpPr>
              <p:spPr>
                <a:xfrm>
                  <a:off x="1807865"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5" name="19 Rectángulo">
                  <a:extLst>
                    <a:ext uri="{FF2B5EF4-FFF2-40B4-BE49-F238E27FC236}">
                      <a16:creationId xmlns:a16="http://schemas.microsoft.com/office/drawing/2014/main" id="{7851469E-C5B0-4475-8E61-1159C8A2C227}"/>
                    </a:ext>
                  </a:extLst>
                </p:cNvPr>
                <p:cNvSpPr/>
                <p:nvPr/>
              </p:nvSpPr>
              <p:spPr>
                <a:xfrm>
                  <a:off x="2233291"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6" name="20 Rectángulo">
                  <a:extLst>
                    <a:ext uri="{FF2B5EF4-FFF2-40B4-BE49-F238E27FC236}">
                      <a16:creationId xmlns:a16="http://schemas.microsoft.com/office/drawing/2014/main" id="{4EA7D8D8-C5C1-4A44-BCAA-BB0609AA3E5F}"/>
                    </a:ext>
                  </a:extLst>
                </p:cNvPr>
                <p:cNvSpPr/>
                <p:nvPr/>
              </p:nvSpPr>
              <p:spPr>
                <a:xfrm>
                  <a:off x="2650779"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57" name="24 Grupo">
                <a:extLst>
                  <a:ext uri="{FF2B5EF4-FFF2-40B4-BE49-F238E27FC236}">
                    <a16:creationId xmlns:a16="http://schemas.microsoft.com/office/drawing/2014/main" id="{AF5B4835-6965-41A5-9BAA-90DCABABD656}"/>
                  </a:ext>
                </a:extLst>
              </p:cNvPr>
              <p:cNvGrpSpPr>
                <a:grpSpLocks/>
              </p:cNvGrpSpPr>
              <p:nvPr/>
            </p:nvGrpSpPr>
            <p:grpSpPr bwMode="auto">
              <a:xfrm>
                <a:off x="4849271" y="4642685"/>
                <a:ext cx="1484312" cy="245107"/>
                <a:chOff x="1382440" y="4913787"/>
                <a:chExt cx="1484226" cy="245067"/>
              </a:xfrm>
            </p:grpSpPr>
            <p:sp>
              <p:nvSpPr>
                <p:cNvPr id="58" name="21 Rectángulo">
                  <a:extLst>
                    <a:ext uri="{FF2B5EF4-FFF2-40B4-BE49-F238E27FC236}">
                      <a16:creationId xmlns:a16="http://schemas.microsoft.com/office/drawing/2014/main" id="{DA4FF977-50F0-4B9C-B2C8-1594FCEA39A4}"/>
                    </a:ext>
                  </a:extLst>
                </p:cNvPr>
                <p:cNvSpPr/>
                <p:nvPr/>
              </p:nvSpPr>
              <p:spPr>
                <a:xfrm>
                  <a:off x="1382440" y="4920007"/>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59" name="22 Rectángulo">
                  <a:extLst>
                    <a:ext uri="{FF2B5EF4-FFF2-40B4-BE49-F238E27FC236}">
                      <a16:creationId xmlns:a16="http://schemas.microsoft.com/office/drawing/2014/main" id="{D0F5A12A-DD0E-458E-84F8-838B5868FC50}"/>
                    </a:ext>
                  </a:extLst>
                </p:cNvPr>
                <p:cNvSpPr/>
                <p:nvPr/>
              </p:nvSpPr>
              <p:spPr>
                <a:xfrm>
                  <a:off x="1807865"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60" name="23 Rectángulo">
                  <a:extLst>
                    <a:ext uri="{FF2B5EF4-FFF2-40B4-BE49-F238E27FC236}">
                      <a16:creationId xmlns:a16="http://schemas.microsoft.com/office/drawing/2014/main" id="{925F1693-2D5A-4FC7-98DE-DC0355FAB0D6}"/>
                    </a:ext>
                  </a:extLst>
                </p:cNvPr>
                <p:cNvSpPr/>
                <p:nvPr/>
              </p:nvSpPr>
              <p:spPr>
                <a:xfrm>
                  <a:off x="2233291"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61" name="24 Rectángulo">
                  <a:extLst>
                    <a:ext uri="{FF2B5EF4-FFF2-40B4-BE49-F238E27FC236}">
                      <a16:creationId xmlns:a16="http://schemas.microsoft.com/office/drawing/2014/main" id="{97D81016-31BE-4CDB-81A0-21C59AC1E33D}"/>
                    </a:ext>
                  </a:extLst>
                </p:cNvPr>
                <p:cNvSpPr/>
                <p:nvPr/>
              </p:nvSpPr>
              <p:spPr>
                <a:xfrm>
                  <a:off x="2650779"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62" name="25 Grupo">
                <a:extLst>
                  <a:ext uri="{FF2B5EF4-FFF2-40B4-BE49-F238E27FC236}">
                    <a16:creationId xmlns:a16="http://schemas.microsoft.com/office/drawing/2014/main" id="{50E8B180-032B-426F-B72E-908977CF2495}"/>
                  </a:ext>
                </a:extLst>
              </p:cNvPr>
              <p:cNvGrpSpPr>
                <a:grpSpLocks/>
              </p:cNvGrpSpPr>
              <p:nvPr/>
            </p:nvGrpSpPr>
            <p:grpSpPr bwMode="auto">
              <a:xfrm>
                <a:off x="4849271" y="5011045"/>
                <a:ext cx="1484312" cy="245107"/>
                <a:chOff x="1382440" y="5282087"/>
                <a:chExt cx="1484226" cy="245067"/>
              </a:xfrm>
            </p:grpSpPr>
            <p:sp>
              <p:nvSpPr>
                <p:cNvPr id="63" name="17 Rectángulo">
                  <a:extLst>
                    <a:ext uri="{FF2B5EF4-FFF2-40B4-BE49-F238E27FC236}">
                      <a16:creationId xmlns:a16="http://schemas.microsoft.com/office/drawing/2014/main" id="{4A004076-922A-4B4B-97ED-7E528CCFEE63}"/>
                    </a:ext>
                  </a:extLst>
                </p:cNvPr>
                <p:cNvSpPr/>
                <p:nvPr/>
              </p:nvSpPr>
              <p:spPr>
                <a:xfrm>
                  <a:off x="1382440" y="5288247"/>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64" name="18 Rectángulo">
                  <a:extLst>
                    <a:ext uri="{FF2B5EF4-FFF2-40B4-BE49-F238E27FC236}">
                      <a16:creationId xmlns:a16="http://schemas.microsoft.com/office/drawing/2014/main" id="{37F28F2F-541D-4E90-B129-AC73576CE0FE}"/>
                    </a:ext>
                  </a:extLst>
                </p:cNvPr>
                <p:cNvSpPr/>
                <p:nvPr/>
              </p:nvSpPr>
              <p:spPr>
                <a:xfrm>
                  <a:off x="1807865"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65" name="19 Rectángulo">
                  <a:extLst>
                    <a:ext uri="{FF2B5EF4-FFF2-40B4-BE49-F238E27FC236}">
                      <a16:creationId xmlns:a16="http://schemas.microsoft.com/office/drawing/2014/main" id="{7DB28F5F-AC7A-4312-9FB8-85D8317CC5E9}"/>
                    </a:ext>
                  </a:extLst>
                </p:cNvPr>
                <p:cNvSpPr/>
                <p:nvPr/>
              </p:nvSpPr>
              <p:spPr>
                <a:xfrm>
                  <a:off x="2233291"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66" name="20 Rectángulo">
                  <a:extLst>
                    <a:ext uri="{FF2B5EF4-FFF2-40B4-BE49-F238E27FC236}">
                      <a16:creationId xmlns:a16="http://schemas.microsoft.com/office/drawing/2014/main" id="{FA157933-AD1C-4E3F-9C52-ED5DCEA326F5}"/>
                    </a:ext>
                  </a:extLst>
                </p:cNvPr>
                <p:cNvSpPr/>
                <p:nvPr/>
              </p:nvSpPr>
              <p:spPr>
                <a:xfrm>
                  <a:off x="2650779"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97" name="22 Grupo">
                <a:extLst>
                  <a:ext uri="{FF2B5EF4-FFF2-40B4-BE49-F238E27FC236}">
                    <a16:creationId xmlns:a16="http://schemas.microsoft.com/office/drawing/2014/main" id="{97A60F90-F928-4565-80DC-9E77C9BB941B}"/>
                  </a:ext>
                </a:extLst>
              </p:cNvPr>
              <p:cNvGrpSpPr>
                <a:grpSpLocks/>
              </p:cNvGrpSpPr>
              <p:nvPr/>
            </p:nvGrpSpPr>
            <p:grpSpPr bwMode="auto">
              <a:xfrm>
                <a:off x="4851327" y="2762210"/>
                <a:ext cx="1484312" cy="245107"/>
                <a:chOff x="1382440" y="4126387"/>
                <a:chExt cx="1484226" cy="245067"/>
              </a:xfrm>
            </p:grpSpPr>
            <p:sp>
              <p:nvSpPr>
                <p:cNvPr id="98" name="29 Rectángulo">
                  <a:extLst>
                    <a:ext uri="{FF2B5EF4-FFF2-40B4-BE49-F238E27FC236}">
                      <a16:creationId xmlns:a16="http://schemas.microsoft.com/office/drawing/2014/main" id="{454F219D-9BFA-46EA-BE4C-168148DD6AA6}"/>
                    </a:ext>
                  </a:extLst>
                </p:cNvPr>
                <p:cNvSpPr/>
                <p:nvPr/>
              </p:nvSpPr>
              <p:spPr>
                <a:xfrm>
                  <a:off x="1382440" y="4132736"/>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99" name="30 Rectángulo">
                  <a:extLst>
                    <a:ext uri="{FF2B5EF4-FFF2-40B4-BE49-F238E27FC236}">
                      <a16:creationId xmlns:a16="http://schemas.microsoft.com/office/drawing/2014/main" id="{288EBE5D-7BD9-475B-8332-8A50DAA77767}"/>
                    </a:ext>
                  </a:extLst>
                </p:cNvPr>
                <p:cNvSpPr/>
                <p:nvPr/>
              </p:nvSpPr>
              <p:spPr>
                <a:xfrm>
                  <a:off x="1807865"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00" name="31 Rectángulo">
                  <a:extLst>
                    <a:ext uri="{FF2B5EF4-FFF2-40B4-BE49-F238E27FC236}">
                      <a16:creationId xmlns:a16="http://schemas.microsoft.com/office/drawing/2014/main" id="{064ED873-8542-4B80-A43E-2EECFA072215}"/>
                    </a:ext>
                  </a:extLst>
                </p:cNvPr>
                <p:cNvSpPr/>
                <p:nvPr/>
              </p:nvSpPr>
              <p:spPr>
                <a:xfrm>
                  <a:off x="2233291"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01" name="32 Rectángulo">
                  <a:extLst>
                    <a:ext uri="{FF2B5EF4-FFF2-40B4-BE49-F238E27FC236}">
                      <a16:creationId xmlns:a16="http://schemas.microsoft.com/office/drawing/2014/main" id="{C262D529-9D1F-48D7-8B13-603DE13ACB49}"/>
                    </a:ext>
                  </a:extLst>
                </p:cNvPr>
                <p:cNvSpPr/>
                <p:nvPr/>
              </p:nvSpPr>
              <p:spPr>
                <a:xfrm>
                  <a:off x="2650779"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grpSp>
          <p:nvGrpSpPr>
            <p:cNvPr id="3" name="Grupo 2">
              <a:extLst>
                <a:ext uri="{FF2B5EF4-FFF2-40B4-BE49-F238E27FC236}">
                  <a16:creationId xmlns:a16="http://schemas.microsoft.com/office/drawing/2014/main" id="{BBDD45B4-B800-4D07-9514-BAD698A09FE9}"/>
                </a:ext>
              </a:extLst>
            </p:cNvPr>
            <p:cNvGrpSpPr/>
            <p:nvPr/>
          </p:nvGrpSpPr>
          <p:grpSpPr>
            <a:xfrm>
              <a:off x="6976766" y="2749244"/>
              <a:ext cx="1500222" cy="2513069"/>
              <a:chOff x="6976766" y="2749244"/>
              <a:chExt cx="1500222" cy="2513069"/>
            </a:xfrm>
          </p:grpSpPr>
          <p:grpSp>
            <p:nvGrpSpPr>
              <p:cNvPr id="67" name="22 Grupo">
                <a:extLst>
                  <a:ext uri="{FF2B5EF4-FFF2-40B4-BE49-F238E27FC236}">
                    <a16:creationId xmlns:a16="http://schemas.microsoft.com/office/drawing/2014/main" id="{3AA75B20-7402-41D9-9816-BCC691BE3F99}"/>
                  </a:ext>
                </a:extLst>
              </p:cNvPr>
              <p:cNvGrpSpPr>
                <a:grpSpLocks/>
              </p:cNvGrpSpPr>
              <p:nvPr/>
            </p:nvGrpSpPr>
            <p:grpSpPr bwMode="auto">
              <a:xfrm>
                <a:off x="6976766" y="3114479"/>
                <a:ext cx="1484312" cy="245107"/>
                <a:chOff x="1382440" y="4126387"/>
                <a:chExt cx="1484226" cy="245067"/>
              </a:xfrm>
            </p:grpSpPr>
            <p:sp>
              <p:nvSpPr>
                <p:cNvPr id="68" name="29 Rectángulo">
                  <a:extLst>
                    <a:ext uri="{FF2B5EF4-FFF2-40B4-BE49-F238E27FC236}">
                      <a16:creationId xmlns:a16="http://schemas.microsoft.com/office/drawing/2014/main" id="{10515C08-41EB-4F9A-8FCE-2E9AE07A328C}"/>
                    </a:ext>
                  </a:extLst>
                </p:cNvPr>
                <p:cNvSpPr/>
                <p:nvPr/>
              </p:nvSpPr>
              <p:spPr>
                <a:xfrm>
                  <a:off x="1382440" y="4132736"/>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69" name="30 Rectángulo">
                  <a:extLst>
                    <a:ext uri="{FF2B5EF4-FFF2-40B4-BE49-F238E27FC236}">
                      <a16:creationId xmlns:a16="http://schemas.microsoft.com/office/drawing/2014/main" id="{C6143AB5-A65B-4F4B-B6DA-32AC89FC0CEA}"/>
                    </a:ext>
                  </a:extLst>
                </p:cNvPr>
                <p:cNvSpPr/>
                <p:nvPr/>
              </p:nvSpPr>
              <p:spPr>
                <a:xfrm>
                  <a:off x="1807865"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70" name="31 Rectángulo">
                  <a:extLst>
                    <a:ext uri="{FF2B5EF4-FFF2-40B4-BE49-F238E27FC236}">
                      <a16:creationId xmlns:a16="http://schemas.microsoft.com/office/drawing/2014/main" id="{F571AAA5-2903-48F7-B329-C021F703E852}"/>
                    </a:ext>
                  </a:extLst>
                </p:cNvPr>
                <p:cNvSpPr/>
                <p:nvPr/>
              </p:nvSpPr>
              <p:spPr>
                <a:xfrm>
                  <a:off x="2233291"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71" name="32 Rectángulo">
                  <a:extLst>
                    <a:ext uri="{FF2B5EF4-FFF2-40B4-BE49-F238E27FC236}">
                      <a16:creationId xmlns:a16="http://schemas.microsoft.com/office/drawing/2014/main" id="{58829E0F-6079-42D5-A6D6-E4246D494589}"/>
                    </a:ext>
                  </a:extLst>
                </p:cNvPr>
                <p:cNvSpPr/>
                <p:nvPr/>
              </p:nvSpPr>
              <p:spPr>
                <a:xfrm>
                  <a:off x="2650779"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72" name="23 Grupo">
                <a:extLst>
                  <a:ext uri="{FF2B5EF4-FFF2-40B4-BE49-F238E27FC236}">
                    <a16:creationId xmlns:a16="http://schemas.microsoft.com/office/drawing/2014/main" id="{95ACFCB4-1998-45EA-9966-464519F0C99A}"/>
                  </a:ext>
                </a:extLst>
              </p:cNvPr>
              <p:cNvGrpSpPr>
                <a:grpSpLocks/>
              </p:cNvGrpSpPr>
              <p:nvPr/>
            </p:nvGrpSpPr>
            <p:grpSpPr bwMode="auto">
              <a:xfrm>
                <a:off x="6976766" y="3508243"/>
                <a:ext cx="1484312" cy="245107"/>
                <a:chOff x="1382440" y="4520087"/>
                <a:chExt cx="1484226" cy="245067"/>
              </a:xfrm>
            </p:grpSpPr>
            <p:sp>
              <p:nvSpPr>
                <p:cNvPr id="73" name="25 Rectángulo">
                  <a:extLst>
                    <a:ext uri="{FF2B5EF4-FFF2-40B4-BE49-F238E27FC236}">
                      <a16:creationId xmlns:a16="http://schemas.microsoft.com/office/drawing/2014/main" id="{0C45C651-773A-40F4-BE25-B12F5AA7A97A}"/>
                    </a:ext>
                  </a:extLst>
                </p:cNvPr>
                <p:cNvSpPr/>
                <p:nvPr/>
              </p:nvSpPr>
              <p:spPr>
                <a:xfrm>
                  <a:off x="1382440" y="4526372"/>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74" name="26 Rectángulo">
                  <a:extLst>
                    <a:ext uri="{FF2B5EF4-FFF2-40B4-BE49-F238E27FC236}">
                      <a16:creationId xmlns:a16="http://schemas.microsoft.com/office/drawing/2014/main" id="{BA57E17A-A220-454F-A507-B7A5AA2C0CA0}"/>
                    </a:ext>
                  </a:extLst>
                </p:cNvPr>
                <p:cNvSpPr/>
                <p:nvPr/>
              </p:nvSpPr>
              <p:spPr>
                <a:xfrm>
                  <a:off x="1807865" y="4520023"/>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75" name="27 Rectángulo">
                  <a:extLst>
                    <a:ext uri="{FF2B5EF4-FFF2-40B4-BE49-F238E27FC236}">
                      <a16:creationId xmlns:a16="http://schemas.microsoft.com/office/drawing/2014/main" id="{0BA057CC-4512-4F95-B859-6E4D7B2204DB}"/>
                    </a:ext>
                  </a:extLst>
                </p:cNvPr>
                <p:cNvSpPr/>
                <p:nvPr/>
              </p:nvSpPr>
              <p:spPr>
                <a:xfrm>
                  <a:off x="2233291" y="4520023"/>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76" name="28 Rectángulo">
                  <a:extLst>
                    <a:ext uri="{FF2B5EF4-FFF2-40B4-BE49-F238E27FC236}">
                      <a16:creationId xmlns:a16="http://schemas.microsoft.com/office/drawing/2014/main" id="{4EAD9913-6006-4A0B-8B40-D1E01D338C83}"/>
                    </a:ext>
                  </a:extLst>
                </p:cNvPr>
                <p:cNvSpPr/>
                <p:nvPr/>
              </p:nvSpPr>
              <p:spPr>
                <a:xfrm>
                  <a:off x="2650779" y="4520023"/>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77" name="24 Grupo">
                <a:extLst>
                  <a:ext uri="{FF2B5EF4-FFF2-40B4-BE49-F238E27FC236}">
                    <a16:creationId xmlns:a16="http://schemas.microsoft.com/office/drawing/2014/main" id="{60317122-D782-49DC-BFA0-229EA39693F9}"/>
                  </a:ext>
                </a:extLst>
              </p:cNvPr>
              <p:cNvGrpSpPr>
                <a:grpSpLocks/>
              </p:cNvGrpSpPr>
              <p:nvPr/>
            </p:nvGrpSpPr>
            <p:grpSpPr bwMode="auto">
              <a:xfrm>
                <a:off x="6976766" y="3902008"/>
                <a:ext cx="1484312" cy="245107"/>
                <a:chOff x="1382440" y="4913787"/>
                <a:chExt cx="1484226" cy="245067"/>
              </a:xfrm>
            </p:grpSpPr>
            <p:sp>
              <p:nvSpPr>
                <p:cNvPr id="78" name="21 Rectángulo">
                  <a:extLst>
                    <a:ext uri="{FF2B5EF4-FFF2-40B4-BE49-F238E27FC236}">
                      <a16:creationId xmlns:a16="http://schemas.microsoft.com/office/drawing/2014/main" id="{A3E6717A-F034-4EE8-BF9B-2C7F0609556E}"/>
                    </a:ext>
                  </a:extLst>
                </p:cNvPr>
                <p:cNvSpPr/>
                <p:nvPr/>
              </p:nvSpPr>
              <p:spPr>
                <a:xfrm>
                  <a:off x="1382440" y="4920007"/>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79" name="22 Rectángulo">
                  <a:extLst>
                    <a:ext uri="{FF2B5EF4-FFF2-40B4-BE49-F238E27FC236}">
                      <a16:creationId xmlns:a16="http://schemas.microsoft.com/office/drawing/2014/main" id="{18B2FFBF-34AB-4E27-A16F-A62375C59310}"/>
                    </a:ext>
                  </a:extLst>
                </p:cNvPr>
                <p:cNvSpPr/>
                <p:nvPr/>
              </p:nvSpPr>
              <p:spPr>
                <a:xfrm>
                  <a:off x="1807865"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80" name="23 Rectángulo">
                  <a:extLst>
                    <a:ext uri="{FF2B5EF4-FFF2-40B4-BE49-F238E27FC236}">
                      <a16:creationId xmlns:a16="http://schemas.microsoft.com/office/drawing/2014/main" id="{D34C9232-7B7F-49FB-81E6-AEC46C27A8EE}"/>
                    </a:ext>
                  </a:extLst>
                </p:cNvPr>
                <p:cNvSpPr/>
                <p:nvPr/>
              </p:nvSpPr>
              <p:spPr>
                <a:xfrm>
                  <a:off x="2233291"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81" name="24 Rectángulo">
                  <a:extLst>
                    <a:ext uri="{FF2B5EF4-FFF2-40B4-BE49-F238E27FC236}">
                      <a16:creationId xmlns:a16="http://schemas.microsoft.com/office/drawing/2014/main" id="{000C03B5-3CCE-46BB-AAD4-8DD3C7420A44}"/>
                    </a:ext>
                  </a:extLst>
                </p:cNvPr>
                <p:cNvSpPr/>
                <p:nvPr/>
              </p:nvSpPr>
              <p:spPr>
                <a:xfrm>
                  <a:off x="2650779"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82" name="25 Grupo">
                <a:extLst>
                  <a:ext uri="{FF2B5EF4-FFF2-40B4-BE49-F238E27FC236}">
                    <a16:creationId xmlns:a16="http://schemas.microsoft.com/office/drawing/2014/main" id="{50C2D6F3-66C9-40D0-A866-55D30A2829B6}"/>
                  </a:ext>
                </a:extLst>
              </p:cNvPr>
              <p:cNvGrpSpPr>
                <a:grpSpLocks/>
              </p:cNvGrpSpPr>
              <p:nvPr/>
            </p:nvGrpSpPr>
            <p:grpSpPr bwMode="auto">
              <a:xfrm>
                <a:off x="6976766" y="4270368"/>
                <a:ext cx="1484312" cy="245107"/>
                <a:chOff x="1382440" y="5282087"/>
                <a:chExt cx="1484226" cy="245067"/>
              </a:xfrm>
            </p:grpSpPr>
            <p:sp>
              <p:nvSpPr>
                <p:cNvPr id="83" name="17 Rectángulo">
                  <a:extLst>
                    <a:ext uri="{FF2B5EF4-FFF2-40B4-BE49-F238E27FC236}">
                      <a16:creationId xmlns:a16="http://schemas.microsoft.com/office/drawing/2014/main" id="{1C2F7B02-5F53-4AD6-8B7B-8F416ECCE1CC}"/>
                    </a:ext>
                  </a:extLst>
                </p:cNvPr>
                <p:cNvSpPr/>
                <p:nvPr/>
              </p:nvSpPr>
              <p:spPr>
                <a:xfrm>
                  <a:off x="1382440" y="5288247"/>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84" name="18 Rectángulo">
                  <a:extLst>
                    <a:ext uri="{FF2B5EF4-FFF2-40B4-BE49-F238E27FC236}">
                      <a16:creationId xmlns:a16="http://schemas.microsoft.com/office/drawing/2014/main" id="{5E5BF00A-4513-43D4-8141-F388F432E4A6}"/>
                    </a:ext>
                  </a:extLst>
                </p:cNvPr>
                <p:cNvSpPr/>
                <p:nvPr/>
              </p:nvSpPr>
              <p:spPr>
                <a:xfrm>
                  <a:off x="1807865"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85" name="19 Rectángulo">
                  <a:extLst>
                    <a:ext uri="{FF2B5EF4-FFF2-40B4-BE49-F238E27FC236}">
                      <a16:creationId xmlns:a16="http://schemas.microsoft.com/office/drawing/2014/main" id="{05817F55-0D4F-48CD-B701-295341E63F16}"/>
                    </a:ext>
                  </a:extLst>
                </p:cNvPr>
                <p:cNvSpPr/>
                <p:nvPr/>
              </p:nvSpPr>
              <p:spPr>
                <a:xfrm>
                  <a:off x="2233291"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86" name="20 Rectángulo">
                  <a:extLst>
                    <a:ext uri="{FF2B5EF4-FFF2-40B4-BE49-F238E27FC236}">
                      <a16:creationId xmlns:a16="http://schemas.microsoft.com/office/drawing/2014/main" id="{0C3564B3-321D-4B70-9E38-9630D15DAA2F}"/>
                    </a:ext>
                  </a:extLst>
                </p:cNvPr>
                <p:cNvSpPr/>
                <p:nvPr/>
              </p:nvSpPr>
              <p:spPr>
                <a:xfrm>
                  <a:off x="2650779"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87" name="24 Grupo">
                <a:extLst>
                  <a:ext uri="{FF2B5EF4-FFF2-40B4-BE49-F238E27FC236}">
                    <a16:creationId xmlns:a16="http://schemas.microsoft.com/office/drawing/2014/main" id="{2BCF8211-E811-4EA6-A16F-0F9D044CB03D}"/>
                  </a:ext>
                </a:extLst>
              </p:cNvPr>
              <p:cNvGrpSpPr>
                <a:grpSpLocks/>
              </p:cNvGrpSpPr>
              <p:nvPr/>
            </p:nvGrpSpPr>
            <p:grpSpPr bwMode="auto">
              <a:xfrm>
                <a:off x="6976766" y="4648846"/>
                <a:ext cx="1484312" cy="245107"/>
                <a:chOff x="1382440" y="4913787"/>
                <a:chExt cx="1484226" cy="245067"/>
              </a:xfrm>
            </p:grpSpPr>
            <p:sp>
              <p:nvSpPr>
                <p:cNvPr id="88" name="21 Rectángulo">
                  <a:extLst>
                    <a:ext uri="{FF2B5EF4-FFF2-40B4-BE49-F238E27FC236}">
                      <a16:creationId xmlns:a16="http://schemas.microsoft.com/office/drawing/2014/main" id="{9721B368-A6D4-4F66-9EED-317CA4AEE55A}"/>
                    </a:ext>
                  </a:extLst>
                </p:cNvPr>
                <p:cNvSpPr/>
                <p:nvPr/>
              </p:nvSpPr>
              <p:spPr>
                <a:xfrm>
                  <a:off x="1382440" y="4920007"/>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89" name="22 Rectángulo">
                  <a:extLst>
                    <a:ext uri="{FF2B5EF4-FFF2-40B4-BE49-F238E27FC236}">
                      <a16:creationId xmlns:a16="http://schemas.microsoft.com/office/drawing/2014/main" id="{3566BA1B-ABEE-447E-9458-CE833109398D}"/>
                    </a:ext>
                  </a:extLst>
                </p:cNvPr>
                <p:cNvSpPr/>
                <p:nvPr/>
              </p:nvSpPr>
              <p:spPr>
                <a:xfrm>
                  <a:off x="1807865"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90" name="23 Rectángulo">
                  <a:extLst>
                    <a:ext uri="{FF2B5EF4-FFF2-40B4-BE49-F238E27FC236}">
                      <a16:creationId xmlns:a16="http://schemas.microsoft.com/office/drawing/2014/main" id="{8D6C5A48-7769-49F2-94BC-00E313203445}"/>
                    </a:ext>
                  </a:extLst>
                </p:cNvPr>
                <p:cNvSpPr/>
                <p:nvPr/>
              </p:nvSpPr>
              <p:spPr>
                <a:xfrm>
                  <a:off x="2233291"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91" name="24 Rectángulo">
                  <a:extLst>
                    <a:ext uri="{FF2B5EF4-FFF2-40B4-BE49-F238E27FC236}">
                      <a16:creationId xmlns:a16="http://schemas.microsoft.com/office/drawing/2014/main" id="{A1E79D00-3E00-40B9-9492-4E2AB145C18B}"/>
                    </a:ext>
                  </a:extLst>
                </p:cNvPr>
                <p:cNvSpPr/>
                <p:nvPr/>
              </p:nvSpPr>
              <p:spPr>
                <a:xfrm>
                  <a:off x="2650779"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92" name="25 Grupo">
                <a:extLst>
                  <a:ext uri="{FF2B5EF4-FFF2-40B4-BE49-F238E27FC236}">
                    <a16:creationId xmlns:a16="http://schemas.microsoft.com/office/drawing/2014/main" id="{4B637FDF-4BCE-43F2-9A5A-5401830E2D54}"/>
                  </a:ext>
                </a:extLst>
              </p:cNvPr>
              <p:cNvGrpSpPr>
                <a:grpSpLocks/>
              </p:cNvGrpSpPr>
              <p:nvPr/>
            </p:nvGrpSpPr>
            <p:grpSpPr bwMode="auto">
              <a:xfrm>
                <a:off x="6976766" y="5017206"/>
                <a:ext cx="1484312" cy="245107"/>
                <a:chOff x="1382440" y="5282087"/>
                <a:chExt cx="1484226" cy="245067"/>
              </a:xfrm>
            </p:grpSpPr>
            <p:sp>
              <p:nvSpPr>
                <p:cNvPr id="93" name="17 Rectángulo">
                  <a:extLst>
                    <a:ext uri="{FF2B5EF4-FFF2-40B4-BE49-F238E27FC236}">
                      <a16:creationId xmlns:a16="http://schemas.microsoft.com/office/drawing/2014/main" id="{0C52B9D8-CE28-4AE6-8FB3-BB11FEA0CC77}"/>
                    </a:ext>
                  </a:extLst>
                </p:cNvPr>
                <p:cNvSpPr/>
                <p:nvPr/>
              </p:nvSpPr>
              <p:spPr>
                <a:xfrm>
                  <a:off x="1382440" y="5288247"/>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94" name="18 Rectángulo">
                  <a:extLst>
                    <a:ext uri="{FF2B5EF4-FFF2-40B4-BE49-F238E27FC236}">
                      <a16:creationId xmlns:a16="http://schemas.microsoft.com/office/drawing/2014/main" id="{832B4C4E-0CBA-41F7-AB5D-AE928FEED4C7}"/>
                    </a:ext>
                  </a:extLst>
                </p:cNvPr>
                <p:cNvSpPr/>
                <p:nvPr/>
              </p:nvSpPr>
              <p:spPr>
                <a:xfrm>
                  <a:off x="1807865"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95" name="19 Rectángulo">
                  <a:extLst>
                    <a:ext uri="{FF2B5EF4-FFF2-40B4-BE49-F238E27FC236}">
                      <a16:creationId xmlns:a16="http://schemas.microsoft.com/office/drawing/2014/main" id="{BBB76572-2E68-4A51-812E-9A5D094F1571}"/>
                    </a:ext>
                  </a:extLst>
                </p:cNvPr>
                <p:cNvSpPr/>
                <p:nvPr/>
              </p:nvSpPr>
              <p:spPr>
                <a:xfrm>
                  <a:off x="2233291"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96" name="20 Rectángulo">
                  <a:extLst>
                    <a:ext uri="{FF2B5EF4-FFF2-40B4-BE49-F238E27FC236}">
                      <a16:creationId xmlns:a16="http://schemas.microsoft.com/office/drawing/2014/main" id="{1622BB1F-2779-471B-B3C4-7AFEF3AC7CA1}"/>
                    </a:ext>
                  </a:extLst>
                </p:cNvPr>
                <p:cNvSpPr/>
                <p:nvPr/>
              </p:nvSpPr>
              <p:spPr>
                <a:xfrm>
                  <a:off x="2650779"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102" name="22 Grupo">
                <a:extLst>
                  <a:ext uri="{FF2B5EF4-FFF2-40B4-BE49-F238E27FC236}">
                    <a16:creationId xmlns:a16="http://schemas.microsoft.com/office/drawing/2014/main" id="{37D5CF76-6A4F-4A39-8CB9-8F1A34186E56}"/>
                  </a:ext>
                </a:extLst>
              </p:cNvPr>
              <p:cNvGrpSpPr>
                <a:grpSpLocks/>
              </p:cNvGrpSpPr>
              <p:nvPr/>
            </p:nvGrpSpPr>
            <p:grpSpPr bwMode="auto">
              <a:xfrm>
                <a:off x="6992676" y="2749244"/>
                <a:ext cx="1484312" cy="245107"/>
                <a:chOff x="1382440" y="4126387"/>
                <a:chExt cx="1484226" cy="245067"/>
              </a:xfrm>
            </p:grpSpPr>
            <p:sp>
              <p:nvSpPr>
                <p:cNvPr id="103" name="29 Rectángulo">
                  <a:extLst>
                    <a:ext uri="{FF2B5EF4-FFF2-40B4-BE49-F238E27FC236}">
                      <a16:creationId xmlns:a16="http://schemas.microsoft.com/office/drawing/2014/main" id="{9167F321-E2E6-4A92-9AEC-A251556366E2}"/>
                    </a:ext>
                  </a:extLst>
                </p:cNvPr>
                <p:cNvSpPr/>
                <p:nvPr/>
              </p:nvSpPr>
              <p:spPr>
                <a:xfrm>
                  <a:off x="1382440" y="4132736"/>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04" name="30 Rectángulo">
                  <a:extLst>
                    <a:ext uri="{FF2B5EF4-FFF2-40B4-BE49-F238E27FC236}">
                      <a16:creationId xmlns:a16="http://schemas.microsoft.com/office/drawing/2014/main" id="{734619E1-8110-4652-8CCE-D9254647554D}"/>
                    </a:ext>
                  </a:extLst>
                </p:cNvPr>
                <p:cNvSpPr/>
                <p:nvPr/>
              </p:nvSpPr>
              <p:spPr>
                <a:xfrm>
                  <a:off x="1807865"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05" name="31 Rectángulo">
                  <a:extLst>
                    <a:ext uri="{FF2B5EF4-FFF2-40B4-BE49-F238E27FC236}">
                      <a16:creationId xmlns:a16="http://schemas.microsoft.com/office/drawing/2014/main" id="{8E0E7315-EDA8-45EC-8491-7AC77E777645}"/>
                    </a:ext>
                  </a:extLst>
                </p:cNvPr>
                <p:cNvSpPr/>
                <p:nvPr/>
              </p:nvSpPr>
              <p:spPr>
                <a:xfrm>
                  <a:off x="2233291"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06" name="32 Rectángulo">
                  <a:extLst>
                    <a:ext uri="{FF2B5EF4-FFF2-40B4-BE49-F238E27FC236}">
                      <a16:creationId xmlns:a16="http://schemas.microsoft.com/office/drawing/2014/main" id="{760E5E13-5028-4BD1-910E-81B8251411E6}"/>
                    </a:ext>
                  </a:extLst>
                </p:cNvPr>
                <p:cNvSpPr/>
                <p:nvPr/>
              </p:nvSpPr>
              <p:spPr>
                <a:xfrm>
                  <a:off x="2650779"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grpSp>
    </p:spTree>
    <p:extLst>
      <p:ext uri="{BB962C8B-B14F-4D97-AF65-F5344CB8AC3E}">
        <p14:creationId xmlns:p14="http://schemas.microsoft.com/office/powerpoint/2010/main" val="40461695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5934538" cy="710952"/>
          </a:xfrm>
        </p:spPr>
        <p:txBody>
          <a:bodyPr>
            <a:normAutofit/>
          </a:bodyPr>
          <a:lstStyle/>
          <a:p>
            <a:r>
              <a:rPr lang="es-CO" dirty="0"/>
              <a:t>Ciclos – Problema repaso</a:t>
            </a:r>
          </a:p>
        </p:txBody>
      </p:sp>
      <p:grpSp>
        <p:nvGrpSpPr>
          <p:cNvPr id="29" name="27 Grupo">
            <a:extLst>
              <a:ext uri="{FF2B5EF4-FFF2-40B4-BE49-F238E27FC236}">
                <a16:creationId xmlns:a16="http://schemas.microsoft.com/office/drawing/2014/main" id="{19B00129-C57B-4599-977F-B511285429CE}"/>
              </a:ext>
            </a:extLst>
          </p:cNvPr>
          <p:cNvGrpSpPr>
            <a:grpSpLocks/>
          </p:cNvGrpSpPr>
          <p:nvPr/>
        </p:nvGrpSpPr>
        <p:grpSpPr bwMode="auto">
          <a:xfrm>
            <a:off x="4623041" y="4892988"/>
            <a:ext cx="2568575" cy="710247"/>
            <a:chOff x="4162928" y="5881089"/>
            <a:chExt cx="2569312" cy="709598"/>
          </a:xfrm>
        </p:grpSpPr>
        <p:sp>
          <p:nvSpPr>
            <p:cNvPr id="30" name="34 Rectángulo">
              <a:extLst>
                <a:ext uri="{FF2B5EF4-FFF2-40B4-BE49-F238E27FC236}">
                  <a16:creationId xmlns:a16="http://schemas.microsoft.com/office/drawing/2014/main" id="{EE9BE19E-C993-41A8-A932-A5461C78E623}"/>
                </a:ext>
              </a:extLst>
            </p:cNvPr>
            <p:cNvSpPr/>
            <p:nvPr/>
          </p:nvSpPr>
          <p:spPr>
            <a:xfrm>
              <a:off x="4162928" y="5915982"/>
              <a:ext cx="215962" cy="23790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31" name="35 Rectángulo">
              <a:extLst>
                <a:ext uri="{FF2B5EF4-FFF2-40B4-BE49-F238E27FC236}">
                  <a16:creationId xmlns:a16="http://schemas.microsoft.com/office/drawing/2014/main" id="{6AA62DE3-AE03-4E19-833D-40C8834CECE3}"/>
                </a:ext>
              </a:extLst>
            </p:cNvPr>
            <p:cNvSpPr/>
            <p:nvPr/>
          </p:nvSpPr>
          <p:spPr>
            <a:xfrm>
              <a:off x="4162928" y="6309323"/>
              <a:ext cx="215962" cy="239493"/>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32" name="9 CuadroTexto">
              <a:extLst>
                <a:ext uri="{FF2B5EF4-FFF2-40B4-BE49-F238E27FC236}">
                  <a16:creationId xmlns:a16="http://schemas.microsoft.com/office/drawing/2014/main" id="{849CAE1D-7DE7-4974-B2F1-53EA215E8A6A}"/>
                </a:ext>
              </a:extLst>
            </p:cNvPr>
            <p:cNvSpPr txBox="1">
              <a:spLocks noChangeArrowheads="1"/>
            </p:cNvSpPr>
            <p:nvPr/>
          </p:nvSpPr>
          <p:spPr bwMode="auto">
            <a:xfrm>
              <a:off x="4553106" y="5881089"/>
              <a:ext cx="1872208" cy="338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CO" altLang="es-CO" sz="1600" b="1" dirty="0">
                  <a:latin typeface="Century Gothic" panose="020B0502020202020204" pitchFamily="34" charset="0"/>
                  <a:cs typeface="Courier New" pitchFamily="49" charset="0"/>
                </a:rPr>
                <a:t>VIP: </a:t>
              </a:r>
              <a:r>
                <a:rPr lang="es-CO" altLang="es-CO" sz="1600" dirty="0">
                  <a:latin typeface="Century Gothic" panose="020B0502020202020204" pitchFamily="34" charset="0"/>
                  <a:cs typeface="Courier New" pitchFamily="49" charset="0"/>
                </a:rPr>
                <a:t>$7000</a:t>
              </a:r>
            </a:p>
          </p:txBody>
        </p:sp>
        <p:sp>
          <p:nvSpPr>
            <p:cNvPr id="33" name="9 CuadroTexto">
              <a:extLst>
                <a:ext uri="{FF2B5EF4-FFF2-40B4-BE49-F238E27FC236}">
                  <a16:creationId xmlns:a16="http://schemas.microsoft.com/office/drawing/2014/main" id="{D2630175-4023-47BE-A5DC-4D5DA5EACB7A}"/>
                </a:ext>
              </a:extLst>
            </p:cNvPr>
            <p:cNvSpPr txBox="1">
              <a:spLocks noChangeArrowheads="1"/>
            </p:cNvSpPr>
            <p:nvPr/>
          </p:nvSpPr>
          <p:spPr bwMode="auto">
            <a:xfrm>
              <a:off x="4553106" y="6252442"/>
              <a:ext cx="2179134" cy="338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CO" altLang="es-CO" sz="1600" b="1" dirty="0">
                  <a:latin typeface="Century Gothic" panose="020B0502020202020204" pitchFamily="34" charset="0"/>
                  <a:cs typeface="Courier New" pitchFamily="49" charset="0"/>
                </a:rPr>
                <a:t>Normal: </a:t>
              </a:r>
              <a:r>
                <a:rPr lang="es-CO" altLang="es-CO" sz="1600" dirty="0">
                  <a:latin typeface="Century Gothic" panose="020B0502020202020204" pitchFamily="34" charset="0"/>
                  <a:cs typeface="Courier New" pitchFamily="49" charset="0"/>
                </a:rPr>
                <a:t>$5000</a:t>
              </a:r>
            </a:p>
          </p:txBody>
        </p:sp>
      </p:grpSp>
      <p:grpSp>
        <p:nvGrpSpPr>
          <p:cNvPr id="107" name="Grupo 106">
            <a:extLst>
              <a:ext uri="{FF2B5EF4-FFF2-40B4-BE49-F238E27FC236}">
                <a16:creationId xmlns:a16="http://schemas.microsoft.com/office/drawing/2014/main" id="{EE8AF934-40F8-458A-A131-0D006472F0AF}"/>
              </a:ext>
            </a:extLst>
          </p:cNvPr>
          <p:cNvGrpSpPr/>
          <p:nvPr/>
        </p:nvGrpSpPr>
        <p:grpSpPr>
          <a:xfrm>
            <a:off x="4595540" y="1789957"/>
            <a:ext cx="3627717" cy="2839996"/>
            <a:chOff x="4849271" y="2749244"/>
            <a:chExt cx="3627717" cy="2839996"/>
          </a:xfrm>
        </p:grpSpPr>
        <p:cxnSp>
          <p:nvCxnSpPr>
            <p:cNvPr id="11" name="16 Conector recto">
              <a:extLst>
                <a:ext uri="{FF2B5EF4-FFF2-40B4-BE49-F238E27FC236}">
                  <a16:creationId xmlns:a16="http://schemas.microsoft.com/office/drawing/2014/main" id="{449E2544-E219-4366-926F-AEE4F32CF55B}"/>
                </a:ext>
              </a:extLst>
            </p:cNvPr>
            <p:cNvCxnSpPr>
              <a:cxnSpLocks/>
            </p:cNvCxnSpPr>
            <p:nvPr/>
          </p:nvCxnSpPr>
          <p:spPr bwMode="auto">
            <a:xfrm>
              <a:off x="5667573" y="5589240"/>
              <a:ext cx="196645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 name="Grupo 1">
              <a:extLst>
                <a:ext uri="{FF2B5EF4-FFF2-40B4-BE49-F238E27FC236}">
                  <a16:creationId xmlns:a16="http://schemas.microsoft.com/office/drawing/2014/main" id="{53D254EE-46A3-4D21-85AB-7783B4A7C2D8}"/>
                </a:ext>
              </a:extLst>
            </p:cNvPr>
            <p:cNvGrpSpPr/>
            <p:nvPr/>
          </p:nvGrpSpPr>
          <p:grpSpPr>
            <a:xfrm>
              <a:off x="4849271" y="2762210"/>
              <a:ext cx="1486368" cy="2493942"/>
              <a:chOff x="4849271" y="2762210"/>
              <a:chExt cx="1486368" cy="2493942"/>
            </a:xfrm>
          </p:grpSpPr>
          <p:grpSp>
            <p:nvGrpSpPr>
              <p:cNvPr id="7" name="22 Grupo">
                <a:extLst>
                  <a:ext uri="{FF2B5EF4-FFF2-40B4-BE49-F238E27FC236}">
                    <a16:creationId xmlns:a16="http://schemas.microsoft.com/office/drawing/2014/main" id="{E7A7E5FA-D6C8-4394-9828-470C4E79BE49}"/>
                  </a:ext>
                </a:extLst>
              </p:cNvPr>
              <p:cNvGrpSpPr>
                <a:grpSpLocks/>
              </p:cNvGrpSpPr>
              <p:nvPr/>
            </p:nvGrpSpPr>
            <p:grpSpPr bwMode="auto">
              <a:xfrm>
                <a:off x="4849271" y="3108318"/>
                <a:ext cx="1484312" cy="245107"/>
                <a:chOff x="1382440" y="4126387"/>
                <a:chExt cx="1484226" cy="245067"/>
              </a:xfrm>
            </p:grpSpPr>
            <p:sp>
              <p:nvSpPr>
                <p:cNvPr id="25" name="29 Rectángulo">
                  <a:extLst>
                    <a:ext uri="{FF2B5EF4-FFF2-40B4-BE49-F238E27FC236}">
                      <a16:creationId xmlns:a16="http://schemas.microsoft.com/office/drawing/2014/main" id="{02611C33-5F24-46B3-BD80-5EC34E2D3C96}"/>
                    </a:ext>
                  </a:extLst>
                </p:cNvPr>
                <p:cNvSpPr/>
                <p:nvPr/>
              </p:nvSpPr>
              <p:spPr>
                <a:xfrm>
                  <a:off x="1382440" y="4132736"/>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6" name="30 Rectángulo">
                  <a:extLst>
                    <a:ext uri="{FF2B5EF4-FFF2-40B4-BE49-F238E27FC236}">
                      <a16:creationId xmlns:a16="http://schemas.microsoft.com/office/drawing/2014/main" id="{D1BE216B-CF27-4F6D-AE9E-385B6C9951E6}"/>
                    </a:ext>
                  </a:extLst>
                </p:cNvPr>
                <p:cNvSpPr/>
                <p:nvPr/>
              </p:nvSpPr>
              <p:spPr>
                <a:xfrm>
                  <a:off x="1807865"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7" name="31 Rectángulo">
                  <a:extLst>
                    <a:ext uri="{FF2B5EF4-FFF2-40B4-BE49-F238E27FC236}">
                      <a16:creationId xmlns:a16="http://schemas.microsoft.com/office/drawing/2014/main" id="{1EC112B1-37C7-4DD0-8A1C-FDF1A7A6149D}"/>
                    </a:ext>
                  </a:extLst>
                </p:cNvPr>
                <p:cNvSpPr/>
                <p:nvPr/>
              </p:nvSpPr>
              <p:spPr>
                <a:xfrm>
                  <a:off x="2233291"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8" name="32 Rectángulo">
                  <a:extLst>
                    <a:ext uri="{FF2B5EF4-FFF2-40B4-BE49-F238E27FC236}">
                      <a16:creationId xmlns:a16="http://schemas.microsoft.com/office/drawing/2014/main" id="{EB2C2A82-8191-4BF2-8F07-ADCAC3912AE9}"/>
                    </a:ext>
                  </a:extLst>
                </p:cNvPr>
                <p:cNvSpPr/>
                <p:nvPr/>
              </p:nvSpPr>
              <p:spPr>
                <a:xfrm>
                  <a:off x="2650779"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8" name="23 Grupo">
                <a:extLst>
                  <a:ext uri="{FF2B5EF4-FFF2-40B4-BE49-F238E27FC236}">
                    <a16:creationId xmlns:a16="http://schemas.microsoft.com/office/drawing/2014/main" id="{C91A9263-45F1-4C98-887E-92915D26CBBB}"/>
                  </a:ext>
                </a:extLst>
              </p:cNvPr>
              <p:cNvGrpSpPr>
                <a:grpSpLocks/>
              </p:cNvGrpSpPr>
              <p:nvPr/>
            </p:nvGrpSpPr>
            <p:grpSpPr bwMode="auto">
              <a:xfrm>
                <a:off x="4849271" y="3502082"/>
                <a:ext cx="1484312" cy="245107"/>
                <a:chOff x="1382440" y="4520087"/>
                <a:chExt cx="1484226" cy="245067"/>
              </a:xfrm>
            </p:grpSpPr>
            <p:sp>
              <p:nvSpPr>
                <p:cNvPr id="21" name="25 Rectángulo">
                  <a:extLst>
                    <a:ext uri="{FF2B5EF4-FFF2-40B4-BE49-F238E27FC236}">
                      <a16:creationId xmlns:a16="http://schemas.microsoft.com/office/drawing/2014/main" id="{9F6496AF-942F-4C1E-9C80-394AE8C2B19F}"/>
                    </a:ext>
                  </a:extLst>
                </p:cNvPr>
                <p:cNvSpPr/>
                <p:nvPr/>
              </p:nvSpPr>
              <p:spPr>
                <a:xfrm>
                  <a:off x="1382440" y="4526372"/>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2" name="26 Rectángulo">
                  <a:extLst>
                    <a:ext uri="{FF2B5EF4-FFF2-40B4-BE49-F238E27FC236}">
                      <a16:creationId xmlns:a16="http://schemas.microsoft.com/office/drawing/2014/main" id="{9470D467-73FD-4625-9018-63FE5DD0E294}"/>
                    </a:ext>
                  </a:extLst>
                </p:cNvPr>
                <p:cNvSpPr/>
                <p:nvPr/>
              </p:nvSpPr>
              <p:spPr>
                <a:xfrm>
                  <a:off x="1807865" y="4520023"/>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3" name="27 Rectángulo">
                  <a:extLst>
                    <a:ext uri="{FF2B5EF4-FFF2-40B4-BE49-F238E27FC236}">
                      <a16:creationId xmlns:a16="http://schemas.microsoft.com/office/drawing/2014/main" id="{C3D58233-6983-4919-80E8-29720AA764F1}"/>
                    </a:ext>
                  </a:extLst>
                </p:cNvPr>
                <p:cNvSpPr/>
                <p:nvPr/>
              </p:nvSpPr>
              <p:spPr>
                <a:xfrm>
                  <a:off x="2233291" y="4520023"/>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4" name="28 Rectángulo">
                  <a:extLst>
                    <a:ext uri="{FF2B5EF4-FFF2-40B4-BE49-F238E27FC236}">
                      <a16:creationId xmlns:a16="http://schemas.microsoft.com/office/drawing/2014/main" id="{1222B0B2-817A-495C-AC19-A84BB7CF42C0}"/>
                    </a:ext>
                  </a:extLst>
                </p:cNvPr>
                <p:cNvSpPr/>
                <p:nvPr/>
              </p:nvSpPr>
              <p:spPr>
                <a:xfrm>
                  <a:off x="2650779" y="4520023"/>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9" name="24 Grupo">
                <a:extLst>
                  <a:ext uri="{FF2B5EF4-FFF2-40B4-BE49-F238E27FC236}">
                    <a16:creationId xmlns:a16="http://schemas.microsoft.com/office/drawing/2014/main" id="{BED1F3EA-BFA2-4323-A258-C63F2FE12058}"/>
                  </a:ext>
                </a:extLst>
              </p:cNvPr>
              <p:cNvGrpSpPr>
                <a:grpSpLocks/>
              </p:cNvGrpSpPr>
              <p:nvPr/>
            </p:nvGrpSpPr>
            <p:grpSpPr bwMode="auto">
              <a:xfrm>
                <a:off x="4849271" y="3895847"/>
                <a:ext cx="1484312" cy="245107"/>
                <a:chOff x="1382440" y="4913787"/>
                <a:chExt cx="1484226" cy="245067"/>
              </a:xfrm>
            </p:grpSpPr>
            <p:sp>
              <p:nvSpPr>
                <p:cNvPr id="17" name="21 Rectángulo">
                  <a:extLst>
                    <a:ext uri="{FF2B5EF4-FFF2-40B4-BE49-F238E27FC236}">
                      <a16:creationId xmlns:a16="http://schemas.microsoft.com/office/drawing/2014/main" id="{8F3E7DEB-C5F4-4F1E-91C2-D43F00BB0D22}"/>
                    </a:ext>
                  </a:extLst>
                </p:cNvPr>
                <p:cNvSpPr/>
                <p:nvPr/>
              </p:nvSpPr>
              <p:spPr>
                <a:xfrm>
                  <a:off x="1382440" y="4920007"/>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8" name="22 Rectángulo">
                  <a:extLst>
                    <a:ext uri="{FF2B5EF4-FFF2-40B4-BE49-F238E27FC236}">
                      <a16:creationId xmlns:a16="http://schemas.microsoft.com/office/drawing/2014/main" id="{6018BF0C-A1D0-43BF-BC52-73048076BDAC}"/>
                    </a:ext>
                  </a:extLst>
                </p:cNvPr>
                <p:cNvSpPr/>
                <p:nvPr/>
              </p:nvSpPr>
              <p:spPr>
                <a:xfrm>
                  <a:off x="1807865"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9" name="23 Rectángulo">
                  <a:extLst>
                    <a:ext uri="{FF2B5EF4-FFF2-40B4-BE49-F238E27FC236}">
                      <a16:creationId xmlns:a16="http://schemas.microsoft.com/office/drawing/2014/main" id="{0A11C85F-B172-4B85-AB88-4417DA3E3772}"/>
                    </a:ext>
                  </a:extLst>
                </p:cNvPr>
                <p:cNvSpPr/>
                <p:nvPr/>
              </p:nvSpPr>
              <p:spPr>
                <a:xfrm>
                  <a:off x="2233291"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20" name="24 Rectángulo">
                  <a:extLst>
                    <a:ext uri="{FF2B5EF4-FFF2-40B4-BE49-F238E27FC236}">
                      <a16:creationId xmlns:a16="http://schemas.microsoft.com/office/drawing/2014/main" id="{1AC2F307-A1CC-4E47-B75C-F994B0A3EAFB}"/>
                    </a:ext>
                  </a:extLst>
                </p:cNvPr>
                <p:cNvSpPr/>
                <p:nvPr/>
              </p:nvSpPr>
              <p:spPr>
                <a:xfrm>
                  <a:off x="2650779"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10" name="25 Grupo">
                <a:extLst>
                  <a:ext uri="{FF2B5EF4-FFF2-40B4-BE49-F238E27FC236}">
                    <a16:creationId xmlns:a16="http://schemas.microsoft.com/office/drawing/2014/main" id="{D161696C-2691-42A9-8E3B-E74DDF410F5B}"/>
                  </a:ext>
                </a:extLst>
              </p:cNvPr>
              <p:cNvGrpSpPr>
                <a:grpSpLocks/>
              </p:cNvGrpSpPr>
              <p:nvPr/>
            </p:nvGrpSpPr>
            <p:grpSpPr bwMode="auto">
              <a:xfrm>
                <a:off x="4849271" y="4264207"/>
                <a:ext cx="1484312" cy="245107"/>
                <a:chOff x="1382440" y="5282087"/>
                <a:chExt cx="1484226" cy="245067"/>
              </a:xfrm>
            </p:grpSpPr>
            <p:sp>
              <p:nvSpPr>
                <p:cNvPr id="12" name="17 Rectángulo">
                  <a:extLst>
                    <a:ext uri="{FF2B5EF4-FFF2-40B4-BE49-F238E27FC236}">
                      <a16:creationId xmlns:a16="http://schemas.microsoft.com/office/drawing/2014/main" id="{4CC8F31C-A919-47DA-872B-B5D55B1D8601}"/>
                    </a:ext>
                  </a:extLst>
                </p:cNvPr>
                <p:cNvSpPr/>
                <p:nvPr/>
              </p:nvSpPr>
              <p:spPr>
                <a:xfrm>
                  <a:off x="1382440" y="5288247"/>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4" name="18 Rectángulo">
                  <a:extLst>
                    <a:ext uri="{FF2B5EF4-FFF2-40B4-BE49-F238E27FC236}">
                      <a16:creationId xmlns:a16="http://schemas.microsoft.com/office/drawing/2014/main" id="{80968FD1-C455-49DC-8867-D33F288C18A0}"/>
                    </a:ext>
                  </a:extLst>
                </p:cNvPr>
                <p:cNvSpPr/>
                <p:nvPr/>
              </p:nvSpPr>
              <p:spPr>
                <a:xfrm>
                  <a:off x="1807865"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5" name="19 Rectángulo">
                  <a:extLst>
                    <a:ext uri="{FF2B5EF4-FFF2-40B4-BE49-F238E27FC236}">
                      <a16:creationId xmlns:a16="http://schemas.microsoft.com/office/drawing/2014/main" id="{7851469E-C5B0-4475-8E61-1159C8A2C227}"/>
                    </a:ext>
                  </a:extLst>
                </p:cNvPr>
                <p:cNvSpPr/>
                <p:nvPr/>
              </p:nvSpPr>
              <p:spPr>
                <a:xfrm>
                  <a:off x="2233291"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6" name="20 Rectángulo">
                  <a:extLst>
                    <a:ext uri="{FF2B5EF4-FFF2-40B4-BE49-F238E27FC236}">
                      <a16:creationId xmlns:a16="http://schemas.microsoft.com/office/drawing/2014/main" id="{4EA7D8D8-C5C1-4A44-BCAA-BB0609AA3E5F}"/>
                    </a:ext>
                  </a:extLst>
                </p:cNvPr>
                <p:cNvSpPr/>
                <p:nvPr/>
              </p:nvSpPr>
              <p:spPr>
                <a:xfrm>
                  <a:off x="2650779"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57" name="24 Grupo">
                <a:extLst>
                  <a:ext uri="{FF2B5EF4-FFF2-40B4-BE49-F238E27FC236}">
                    <a16:creationId xmlns:a16="http://schemas.microsoft.com/office/drawing/2014/main" id="{AF5B4835-6965-41A5-9BAA-90DCABABD656}"/>
                  </a:ext>
                </a:extLst>
              </p:cNvPr>
              <p:cNvGrpSpPr>
                <a:grpSpLocks/>
              </p:cNvGrpSpPr>
              <p:nvPr/>
            </p:nvGrpSpPr>
            <p:grpSpPr bwMode="auto">
              <a:xfrm>
                <a:off x="4849271" y="4642685"/>
                <a:ext cx="1484312" cy="245107"/>
                <a:chOff x="1382440" y="4913787"/>
                <a:chExt cx="1484226" cy="245067"/>
              </a:xfrm>
            </p:grpSpPr>
            <p:sp>
              <p:nvSpPr>
                <p:cNvPr id="58" name="21 Rectángulo">
                  <a:extLst>
                    <a:ext uri="{FF2B5EF4-FFF2-40B4-BE49-F238E27FC236}">
                      <a16:creationId xmlns:a16="http://schemas.microsoft.com/office/drawing/2014/main" id="{DA4FF977-50F0-4B9C-B2C8-1594FCEA39A4}"/>
                    </a:ext>
                  </a:extLst>
                </p:cNvPr>
                <p:cNvSpPr/>
                <p:nvPr/>
              </p:nvSpPr>
              <p:spPr>
                <a:xfrm>
                  <a:off x="1382440" y="4920007"/>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59" name="22 Rectángulo">
                  <a:extLst>
                    <a:ext uri="{FF2B5EF4-FFF2-40B4-BE49-F238E27FC236}">
                      <a16:creationId xmlns:a16="http://schemas.microsoft.com/office/drawing/2014/main" id="{D0F5A12A-DD0E-458E-84F8-838B5868FC50}"/>
                    </a:ext>
                  </a:extLst>
                </p:cNvPr>
                <p:cNvSpPr/>
                <p:nvPr/>
              </p:nvSpPr>
              <p:spPr>
                <a:xfrm>
                  <a:off x="1807865"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60" name="23 Rectángulo">
                  <a:extLst>
                    <a:ext uri="{FF2B5EF4-FFF2-40B4-BE49-F238E27FC236}">
                      <a16:creationId xmlns:a16="http://schemas.microsoft.com/office/drawing/2014/main" id="{925F1693-2D5A-4FC7-98DE-DC0355FAB0D6}"/>
                    </a:ext>
                  </a:extLst>
                </p:cNvPr>
                <p:cNvSpPr/>
                <p:nvPr/>
              </p:nvSpPr>
              <p:spPr>
                <a:xfrm>
                  <a:off x="2233291"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61" name="24 Rectángulo">
                  <a:extLst>
                    <a:ext uri="{FF2B5EF4-FFF2-40B4-BE49-F238E27FC236}">
                      <a16:creationId xmlns:a16="http://schemas.microsoft.com/office/drawing/2014/main" id="{97D81016-31BE-4CDB-81A0-21C59AC1E33D}"/>
                    </a:ext>
                  </a:extLst>
                </p:cNvPr>
                <p:cNvSpPr/>
                <p:nvPr/>
              </p:nvSpPr>
              <p:spPr>
                <a:xfrm>
                  <a:off x="2650779"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62" name="25 Grupo">
                <a:extLst>
                  <a:ext uri="{FF2B5EF4-FFF2-40B4-BE49-F238E27FC236}">
                    <a16:creationId xmlns:a16="http://schemas.microsoft.com/office/drawing/2014/main" id="{50E8B180-032B-426F-B72E-908977CF2495}"/>
                  </a:ext>
                </a:extLst>
              </p:cNvPr>
              <p:cNvGrpSpPr>
                <a:grpSpLocks/>
              </p:cNvGrpSpPr>
              <p:nvPr/>
            </p:nvGrpSpPr>
            <p:grpSpPr bwMode="auto">
              <a:xfrm>
                <a:off x="4849271" y="5011045"/>
                <a:ext cx="1484312" cy="245107"/>
                <a:chOff x="1382440" y="5282087"/>
                <a:chExt cx="1484226" cy="245067"/>
              </a:xfrm>
            </p:grpSpPr>
            <p:sp>
              <p:nvSpPr>
                <p:cNvPr id="63" name="17 Rectángulo">
                  <a:extLst>
                    <a:ext uri="{FF2B5EF4-FFF2-40B4-BE49-F238E27FC236}">
                      <a16:creationId xmlns:a16="http://schemas.microsoft.com/office/drawing/2014/main" id="{4A004076-922A-4B4B-97ED-7E528CCFEE63}"/>
                    </a:ext>
                  </a:extLst>
                </p:cNvPr>
                <p:cNvSpPr/>
                <p:nvPr/>
              </p:nvSpPr>
              <p:spPr>
                <a:xfrm>
                  <a:off x="1382440" y="5288247"/>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64" name="18 Rectángulo">
                  <a:extLst>
                    <a:ext uri="{FF2B5EF4-FFF2-40B4-BE49-F238E27FC236}">
                      <a16:creationId xmlns:a16="http://schemas.microsoft.com/office/drawing/2014/main" id="{37F28F2F-541D-4E90-B129-AC73576CE0FE}"/>
                    </a:ext>
                  </a:extLst>
                </p:cNvPr>
                <p:cNvSpPr/>
                <p:nvPr/>
              </p:nvSpPr>
              <p:spPr>
                <a:xfrm>
                  <a:off x="1807865"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65" name="19 Rectángulo">
                  <a:extLst>
                    <a:ext uri="{FF2B5EF4-FFF2-40B4-BE49-F238E27FC236}">
                      <a16:creationId xmlns:a16="http://schemas.microsoft.com/office/drawing/2014/main" id="{7DB28F5F-AC7A-4312-9FB8-85D8317CC5E9}"/>
                    </a:ext>
                  </a:extLst>
                </p:cNvPr>
                <p:cNvSpPr/>
                <p:nvPr/>
              </p:nvSpPr>
              <p:spPr>
                <a:xfrm>
                  <a:off x="2233291"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66" name="20 Rectángulo">
                  <a:extLst>
                    <a:ext uri="{FF2B5EF4-FFF2-40B4-BE49-F238E27FC236}">
                      <a16:creationId xmlns:a16="http://schemas.microsoft.com/office/drawing/2014/main" id="{FA157933-AD1C-4E3F-9C52-ED5DCEA326F5}"/>
                    </a:ext>
                  </a:extLst>
                </p:cNvPr>
                <p:cNvSpPr/>
                <p:nvPr/>
              </p:nvSpPr>
              <p:spPr>
                <a:xfrm>
                  <a:off x="2650779"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97" name="22 Grupo">
                <a:extLst>
                  <a:ext uri="{FF2B5EF4-FFF2-40B4-BE49-F238E27FC236}">
                    <a16:creationId xmlns:a16="http://schemas.microsoft.com/office/drawing/2014/main" id="{97A60F90-F928-4565-80DC-9E77C9BB941B}"/>
                  </a:ext>
                </a:extLst>
              </p:cNvPr>
              <p:cNvGrpSpPr>
                <a:grpSpLocks/>
              </p:cNvGrpSpPr>
              <p:nvPr/>
            </p:nvGrpSpPr>
            <p:grpSpPr bwMode="auto">
              <a:xfrm>
                <a:off x="4851327" y="2762210"/>
                <a:ext cx="1484312" cy="245107"/>
                <a:chOff x="1382440" y="4126387"/>
                <a:chExt cx="1484226" cy="245067"/>
              </a:xfrm>
            </p:grpSpPr>
            <p:sp>
              <p:nvSpPr>
                <p:cNvPr id="98" name="29 Rectángulo">
                  <a:extLst>
                    <a:ext uri="{FF2B5EF4-FFF2-40B4-BE49-F238E27FC236}">
                      <a16:creationId xmlns:a16="http://schemas.microsoft.com/office/drawing/2014/main" id="{454F219D-9BFA-46EA-BE4C-168148DD6AA6}"/>
                    </a:ext>
                  </a:extLst>
                </p:cNvPr>
                <p:cNvSpPr/>
                <p:nvPr/>
              </p:nvSpPr>
              <p:spPr>
                <a:xfrm>
                  <a:off x="1382440" y="4132736"/>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99" name="30 Rectángulo">
                  <a:extLst>
                    <a:ext uri="{FF2B5EF4-FFF2-40B4-BE49-F238E27FC236}">
                      <a16:creationId xmlns:a16="http://schemas.microsoft.com/office/drawing/2014/main" id="{288EBE5D-7BD9-475B-8332-8A50DAA77767}"/>
                    </a:ext>
                  </a:extLst>
                </p:cNvPr>
                <p:cNvSpPr/>
                <p:nvPr/>
              </p:nvSpPr>
              <p:spPr>
                <a:xfrm>
                  <a:off x="1807865"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00" name="31 Rectángulo">
                  <a:extLst>
                    <a:ext uri="{FF2B5EF4-FFF2-40B4-BE49-F238E27FC236}">
                      <a16:creationId xmlns:a16="http://schemas.microsoft.com/office/drawing/2014/main" id="{064ED873-8542-4B80-A43E-2EECFA072215}"/>
                    </a:ext>
                  </a:extLst>
                </p:cNvPr>
                <p:cNvSpPr/>
                <p:nvPr/>
              </p:nvSpPr>
              <p:spPr>
                <a:xfrm>
                  <a:off x="2233291"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01" name="32 Rectángulo">
                  <a:extLst>
                    <a:ext uri="{FF2B5EF4-FFF2-40B4-BE49-F238E27FC236}">
                      <a16:creationId xmlns:a16="http://schemas.microsoft.com/office/drawing/2014/main" id="{C262D529-9D1F-48D7-8B13-603DE13ACB49}"/>
                    </a:ext>
                  </a:extLst>
                </p:cNvPr>
                <p:cNvSpPr/>
                <p:nvPr/>
              </p:nvSpPr>
              <p:spPr>
                <a:xfrm>
                  <a:off x="2650779"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grpSp>
          <p:nvGrpSpPr>
            <p:cNvPr id="3" name="Grupo 2">
              <a:extLst>
                <a:ext uri="{FF2B5EF4-FFF2-40B4-BE49-F238E27FC236}">
                  <a16:creationId xmlns:a16="http://schemas.microsoft.com/office/drawing/2014/main" id="{BBDD45B4-B800-4D07-9514-BAD698A09FE9}"/>
                </a:ext>
              </a:extLst>
            </p:cNvPr>
            <p:cNvGrpSpPr/>
            <p:nvPr/>
          </p:nvGrpSpPr>
          <p:grpSpPr>
            <a:xfrm>
              <a:off x="6976766" y="2749244"/>
              <a:ext cx="1500222" cy="2513069"/>
              <a:chOff x="6976766" y="2749244"/>
              <a:chExt cx="1500222" cy="2513069"/>
            </a:xfrm>
          </p:grpSpPr>
          <p:grpSp>
            <p:nvGrpSpPr>
              <p:cNvPr id="67" name="22 Grupo">
                <a:extLst>
                  <a:ext uri="{FF2B5EF4-FFF2-40B4-BE49-F238E27FC236}">
                    <a16:creationId xmlns:a16="http://schemas.microsoft.com/office/drawing/2014/main" id="{3AA75B20-7402-41D9-9816-BCC691BE3F99}"/>
                  </a:ext>
                </a:extLst>
              </p:cNvPr>
              <p:cNvGrpSpPr>
                <a:grpSpLocks/>
              </p:cNvGrpSpPr>
              <p:nvPr/>
            </p:nvGrpSpPr>
            <p:grpSpPr bwMode="auto">
              <a:xfrm>
                <a:off x="6976766" y="3114479"/>
                <a:ext cx="1484312" cy="245107"/>
                <a:chOff x="1382440" y="4126387"/>
                <a:chExt cx="1484226" cy="245067"/>
              </a:xfrm>
            </p:grpSpPr>
            <p:sp>
              <p:nvSpPr>
                <p:cNvPr id="68" name="29 Rectángulo">
                  <a:extLst>
                    <a:ext uri="{FF2B5EF4-FFF2-40B4-BE49-F238E27FC236}">
                      <a16:creationId xmlns:a16="http://schemas.microsoft.com/office/drawing/2014/main" id="{10515C08-41EB-4F9A-8FCE-2E9AE07A328C}"/>
                    </a:ext>
                  </a:extLst>
                </p:cNvPr>
                <p:cNvSpPr/>
                <p:nvPr/>
              </p:nvSpPr>
              <p:spPr>
                <a:xfrm>
                  <a:off x="1382440" y="4132736"/>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69" name="30 Rectángulo">
                  <a:extLst>
                    <a:ext uri="{FF2B5EF4-FFF2-40B4-BE49-F238E27FC236}">
                      <a16:creationId xmlns:a16="http://schemas.microsoft.com/office/drawing/2014/main" id="{C6143AB5-A65B-4F4B-B6DA-32AC89FC0CEA}"/>
                    </a:ext>
                  </a:extLst>
                </p:cNvPr>
                <p:cNvSpPr/>
                <p:nvPr/>
              </p:nvSpPr>
              <p:spPr>
                <a:xfrm>
                  <a:off x="1807865"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70" name="31 Rectángulo">
                  <a:extLst>
                    <a:ext uri="{FF2B5EF4-FFF2-40B4-BE49-F238E27FC236}">
                      <a16:creationId xmlns:a16="http://schemas.microsoft.com/office/drawing/2014/main" id="{F571AAA5-2903-48F7-B329-C021F703E852}"/>
                    </a:ext>
                  </a:extLst>
                </p:cNvPr>
                <p:cNvSpPr/>
                <p:nvPr/>
              </p:nvSpPr>
              <p:spPr>
                <a:xfrm>
                  <a:off x="2233291"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71" name="32 Rectángulo">
                  <a:extLst>
                    <a:ext uri="{FF2B5EF4-FFF2-40B4-BE49-F238E27FC236}">
                      <a16:creationId xmlns:a16="http://schemas.microsoft.com/office/drawing/2014/main" id="{58829E0F-6079-42D5-A6D6-E4246D494589}"/>
                    </a:ext>
                  </a:extLst>
                </p:cNvPr>
                <p:cNvSpPr/>
                <p:nvPr/>
              </p:nvSpPr>
              <p:spPr>
                <a:xfrm>
                  <a:off x="2650779"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72" name="23 Grupo">
                <a:extLst>
                  <a:ext uri="{FF2B5EF4-FFF2-40B4-BE49-F238E27FC236}">
                    <a16:creationId xmlns:a16="http://schemas.microsoft.com/office/drawing/2014/main" id="{95ACFCB4-1998-45EA-9966-464519F0C99A}"/>
                  </a:ext>
                </a:extLst>
              </p:cNvPr>
              <p:cNvGrpSpPr>
                <a:grpSpLocks/>
              </p:cNvGrpSpPr>
              <p:nvPr/>
            </p:nvGrpSpPr>
            <p:grpSpPr bwMode="auto">
              <a:xfrm>
                <a:off x="6976766" y="3508243"/>
                <a:ext cx="1484312" cy="245107"/>
                <a:chOff x="1382440" y="4520087"/>
                <a:chExt cx="1484226" cy="245067"/>
              </a:xfrm>
            </p:grpSpPr>
            <p:sp>
              <p:nvSpPr>
                <p:cNvPr id="73" name="25 Rectángulo">
                  <a:extLst>
                    <a:ext uri="{FF2B5EF4-FFF2-40B4-BE49-F238E27FC236}">
                      <a16:creationId xmlns:a16="http://schemas.microsoft.com/office/drawing/2014/main" id="{0C45C651-773A-40F4-BE25-B12F5AA7A97A}"/>
                    </a:ext>
                  </a:extLst>
                </p:cNvPr>
                <p:cNvSpPr/>
                <p:nvPr/>
              </p:nvSpPr>
              <p:spPr>
                <a:xfrm>
                  <a:off x="1382440" y="4526372"/>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74" name="26 Rectángulo">
                  <a:extLst>
                    <a:ext uri="{FF2B5EF4-FFF2-40B4-BE49-F238E27FC236}">
                      <a16:creationId xmlns:a16="http://schemas.microsoft.com/office/drawing/2014/main" id="{BA57E17A-A220-454F-A507-B7A5AA2C0CA0}"/>
                    </a:ext>
                  </a:extLst>
                </p:cNvPr>
                <p:cNvSpPr/>
                <p:nvPr/>
              </p:nvSpPr>
              <p:spPr>
                <a:xfrm>
                  <a:off x="1807865" y="4520023"/>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75" name="27 Rectángulo">
                  <a:extLst>
                    <a:ext uri="{FF2B5EF4-FFF2-40B4-BE49-F238E27FC236}">
                      <a16:creationId xmlns:a16="http://schemas.microsoft.com/office/drawing/2014/main" id="{0BA057CC-4512-4F95-B859-6E4D7B2204DB}"/>
                    </a:ext>
                  </a:extLst>
                </p:cNvPr>
                <p:cNvSpPr/>
                <p:nvPr/>
              </p:nvSpPr>
              <p:spPr>
                <a:xfrm>
                  <a:off x="2233291" y="4520023"/>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76" name="28 Rectángulo">
                  <a:extLst>
                    <a:ext uri="{FF2B5EF4-FFF2-40B4-BE49-F238E27FC236}">
                      <a16:creationId xmlns:a16="http://schemas.microsoft.com/office/drawing/2014/main" id="{4EAD9913-6006-4A0B-8B40-D1E01D338C83}"/>
                    </a:ext>
                  </a:extLst>
                </p:cNvPr>
                <p:cNvSpPr/>
                <p:nvPr/>
              </p:nvSpPr>
              <p:spPr>
                <a:xfrm>
                  <a:off x="2650779" y="4520023"/>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77" name="24 Grupo">
                <a:extLst>
                  <a:ext uri="{FF2B5EF4-FFF2-40B4-BE49-F238E27FC236}">
                    <a16:creationId xmlns:a16="http://schemas.microsoft.com/office/drawing/2014/main" id="{60317122-D782-49DC-BFA0-229EA39693F9}"/>
                  </a:ext>
                </a:extLst>
              </p:cNvPr>
              <p:cNvGrpSpPr>
                <a:grpSpLocks/>
              </p:cNvGrpSpPr>
              <p:nvPr/>
            </p:nvGrpSpPr>
            <p:grpSpPr bwMode="auto">
              <a:xfrm>
                <a:off x="6976766" y="3902008"/>
                <a:ext cx="1484312" cy="245107"/>
                <a:chOff x="1382440" y="4913787"/>
                <a:chExt cx="1484226" cy="245067"/>
              </a:xfrm>
            </p:grpSpPr>
            <p:sp>
              <p:nvSpPr>
                <p:cNvPr id="78" name="21 Rectángulo">
                  <a:extLst>
                    <a:ext uri="{FF2B5EF4-FFF2-40B4-BE49-F238E27FC236}">
                      <a16:creationId xmlns:a16="http://schemas.microsoft.com/office/drawing/2014/main" id="{A3E6717A-F034-4EE8-BF9B-2C7F0609556E}"/>
                    </a:ext>
                  </a:extLst>
                </p:cNvPr>
                <p:cNvSpPr/>
                <p:nvPr/>
              </p:nvSpPr>
              <p:spPr>
                <a:xfrm>
                  <a:off x="1382440" y="4920007"/>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79" name="22 Rectángulo">
                  <a:extLst>
                    <a:ext uri="{FF2B5EF4-FFF2-40B4-BE49-F238E27FC236}">
                      <a16:creationId xmlns:a16="http://schemas.microsoft.com/office/drawing/2014/main" id="{18B2FFBF-34AB-4E27-A16F-A62375C59310}"/>
                    </a:ext>
                  </a:extLst>
                </p:cNvPr>
                <p:cNvSpPr/>
                <p:nvPr/>
              </p:nvSpPr>
              <p:spPr>
                <a:xfrm>
                  <a:off x="1807865"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80" name="23 Rectángulo">
                  <a:extLst>
                    <a:ext uri="{FF2B5EF4-FFF2-40B4-BE49-F238E27FC236}">
                      <a16:creationId xmlns:a16="http://schemas.microsoft.com/office/drawing/2014/main" id="{D34C9232-7B7F-49FB-81E6-AEC46C27A8EE}"/>
                    </a:ext>
                  </a:extLst>
                </p:cNvPr>
                <p:cNvSpPr/>
                <p:nvPr/>
              </p:nvSpPr>
              <p:spPr>
                <a:xfrm>
                  <a:off x="2233291"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81" name="24 Rectángulo">
                  <a:extLst>
                    <a:ext uri="{FF2B5EF4-FFF2-40B4-BE49-F238E27FC236}">
                      <a16:creationId xmlns:a16="http://schemas.microsoft.com/office/drawing/2014/main" id="{000C03B5-3CCE-46BB-AAD4-8DD3C7420A44}"/>
                    </a:ext>
                  </a:extLst>
                </p:cNvPr>
                <p:cNvSpPr/>
                <p:nvPr/>
              </p:nvSpPr>
              <p:spPr>
                <a:xfrm>
                  <a:off x="2650779"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82" name="25 Grupo">
                <a:extLst>
                  <a:ext uri="{FF2B5EF4-FFF2-40B4-BE49-F238E27FC236}">
                    <a16:creationId xmlns:a16="http://schemas.microsoft.com/office/drawing/2014/main" id="{50C2D6F3-66C9-40D0-A866-55D30A2829B6}"/>
                  </a:ext>
                </a:extLst>
              </p:cNvPr>
              <p:cNvGrpSpPr>
                <a:grpSpLocks/>
              </p:cNvGrpSpPr>
              <p:nvPr/>
            </p:nvGrpSpPr>
            <p:grpSpPr bwMode="auto">
              <a:xfrm>
                <a:off x="6976766" y="4270368"/>
                <a:ext cx="1484312" cy="245107"/>
                <a:chOff x="1382440" y="5282087"/>
                <a:chExt cx="1484226" cy="245067"/>
              </a:xfrm>
            </p:grpSpPr>
            <p:sp>
              <p:nvSpPr>
                <p:cNvPr id="83" name="17 Rectángulo">
                  <a:extLst>
                    <a:ext uri="{FF2B5EF4-FFF2-40B4-BE49-F238E27FC236}">
                      <a16:creationId xmlns:a16="http://schemas.microsoft.com/office/drawing/2014/main" id="{1C2F7B02-5F53-4AD6-8B7B-8F416ECCE1CC}"/>
                    </a:ext>
                  </a:extLst>
                </p:cNvPr>
                <p:cNvSpPr/>
                <p:nvPr/>
              </p:nvSpPr>
              <p:spPr>
                <a:xfrm>
                  <a:off x="1382440" y="5288247"/>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84" name="18 Rectángulo">
                  <a:extLst>
                    <a:ext uri="{FF2B5EF4-FFF2-40B4-BE49-F238E27FC236}">
                      <a16:creationId xmlns:a16="http://schemas.microsoft.com/office/drawing/2014/main" id="{5E5BF00A-4513-43D4-8141-F388F432E4A6}"/>
                    </a:ext>
                  </a:extLst>
                </p:cNvPr>
                <p:cNvSpPr/>
                <p:nvPr/>
              </p:nvSpPr>
              <p:spPr>
                <a:xfrm>
                  <a:off x="1807865"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85" name="19 Rectángulo">
                  <a:extLst>
                    <a:ext uri="{FF2B5EF4-FFF2-40B4-BE49-F238E27FC236}">
                      <a16:creationId xmlns:a16="http://schemas.microsoft.com/office/drawing/2014/main" id="{05817F55-0D4F-48CD-B701-295341E63F16}"/>
                    </a:ext>
                  </a:extLst>
                </p:cNvPr>
                <p:cNvSpPr/>
                <p:nvPr/>
              </p:nvSpPr>
              <p:spPr>
                <a:xfrm>
                  <a:off x="2233291"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86" name="20 Rectángulo">
                  <a:extLst>
                    <a:ext uri="{FF2B5EF4-FFF2-40B4-BE49-F238E27FC236}">
                      <a16:creationId xmlns:a16="http://schemas.microsoft.com/office/drawing/2014/main" id="{0C3564B3-321D-4B70-9E38-9630D15DAA2F}"/>
                    </a:ext>
                  </a:extLst>
                </p:cNvPr>
                <p:cNvSpPr/>
                <p:nvPr/>
              </p:nvSpPr>
              <p:spPr>
                <a:xfrm>
                  <a:off x="2650779"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87" name="24 Grupo">
                <a:extLst>
                  <a:ext uri="{FF2B5EF4-FFF2-40B4-BE49-F238E27FC236}">
                    <a16:creationId xmlns:a16="http://schemas.microsoft.com/office/drawing/2014/main" id="{2BCF8211-E811-4EA6-A16F-0F9D044CB03D}"/>
                  </a:ext>
                </a:extLst>
              </p:cNvPr>
              <p:cNvGrpSpPr>
                <a:grpSpLocks/>
              </p:cNvGrpSpPr>
              <p:nvPr/>
            </p:nvGrpSpPr>
            <p:grpSpPr bwMode="auto">
              <a:xfrm>
                <a:off x="6976766" y="4648846"/>
                <a:ext cx="1484312" cy="245107"/>
                <a:chOff x="1382440" y="4913787"/>
                <a:chExt cx="1484226" cy="245067"/>
              </a:xfrm>
            </p:grpSpPr>
            <p:sp>
              <p:nvSpPr>
                <p:cNvPr id="88" name="21 Rectángulo">
                  <a:extLst>
                    <a:ext uri="{FF2B5EF4-FFF2-40B4-BE49-F238E27FC236}">
                      <a16:creationId xmlns:a16="http://schemas.microsoft.com/office/drawing/2014/main" id="{9721B368-A6D4-4F66-9EED-317CA4AEE55A}"/>
                    </a:ext>
                  </a:extLst>
                </p:cNvPr>
                <p:cNvSpPr/>
                <p:nvPr/>
              </p:nvSpPr>
              <p:spPr>
                <a:xfrm>
                  <a:off x="1382440" y="4920007"/>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89" name="22 Rectángulo">
                  <a:extLst>
                    <a:ext uri="{FF2B5EF4-FFF2-40B4-BE49-F238E27FC236}">
                      <a16:creationId xmlns:a16="http://schemas.microsoft.com/office/drawing/2014/main" id="{3566BA1B-ABEE-447E-9458-CE833109398D}"/>
                    </a:ext>
                  </a:extLst>
                </p:cNvPr>
                <p:cNvSpPr/>
                <p:nvPr/>
              </p:nvSpPr>
              <p:spPr>
                <a:xfrm>
                  <a:off x="1807865"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90" name="23 Rectángulo">
                  <a:extLst>
                    <a:ext uri="{FF2B5EF4-FFF2-40B4-BE49-F238E27FC236}">
                      <a16:creationId xmlns:a16="http://schemas.microsoft.com/office/drawing/2014/main" id="{8D6C5A48-7769-49F2-94BC-00E313203445}"/>
                    </a:ext>
                  </a:extLst>
                </p:cNvPr>
                <p:cNvSpPr/>
                <p:nvPr/>
              </p:nvSpPr>
              <p:spPr>
                <a:xfrm>
                  <a:off x="2233291"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91" name="24 Rectángulo">
                  <a:extLst>
                    <a:ext uri="{FF2B5EF4-FFF2-40B4-BE49-F238E27FC236}">
                      <a16:creationId xmlns:a16="http://schemas.microsoft.com/office/drawing/2014/main" id="{A1E79D00-3E00-40B9-9492-4E2AB145C18B}"/>
                    </a:ext>
                  </a:extLst>
                </p:cNvPr>
                <p:cNvSpPr/>
                <p:nvPr/>
              </p:nvSpPr>
              <p:spPr>
                <a:xfrm>
                  <a:off x="2650779" y="4913658"/>
                  <a:ext cx="215887" cy="23808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92" name="25 Grupo">
                <a:extLst>
                  <a:ext uri="{FF2B5EF4-FFF2-40B4-BE49-F238E27FC236}">
                    <a16:creationId xmlns:a16="http://schemas.microsoft.com/office/drawing/2014/main" id="{4B637FDF-4BCE-43F2-9A5A-5401830E2D54}"/>
                  </a:ext>
                </a:extLst>
              </p:cNvPr>
              <p:cNvGrpSpPr>
                <a:grpSpLocks/>
              </p:cNvGrpSpPr>
              <p:nvPr/>
            </p:nvGrpSpPr>
            <p:grpSpPr bwMode="auto">
              <a:xfrm>
                <a:off x="6976766" y="5017206"/>
                <a:ext cx="1484312" cy="245107"/>
                <a:chOff x="1382440" y="5282087"/>
                <a:chExt cx="1484226" cy="245067"/>
              </a:xfrm>
            </p:grpSpPr>
            <p:sp>
              <p:nvSpPr>
                <p:cNvPr id="93" name="17 Rectángulo">
                  <a:extLst>
                    <a:ext uri="{FF2B5EF4-FFF2-40B4-BE49-F238E27FC236}">
                      <a16:creationId xmlns:a16="http://schemas.microsoft.com/office/drawing/2014/main" id="{0C52B9D8-CE28-4AE6-8FB3-BB11FEA0CC77}"/>
                    </a:ext>
                  </a:extLst>
                </p:cNvPr>
                <p:cNvSpPr/>
                <p:nvPr/>
              </p:nvSpPr>
              <p:spPr>
                <a:xfrm>
                  <a:off x="1382440" y="5288247"/>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94" name="18 Rectángulo">
                  <a:extLst>
                    <a:ext uri="{FF2B5EF4-FFF2-40B4-BE49-F238E27FC236}">
                      <a16:creationId xmlns:a16="http://schemas.microsoft.com/office/drawing/2014/main" id="{832B4C4E-0CBA-41F7-AB5D-AE928FEED4C7}"/>
                    </a:ext>
                  </a:extLst>
                </p:cNvPr>
                <p:cNvSpPr/>
                <p:nvPr/>
              </p:nvSpPr>
              <p:spPr>
                <a:xfrm>
                  <a:off x="1807865"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95" name="19 Rectángulo">
                  <a:extLst>
                    <a:ext uri="{FF2B5EF4-FFF2-40B4-BE49-F238E27FC236}">
                      <a16:creationId xmlns:a16="http://schemas.microsoft.com/office/drawing/2014/main" id="{BBB76572-2E68-4A51-812E-9A5D094F1571}"/>
                    </a:ext>
                  </a:extLst>
                </p:cNvPr>
                <p:cNvSpPr/>
                <p:nvPr/>
              </p:nvSpPr>
              <p:spPr>
                <a:xfrm>
                  <a:off x="2233291"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96" name="20 Rectángulo">
                  <a:extLst>
                    <a:ext uri="{FF2B5EF4-FFF2-40B4-BE49-F238E27FC236}">
                      <a16:creationId xmlns:a16="http://schemas.microsoft.com/office/drawing/2014/main" id="{1622BB1F-2779-471B-B3C4-7AFEF3AC7CA1}"/>
                    </a:ext>
                  </a:extLst>
                </p:cNvPr>
                <p:cNvSpPr/>
                <p:nvPr/>
              </p:nvSpPr>
              <p:spPr>
                <a:xfrm>
                  <a:off x="2650779" y="5281898"/>
                  <a:ext cx="215887" cy="239674"/>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nvGrpSpPr>
              <p:cNvPr id="102" name="22 Grupo">
                <a:extLst>
                  <a:ext uri="{FF2B5EF4-FFF2-40B4-BE49-F238E27FC236}">
                    <a16:creationId xmlns:a16="http://schemas.microsoft.com/office/drawing/2014/main" id="{37D5CF76-6A4F-4A39-8CB9-8F1A34186E56}"/>
                  </a:ext>
                </a:extLst>
              </p:cNvPr>
              <p:cNvGrpSpPr>
                <a:grpSpLocks/>
              </p:cNvGrpSpPr>
              <p:nvPr/>
            </p:nvGrpSpPr>
            <p:grpSpPr bwMode="auto">
              <a:xfrm>
                <a:off x="6992676" y="2749244"/>
                <a:ext cx="1484312" cy="245107"/>
                <a:chOff x="1382440" y="4126387"/>
                <a:chExt cx="1484226" cy="245067"/>
              </a:xfrm>
            </p:grpSpPr>
            <p:sp>
              <p:nvSpPr>
                <p:cNvPr id="103" name="29 Rectángulo">
                  <a:extLst>
                    <a:ext uri="{FF2B5EF4-FFF2-40B4-BE49-F238E27FC236}">
                      <a16:creationId xmlns:a16="http://schemas.microsoft.com/office/drawing/2014/main" id="{9167F321-E2E6-4A92-9AEC-A251556366E2}"/>
                    </a:ext>
                  </a:extLst>
                </p:cNvPr>
                <p:cNvSpPr/>
                <p:nvPr/>
              </p:nvSpPr>
              <p:spPr>
                <a:xfrm>
                  <a:off x="1382440" y="4132736"/>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04" name="30 Rectángulo">
                  <a:extLst>
                    <a:ext uri="{FF2B5EF4-FFF2-40B4-BE49-F238E27FC236}">
                      <a16:creationId xmlns:a16="http://schemas.microsoft.com/office/drawing/2014/main" id="{734619E1-8110-4652-8CCE-D9254647554D}"/>
                    </a:ext>
                  </a:extLst>
                </p:cNvPr>
                <p:cNvSpPr/>
                <p:nvPr/>
              </p:nvSpPr>
              <p:spPr>
                <a:xfrm>
                  <a:off x="1807865"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05" name="31 Rectángulo">
                  <a:extLst>
                    <a:ext uri="{FF2B5EF4-FFF2-40B4-BE49-F238E27FC236}">
                      <a16:creationId xmlns:a16="http://schemas.microsoft.com/office/drawing/2014/main" id="{8E0E7315-EDA8-45EC-8491-7AC77E777645}"/>
                    </a:ext>
                  </a:extLst>
                </p:cNvPr>
                <p:cNvSpPr/>
                <p:nvPr/>
              </p:nvSpPr>
              <p:spPr>
                <a:xfrm>
                  <a:off x="2233291"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sp>
              <p:nvSpPr>
                <p:cNvPr id="106" name="32 Rectángulo">
                  <a:extLst>
                    <a:ext uri="{FF2B5EF4-FFF2-40B4-BE49-F238E27FC236}">
                      <a16:creationId xmlns:a16="http://schemas.microsoft.com/office/drawing/2014/main" id="{760E5E13-5028-4BD1-910E-81B8251411E6}"/>
                    </a:ext>
                  </a:extLst>
                </p:cNvPr>
                <p:cNvSpPr/>
                <p:nvPr/>
              </p:nvSpPr>
              <p:spPr>
                <a:xfrm>
                  <a:off x="2650779" y="4126387"/>
                  <a:ext cx="215887" cy="238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CO"/>
                </a:p>
              </p:txBody>
            </p:sp>
          </p:grpSp>
        </p:grpSp>
      </p:grpSp>
      <p:pic>
        <p:nvPicPr>
          <p:cNvPr id="108" name="Picture 5" descr="http://images.wikia.com/simpsons/images/a/ae/Lenny_Leonard.png">
            <a:extLst>
              <a:ext uri="{FF2B5EF4-FFF2-40B4-BE49-F238E27FC236}">
                <a16:creationId xmlns:a16="http://schemas.microsoft.com/office/drawing/2014/main" id="{0676ACA3-04D8-464C-B33C-F8708926AC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3850" y="3354818"/>
            <a:ext cx="457200" cy="87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 name="Picture 7" descr="http://images.wikia.com/simpsons/images/a/a9/Carl_Carlson.png">
            <a:extLst>
              <a:ext uri="{FF2B5EF4-FFF2-40B4-BE49-F238E27FC236}">
                <a16:creationId xmlns:a16="http://schemas.microsoft.com/office/drawing/2014/main" id="{6E1D3CC3-2242-4241-BDB7-C80C8B0F43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3150" y="3389592"/>
            <a:ext cx="492125"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 name="Picture 11" descr="http://images.wikia.com/simpsons/images/7/74/222px-Barney_Gumble.PNG">
            <a:extLst>
              <a:ext uri="{FF2B5EF4-FFF2-40B4-BE49-F238E27FC236}">
                <a16:creationId xmlns:a16="http://schemas.microsoft.com/office/drawing/2014/main" id="{F8226B2D-869D-4451-9855-202F713D63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8389" y="1119899"/>
            <a:ext cx="6762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 name="Picture 15" descr="http://images.wikia.com/simpsons/images/8/84/Ned_Flanders.png">
            <a:extLst>
              <a:ext uri="{FF2B5EF4-FFF2-40B4-BE49-F238E27FC236}">
                <a16:creationId xmlns:a16="http://schemas.microsoft.com/office/drawing/2014/main" id="{054CEA8B-5F94-4A81-BA49-0EE2C57B99D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002600" y="1181018"/>
            <a:ext cx="473075"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 name="Picture 2" descr="Springfield Googolplex Theatres | Simpsons Wiki | Fandom">
            <a:extLst>
              <a:ext uri="{FF2B5EF4-FFF2-40B4-BE49-F238E27FC236}">
                <a16:creationId xmlns:a16="http://schemas.microsoft.com/office/drawing/2014/main" id="{3651BBAA-BC20-49CF-ADC5-A34670AAE78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40271" y="1236151"/>
            <a:ext cx="3149887" cy="239991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3" name="Tabla 9">
            <a:extLst>
              <a:ext uri="{FF2B5EF4-FFF2-40B4-BE49-F238E27FC236}">
                <a16:creationId xmlns:a16="http://schemas.microsoft.com/office/drawing/2014/main" id="{5CB822C9-8DAB-4D50-85F7-6D4E3CDED162}"/>
              </a:ext>
            </a:extLst>
          </p:cNvPr>
          <p:cNvGraphicFramePr>
            <a:graphicFrameLocks noGrp="1"/>
          </p:cNvGraphicFramePr>
          <p:nvPr/>
        </p:nvGraphicFramePr>
        <p:xfrm>
          <a:off x="711849" y="4057919"/>
          <a:ext cx="2812983" cy="2225040"/>
        </p:xfrm>
        <a:graphic>
          <a:graphicData uri="http://schemas.openxmlformats.org/drawingml/2006/table">
            <a:tbl>
              <a:tblPr firstRow="1" bandRow="1">
                <a:tableStyleId>{5940675A-B579-460E-94D1-54222C63F5DA}</a:tableStyleId>
              </a:tblPr>
              <a:tblGrid>
                <a:gridCol w="1561338">
                  <a:extLst>
                    <a:ext uri="{9D8B030D-6E8A-4147-A177-3AD203B41FA5}">
                      <a16:colId xmlns:a16="http://schemas.microsoft.com/office/drawing/2014/main" val="1520359308"/>
                    </a:ext>
                  </a:extLst>
                </a:gridCol>
                <a:gridCol w="1251645">
                  <a:extLst>
                    <a:ext uri="{9D8B030D-6E8A-4147-A177-3AD203B41FA5}">
                      <a16:colId xmlns:a16="http://schemas.microsoft.com/office/drawing/2014/main" val="4218542073"/>
                    </a:ext>
                  </a:extLst>
                </a:gridCol>
              </a:tblGrid>
              <a:tr h="370840">
                <a:tc>
                  <a:txBody>
                    <a:bodyPr/>
                    <a:lstStyle/>
                    <a:p>
                      <a:r>
                        <a:rPr lang="es-MX" sz="1600" b="1" dirty="0">
                          <a:solidFill>
                            <a:schemeClr val="bg1"/>
                          </a:solidFill>
                          <a:latin typeface="+mn-lt"/>
                        </a:rPr>
                        <a:t>Puestos VIP</a:t>
                      </a:r>
                      <a:endParaRPr lang="es-CO" sz="1600" b="1" dirty="0">
                        <a:solidFill>
                          <a:schemeClr val="bg1"/>
                        </a:solidFill>
                        <a:latin typeface="+mn-lt"/>
                      </a:endParaRPr>
                    </a:p>
                  </a:txBody>
                  <a:tcPr>
                    <a:solidFill>
                      <a:schemeClr val="tx1"/>
                    </a:solidFill>
                  </a:tcPr>
                </a:tc>
                <a:tc>
                  <a:txBody>
                    <a:bodyPr/>
                    <a:lstStyle/>
                    <a:p>
                      <a:r>
                        <a:rPr lang="es-MX" sz="1600" dirty="0">
                          <a:latin typeface="+mn-lt"/>
                        </a:rPr>
                        <a:t>2</a:t>
                      </a:r>
                      <a:endParaRPr lang="es-CO" sz="1600" dirty="0">
                        <a:latin typeface="+mn-lt"/>
                      </a:endParaRPr>
                    </a:p>
                  </a:txBody>
                  <a:tcPr/>
                </a:tc>
                <a:extLst>
                  <a:ext uri="{0D108BD9-81ED-4DB2-BD59-A6C34878D82A}">
                    <a16:rowId xmlns:a16="http://schemas.microsoft.com/office/drawing/2014/main" val="1949968076"/>
                  </a:ext>
                </a:extLst>
              </a:tr>
              <a:tr h="370840">
                <a:tc>
                  <a:txBody>
                    <a:bodyPr/>
                    <a:lstStyle/>
                    <a:p>
                      <a:r>
                        <a:rPr lang="es-MX" sz="1600" b="1" dirty="0">
                          <a:solidFill>
                            <a:schemeClr val="bg1"/>
                          </a:solidFill>
                          <a:latin typeface="+mn-lt"/>
                        </a:rPr>
                        <a:t>Puestos Normal</a:t>
                      </a:r>
                      <a:endParaRPr lang="es-CO" sz="1600" b="1" dirty="0">
                        <a:solidFill>
                          <a:schemeClr val="bg1"/>
                        </a:solidFill>
                        <a:latin typeface="+mn-lt"/>
                      </a:endParaRPr>
                    </a:p>
                  </a:txBody>
                  <a:tcPr>
                    <a:solidFill>
                      <a:schemeClr val="tx1"/>
                    </a:solidFill>
                  </a:tcPr>
                </a:tc>
                <a:tc>
                  <a:txBody>
                    <a:bodyPr/>
                    <a:lstStyle/>
                    <a:p>
                      <a:r>
                        <a:rPr lang="es-MX" sz="1600" dirty="0">
                          <a:latin typeface="+mn-lt"/>
                        </a:rPr>
                        <a:t>2</a:t>
                      </a:r>
                      <a:endParaRPr lang="es-CO" sz="1600" dirty="0">
                        <a:latin typeface="+mn-lt"/>
                      </a:endParaRPr>
                    </a:p>
                  </a:txBody>
                  <a:tcPr/>
                </a:tc>
                <a:extLst>
                  <a:ext uri="{0D108BD9-81ED-4DB2-BD59-A6C34878D82A}">
                    <a16:rowId xmlns:a16="http://schemas.microsoft.com/office/drawing/2014/main" val="2422557555"/>
                  </a:ext>
                </a:extLst>
              </a:tr>
              <a:tr h="370840">
                <a:tc>
                  <a:txBody>
                    <a:bodyPr/>
                    <a:lstStyle/>
                    <a:p>
                      <a:r>
                        <a:rPr lang="es-MX" sz="1600" b="1" dirty="0">
                          <a:solidFill>
                            <a:schemeClr val="bg1"/>
                          </a:solidFill>
                          <a:latin typeface="+mn-lt"/>
                        </a:rPr>
                        <a:t>Total VIP</a:t>
                      </a:r>
                      <a:endParaRPr lang="es-CO" sz="1600" b="1" dirty="0">
                        <a:solidFill>
                          <a:schemeClr val="bg1"/>
                        </a:solidFill>
                        <a:latin typeface="+mn-lt"/>
                      </a:endParaRPr>
                    </a:p>
                  </a:txBody>
                  <a:tcPr>
                    <a:solidFill>
                      <a:schemeClr val="tx1"/>
                    </a:solidFill>
                  </a:tcPr>
                </a:tc>
                <a:tc>
                  <a:txBody>
                    <a:bodyPr/>
                    <a:lstStyle/>
                    <a:p>
                      <a:r>
                        <a:rPr lang="es-MX" sz="1600" dirty="0">
                          <a:latin typeface="+mn-lt"/>
                        </a:rPr>
                        <a:t>14000</a:t>
                      </a:r>
                      <a:endParaRPr lang="es-CO" sz="1600" dirty="0">
                        <a:latin typeface="+mn-lt"/>
                      </a:endParaRPr>
                    </a:p>
                  </a:txBody>
                  <a:tcPr/>
                </a:tc>
                <a:extLst>
                  <a:ext uri="{0D108BD9-81ED-4DB2-BD59-A6C34878D82A}">
                    <a16:rowId xmlns:a16="http://schemas.microsoft.com/office/drawing/2014/main" val="3537023589"/>
                  </a:ext>
                </a:extLst>
              </a:tr>
              <a:tr h="370840">
                <a:tc>
                  <a:txBody>
                    <a:bodyPr/>
                    <a:lstStyle/>
                    <a:p>
                      <a:r>
                        <a:rPr lang="es-MX" sz="1600" b="1" dirty="0">
                          <a:solidFill>
                            <a:schemeClr val="bg1"/>
                          </a:solidFill>
                          <a:latin typeface="+mn-lt"/>
                        </a:rPr>
                        <a:t>Total Normal</a:t>
                      </a:r>
                      <a:endParaRPr lang="es-CO" sz="1600" b="1" dirty="0">
                        <a:solidFill>
                          <a:schemeClr val="bg1"/>
                        </a:solidFill>
                        <a:latin typeface="+mn-lt"/>
                      </a:endParaRPr>
                    </a:p>
                  </a:txBody>
                  <a:tcPr>
                    <a:solidFill>
                      <a:schemeClr val="tx1"/>
                    </a:solidFill>
                  </a:tcPr>
                </a:tc>
                <a:tc>
                  <a:txBody>
                    <a:bodyPr/>
                    <a:lstStyle/>
                    <a:p>
                      <a:r>
                        <a:rPr lang="es-MX" sz="1600" dirty="0">
                          <a:latin typeface="+mn-lt"/>
                        </a:rPr>
                        <a:t>10000</a:t>
                      </a:r>
                      <a:endParaRPr lang="es-CO" sz="1600" dirty="0">
                        <a:latin typeface="+mn-lt"/>
                      </a:endParaRPr>
                    </a:p>
                  </a:txBody>
                  <a:tcPr/>
                </a:tc>
                <a:extLst>
                  <a:ext uri="{0D108BD9-81ED-4DB2-BD59-A6C34878D82A}">
                    <a16:rowId xmlns:a16="http://schemas.microsoft.com/office/drawing/2014/main" val="1335675678"/>
                  </a:ext>
                </a:extLst>
              </a:tr>
              <a:tr h="370840">
                <a:tc>
                  <a:txBody>
                    <a:bodyPr/>
                    <a:lstStyle/>
                    <a:p>
                      <a:r>
                        <a:rPr lang="es-MX" sz="1600" b="1" dirty="0">
                          <a:solidFill>
                            <a:schemeClr val="bg1"/>
                          </a:solidFill>
                          <a:latin typeface="+mn-lt"/>
                        </a:rPr>
                        <a:t>Asistentes</a:t>
                      </a:r>
                      <a:endParaRPr lang="es-CO" sz="1600" b="1" dirty="0">
                        <a:solidFill>
                          <a:schemeClr val="bg1"/>
                        </a:solidFill>
                        <a:latin typeface="+mn-lt"/>
                      </a:endParaRPr>
                    </a:p>
                  </a:txBody>
                  <a:tcPr>
                    <a:solidFill>
                      <a:schemeClr val="tx1"/>
                    </a:solidFill>
                  </a:tcPr>
                </a:tc>
                <a:tc>
                  <a:txBody>
                    <a:bodyPr/>
                    <a:lstStyle/>
                    <a:p>
                      <a:r>
                        <a:rPr lang="es-MX" sz="1600" dirty="0">
                          <a:latin typeface="+mn-lt"/>
                        </a:rPr>
                        <a:t>4</a:t>
                      </a:r>
                      <a:endParaRPr lang="es-CO" sz="1600" dirty="0">
                        <a:latin typeface="+mn-lt"/>
                      </a:endParaRPr>
                    </a:p>
                  </a:txBody>
                  <a:tcPr/>
                </a:tc>
                <a:extLst>
                  <a:ext uri="{0D108BD9-81ED-4DB2-BD59-A6C34878D82A}">
                    <a16:rowId xmlns:a16="http://schemas.microsoft.com/office/drawing/2014/main" val="2260238023"/>
                  </a:ext>
                </a:extLst>
              </a:tr>
              <a:tr h="370840">
                <a:tc>
                  <a:txBody>
                    <a:bodyPr/>
                    <a:lstStyle/>
                    <a:p>
                      <a:r>
                        <a:rPr lang="es-CO" sz="1600" b="1" dirty="0">
                          <a:solidFill>
                            <a:schemeClr val="bg1"/>
                          </a:solidFill>
                          <a:latin typeface="+mn-lt"/>
                        </a:rPr>
                        <a:t>Total</a:t>
                      </a:r>
                    </a:p>
                  </a:txBody>
                  <a:tcPr>
                    <a:solidFill>
                      <a:schemeClr val="tx1"/>
                    </a:solidFill>
                  </a:tcPr>
                </a:tc>
                <a:tc>
                  <a:txBody>
                    <a:bodyPr/>
                    <a:lstStyle/>
                    <a:p>
                      <a:r>
                        <a:rPr lang="es-CO" sz="1600" dirty="0">
                          <a:latin typeface="+mn-lt"/>
                        </a:rPr>
                        <a:t>24000</a:t>
                      </a:r>
                    </a:p>
                  </a:txBody>
                  <a:tcPr/>
                </a:tc>
                <a:extLst>
                  <a:ext uri="{0D108BD9-81ED-4DB2-BD59-A6C34878D82A}">
                    <a16:rowId xmlns:a16="http://schemas.microsoft.com/office/drawing/2014/main" val="2851172964"/>
                  </a:ext>
                </a:extLst>
              </a:tr>
            </a:tbl>
          </a:graphicData>
        </a:graphic>
      </p:graphicFrame>
      <p:sp>
        <p:nvSpPr>
          <p:cNvPr id="4" name="CuadroTexto 3">
            <a:extLst>
              <a:ext uri="{FF2B5EF4-FFF2-40B4-BE49-F238E27FC236}">
                <a16:creationId xmlns:a16="http://schemas.microsoft.com/office/drawing/2014/main" id="{81514C0C-A52F-462E-AD83-03D8338D195B}"/>
              </a:ext>
            </a:extLst>
          </p:cNvPr>
          <p:cNvSpPr txBox="1"/>
          <p:nvPr/>
        </p:nvSpPr>
        <p:spPr>
          <a:xfrm>
            <a:off x="5872308" y="6024170"/>
            <a:ext cx="1487908" cy="369332"/>
          </a:xfrm>
          <a:prstGeom prst="rect">
            <a:avLst/>
          </a:prstGeom>
          <a:noFill/>
        </p:spPr>
        <p:txBody>
          <a:bodyPr wrap="none" rtlCol="0">
            <a:spAutoFit/>
          </a:bodyPr>
          <a:lstStyle/>
          <a:p>
            <a:r>
              <a:rPr lang="es-CO" b="1" dirty="0"/>
              <a:t>Solución</a:t>
            </a:r>
            <a:r>
              <a:rPr lang="es-CO" dirty="0"/>
              <a:t>: </a:t>
            </a:r>
            <a:r>
              <a:rPr lang="es-CO" dirty="0">
                <a:hlinkClick r:id="rId7"/>
              </a:rPr>
              <a:t>Link</a:t>
            </a:r>
            <a:endParaRPr lang="es-CO" b="1" dirty="0"/>
          </a:p>
        </p:txBody>
      </p:sp>
    </p:spTree>
    <p:extLst>
      <p:ext uri="{BB962C8B-B14F-4D97-AF65-F5344CB8AC3E}">
        <p14:creationId xmlns:p14="http://schemas.microsoft.com/office/powerpoint/2010/main" val="3903728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fade">
                                      <p:cBhvr>
                                        <p:cTn id="7" dur="500"/>
                                        <p:tgtEl>
                                          <p:spTgt spid="1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8"/>
                                        </p:tgtEl>
                                        <p:attrNameLst>
                                          <p:attrName>style.visibility</p:attrName>
                                        </p:attrNameLst>
                                      </p:cBhvr>
                                      <p:to>
                                        <p:strVal val="visible"/>
                                      </p:to>
                                    </p:set>
                                    <p:animEffect transition="in" filter="fade">
                                      <p:cBhvr>
                                        <p:cTn id="12" dur="500"/>
                                        <p:tgtEl>
                                          <p:spTgt spid="10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9"/>
                                        </p:tgtEl>
                                        <p:attrNameLst>
                                          <p:attrName>style.visibility</p:attrName>
                                        </p:attrNameLst>
                                      </p:cBhvr>
                                      <p:to>
                                        <p:strVal val="visible"/>
                                      </p:to>
                                    </p:set>
                                    <p:animEffect transition="in" filter="fade">
                                      <p:cBhvr>
                                        <p:cTn id="17" dur="500"/>
                                        <p:tgtEl>
                                          <p:spTgt spid="10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1"/>
                                        </p:tgtEl>
                                        <p:attrNameLst>
                                          <p:attrName>style.visibility</p:attrName>
                                        </p:attrNameLst>
                                      </p:cBhvr>
                                      <p:to>
                                        <p:strVal val="visible"/>
                                      </p:to>
                                    </p:set>
                                    <p:animEffect transition="in" filter="fade">
                                      <p:cBhvr>
                                        <p:cTn id="22" dur="5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57056" y="276634"/>
            <a:ext cx="8131368" cy="782960"/>
          </a:xfrm>
        </p:spPr>
        <p:txBody>
          <a:bodyPr>
            <a:normAutofit/>
          </a:bodyPr>
          <a:lstStyle/>
          <a:p>
            <a:r>
              <a:rPr lang="es-CO" dirty="0"/>
              <a:t>Ciclo Para</a:t>
            </a:r>
          </a:p>
        </p:txBody>
      </p:sp>
      <p:sp>
        <p:nvSpPr>
          <p:cNvPr id="8" name="CuadroTexto 7">
            <a:extLst>
              <a:ext uri="{FF2B5EF4-FFF2-40B4-BE49-F238E27FC236}">
                <a16:creationId xmlns:a16="http://schemas.microsoft.com/office/drawing/2014/main" id="{791D7E60-39B9-4748-947F-38A8F97E2D1C}"/>
              </a:ext>
            </a:extLst>
          </p:cNvPr>
          <p:cNvSpPr txBox="1"/>
          <p:nvPr/>
        </p:nvSpPr>
        <p:spPr>
          <a:xfrm>
            <a:off x="3950455" y="1552979"/>
            <a:ext cx="4942025" cy="738664"/>
          </a:xfrm>
          <a:prstGeom prst="rect">
            <a:avLst/>
          </a:prstGeom>
          <a:noFill/>
          <a:ln>
            <a:solidFill>
              <a:schemeClr val="tx1"/>
            </a:solidFill>
          </a:ln>
        </p:spPr>
        <p:txBody>
          <a:bodyPr wrap="square">
            <a:spAutoFit/>
          </a:bodyPr>
          <a:lstStyle/>
          <a:p>
            <a:pPr indent="-57150"/>
            <a:r>
              <a:rPr lang="es-ES" sz="1400" dirty="0">
                <a:solidFill>
                  <a:schemeClr val="accent4"/>
                </a:solidFill>
                <a:latin typeface="Consolas" panose="020B0609020204030204" pitchFamily="49" charset="0"/>
              </a:rPr>
              <a:t>Para (</a:t>
            </a:r>
            <a:r>
              <a:rPr lang="es-ES" sz="1400" dirty="0">
                <a:solidFill>
                  <a:srgbClr val="C00000"/>
                </a:solidFill>
                <a:latin typeface="Consolas" panose="020B0609020204030204" pitchFamily="49" charset="0"/>
              </a:rPr>
              <a:t>vc = inicio, fin, actualizacion</a:t>
            </a:r>
            <a:r>
              <a:rPr lang="es-ES" sz="1400" dirty="0">
                <a:solidFill>
                  <a:schemeClr val="accent4"/>
                </a:solidFill>
                <a:latin typeface="Consolas" panose="020B0609020204030204" pitchFamily="49" charset="0"/>
              </a:rPr>
              <a:t>) Haga</a:t>
            </a:r>
          </a:p>
          <a:p>
            <a:pPr indent="-57150"/>
            <a:r>
              <a:rPr lang="es-ES" sz="1400" dirty="0">
                <a:latin typeface="Consolas" panose="020B0609020204030204" pitchFamily="49" charset="0"/>
              </a:rPr>
              <a:t>  instrucciones cuerpo</a:t>
            </a:r>
          </a:p>
          <a:p>
            <a:pPr indent="-57150"/>
            <a:r>
              <a:rPr lang="es-ES" sz="1400" dirty="0" err="1">
                <a:solidFill>
                  <a:schemeClr val="accent4"/>
                </a:solidFill>
                <a:latin typeface="Consolas" panose="020B0609020204030204" pitchFamily="49" charset="0"/>
              </a:rPr>
              <a:t>Fin_Para</a:t>
            </a:r>
            <a:endParaRPr lang="es-CO" sz="1400" dirty="0">
              <a:solidFill>
                <a:schemeClr val="accent4"/>
              </a:solidFill>
              <a:latin typeface="Consolas" panose="020B0609020204030204" pitchFamily="49" charset="0"/>
            </a:endParaRPr>
          </a:p>
        </p:txBody>
      </p:sp>
      <p:sp>
        <p:nvSpPr>
          <p:cNvPr id="9" name="CuadroTexto 8">
            <a:extLst>
              <a:ext uri="{FF2B5EF4-FFF2-40B4-BE49-F238E27FC236}">
                <a16:creationId xmlns:a16="http://schemas.microsoft.com/office/drawing/2014/main" id="{F8D1186C-BAA6-4BB7-8BDA-437F19BE7947}"/>
              </a:ext>
            </a:extLst>
          </p:cNvPr>
          <p:cNvSpPr txBox="1"/>
          <p:nvPr/>
        </p:nvSpPr>
        <p:spPr>
          <a:xfrm>
            <a:off x="3950455" y="2979110"/>
            <a:ext cx="4942025" cy="523220"/>
          </a:xfrm>
          <a:prstGeom prst="rect">
            <a:avLst/>
          </a:prstGeom>
          <a:noFill/>
          <a:ln>
            <a:solidFill>
              <a:schemeClr val="tx1"/>
            </a:solidFill>
          </a:ln>
        </p:spPr>
        <p:txBody>
          <a:bodyPr wrap="square">
            <a:spAutoFit/>
          </a:bodyPr>
          <a:lstStyle/>
          <a:p>
            <a:pPr indent="-57150"/>
            <a:r>
              <a:rPr lang="es-ES" sz="1400" dirty="0">
                <a:solidFill>
                  <a:schemeClr val="accent4"/>
                </a:solidFill>
                <a:latin typeface="Consolas" panose="020B0609020204030204" pitchFamily="49" charset="0"/>
              </a:rPr>
              <a:t>for </a:t>
            </a:r>
            <a:r>
              <a:rPr lang="es-ES" sz="1400" dirty="0">
                <a:solidFill>
                  <a:srgbClr val="C00000"/>
                </a:solidFill>
                <a:latin typeface="Consolas" panose="020B0609020204030204" pitchFamily="49" charset="0"/>
              </a:rPr>
              <a:t>vc</a:t>
            </a:r>
            <a:r>
              <a:rPr lang="es-ES" sz="1400" dirty="0">
                <a:solidFill>
                  <a:schemeClr val="accent4"/>
                </a:solidFill>
                <a:latin typeface="Consolas" panose="020B0609020204030204" pitchFamily="49" charset="0"/>
              </a:rPr>
              <a:t> in range(</a:t>
            </a:r>
            <a:r>
              <a:rPr lang="es-ES" sz="1400" dirty="0">
                <a:solidFill>
                  <a:srgbClr val="C00000"/>
                </a:solidFill>
                <a:latin typeface="Consolas" panose="020B0609020204030204" pitchFamily="49" charset="0"/>
              </a:rPr>
              <a:t>inicio</a:t>
            </a:r>
            <a:r>
              <a:rPr lang="es-ES" sz="1400" dirty="0">
                <a:solidFill>
                  <a:schemeClr val="accent4"/>
                </a:solidFill>
                <a:latin typeface="Consolas" panose="020B0609020204030204" pitchFamily="49" charset="0"/>
              </a:rPr>
              <a:t>, </a:t>
            </a:r>
            <a:r>
              <a:rPr lang="es-ES" sz="1400" dirty="0">
                <a:solidFill>
                  <a:srgbClr val="C00000"/>
                </a:solidFill>
                <a:latin typeface="Consolas" panose="020B0609020204030204" pitchFamily="49" charset="0"/>
              </a:rPr>
              <a:t>fin +</a:t>
            </a:r>
            <a:r>
              <a:rPr lang="es-ES" sz="1400" dirty="0">
                <a:solidFill>
                  <a:schemeClr val="accent4"/>
                </a:solidFill>
                <a:latin typeface="Consolas" panose="020B0609020204030204" pitchFamily="49" charset="0"/>
              </a:rPr>
              <a:t> </a:t>
            </a:r>
            <a:r>
              <a:rPr lang="es-ES" sz="1400" dirty="0">
                <a:latin typeface="Consolas" panose="020B0609020204030204" pitchFamily="49" charset="0"/>
              </a:rPr>
              <a:t>1</a:t>
            </a:r>
            <a:r>
              <a:rPr lang="es-ES" sz="1400" dirty="0">
                <a:solidFill>
                  <a:schemeClr val="accent4"/>
                </a:solidFill>
                <a:latin typeface="Consolas" panose="020B0609020204030204" pitchFamily="49" charset="0"/>
              </a:rPr>
              <a:t>, </a:t>
            </a:r>
            <a:r>
              <a:rPr lang="es-ES" sz="1400" dirty="0">
                <a:solidFill>
                  <a:srgbClr val="C00000"/>
                </a:solidFill>
                <a:latin typeface="Consolas" panose="020B0609020204030204" pitchFamily="49" charset="0"/>
              </a:rPr>
              <a:t>actualizacion</a:t>
            </a:r>
            <a:r>
              <a:rPr lang="es-ES" sz="1400" dirty="0">
                <a:solidFill>
                  <a:schemeClr val="accent4"/>
                </a:solidFill>
                <a:latin typeface="Consolas" panose="020B0609020204030204" pitchFamily="49" charset="0"/>
              </a:rPr>
              <a:t>):</a:t>
            </a:r>
          </a:p>
          <a:p>
            <a:pPr indent="-57150"/>
            <a:r>
              <a:rPr lang="es-ES" sz="1400" dirty="0">
                <a:latin typeface="Consolas" panose="020B0609020204030204" pitchFamily="49" charset="0"/>
              </a:rPr>
              <a:t>  instrucciones cuerpo</a:t>
            </a:r>
          </a:p>
        </p:txBody>
      </p:sp>
      <p:sp>
        <p:nvSpPr>
          <p:cNvPr id="10" name="CuadroTexto 9">
            <a:extLst>
              <a:ext uri="{FF2B5EF4-FFF2-40B4-BE49-F238E27FC236}">
                <a16:creationId xmlns:a16="http://schemas.microsoft.com/office/drawing/2014/main" id="{23C017E7-0175-4F4C-9063-3C6EA1BA3C91}"/>
              </a:ext>
            </a:extLst>
          </p:cNvPr>
          <p:cNvSpPr txBox="1"/>
          <p:nvPr/>
        </p:nvSpPr>
        <p:spPr>
          <a:xfrm>
            <a:off x="5211021" y="1052736"/>
            <a:ext cx="2424161" cy="400110"/>
          </a:xfrm>
          <a:prstGeom prst="rect">
            <a:avLst/>
          </a:prstGeom>
          <a:noFill/>
        </p:spPr>
        <p:txBody>
          <a:bodyPr wrap="square" rtlCol="0">
            <a:spAutoFit/>
          </a:bodyPr>
          <a:lstStyle/>
          <a:p>
            <a:pPr algn="ctr"/>
            <a:r>
              <a:rPr lang="es-CO" sz="2000" b="1" dirty="0"/>
              <a:t>Pseudocódigo</a:t>
            </a:r>
          </a:p>
        </p:txBody>
      </p:sp>
      <p:sp>
        <p:nvSpPr>
          <p:cNvPr id="11" name="CuadroTexto 10">
            <a:extLst>
              <a:ext uri="{FF2B5EF4-FFF2-40B4-BE49-F238E27FC236}">
                <a16:creationId xmlns:a16="http://schemas.microsoft.com/office/drawing/2014/main" id="{F70CDB5E-01B0-44CF-BEA6-A41F1D5A02A9}"/>
              </a:ext>
            </a:extLst>
          </p:cNvPr>
          <p:cNvSpPr txBox="1"/>
          <p:nvPr/>
        </p:nvSpPr>
        <p:spPr>
          <a:xfrm>
            <a:off x="5211021" y="2560583"/>
            <a:ext cx="2424161" cy="400110"/>
          </a:xfrm>
          <a:prstGeom prst="rect">
            <a:avLst/>
          </a:prstGeom>
          <a:noFill/>
        </p:spPr>
        <p:txBody>
          <a:bodyPr wrap="square" rtlCol="0">
            <a:spAutoFit/>
          </a:bodyPr>
          <a:lstStyle/>
          <a:p>
            <a:pPr algn="ctr"/>
            <a:r>
              <a:rPr lang="es-CO" sz="2000" b="1" dirty="0"/>
              <a:t>Python</a:t>
            </a:r>
          </a:p>
        </p:txBody>
      </p:sp>
      <p:sp>
        <p:nvSpPr>
          <p:cNvPr id="14" name="CuadroTexto 13">
            <a:extLst>
              <a:ext uri="{FF2B5EF4-FFF2-40B4-BE49-F238E27FC236}">
                <a16:creationId xmlns:a16="http://schemas.microsoft.com/office/drawing/2014/main" id="{CACE4E4F-A4E8-46E2-AB13-7E2ACF4519A0}"/>
              </a:ext>
            </a:extLst>
          </p:cNvPr>
          <p:cNvSpPr txBox="1"/>
          <p:nvPr/>
        </p:nvSpPr>
        <p:spPr>
          <a:xfrm>
            <a:off x="874272" y="965244"/>
            <a:ext cx="2424161" cy="400110"/>
          </a:xfrm>
          <a:prstGeom prst="rect">
            <a:avLst/>
          </a:prstGeom>
          <a:noFill/>
        </p:spPr>
        <p:txBody>
          <a:bodyPr wrap="square" rtlCol="0">
            <a:spAutoFit/>
          </a:bodyPr>
          <a:lstStyle/>
          <a:p>
            <a:pPr algn="ctr"/>
            <a:r>
              <a:rPr lang="es-CO" sz="2000" b="1" dirty="0"/>
              <a:t>Diagrama de flujo</a:t>
            </a:r>
          </a:p>
        </p:txBody>
      </p:sp>
      <p:sp>
        <p:nvSpPr>
          <p:cNvPr id="4" name="CuadroTexto 3">
            <a:extLst>
              <a:ext uri="{FF2B5EF4-FFF2-40B4-BE49-F238E27FC236}">
                <a16:creationId xmlns:a16="http://schemas.microsoft.com/office/drawing/2014/main" id="{463FC496-7EBC-4F9A-8C33-D4B8F5F43481}"/>
              </a:ext>
            </a:extLst>
          </p:cNvPr>
          <p:cNvSpPr txBox="1"/>
          <p:nvPr/>
        </p:nvSpPr>
        <p:spPr>
          <a:xfrm>
            <a:off x="122662" y="3735030"/>
            <a:ext cx="8898676" cy="2862322"/>
          </a:xfrm>
          <a:prstGeom prst="rect">
            <a:avLst/>
          </a:prstGeom>
          <a:solidFill>
            <a:schemeClr val="bg1">
              <a:lumMod val="95000"/>
            </a:schemeClr>
          </a:solidFill>
        </p:spPr>
        <p:txBody>
          <a:bodyPr wrap="square" rtlCol="0">
            <a:spAutoFit/>
          </a:bodyPr>
          <a:lstStyle/>
          <a:p>
            <a:r>
              <a:rPr lang="es-CO" sz="2000" b="1" dirty="0"/>
              <a:t>Observaciones importantes</a:t>
            </a:r>
            <a:r>
              <a:rPr lang="es-CO" sz="2000" dirty="0"/>
              <a:t>:</a:t>
            </a:r>
          </a:p>
          <a:p>
            <a:pPr marL="285750" indent="-285750">
              <a:buFont typeface="Arial" panose="020B0604020202020204" pitchFamily="34" charset="0"/>
              <a:buChar char="•"/>
            </a:pPr>
            <a:r>
              <a:rPr lang="es-CO" sz="2000" dirty="0"/>
              <a:t>A diferencia del ciclo </a:t>
            </a:r>
            <a:r>
              <a:rPr lang="es-CO" b="1" dirty="0">
                <a:latin typeface="Consolas" panose="020B0609020204030204" pitchFamily="49" charset="0"/>
              </a:rPr>
              <a:t>Mientras</a:t>
            </a:r>
            <a:r>
              <a:rPr lang="es-CO" sz="2000" dirty="0"/>
              <a:t>, el ciclo </a:t>
            </a:r>
            <a:r>
              <a:rPr lang="es-CO" b="1" dirty="0">
                <a:latin typeface="Consolas" panose="020B0609020204030204" pitchFamily="49" charset="0"/>
              </a:rPr>
              <a:t>Para</a:t>
            </a:r>
            <a:r>
              <a:rPr lang="es-CO" sz="2000" b="1" dirty="0"/>
              <a:t> </a:t>
            </a:r>
            <a:r>
              <a:rPr lang="es-CO" sz="2000" dirty="0"/>
              <a:t>se caracteriza por que la inicialización, la condición de control (o parada) y la actualización de la variable de control (</a:t>
            </a:r>
            <a:r>
              <a:rPr lang="es-CO" b="1" dirty="0">
                <a:latin typeface="Consolas" panose="020B0609020204030204" pitchFamily="49" charset="0"/>
              </a:rPr>
              <a:t>VC</a:t>
            </a:r>
            <a:r>
              <a:rPr lang="es-CO" sz="2000" dirty="0"/>
              <a:t>) se definen en la cabecera del ciclo.</a:t>
            </a:r>
          </a:p>
          <a:p>
            <a:pPr marL="285750" indent="-285750">
              <a:buFont typeface="Arial" panose="020B0604020202020204" pitchFamily="34" charset="0"/>
              <a:buChar char="•"/>
            </a:pPr>
            <a:r>
              <a:rPr lang="es-CO" sz="2000" dirty="0"/>
              <a:t>Lo anterior hace que la actualización sea un proceso automático, lo cual lo hace la opción mas apropiada para ciclos donde el numero de iteraciones es conocido.</a:t>
            </a:r>
          </a:p>
          <a:p>
            <a:pPr marL="285750" indent="-285750">
              <a:buFont typeface="Arial" panose="020B0604020202020204" pitchFamily="34" charset="0"/>
              <a:buChar char="•"/>
            </a:pPr>
            <a:r>
              <a:rPr lang="es-CO" sz="2000" dirty="0"/>
              <a:t>En python la implementación del </a:t>
            </a:r>
            <a:r>
              <a:rPr lang="es-CO" b="1" dirty="0">
                <a:latin typeface="Consolas" panose="020B0609020204030204" pitchFamily="49" charset="0"/>
              </a:rPr>
              <a:t>Para</a:t>
            </a:r>
            <a:r>
              <a:rPr lang="es-CO" sz="2000" dirty="0"/>
              <a:t>, es diferente a la de lenguajes como C++ y Java, por lo que hay que tener en cuenta unos detalles adicionales que veremos luego. </a:t>
            </a:r>
          </a:p>
        </p:txBody>
      </p:sp>
      <p:pic>
        <p:nvPicPr>
          <p:cNvPr id="12" name="Imagen 11">
            <a:extLst>
              <a:ext uri="{FF2B5EF4-FFF2-40B4-BE49-F238E27FC236}">
                <a16:creationId xmlns:a16="http://schemas.microsoft.com/office/drawing/2014/main" id="{D7351A35-0196-4D4A-98B3-FFF25A1FBF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652" y="1322547"/>
            <a:ext cx="2819400" cy="2247900"/>
          </a:xfrm>
          <a:prstGeom prst="rect">
            <a:avLst/>
          </a:prstGeom>
        </p:spPr>
      </p:pic>
    </p:spTree>
    <p:extLst>
      <p:ext uri="{BB962C8B-B14F-4D97-AF65-F5344CB8AC3E}">
        <p14:creationId xmlns:p14="http://schemas.microsoft.com/office/powerpoint/2010/main" val="22498320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63060" y="223755"/>
            <a:ext cx="8269379" cy="628407"/>
          </a:xfrm>
        </p:spPr>
        <p:txBody>
          <a:bodyPr>
            <a:normAutofit fontScale="90000"/>
          </a:bodyPr>
          <a:lstStyle/>
          <a:p>
            <a:r>
              <a:rPr lang="es-CO" dirty="0"/>
              <a:t>Ciclo Para - Ejemplo 1</a:t>
            </a:r>
          </a:p>
        </p:txBody>
      </p:sp>
      <p:sp>
        <p:nvSpPr>
          <p:cNvPr id="6" name="12 Rectángulo">
            <a:extLst>
              <a:ext uri="{FF2B5EF4-FFF2-40B4-BE49-F238E27FC236}">
                <a16:creationId xmlns:a16="http://schemas.microsoft.com/office/drawing/2014/main" id="{8508C4C5-CBF9-4C17-AEB9-2B6B8EA367F8}"/>
              </a:ext>
            </a:extLst>
          </p:cNvPr>
          <p:cNvSpPr/>
          <p:nvPr/>
        </p:nvSpPr>
        <p:spPr>
          <a:xfrm>
            <a:off x="254603" y="765217"/>
            <a:ext cx="8617880" cy="1015663"/>
          </a:xfrm>
          <a:prstGeom prst="rect">
            <a:avLst/>
          </a:prstGeom>
        </p:spPr>
        <p:txBody>
          <a:bodyPr wrap="square">
            <a:spAutoFit/>
          </a:bodyPr>
          <a:lstStyle/>
          <a:p>
            <a:r>
              <a:rPr lang="es-MX" sz="2000" dirty="0"/>
              <a:t>Retomando el problema inicial de imprimir los N = 10 primeros números, el uso de ciclos permite solucionar fácilmente la cantidad de números a imprimir cambiando solo el valor de N. </a:t>
            </a:r>
            <a:endParaRPr lang="es-CO" sz="2000" dirty="0"/>
          </a:p>
        </p:txBody>
      </p:sp>
      <p:sp>
        <p:nvSpPr>
          <p:cNvPr id="14" name="Flecha: hacia abajo 13">
            <a:extLst>
              <a:ext uri="{FF2B5EF4-FFF2-40B4-BE49-F238E27FC236}">
                <a16:creationId xmlns:a16="http://schemas.microsoft.com/office/drawing/2014/main" id="{A9AD41B1-900D-449B-B6AA-3FCB22232FA6}"/>
              </a:ext>
            </a:extLst>
          </p:cNvPr>
          <p:cNvSpPr/>
          <p:nvPr/>
        </p:nvSpPr>
        <p:spPr>
          <a:xfrm rot="16200000">
            <a:off x="4864215" y="3786547"/>
            <a:ext cx="423682" cy="1008112"/>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67" name="Grupo 66">
            <a:extLst>
              <a:ext uri="{FF2B5EF4-FFF2-40B4-BE49-F238E27FC236}">
                <a16:creationId xmlns:a16="http://schemas.microsoft.com/office/drawing/2014/main" id="{981390AE-6BA8-4E06-8A9F-4BC1E07967ED}"/>
              </a:ext>
            </a:extLst>
          </p:cNvPr>
          <p:cNvGrpSpPr/>
          <p:nvPr/>
        </p:nvGrpSpPr>
        <p:grpSpPr>
          <a:xfrm>
            <a:off x="83779" y="1988840"/>
            <a:ext cx="4200189" cy="4750774"/>
            <a:chOff x="4427984" y="481854"/>
            <a:chExt cx="4200189" cy="4750774"/>
          </a:xfrm>
        </p:grpSpPr>
        <p:pic>
          <p:nvPicPr>
            <p:cNvPr id="68" name="Imagen 67">
              <a:extLst>
                <a:ext uri="{FF2B5EF4-FFF2-40B4-BE49-F238E27FC236}">
                  <a16:creationId xmlns:a16="http://schemas.microsoft.com/office/drawing/2014/main" id="{AAF42F27-8114-466C-9F89-AD5E8F3E37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9695" y="481854"/>
              <a:ext cx="2528478" cy="4750774"/>
            </a:xfrm>
            <a:prstGeom prst="rect">
              <a:avLst/>
            </a:prstGeom>
          </p:spPr>
        </p:pic>
        <p:grpSp>
          <p:nvGrpSpPr>
            <p:cNvPr id="69" name="Grupo 68">
              <a:extLst>
                <a:ext uri="{FF2B5EF4-FFF2-40B4-BE49-F238E27FC236}">
                  <a16:creationId xmlns:a16="http://schemas.microsoft.com/office/drawing/2014/main" id="{4C8BDEF8-0E62-48EB-80B5-9E93AACB0F7F}"/>
                </a:ext>
              </a:extLst>
            </p:cNvPr>
            <p:cNvGrpSpPr/>
            <p:nvPr/>
          </p:nvGrpSpPr>
          <p:grpSpPr>
            <a:xfrm>
              <a:off x="4427984" y="1700808"/>
              <a:ext cx="3647217" cy="2611373"/>
              <a:chOff x="3846925" y="3127038"/>
              <a:chExt cx="3647217" cy="2611373"/>
            </a:xfrm>
          </p:grpSpPr>
          <p:sp>
            <p:nvSpPr>
              <p:cNvPr id="70" name="CuadroTexto 69">
                <a:extLst>
                  <a:ext uri="{FF2B5EF4-FFF2-40B4-BE49-F238E27FC236}">
                    <a16:creationId xmlns:a16="http://schemas.microsoft.com/office/drawing/2014/main" id="{9FB9D9DC-9568-46AA-B061-1A166F16DFDC}"/>
                  </a:ext>
                </a:extLst>
              </p:cNvPr>
              <p:cNvSpPr txBox="1"/>
              <p:nvPr/>
            </p:nvSpPr>
            <p:spPr>
              <a:xfrm>
                <a:off x="4017749" y="3199570"/>
                <a:ext cx="1142557" cy="307777"/>
              </a:xfrm>
              <a:prstGeom prst="rect">
                <a:avLst/>
              </a:prstGeom>
              <a:noFill/>
            </p:spPr>
            <p:txBody>
              <a:bodyPr wrap="none" rtlCol="0">
                <a:spAutoFit/>
              </a:bodyPr>
              <a:lstStyle/>
              <a:p>
                <a:pPr algn="r"/>
                <a:r>
                  <a:rPr lang="es-CO" sz="1400" b="1" dirty="0">
                    <a:solidFill>
                      <a:schemeClr val="accent6"/>
                    </a:solidFill>
                  </a:rPr>
                  <a:t>Inicialización</a:t>
                </a:r>
              </a:p>
            </p:txBody>
          </p:sp>
          <p:sp>
            <p:nvSpPr>
              <p:cNvPr id="71" name="CuadroTexto 70">
                <a:extLst>
                  <a:ext uri="{FF2B5EF4-FFF2-40B4-BE49-F238E27FC236}">
                    <a16:creationId xmlns:a16="http://schemas.microsoft.com/office/drawing/2014/main" id="{CD420B9E-CF23-4802-8A53-7DBAC7F8BA06}"/>
                  </a:ext>
                </a:extLst>
              </p:cNvPr>
              <p:cNvSpPr txBox="1"/>
              <p:nvPr/>
            </p:nvSpPr>
            <p:spPr>
              <a:xfrm>
                <a:off x="3846925" y="3694346"/>
                <a:ext cx="1284998" cy="523220"/>
              </a:xfrm>
              <a:prstGeom prst="rect">
                <a:avLst/>
              </a:prstGeom>
              <a:noFill/>
            </p:spPr>
            <p:txBody>
              <a:bodyPr wrap="square" rtlCol="0">
                <a:spAutoFit/>
              </a:bodyPr>
              <a:lstStyle/>
              <a:p>
                <a:pPr algn="r"/>
                <a:r>
                  <a:rPr lang="es-CO" sz="1400" b="1" dirty="0">
                    <a:solidFill>
                      <a:srgbClr val="C00000"/>
                    </a:solidFill>
                  </a:rPr>
                  <a:t>Condición de</a:t>
                </a:r>
              </a:p>
              <a:p>
                <a:pPr algn="r"/>
                <a:r>
                  <a:rPr lang="es-CO" sz="1400" b="1" dirty="0">
                    <a:solidFill>
                      <a:srgbClr val="C00000"/>
                    </a:solidFill>
                  </a:rPr>
                  <a:t>control</a:t>
                </a:r>
              </a:p>
            </p:txBody>
          </p:sp>
          <p:sp>
            <p:nvSpPr>
              <p:cNvPr id="72" name="CuadroTexto 71">
                <a:extLst>
                  <a:ext uri="{FF2B5EF4-FFF2-40B4-BE49-F238E27FC236}">
                    <a16:creationId xmlns:a16="http://schemas.microsoft.com/office/drawing/2014/main" id="{07132349-E2D2-42D6-B3EF-FC83ED4B4DB5}"/>
                  </a:ext>
                </a:extLst>
              </p:cNvPr>
              <p:cNvSpPr txBox="1"/>
              <p:nvPr/>
            </p:nvSpPr>
            <p:spPr>
              <a:xfrm>
                <a:off x="4411843" y="4603406"/>
                <a:ext cx="721672" cy="307777"/>
              </a:xfrm>
              <a:prstGeom prst="rect">
                <a:avLst/>
              </a:prstGeom>
              <a:noFill/>
            </p:spPr>
            <p:txBody>
              <a:bodyPr wrap="none" rtlCol="0">
                <a:spAutoFit/>
              </a:bodyPr>
              <a:lstStyle/>
              <a:p>
                <a:pPr algn="r"/>
                <a:r>
                  <a:rPr lang="es-CO" sz="1400" b="1" dirty="0">
                    <a:solidFill>
                      <a:srgbClr val="00B050"/>
                    </a:solidFill>
                  </a:rPr>
                  <a:t>Cuerpo</a:t>
                </a:r>
              </a:p>
            </p:txBody>
          </p:sp>
          <p:sp>
            <p:nvSpPr>
              <p:cNvPr id="73" name="CuadroTexto 72">
                <a:extLst>
                  <a:ext uri="{FF2B5EF4-FFF2-40B4-BE49-F238E27FC236}">
                    <a16:creationId xmlns:a16="http://schemas.microsoft.com/office/drawing/2014/main" id="{F9A0752C-5183-432E-AEE7-3A0E3FBDF61D}"/>
                  </a:ext>
                </a:extLst>
              </p:cNvPr>
              <p:cNvSpPr txBox="1"/>
              <p:nvPr/>
            </p:nvSpPr>
            <p:spPr>
              <a:xfrm>
                <a:off x="3983890" y="5235014"/>
                <a:ext cx="1176219" cy="307777"/>
              </a:xfrm>
              <a:prstGeom prst="rect">
                <a:avLst/>
              </a:prstGeom>
              <a:noFill/>
            </p:spPr>
            <p:txBody>
              <a:bodyPr wrap="none" rtlCol="0">
                <a:spAutoFit/>
              </a:bodyPr>
              <a:lstStyle/>
              <a:p>
                <a:pPr algn="r"/>
                <a:r>
                  <a:rPr lang="es-CO" sz="1400" b="1" dirty="0">
                    <a:solidFill>
                      <a:srgbClr val="0070C0"/>
                    </a:solidFill>
                  </a:rPr>
                  <a:t>Actualización</a:t>
                </a:r>
              </a:p>
            </p:txBody>
          </p:sp>
          <p:sp>
            <p:nvSpPr>
              <p:cNvPr id="74" name="Rectángulo: esquinas redondeadas 73">
                <a:extLst>
                  <a:ext uri="{FF2B5EF4-FFF2-40B4-BE49-F238E27FC236}">
                    <a16:creationId xmlns:a16="http://schemas.microsoft.com/office/drawing/2014/main" id="{60D94335-2797-44F1-AEBE-3EACF92099CC}"/>
                  </a:ext>
                </a:extLst>
              </p:cNvPr>
              <p:cNvSpPr/>
              <p:nvPr/>
            </p:nvSpPr>
            <p:spPr>
              <a:xfrm>
                <a:off x="6369914" y="3127038"/>
                <a:ext cx="804189" cy="441960"/>
              </a:xfrm>
              <a:prstGeom prst="roundRect">
                <a:avLst/>
              </a:prstGeom>
              <a:noFill/>
              <a:ln>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75" name="Conector recto de flecha 74">
                <a:extLst>
                  <a:ext uri="{FF2B5EF4-FFF2-40B4-BE49-F238E27FC236}">
                    <a16:creationId xmlns:a16="http://schemas.microsoft.com/office/drawing/2014/main" id="{885907DD-E7C6-489A-B82D-4CDE545BAD5B}"/>
                  </a:ext>
                </a:extLst>
              </p:cNvPr>
              <p:cNvCxnSpPr>
                <a:stCxn id="70" idx="3"/>
                <a:endCxn id="74" idx="1"/>
              </p:cNvCxnSpPr>
              <p:nvPr/>
            </p:nvCxnSpPr>
            <p:spPr>
              <a:xfrm flipV="1">
                <a:off x="5160306" y="3348018"/>
                <a:ext cx="1209608" cy="5441"/>
              </a:xfrm>
              <a:prstGeom prst="straightConnector1">
                <a:avLst/>
              </a:prstGeom>
              <a:ln w="127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76" name="Rectángulo: esquinas redondeadas 75">
                <a:extLst>
                  <a:ext uri="{FF2B5EF4-FFF2-40B4-BE49-F238E27FC236}">
                    <a16:creationId xmlns:a16="http://schemas.microsoft.com/office/drawing/2014/main" id="{29E12B77-BEE7-4E54-9F6F-4F0465A7E024}"/>
                  </a:ext>
                </a:extLst>
              </p:cNvPr>
              <p:cNvSpPr/>
              <p:nvPr/>
            </p:nvSpPr>
            <p:spPr>
              <a:xfrm>
                <a:off x="6000623" y="3694346"/>
                <a:ext cx="1493519" cy="777240"/>
              </a:xfrm>
              <a:prstGeom prst="roundRect">
                <a:avLst>
                  <a:gd name="adj" fmla="val 10540"/>
                </a:avLst>
              </a:prstGeom>
              <a:noFill/>
              <a:ln>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77" name="Conector recto de flecha 76">
                <a:extLst>
                  <a:ext uri="{FF2B5EF4-FFF2-40B4-BE49-F238E27FC236}">
                    <a16:creationId xmlns:a16="http://schemas.microsoft.com/office/drawing/2014/main" id="{8F7F534A-1510-44E5-AC45-19A9650DBDF8}"/>
                  </a:ext>
                </a:extLst>
              </p:cNvPr>
              <p:cNvCxnSpPr>
                <a:cxnSpLocks/>
                <a:stCxn id="71" idx="3"/>
              </p:cNvCxnSpPr>
              <p:nvPr/>
            </p:nvCxnSpPr>
            <p:spPr>
              <a:xfrm>
                <a:off x="5131923" y="3955956"/>
                <a:ext cx="864096" cy="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8" name="Rectángulo: esquinas redondeadas 77">
                <a:extLst>
                  <a:ext uri="{FF2B5EF4-FFF2-40B4-BE49-F238E27FC236}">
                    <a16:creationId xmlns:a16="http://schemas.microsoft.com/office/drawing/2014/main" id="{050B2B81-B742-491B-A538-313B6593C635}"/>
                  </a:ext>
                </a:extLst>
              </p:cNvPr>
              <p:cNvSpPr/>
              <p:nvPr/>
            </p:nvSpPr>
            <p:spPr>
              <a:xfrm>
                <a:off x="6000623" y="4603406"/>
                <a:ext cx="1493519" cy="1135005"/>
              </a:xfrm>
              <a:prstGeom prst="roundRect">
                <a:avLst>
                  <a:gd name="adj" fmla="val 7883"/>
                </a:avLst>
              </a:prstGeom>
              <a:noFill/>
              <a:ln>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9" name="Rectángulo: esquinas redondeadas 78">
                <a:extLst>
                  <a:ext uri="{FF2B5EF4-FFF2-40B4-BE49-F238E27FC236}">
                    <a16:creationId xmlns:a16="http://schemas.microsoft.com/office/drawing/2014/main" id="{8FCEB6BF-0926-40E1-8F10-0DE766F1505F}"/>
                  </a:ext>
                </a:extLst>
              </p:cNvPr>
              <p:cNvSpPr/>
              <p:nvPr/>
            </p:nvSpPr>
            <p:spPr>
              <a:xfrm>
                <a:off x="6381459" y="5167258"/>
                <a:ext cx="804189" cy="441960"/>
              </a:xfrm>
              <a:prstGeom prst="roundRect">
                <a:avLst/>
              </a:prstGeom>
              <a:noFill/>
              <a:ln>
                <a:solidFill>
                  <a:schemeClr val="accent4"/>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80" name="Conector recto de flecha 79">
                <a:extLst>
                  <a:ext uri="{FF2B5EF4-FFF2-40B4-BE49-F238E27FC236}">
                    <a16:creationId xmlns:a16="http://schemas.microsoft.com/office/drawing/2014/main" id="{B6EE9B33-A92B-4BED-98EA-CAF64BC7E200}"/>
                  </a:ext>
                </a:extLst>
              </p:cNvPr>
              <p:cNvCxnSpPr>
                <a:cxnSpLocks/>
                <a:stCxn id="72" idx="3"/>
              </p:cNvCxnSpPr>
              <p:nvPr/>
            </p:nvCxnSpPr>
            <p:spPr>
              <a:xfrm>
                <a:off x="5133515" y="4757295"/>
                <a:ext cx="862504" cy="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1" name="Conector recto de flecha 80">
                <a:extLst>
                  <a:ext uri="{FF2B5EF4-FFF2-40B4-BE49-F238E27FC236}">
                    <a16:creationId xmlns:a16="http://schemas.microsoft.com/office/drawing/2014/main" id="{B7D3F1E3-8AD2-4ED9-B57E-7E1A5FF2A9CF}"/>
                  </a:ext>
                </a:extLst>
              </p:cNvPr>
              <p:cNvCxnSpPr>
                <a:cxnSpLocks/>
                <a:stCxn id="73" idx="3"/>
              </p:cNvCxnSpPr>
              <p:nvPr/>
            </p:nvCxnSpPr>
            <p:spPr>
              <a:xfrm>
                <a:off x="5160109" y="5388903"/>
                <a:ext cx="1212942" cy="372"/>
              </a:xfrm>
              <a:prstGeom prst="straightConnector1">
                <a:avLst/>
              </a:prstGeom>
              <a:ln w="127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32" name="Grupo 31">
            <a:extLst>
              <a:ext uri="{FF2B5EF4-FFF2-40B4-BE49-F238E27FC236}">
                <a16:creationId xmlns:a16="http://schemas.microsoft.com/office/drawing/2014/main" id="{59B99606-3B0E-421A-A286-DCC51D8CAC02}"/>
              </a:ext>
            </a:extLst>
          </p:cNvPr>
          <p:cNvGrpSpPr/>
          <p:nvPr/>
        </p:nvGrpSpPr>
        <p:grpSpPr>
          <a:xfrm>
            <a:off x="5148974" y="2667342"/>
            <a:ext cx="3926624" cy="3248025"/>
            <a:chOff x="5148974" y="2667342"/>
            <a:chExt cx="3926624" cy="3248025"/>
          </a:xfrm>
        </p:grpSpPr>
        <p:pic>
          <p:nvPicPr>
            <p:cNvPr id="4" name="Imagen 3">
              <a:extLst>
                <a:ext uri="{FF2B5EF4-FFF2-40B4-BE49-F238E27FC236}">
                  <a16:creationId xmlns:a16="http://schemas.microsoft.com/office/drawing/2014/main" id="{8E84AEAA-8024-41FD-A97D-D555EA27B5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6367" y="2667342"/>
              <a:ext cx="1790700" cy="3248025"/>
            </a:xfrm>
            <a:prstGeom prst="rect">
              <a:avLst/>
            </a:prstGeom>
          </p:spPr>
        </p:pic>
        <p:sp>
          <p:nvSpPr>
            <p:cNvPr id="23" name="Rectángulo: esquinas redondeadas 22">
              <a:extLst>
                <a:ext uri="{FF2B5EF4-FFF2-40B4-BE49-F238E27FC236}">
                  <a16:creationId xmlns:a16="http://schemas.microsoft.com/office/drawing/2014/main" id="{F5C23474-230F-4B80-8483-8D14DAD7FEF8}"/>
                </a:ext>
              </a:extLst>
            </p:cNvPr>
            <p:cNvSpPr/>
            <p:nvPr/>
          </p:nvSpPr>
          <p:spPr>
            <a:xfrm>
              <a:off x="7271646" y="4005263"/>
              <a:ext cx="64769" cy="159544"/>
            </a:xfrm>
            <a:prstGeom prst="roundRect">
              <a:avLst/>
            </a:prstGeom>
            <a:noFill/>
            <a:ln>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4" name="Rectángulo: esquinas redondeadas 23">
              <a:extLst>
                <a:ext uri="{FF2B5EF4-FFF2-40B4-BE49-F238E27FC236}">
                  <a16:creationId xmlns:a16="http://schemas.microsoft.com/office/drawing/2014/main" id="{C37F4E78-2CD4-4439-A639-079F0C84B926}"/>
                </a:ext>
              </a:extLst>
            </p:cNvPr>
            <p:cNvSpPr/>
            <p:nvPr/>
          </p:nvSpPr>
          <p:spPr>
            <a:xfrm>
              <a:off x="7369277" y="4005263"/>
              <a:ext cx="88107" cy="154782"/>
            </a:xfrm>
            <a:prstGeom prst="roundRect">
              <a:avLst>
                <a:gd name="adj" fmla="val 10540"/>
              </a:avLst>
            </a:prstGeom>
            <a:noFill/>
            <a:ln>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5" name="Rectángulo: esquinas redondeadas 24">
              <a:extLst>
                <a:ext uri="{FF2B5EF4-FFF2-40B4-BE49-F238E27FC236}">
                  <a16:creationId xmlns:a16="http://schemas.microsoft.com/office/drawing/2014/main" id="{4C1B78D6-9A8B-40A4-85FF-967DEF79209D}"/>
                </a:ext>
              </a:extLst>
            </p:cNvPr>
            <p:cNvSpPr/>
            <p:nvPr/>
          </p:nvSpPr>
          <p:spPr>
            <a:xfrm>
              <a:off x="7486776" y="4007644"/>
              <a:ext cx="71805" cy="154782"/>
            </a:xfrm>
            <a:prstGeom prst="roundRect">
              <a:avLst/>
            </a:prstGeom>
            <a:noFill/>
            <a:ln>
              <a:solidFill>
                <a:schemeClr val="accent4"/>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6" name="Rectángulo: esquinas redondeadas 25">
              <a:extLst>
                <a:ext uri="{FF2B5EF4-FFF2-40B4-BE49-F238E27FC236}">
                  <a16:creationId xmlns:a16="http://schemas.microsoft.com/office/drawing/2014/main" id="{7FCD1C67-615D-4612-90E0-EC576672C56E}"/>
                </a:ext>
              </a:extLst>
            </p:cNvPr>
            <p:cNvSpPr/>
            <p:nvPr/>
          </p:nvSpPr>
          <p:spPr>
            <a:xfrm>
              <a:off x="6699625" y="4322077"/>
              <a:ext cx="1368311" cy="600444"/>
            </a:xfrm>
            <a:prstGeom prst="roundRect">
              <a:avLst>
                <a:gd name="adj" fmla="val 7883"/>
              </a:avLst>
            </a:prstGeom>
            <a:noFill/>
            <a:ln>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7" name="CuadroTexto 26">
              <a:extLst>
                <a:ext uri="{FF2B5EF4-FFF2-40B4-BE49-F238E27FC236}">
                  <a16:creationId xmlns:a16="http://schemas.microsoft.com/office/drawing/2014/main" id="{2A5E8303-6E2C-467E-9533-55F766DBC946}"/>
                </a:ext>
              </a:extLst>
            </p:cNvPr>
            <p:cNvSpPr txBox="1"/>
            <p:nvPr/>
          </p:nvSpPr>
          <p:spPr>
            <a:xfrm>
              <a:off x="5709274" y="5292412"/>
              <a:ext cx="721672" cy="307777"/>
            </a:xfrm>
            <a:prstGeom prst="rect">
              <a:avLst/>
            </a:prstGeom>
            <a:noFill/>
          </p:spPr>
          <p:txBody>
            <a:bodyPr wrap="square" rtlCol="0">
              <a:spAutoFit/>
            </a:bodyPr>
            <a:lstStyle/>
            <a:p>
              <a:pPr algn="r"/>
              <a:r>
                <a:rPr lang="es-CO" sz="1400" b="1" dirty="0">
                  <a:solidFill>
                    <a:srgbClr val="00B050"/>
                  </a:solidFill>
                </a:rPr>
                <a:t>Cuerpo</a:t>
              </a:r>
            </a:p>
          </p:txBody>
        </p:sp>
        <p:cxnSp>
          <p:nvCxnSpPr>
            <p:cNvPr id="28" name="Conector recto de flecha 27">
              <a:extLst>
                <a:ext uri="{FF2B5EF4-FFF2-40B4-BE49-F238E27FC236}">
                  <a16:creationId xmlns:a16="http://schemas.microsoft.com/office/drawing/2014/main" id="{75776DFE-EB65-4DD3-989B-5C08925B3E92}"/>
                </a:ext>
              </a:extLst>
            </p:cNvPr>
            <p:cNvCxnSpPr>
              <a:cxnSpLocks/>
              <a:stCxn id="27" idx="3"/>
            </p:cNvCxnSpPr>
            <p:nvPr/>
          </p:nvCxnSpPr>
          <p:spPr>
            <a:xfrm flipV="1">
              <a:off x="6430946" y="4922521"/>
              <a:ext cx="452061" cy="52378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0" name="CuadroTexto 29">
              <a:extLst>
                <a:ext uri="{FF2B5EF4-FFF2-40B4-BE49-F238E27FC236}">
                  <a16:creationId xmlns:a16="http://schemas.microsoft.com/office/drawing/2014/main" id="{76C73341-C0C9-4033-B1F8-ED350403B660}"/>
                </a:ext>
              </a:extLst>
            </p:cNvPr>
            <p:cNvSpPr txBox="1"/>
            <p:nvPr/>
          </p:nvSpPr>
          <p:spPr>
            <a:xfrm>
              <a:off x="7899379" y="3490520"/>
              <a:ext cx="1176219" cy="307777"/>
            </a:xfrm>
            <a:prstGeom prst="rect">
              <a:avLst/>
            </a:prstGeom>
            <a:noFill/>
          </p:spPr>
          <p:txBody>
            <a:bodyPr wrap="square" rtlCol="0">
              <a:spAutoFit/>
            </a:bodyPr>
            <a:lstStyle/>
            <a:p>
              <a:pPr algn="r"/>
              <a:r>
                <a:rPr lang="es-CO" sz="1400" b="1" dirty="0">
                  <a:solidFill>
                    <a:srgbClr val="0070C0"/>
                  </a:solidFill>
                </a:rPr>
                <a:t>Actualización</a:t>
              </a:r>
            </a:p>
          </p:txBody>
        </p:sp>
        <p:cxnSp>
          <p:nvCxnSpPr>
            <p:cNvPr id="31" name="Conector recto de flecha 30">
              <a:extLst>
                <a:ext uri="{FF2B5EF4-FFF2-40B4-BE49-F238E27FC236}">
                  <a16:creationId xmlns:a16="http://schemas.microsoft.com/office/drawing/2014/main" id="{00DFB519-0C72-4111-8047-EDAB14A46B2E}"/>
                </a:ext>
              </a:extLst>
            </p:cNvPr>
            <p:cNvCxnSpPr>
              <a:cxnSpLocks/>
              <a:stCxn id="30" idx="1"/>
              <a:endCxn id="25" idx="0"/>
            </p:cNvCxnSpPr>
            <p:nvPr/>
          </p:nvCxnSpPr>
          <p:spPr>
            <a:xfrm flipH="1">
              <a:off x="7522679" y="3644409"/>
              <a:ext cx="376700" cy="363235"/>
            </a:xfrm>
            <a:prstGeom prst="straightConnector1">
              <a:avLst/>
            </a:prstGeom>
            <a:ln w="127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34" name="CuadroTexto 33">
              <a:extLst>
                <a:ext uri="{FF2B5EF4-FFF2-40B4-BE49-F238E27FC236}">
                  <a16:creationId xmlns:a16="http://schemas.microsoft.com/office/drawing/2014/main" id="{420E5EE0-1CD8-4CBE-A437-6C733F8B00ED}"/>
                </a:ext>
              </a:extLst>
            </p:cNvPr>
            <p:cNvSpPr txBox="1"/>
            <p:nvPr/>
          </p:nvSpPr>
          <p:spPr>
            <a:xfrm>
              <a:off x="5148974" y="4606842"/>
              <a:ext cx="1284998" cy="523220"/>
            </a:xfrm>
            <a:prstGeom prst="rect">
              <a:avLst/>
            </a:prstGeom>
            <a:noFill/>
          </p:spPr>
          <p:txBody>
            <a:bodyPr wrap="square" rtlCol="0">
              <a:spAutoFit/>
            </a:bodyPr>
            <a:lstStyle/>
            <a:p>
              <a:pPr algn="r"/>
              <a:r>
                <a:rPr lang="es-CO" sz="1400" b="1" dirty="0">
                  <a:solidFill>
                    <a:srgbClr val="C00000"/>
                  </a:solidFill>
                </a:rPr>
                <a:t>Condición de</a:t>
              </a:r>
            </a:p>
            <a:p>
              <a:pPr algn="r"/>
              <a:r>
                <a:rPr lang="es-CO" sz="1400" b="1" dirty="0">
                  <a:solidFill>
                    <a:srgbClr val="C00000"/>
                  </a:solidFill>
                </a:rPr>
                <a:t>control</a:t>
              </a:r>
            </a:p>
          </p:txBody>
        </p:sp>
        <p:sp>
          <p:nvSpPr>
            <p:cNvPr id="35" name="CuadroTexto 34">
              <a:extLst>
                <a:ext uri="{FF2B5EF4-FFF2-40B4-BE49-F238E27FC236}">
                  <a16:creationId xmlns:a16="http://schemas.microsoft.com/office/drawing/2014/main" id="{87F6C825-596E-4225-BD8E-C5706E67EF35}"/>
                </a:ext>
              </a:extLst>
            </p:cNvPr>
            <p:cNvSpPr txBox="1"/>
            <p:nvPr/>
          </p:nvSpPr>
          <p:spPr>
            <a:xfrm>
              <a:off x="5301651" y="3429000"/>
              <a:ext cx="1142557" cy="307777"/>
            </a:xfrm>
            <a:prstGeom prst="rect">
              <a:avLst/>
            </a:prstGeom>
            <a:noFill/>
          </p:spPr>
          <p:txBody>
            <a:bodyPr wrap="none" rtlCol="0">
              <a:spAutoFit/>
            </a:bodyPr>
            <a:lstStyle/>
            <a:p>
              <a:pPr algn="r"/>
              <a:r>
                <a:rPr lang="es-CO" sz="1400" b="1" dirty="0">
                  <a:solidFill>
                    <a:schemeClr val="accent6"/>
                  </a:solidFill>
                </a:rPr>
                <a:t>Inicialización</a:t>
              </a:r>
            </a:p>
          </p:txBody>
        </p:sp>
        <p:cxnSp>
          <p:nvCxnSpPr>
            <p:cNvPr id="38" name="Conector recto de flecha 37">
              <a:extLst>
                <a:ext uri="{FF2B5EF4-FFF2-40B4-BE49-F238E27FC236}">
                  <a16:creationId xmlns:a16="http://schemas.microsoft.com/office/drawing/2014/main" id="{6E586BEB-B59B-4BEB-BEE2-A4A1DA3FC114}"/>
                </a:ext>
              </a:extLst>
            </p:cNvPr>
            <p:cNvCxnSpPr>
              <a:cxnSpLocks/>
              <a:stCxn id="34" idx="3"/>
              <a:endCxn id="24" idx="2"/>
            </p:cNvCxnSpPr>
            <p:nvPr/>
          </p:nvCxnSpPr>
          <p:spPr>
            <a:xfrm flipV="1">
              <a:off x="6433972" y="4160045"/>
              <a:ext cx="979359" cy="708407"/>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ector recto de flecha 45">
              <a:extLst>
                <a:ext uri="{FF2B5EF4-FFF2-40B4-BE49-F238E27FC236}">
                  <a16:creationId xmlns:a16="http://schemas.microsoft.com/office/drawing/2014/main" id="{8AD5C4BB-EFE3-407B-92A3-20E9B950CDEF}"/>
                </a:ext>
              </a:extLst>
            </p:cNvPr>
            <p:cNvCxnSpPr>
              <a:cxnSpLocks/>
              <a:stCxn id="35" idx="3"/>
              <a:endCxn id="23" idx="0"/>
            </p:cNvCxnSpPr>
            <p:nvPr/>
          </p:nvCxnSpPr>
          <p:spPr>
            <a:xfrm>
              <a:off x="6444208" y="3582889"/>
              <a:ext cx="859823" cy="422374"/>
            </a:xfrm>
            <a:prstGeom prst="straightConnector1">
              <a:avLst/>
            </a:prstGeom>
            <a:ln w="127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80731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8616422" cy="710952"/>
          </a:xfrm>
        </p:spPr>
        <p:txBody>
          <a:bodyPr>
            <a:normAutofit/>
          </a:bodyPr>
          <a:lstStyle/>
          <a:p>
            <a:r>
              <a:rPr lang="es-CO" dirty="0"/>
              <a:t>Ciclo Para – Ejemplo 1</a:t>
            </a:r>
          </a:p>
        </p:txBody>
      </p:sp>
      <p:sp>
        <p:nvSpPr>
          <p:cNvPr id="32" name="CuadroTexto 31">
            <a:extLst>
              <a:ext uri="{FF2B5EF4-FFF2-40B4-BE49-F238E27FC236}">
                <a16:creationId xmlns:a16="http://schemas.microsoft.com/office/drawing/2014/main" id="{88238F3D-857F-4AB8-A25A-119ABDBDB707}"/>
              </a:ext>
            </a:extLst>
          </p:cNvPr>
          <p:cNvSpPr txBox="1"/>
          <p:nvPr/>
        </p:nvSpPr>
        <p:spPr>
          <a:xfrm>
            <a:off x="1564030" y="5358604"/>
            <a:ext cx="1545785" cy="276999"/>
          </a:xfrm>
          <a:prstGeom prst="rect">
            <a:avLst/>
          </a:prstGeom>
          <a:noFill/>
        </p:spPr>
        <p:txBody>
          <a:bodyPr wrap="square" rtlCol="0">
            <a:spAutoFit/>
          </a:bodyPr>
          <a:lstStyle/>
          <a:p>
            <a:pPr algn="ctr"/>
            <a:r>
              <a:rPr lang="es-MX" sz="1200" dirty="0">
                <a:hlinkClick r:id="rId2"/>
              </a:rPr>
              <a:t>Link de ejecución</a:t>
            </a:r>
            <a:endParaRPr lang="es-CO" sz="1200" dirty="0"/>
          </a:p>
        </p:txBody>
      </p:sp>
      <p:sp>
        <p:nvSpPr>
          <p:cNvPr id="10" name="CuadroTexto 9">
            <a:extLst>
              <a:ext uri="{FF2B5EF4-FFF2-40B4-BE49-F238E27FC236}">
                <a16:creationId xmlns:a16="http://schemas.microsoft.com/office/drawing/2014/main" id="{44ADE36F-3836-40FC-AAE5-6014F5E19BE2}"/>
              </a:ext>
            </a:extLst>
          </p:cNvPr>
          <p:cNvSpPr txBox="1"/>
          <p:nvPr/>
        </p:nvSpPr>
        <p:spPr>
          <a:xfrm>
            <a:off x="366518" y="1805934"/>
            <a:ext cx="3354440" cy="400110"/>
          </a:xfrm>
          <a:prstGeom prst="rect">
            <a:avLst/>
          </a:prstGeom>
          <a:noFill/>
        </p:spPr>
        <p:txBody>
          <a:bodyPr wrap="square" rtlCol="0">
            <a:spAutoFit/>
          </a:bodyPr>
          <a:lstStyle/>
          <a:p>
            <a:r>
              <a:rPr lang="es-CO" sz="2000" b="1" dirty="0"/>
              <a:t>Pseudocódigo</a:t>
            </a:r>
          </a:p>
        </p:txBody>
      </p:sp>
      <p:sp>
        <p:nvSpPr>
          <p:cNvPr id="12" name="CuadroTexto 11">
            <a:extLst>
              <a:ext uri="{FF2B5EF4-FFF2-40B4-BE49-F238E27FC236}">
                <a16:creationId xmlns:a16="http://schemas.microsoft.com/office/drawing/2014/main" id="{8ADAF5A1-1727-4804-B029-3B2CBBEFF9B9}"/>
              </a:ext>
            </a:extLst>
          </p:cNvPr>
          <p:cNvSpPr txBox="1"/>
          <p:nvPr/>
        </p:nvSpPr>
        <p:spPr>
          <a:xfrm>
            <a:off x="313941" y="4283549"/>
            <a:ext cx="2424161" cy="400110"/>
          </a:xfrm>
          <a:prstGeom prst="rect">
            <a:avLst/>
          </a:prstGeom>
          <a:noFill/>
        </p:spPr>
        <p:txBody>
          <a:bodyPr wrap="square" rtlCol="0">
            <a:spAutoFit/>
          </a:bodyPr>
          <a:lstStyle/>
          <a:p>
            <a:r>
              <a:rPr lang="es-CO" sz="2000" b="1" dirty="0"/>
              <a:t>Python</a:t>
            </a:r>
          </a:p>
        </p:txBody>
      </p:sp>
      <p:sp>
        <p:nvSpPr>
          <p:cNvPr id="16" name="CuadroTexto 15">
            <a:extLst>
              <a:ext uri="{FF2B5EF4-FFF2-40B4-BE49-F238E27FC236}">
                <a16:creationId xmlns:a16="http://schemas.microsoft.com/office/drawing/2014/main" id="{6D512794-C487-4E82-8BA4-1C5277571771}"/>
              </a:ext>
            </a:extLst>
          </p:cNvPr>
          <p:cNvSpPr txBox="1"/>
          <p:nvPr/>
        </p:nvSpPr>
        <p:spPr>
          <a:xfrm>
            <a:off x="400095" y="4683659"/>
            <a:ext cx="3873657" cy="646331"/>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N = 10</a:t>
            </a:r>
          </a:p>
          <a:p>
            <a:r>
              <a:rPr lang="es-MX" sz="1200" dirty="0">
                <a:solidFill>
                  <a:schemeClr val="accent5"/>
                </a:solidFill>
                <a:latin typeface="Consolas" panose="020B0609020204030204" pitchFamily="49" charset="0"/>
              </a:rPr>
              <a:t>for</a:t>
            </a:r>
            <a:r>
              <a:rPr lang="es-MX" sz="1200" dirty="0">
                <a:latin typeface="Consolas" panose="020B0609020204030204" pitchFamily="49" charset="0"/>
              </a:rPr>
              <a:t> i in range(1,N + 1,1):</a:t>
            </a:r>
          </a:p>
          <a:p>
            <a:r>
              <a:rPr lang="es-MX" sz="1200" dirty="0">
                <a:solidFill>
                  <a:srgbClr val="00B050"/>
                </a:solidFill>
                <a:latin typeface="Consolas" panose="020B0609020204030204" pitchFamily="49" charset="0"/>
              </a:rPr>
              <a:t>  print(i)</a:t>
            </a:r>
          </a:p>
        </p:txBody>
      </p:sp>
      <p:sp>
        <p:nvSpPr>
          <p:cNvPr id="17" name="CuadroTexto 16">
            <a:extLst>
              <a:ext uri="{FF2B5EF4-FFF2-40B4-BE49-F238E27FC236}">
                <a16:creationId xmlns:a16="http://schemas.microsoft.com/office/drawing/2014/main" id="{7A914CF4-F8A8-42CA-85A0-78CC515CC447}"/>
              </a:ext>
            </a:extLst>
          </p:cNvPr>
          <p:cNvSpPr txBox="1"/>
          <p:nvPr/>
        </p:nvSpPr>
        <p:spPr>
          <a:xfrm>
            <a:off x="400095" y="2228670"/>
            <a:ext cx="3873657" cy="1200329"/>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Inicio</a:t>
            </a:r>
          </a:p>
          <a:p>
            <a:r>
              <a:rPr lang="es-MX" sz="1200" dirty="0">
                <a:latin typeface="Consolas" panose="020B0609020204030204" pitchFamily="49" charset="0"/>
              </a:rPr>
              <a:t>  N = 10</a:t>
            </a:r>
          </a:p>
          <a:p>
            <a:r>
              <a:rPr lang="es-MX" sz="1200" dirty="0">
                <a:solidFill>
                  <a:schemeClr val="accent5"/>
                </a:solidFill>
                <a:latin typeface="Consolas" panose="020B0609020204030204" pitchFamily="49" charset="0"/>
              </a:rPr>
              <a:t>  Para</a:t>
            </a:r>
            <a:r>
              <a:rPr lang="es-MX" sz="1200" dirty="0">
                <a:latin typeface="Consolas" panose="020B0609020204030204" pitchFamily="49" charset="0"/>
              </a:rPr>
              <a:t> (i = </a:t>
            </a:r>
            <a:r>
              <a:rPr lang="es-MX" sz="1200" dirty="0">
                <a:solidFill>
                  <a:schemeClr val="accent6"/>
                </a:solidFill>
                <a:latin typeface="Consolas" panose="020B0609020204030204" pitchFamily="49" charset="0"/>
              </a:rPr>
              <a:t>1</a:t>
            </a:r>
            <a:r>
              <a:rPr lang="es-MX" sz="1200" dirty="0">
                <a:latin typeface="Consolas" panose="020B0609020204030204" pitchFamily="49" charset="0"/>
              </a:rPr>
              <a:t>,</a:t>
            </a:r>
            <a:r>
              <a:rPr lang="es-MX" sz="1200" dirty="0">
                <a:solidFill>
                  <a:schemeClr val="accent5"/>
                </a:solidFill>
                <a:latin typeface="Consolas" panose="020B0609020204030204" pitchFamily="49" charset="0"/>
              </a:rPr>
              <a:t>N</a:t>
            </a:r>
            <a:r>
              <a:rPr lang="es-MX" sz="1200" dirty="0">
                <a:latin typeface="Consolas" panose="020B0609020204030204" pitchFamily="49" charset="0"/>
              </a:rPr>
              <a:t>,</a:t>
            </a:r>
            <a:r>
              <a:rPr lang="es-MX" sz="1200" dirty="0">
                <a:solidFill>
                  <a:srgbClr val="0070C0"/>
                </a:solidFill>
                <a:latin typeface="Consolas" panose="020B0609020204030204" pitchFamily="49" charset="0"/>
              </a:rPr>
              <a:t>1</a:t>
            </a:r>
            <a:r>
              <a:rPr lang="es-MX" sz="1200" dirty="0">
                <a:latin typeface="Consolas" panose="020B0609020204030204" pitchFamily="49" charset="0"/>
              </a:rPr>
              <a:t>) </a:t>
            </a:r>
            <a:r>
              <a:rPr lang="es-MX" sz="1200" dirty="0">
                <a:solidFill>
                  <a:schemeClr val="accent5"/>
                </a:solidFill>
                <a:latin typeface="Consolas" panose="020B0609020204030204" pitchFamily="49" charset="0"/>
              </a:rPr>
              <a:t>Haga    </a:t>
            </a:r>
          </a:p>
          <a:p>
            <a:r>
              <a:rPr lang="es-MX" sz="1200" dirty="0">
                <a:solidFill>
                  <a:srgbClr val="00B050"/>
                </a:solidFill>
                <a:latin typeface="Consolas" panose="020B0609020204030204" pitchFamily="49" charset="0"/>
              </a:rPr>
              <a:t>    Escribir(i)</a:t>
            </a:r>
          </a:p>
          <a:p>
            <a:r>
              <a:rPr lang="es-MX" sz="1200" dirty="0">
                <a:solidFill>
                  <a:srgbClr val="C00000"/>
                </a:solidFill>
                <a:latin typeface="Consolas" panose="020B0609020204030204" pitchFamily="49" charset="0"/>
              </a:rPr>
              <a:t>  </a:t>
            </a:r>
            <a:r>
              <a:rPr lang="es-MX" sz="1200" dirty="0" err="1">
                <a:solidFill>
                  <a:srgbClr val="C00000"/>
                </a:solidFill>
                <a:latin typeface="Consolas" panose="020B0609020204030204" pitchFamily="49" charset="0"/>
              </a:rPr>
              <a:t>Fin_Para</a:t>
            </a:r>
            <a:endParaRPr lang="es-MX" sz="1200" dirty="0">
              <a:solidFill>
                <a:srgbClr val="C00000"/>
              </a:solidFill>
              <a:latin typeface="Consolas" panose="020B0609020204030204" pitchFamily="49" charset="0"/>
            </a:endParaRPr>
          </a:p>
          <a:p>
            <a:r>
              <a:rPr lang="es-MX" sz="1200" dirty="0">
                <a:latin typeface="Consolas" panose="020B0609020204030204" pitchFamily="49" charset="0"/>
              </a:rPr>
              <a:t>Fin</a:t>
            </a:r>
            <a:endParaRPr lang="es-CO" sz="1200" dirty="0">
              <a:latin typeface="Consolas" panose="020B0609020204030204" pitchFamily="49" charset="0"/>
            </a:endParaRPr>
          </a:p>
        </p:txBody>
      </p:sp>
      <p:grpSp>
        <p:nvGrpSpPr>
          <p:cNvPr id="23" name="Grupo 22">
            <a:extLst>
              <a:ext uri="{FF2B5EF4-FFF2-40B4-BE49-F238E27FC236}">
                <a16:creationId xmlns:a16="http://schemas.microsoft.com/office/drawing/2014/main" id="{F04C97B6-8741-4AE4-B53A-E9207ECB34B9}"/>
              </a:ext>
            </a:extLst>
          </p:cNvPr>
          <p:cNvGrpSpPr/>
          <p:nvPr/>
        </p:nvGrpSpPr>
        <p:grpSpPr>
          <a:xfrm>
            <a:off x="4788024" y="1804987"/>
            <a:ext cx="3926624" cy="3248025"/>
            <a:chOff x="5148974" y="2667342"/>
            <a:chExt cx="3926624" cy="3248025"/>
          </a:xfrm>
        </p:grpSpPr>
        <p:pic>
          <p:nvPicPr>
            <p:cNvPr id="24" name="Imagen 23">
              <a:extLst>
                <a:ext uri="{FF2B5EF4-FFF2-40B4-BE49-F238E27FC236}">
                  <a16:creationId xmlns:a16="http://schemas.microsoft.com/office/drawing/2014/main" id="{3C2CE487-28EF-4823-A9D8-06BCE958FA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6367" y="2667342"/>
              <a:ext cx="1790700" cy="3248025"/>
            </a:xfrm>
            <a:prstGeom prst="rect">
              <a:avLst/>
            </a:prstGeom>
          </p:spPr>
        </p:pic>
        <p:sp>
          <p:nvSpPr>
            <p:cNvPr id="25" name="Rectángulo: esquinas redondeadas 24">
              <a:extLst>
                <a:ext uri="{FF2B5EF4-FFF2-40B4-BE49-F238E27FC236}">
                  <a16:creationId xmlns:a16="http://schemas.microsoft.com/office/drawing/2014/main" id="{2D4E0A20-276D-4AB9-A190-88096B220A2D}"/>
                </a:ext>
              </a:extLst>
            </p:cNvPr>
            <p:cNvSpPr/>
            <p:nvPr/>
          </p:nvSpPr>
          <p:spPr>
            <a:xfrm>
              <a:off x="7271646" y="4005263"/>
              <a:ext cx="64769" cy="159544"/>
            </a:xfrm>
            <a:prstGeom prst="roundRect">
              <a:avLst/>
            </a:prstGeom>
            <a:noFill/>
            <a:ln>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6" name="Rectángulo: esquinas redondeadas 25">
              <a:extLst>
                <a:ext uri="{FF2B5EF4-FFF2-40B4-BE49-F238E27FC236}">
                  <a16:creationId xmlns:a16="http://schemas.microsoft.com/office/drawing/2014/main" id="{2F801106-26D3-4131-BF6F-70E46E87B70F}"/>
                </a:ext>
              </a:extLst>
            </p:cNvPr>
            <p:cNvSpPr/>
            <p:nvPr/>
          </p:nvSpPr>
          <p:spPr>
            <a:xfrm>
              <a:off x="7369277" y="4005263"/>
              <a:ext cx="88107" cy="154782"/>
            </a:xfrm>
            <a:prstGeom prst="roundRect">
              <a:avLst>
                <a:gd name="adj" fmla="val 10540"/>
              </a:avLst>
            </a:prstGeom>
            <a:noFill/>
            <a:ln>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1" name="Rectángulo: esquinas redondeadas 40">
              <a:extLst>
                <a:ext uri="{FF2B5EF4-FFF2-40B4-BE49-F238E27FC236}">
                  <a16:creationId xmlns:a16="http://schemas.microsoft.com/office/drawing/2014/main" id="{4BA02FF0-C53F-43E6-82BD-6413EE500CC2}"/>
                </a:ext>
              </a:extLst>
            </p:cNvPr>
            <p:cNvSpPr/>
            <p:nvPr/>
          </p:nvSpPr>
          <p:spPr>
            <a:xfrm>
              <a:off x="7486776" y="4007644"/>
              <a:ext cx="71805" cy="154782"/>
            </a:xfrm>
            <a:prstGeom prst="roundRect">
              <a:avLst/>
            </a:prstGeom>
            <a:noFill/>
            <a:ln>
              <a:solidFill>
                <a:schemeClr val="accent4"/>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2" name="Rectángulo: esquinas redondeadas 41">
              <a:extLst>
                <a:ext uri="{FF2B5EF4-FFF2-40B4-BE49-F238E27FC236}">
                  <a16:creationId xmlns:a16="http://schemas.microsoft.com/office/drawing/2014/main" id="{28DAF8BB-AFA9-480A-9D1E-0889CB8F2A46}"/>
                </a:ext>
              </a:extLst>
            </p:cNvPr>
            <p:cNvSpPr/>
            <p:nvPr/>
          </p:nvSpPr>
          <p:spPr>
            <a:xfrm>
              <a:off x="6699625" y="4322077"/>
              <a:ext cx="1368311" cy="600444"/>
            </a:xfrm>
            <a:prstGeom prst="roundRect">
              <a:avLst>
                <a:gd name="adj" fmla="val 7883"/>
              </a:avLst>
            </a:prstGeom>
            <a:noFill/>
            <a:ln>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3" name="CuadroTexto 42">
              <a:extLst>
                <a:ext uri="{FF2B5EF4-FFF2-40B4-BE49-F238E27FC236}">
                  <a16:creationId xmlns:a16="http://schemas.microsoft.com/office/drawing/2014/main" id="{6E2599C0-0F89-4A51-996B-A2509DBE84F9}"/>
                </a:ext>
              </a:extLst>
            </p:cNvPr>
            <p:cNvSpPr txBox="1"/>
            <p:nvPr/>
          </p:nvSpPr>
          <p:spPr>
            <a:xfrm>
              <a:off x="5709274" y="5292412"/>
              <a:ext cx="721672" cy="307777"/>
            </a:xfrm>
            <a:prstGeom prst="rect">
              <a:avLst/>
            </a:prstGeom>
            <a:noFill/>
          </p:spPr>
          <p:txBody>
            <a:bodyPr wrap="square" rtlCol="0">
              <a:spAutoFit/>
            </a:bodyPr>
            <a:lstStyle/>
            <a:p>
              <a:pPr algn="r"/>
              <a:r>
                <a:rPr lang="es-CO" sz="1400" b="1" dirty="0">
                  <a:solidFill>
                    <a:srgbClr val="00B050"/>
                  </a:solidFill>
                </a:rPr>
                <a:t>Cuerpo</a:t>
              </a:r>
            </a:p>
          </p:txBody>
        </p:sp>
        <p:cxnSp>
          <p:nvCxnSpPr>
            <p:cNvPr id="44" name="Conector recto de flecha 43">
              <a:extLst>
                <a:ext uri="{FF2B5EF4-FFF2-40B4-BE49-F238E27FC236}">
                  <a16:creationId xmlns:a16="http://schemas.microsoft.com/office/drawing/2014/main" id="{E2D9655B-D4E2-4A17-A65B-BA0D3ED4B0BF}"/>
                </a:ext>
              </a:extLst>
            </p:cNvPr>
            <p:cNvCxnSpPr>
              <a:cxnSpLocks/>
              <a:stCxn id="43" idx="3"/>
            </p:cNvCxnSpPr>
            <p:nvPr/>
          </p:nvCxnSpPr>
          <p:spPr>
            <a:xfrm flipV="1">
              <a:off x="6430946" y="4922521"/>
              <a:ext cx="452061" cy="523780"/>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45" name="CuadroTexto 44">
              <a:extLst>
                <a:ext uri="{FF2B5EF4-FFF2-40B4-BE49-F238E27FC236}">
                  <a16:creationId xmlns:a16="http://schemas.microsoft.com/office/drawing/2014/main" id="{69A11D32-545C-45A2-B93F-43232CB79651}"/>
                </a:ext>
              </a:extLst>
            </p:cNvPr>
            <p:cNvSpPr txBox="1"/>
            <p:nvPr/>
          </p:nvSpPr>
          <p:spPr>
            <a:xfrm>
              <a:off x="7899379" y="3490520"/>
              <a:ext cx="1176219" cy="307777"/>
            </a:xfrm>
            <a:prstGeom prst="rect">
              <a:avLst/>
            </a:prstGeom>
            <a:noFill/>
          </p:spPr>
          <p:txBody>
            <a:bodyPr wrap="square" rtlCol="0">
              <a:spAutoFit/>
            </a:bodyPr>
            <a:lstStyle/>
            <a:p>
              <a:pPr algn="r"/>
              <a:r>
                <a:rPr lang="es-CO" sz="1400" b="1" dirty="0">
                  <a:solidFill>
                    <a:srgbClr val="0070C0"/>
                  </a:solidFill>
                </a:rPr>
                <a:t>Actualización</a:t>
              </a:r>
            </a:p>
          </p:txBody>
        </p:sp>
        <p:cxnSp>
          <p:nvCxnSpPr>
            <p:cNvPr id="46" name="Conector recto de flecha 45">
              <a:extLst>
                <a:ext uri="{FF2B5EF4-FFF2-40B4-BE49-F238E27FC236}">
                  <a16:creationId xmlns:a16="http://schemas.microsoft.com/office/drawing/2014/main" id="{6ED53125-89C9-4057-9E69-90427B62B491}"/>
                </a:ext>
              </a:extLst>
            </p:cNvPr>
            <p:cNvCxnSpPr>
              <a:cxnSpLocks/>
              <a:stCxn id="45" idx="1"/>
              <a:endCxn id="41" idx="0"/>
            </p:cNvCxnSpPr>
            <p:nvPr/>
          </p:nvCxnSpPr>
          <p:spPr>
            <a:xfrm flipH="1">
              <a:off x="7522679" y="3644409"/>
              <a:ext cx="376700" cy="363235"/>
            </a:xfrm>
            <a:prstGeom prst="straightConnector1">
              <a:avLst/>
            </a:prstGeom>
            <a:ln w="127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47" name="CuadroTexto 46">
              <a:extLst>
                <a:ext uri="{FF2B5EF4-FFF2-40B4-BE49-F238E27FC236}">
                  <a16:creationId xmlns:a16="http://schemas.microsoft.com/office/drawing/2014/main" id="{10F32AE0-6F04-4E81-9872-16672A001F59}"/>
                </a:ext>
              </a:extLst>
            </p:cNvPr>
            <p:cNvSpPr txBox="1"/>
            <p:nvPr/>
          </p:nvSpPr>
          <p:spPr>
            <a:xfrm>
              <a:off x="5148974" y="4606842"/>
              <a:ext cx="1284998" cy="523220"/>
            </a:xfrm>
            <a:prstGeom prst="rect">
              <a:avLst/>
            </a:prstGeom>
            <a:noFill/>
          </p:spPr>
          <p:txBody>
            <a:bodyPr wrap="square" rtlCol="0">
              <a:spAutoFit/>
            </a:bodyPr>
            <a:lstStyle/>
            <a:p>
              <a:pPr algn="r"/>
              <a:r>
                <a:rPr lang="es-CO" sz="1400" b="1" dirty="0">
                  <a:solidFill>
                    <a:srgbClr val="C00000"/>
                  </a:solidFill>
                </a:rPr>
                <a:t>Condición de</a:t>
              </a:r>
            </a:p>
            <a:p>
              <a:pPr algn="r"/>
              <a:r>
                <a:rPr lang="es-CO" sz="1400" b="1" dirty="0">
                  <a:solidFill>
                    <a:srgbClr val="C00000"/>
                  </a:solidFill>
                </a:rPr>
                <a:t>control</a:t>
              </a:r>
            </a:p>
          </p:txBody>
        </p:sp>
        <p:sp>
          <p:nvSpPr>
            <p:cNvPr id="48" name="CuadroTexto 47">
              <a:extLst>
                <a:ext uri="{FF2B5EF4-FFF2-40B4-BE49-F238E27FC236}">
                  <a16:creationId xmlns:a16="http://schemas.microsoft.com/office/drawing/2014/main" id="{8DE48F75-6666-4863-B659-A4CB745BA63F}"/>
                </a:ext>
              </a:extLst>
            </p:cNvPr>
            <p:cNvSpPr txBox="1"/>
            <p:nvPr/>
          </p:nvSpPr>
          <p:spPr>
            <a:xfrm>
              <a:off x="5301651" y="3429000"/>
              <a:ext cx="1142557" cy="307777"/>
            </a:xfrm>
            <a:prstGeom prst="rect">
              <a:avLst/>
            </a:prstGeom>
            <a:noFill/>
          </p:spPr>
          <p:txBody>
            <a:bodyPr wrap="none" rtlCol="0">
              <a:spAutoFit/>
            </a:bodyPr>
            <a:lstStyle/>
            <a:p>
              <a:pPr algn="r"/>
              <a:r>
                <a:rPr lang="es-CO" sz="1400" b="1" dirty="0">
                  <a:solidFill>
                    <a:schemeClr val="accent6"/>
                  </a:solidFill>
                </a:rPr>
                <a:t>Inicialización</a:t>
              </a:r>
            </a:p>
          </p:txBody>
        </p:sp>
        <p:cxnSp>
          <p:nvCxnSpPr>
            <p:cNvPr id="49" name="Conector recto de flecha 48">
              <a:extLst>
                <a:ext uri="{FF2B5EF4-FFF2-40B4-BE49-F238E27FC236}">
                  <a16:creationId xmlns:a16="http://schemas.microsoft.com/office/drawing/2014/main" id="{663E1F01-ABBB-4F82-B0EA-70D6DF42D341}"/>
                </a:ext>
              </a:extLst>
            </p:cNvPr>
            <p:cNvCxnSpPr>
              <a:cxnSpLocks/>
              <a:stCxn id="47" idx="3"/>
              <a:endCxn id="26" idx="2"/>
            </p:cNvCxnSpPr>
            <p:nvPr/>
          </p:nvCxnSpPr>
          <p:spPr>
            <a:xfrm flipV="1">
              <a:off x="6433972" y="4160045"/>
              <a:ext cx="979359" cy="708407"/>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ector recto de flecha 49">
              <a:extLst>
                <a:ext uri="{FF2B5EF4-FFF2-40B4-BE49-F238E27FC236}">
                  <a16:creationId xmlns:a16="http://schemas.microsoft.com/office/drawing/2014/main" id="{27E6042E-B6D2-4D36-9C2F-ACC9A2E83987}"/>
                </a:ext>
              </a:extLst>
            </p:cNvPr>
            <p:cNvCxnSpPr>
              <a:cxnSpLocks/>
              <a:stCxn id="48" idx="3"/>
              <a:endCxn id="25" idx="0"/>
            </p:cNvCxnSpPr>
            <p:nvPr/>
          </p:nvCxnSpPr>
          <p:spPr>
            <a:xfrm>
              <a:off x="6444208" y="3582889"/>
              <a:ext cx="859823" cy="422374"/>
            </a:xfrm>
            <a:prstGeom prst="straightConnector1">
              <a:avLst/>
            </a:prstGeom>
            <a:ln w="127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202201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8627568" cy="710952"/>
          </a:xfrm>
        </p:spPr>
        <p:txBody>
          <a:bodyPr>
            <a:normAutofit/>
          </a:bodyPr>
          <a:lstStyle/>
          <a:p>
            <a:r>
              <a:rPr lang="es-CO" dirty="0"/>
              <a:t>Ciclos – Ejemplo 2</a:t>
            </a:r>
            <a:endParaRPr lang="es-CO" dirty="0">
              <a:highlight>
                <a:srgbClr val="FFFF00"/>
              </a:highlight>
            </a:endParaRPr>
          </a:p>
        </p:txBody>
      </p:sp>
      <p:sp>
        <p:nvSpPr>
          <p:cNvPr id="10" name="CuadroTexto 9">
            <a:extLst>
              <a:ext uri="{FF2B5EF4-FFF2-40B4-BE49-F238E27FC236}">
                <a16:creationId xmlns:a16="http://schemas.microsoft.com/office/drawing/2014/main" id="{44ADE36F-3836-40FC-AAE5-6014F5E19BE2}"/>
              </a:ext>
            </a:extLst>
          </p:cNvPr>
          <p:cNvSpPr txBox="1"/>
          <p:nvPr/>
        </p:nvSpPr>
        <p:spPr>
          <a:xfrm>
            <a:off x="315801" y="1730096"/>
            <a:ext cx="3354440" cy="400110"/>
          </a:xfrm>
          <a:prstGeom prst="rect">
            <a:avLst/>
          </a:prstGeom>
          <a:noFill/>
        </p:spPr>
        <p:txBody>
          <a:bodyPr wrap="square" rtlCol="0">
            <a:spAutoFit/>
          </a:bodyPr>
          <a:lstStyle/>
          <a:p>
            <a:r>
              <a:rPr lang="es-CO" sz="2000" b="1" dirty="0"/>
              <a:t>Pseudocódigo</a:t>
            </a:r>
          </a:p>
        </p:txBody>
      </p:sp>
      <p:sp>
        <p:nvSpPr>
          <p:cNvPr id="17" name="CuadroTexto 16">
            <a:extLst>
              <a:ext uri="{FF2B5EF4-FFF2-40B4-BE49-F238E27FC236}">
                <a16:creationId xmlns:a16="http://schemas.microsoft.com/office/drawing/2014/main" id="{7A914CF4-F8A8-42CA-85A0-78CC515CC447}"/>
              </a:ext>
            </a:extLst>
          </p:cNvPr>
          <p:cNvSpPr txBox="1"/>
          <p:nvPr/>
        </p:nvSpPr>
        <p:spPr>
          <a:xfrm>
            <a:off x="387041" y="2138080"/>
            <a:ext cx="5121063" cy="1569660"/>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Inicio</a:t>
            </a:r>
          </a:p>
          <a:p>
            <a:r>
              <a:rPr lang="es-MX" sz="1200" dirty="0">
                <a:latin typeface="Consolas" panose="020B0609020204030204" pitchFamily="49" charset="0"/>
              </a:rPr>
              <a:t>  suma = 0</a:t>
            </a:r>
          </a:p>
          <a:p>
            <a:r>
              <a:rPr lang="es-MX" sz="1200" dirty="0">
                <a:latin typeface="Consolas" panose="020B0609020204030204" pitchFamily="49" charset="0"/>
              </a:rPr>
              <a:t>  Leer(N)</a:t>
            </a:r>
          </a:p>
          <a:p>
            <a:r>
              <a:rPr lang="es-MX" sz="1200" dirty="0">
                <a:solidFill>
                  <a:srgbClr val="C00000"/>
                </a:solidFill>
                <a:latin typeface="Consolas" panose="020B0609020204030204" pitchFamily="49" charset="0"/>
              </a:rPr>
              <a:t>  Para (</a:t>
            </a:r>
            <a:r>
              <a:rPr lang="es-MX" sz="1200" dirty="0" err="1">
                <a:solidFill>
                  <a:srgbClr val="C00000"/>
                </a:solidFill>
                <a:latin typeface="Consolas" panose="020B0609020204030204" pitchFamily="49" charset="0"/>
              </a:rPr>
              <a:t>num</a:t>
            </a:r>
            <a:r>
              <a:rPr lang="es-MX" sz="1200" dirty="0">
                <a:solidFill>
                  <a:srgbClr val="C00000"/>
                </a:solidFill>
                <a:latin typeface="Consolas" panose="020B0609020204030204" pitchFamily="49" charset="0"/>
              </a:rPr>
              <a:t> = 1,N,1) Haga    </a:t>
            </a:r>
          </a:p>
          <a:p>
            <a:r>
              <a:rPr lang="es-MX" sz="1200" dirty="0">
                <a:solidFill>
                  <a:srgbClr val="C00000"/>
                </a:solidFill>
                <a:latin typeface="Consolas" panose="020B0609020204030204" pitchFamily="49" charset="0"/>
              </a:rPr>
              <a:t>     </a:t>
            </a:r>
            <a:r>
              <a:rPr lang="es-MX" sz="1200" dirty="0">
                <a:solidFill>
                  <a:srgbClr val="00B050"/>
                </a:solidFill>
                <a:latin typeface="Consolas" panose="020B0609020204030204" pitchFamily="49" charset="0"/>
              </a:rPr>
              <a:t>suma = suma + num </a:t>
            </a:r>
          </a:p>
          <a:p>
            <a:r>
              <a:rPr lang="es-MX" sz="1200" dirty="0">
                <a:solidFill>
                  <a:srgbClr val="C00000"/>
                </a:solidFill>
                <a:latin typeface="Consolas" panose="020B0609020204030204" pitchFamily="49" charset="0"/>
              </a:rPr>
              <a:t>  </a:t>
            </a:r>
            <a:r>
              <a:rPr lang="es-MX" sz="1200" dirty="0" err="1">
                <a:solidFill>
                  <a:srgbClr val="C00000"/>
                </a:solidFill>
                <a:latin typeface="Consolas" panose="020B0609020204030204" pitchFamily="49" charset="0"/>
              </a:rPr>
              <a:t>Fin_Para</a:t>
            </a:r>
            <a:endParaRPr lang="es-MX" sz="1200" dirty="0">
              <a:solidFill>
                <a:srgbClr val="C00000"/>
              </a:solidFill>
              <a:latin typeface="Consolas" panose="020B0609020204030204" pitchFamily="49" charset="0"/>
            </a:endParaRPr>
          </a:p>
          <a:p>
            <a:r>
              <a:rPr lang="es-MX" sz="1200" dirty="0">
                <a:latin typeface="Consolas" panose="020B0609020204030204" pitchFamily="49" charset="0"/>
              </a:rPr>
              <a:t>  Escribir(suma)</a:t>
            </a:r>
          </a:p>
          <a:p>
            <a:r>
              <a:rPr lang="es-MX" sz="1200" dirty="0">
                <a:latin typeface="Consolas" panose="020B0609020204030204" pitchFamily="49" charset="0"/>
              </a:rPr>
              <a:t>Fin</a:t>
            </a:r>
            <a:endParaRPr lang="es-CO" sz="1200" dirty="0">
              <a:latin typeface="Consolas" panose="020B0609020204030204" pitchFamily="49" charset="0"/>
            </a:endParaRPr>
          </a:p>
        </p:txBody>
      </p:sp>
      <p:sp>
        <p:nvSpPr>
          <p:cNvPr id="6" name="12 Rectángulo">
            <a:extLst>
              <a:ext uri="{FF2B5EF4-FFF2-40B4-BE49-F238E27FC236}">
                <a16:creationId xmlns:a16="http://schemas.microsoft.com/office/drawing/2014/main" id="{A81BD006-0862-4E9E-ABB8-6C85A0DDA55A}"/>
              </a:ext>
            </a:extLst>
          </p:cNvPr>
          <p:cNvSpPr/>
          <p:nvPr/>
        </p:nvSpPr>
        <p:spPr>
          <a:xfrm>
            <a:off x="197748" y="992922"/>
            <a:ext cx="8617880" cy="707886"/>
          </a:xfrm>
          <a:prstGeom prst="rect">
            <a:avLst/>
          </a:prstGeom>
        </p:spPr>
        <p:txBody>
          <a:bodyPr wrap="square">
            <a:spAutoFit/>
          </a:bodyPr>
          <a:lstStyle/>
          <a:p>
            <a:r>
              <a:rPr lang="es-MX" sz="2000" dirty="0"/>
              <a:t>Escriba un algoritmo que calcule la suma de los primeros </a:t>
            </a:r>
            <a:r>
              <a:rPr lang="es-MX" sz="2000" b="1" dirty="0"/>
              <a:t>N</a:t>
            </a:r>
            <a:r>
              <a:rPr lang="es-MX" sz="2000" dirty="0"/>
              <a:t> números enteros mayores que 0, donde </a:t>
            </a:r>
            <a:r>
              <a:rPr lang="es-MX" sz="2000" b="1" dirty="0"/>
              <a:t>N</a:t>
            </a:r>
            <a:r>
              <a:rPr lang="es-MX" sz="2000" dirty="0"/>
              <a:t> es un dato de entrada. </a:t>
            </a:r>
            <a:endParaRPr lang="es-CO" sz="2000" dirty="0"/>
          </a:p>
        </p:txBody>
      </p:sp>
      <p:sp>
        <p:nvSpPr>
          <p:cNvPr id="9" name="CuadroTexto 8">
            <a:extLst>
              <a:ext uri="{FF2B5EF4-FFF2-40B4-BE49-F238E27FC236}">
                <a16:creationId xmlns:a16="http://schemas.microsoft.com/office/drawing/2014/main" id="{AB96154D-8C57-41FF-832A-5D4742A55E78}"/>
              </a:ext>
            </a:extLst>
          </p:cNvPr>
          <p:cNvSpPr txBox="1"/>
          <p:nvPr/>
        </p:nvSpPr>
        <p:spPr>
          <a:xfrm>
            <a:off x="315801" y="4284126"/>
            <a:ext cx="2424161" cy="400110"/>
          </a:xfrm>
          <a:prstGeom prst="rect">
            <a:avLst/>
          </a:prstGeom>
          <a:noFill/>
        </p:spPr>
        <p:txBody>
          <a:bodyPr wrap="square" rtlCol="0">
            <a:spAutoFit/>
          </a:bodyPr>
          <a:lstStyle/>
          <a:p>
            <a:r>
              <a:rPr lang="es-CO" sz="2000" b="1" dirty="0"/>
              <a:t>Python</a:t>
            </a:r>
          </a:p>
        </p:txBody>
      </p:sp>
      <p:sp>
        <p:nvSpPr>
          <p:cNvPr id="11" name="CuadroTexto 10">
            <a:extLst>
              <a:ext uri="{FF2B5EF4-FFF2-40B4-BE49-F238E27FC236}">
                <a16:creationId xmlns:a16="http://schemas.microsoft.com/office/drawing/2014/main" id="{1DC671ED-4724-4412-9F1A-D283A0901042}"/>
              </a:ext>
            </a:extLst>
          </p:cNvPr>
          <p:cNvSpPr txBox="1"/>
          <p:nvPr/>
        </p:nvSpPr>
        <p:spPr>
          <a:xfrm>
            <a:off x="367055" y="4692892"/>
            <a:ext cx="5141049" cy="1015663"/>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suma = 0</a:t>
            </a:r>
          </a:p>
          <a:p>
            <a:r>
              <a:rPr lang="es-MX" sz="1200" dirty="0">
                <a:latin typeface="Consolas" panose="020B0609020204030204" pitchFamily="49" charset="0"/>
              </a:rPr>
              <a:t>N = </a:t>
            </a:r>
            <a:r>
              <a:rPr lang="es-MX" sz="1200" dirty="0" err="1">
                <a:latin typeface="Consolas" panose="020B0609020204030204" pitchFamily="49" charset="0"/>
              </a:rPr>
              <a:t>int</a:t>
            </a:r>
            <a:r>
              <a:rPr lang="es-MX" sz="1200" dirty="0">
                <a:latin typeface="Consolas" panose="020B0609020204030204" pitchFamily="49" charset="0"/>
              </a:rPr>
              <a:t>(input('Ingrese la cantidad de números a sumar: ‘))</a:t>
            </a:r>
          </a:p>
          <a:p>
            <a:r>
              <a:rPr lang="es-MX" sz="1200" dirty="0">
                <a:solidFill>
                  <a:schemeClr val="accent5"/>
                </a:solidFill>
                <a:latin typeface="Consolas" panose="020B0609020204030204" pitchFamily="49" charset="0"/>
              </a:rPr>
              <a:t>for</a:t>
            </a:r>
            <a:r>
              <a:rPr lang="es-MX" sz="1200" dirty="0">
                <a:latin typeface="Consolas" panose="020B0609020204030204" pitchFamily="49" charset="0"/>
              </a:rPr>
              <a:t> </a:t>
            </a:r>
            <a:r>
              <a:rPr lang="es-MX" sz="1200" dirty="0" err="1">
                <a:latin typeface="Consolas" panose="020B0609020204030204" pitchFamily="49" charset="0"/>
              </a:rPr>
              <a:t>num</a:t>
            </a:r>
            <a:r>
              <a:rPr lang="es-MX" sz="1200" dirty="0">
                <a:latin typeface="Consolas" panose="020B0609020204030204" pitchFamily="49" charset="0"/>
              </a:rPr>
              <a:t> in range(1,N + 1):</a:t>
            </a:r>
          </a:p>
          <a:p>
            <a:r>
              <a:rPr lang="es-MX" sz="1200" dirty="0">
                <a:solidFill>
                  <a:srgbClr val="00B050"/>
                </a:solidFill>
                <a:latin typeface="Consolas" panose="020B0609020204030204" pitchFamily="49" charset="0"/>
              </a:rPr>
              <a:t>  suma = suma + num</a:t>
            </a:r>
          </a:p>
          <a:p>
            <a:r>
              <a:rPr lang="es-MX" sz="1200" dirty="0" err="1">
                <a:latin typeface="Consolas" panose="020B0609020204030204" pitchFamily="49" charset="0"/>
              </a:rPr>
              <a:t>print</a:t>
            </a:r>
            <a:r>
              <a:rPr lang="es-MX" sz="1200" dirty="0">
                <a:latin typeface="Consolas" panose="020B0609020204030204" pitchFamily="49" charset="0"/>
              </a:rPr>
              <a:t>(</a:t>
            </a:r>
            <a:r>
              <a:rPr lang="es-MX" sz="1200" dirty="0" err="1">
                <a:latin typeface="Consolas" panose="020B0609020204030204" pitchFamily="49" charset="0"/>
              </a:rPr>
              <a:t>f"La</a:t>
            </a:r>
            <a:r>
              <a:rPr lang="es-MX" sz="1200" dirty="0">
                <a:latin typeface="Consolas" panose="020B0609020204030204" pitchFamily="49" charset="0"/>
              </a:rPr>
              <a:t> suma de los {N} primeros números da {suma}")</a:t>
            </a:r>
          </a:p>
        </p:txBody>
      </p:sp>
      <p:sp>
        <p:nvSpPr>
          <p:cNvPr id="13" name="CuadroTexto 12">
            <a:extLst>
              <a:ext uri="{FF2B5EF4-FFF2-40B4-BE49-F238E27FC236}">
                <a16:creationId xmlns:a16="http://schemas.microsoft.com/office/drawing/2014/main" id="{D94377BE-8448-451B-971E-F8E6F1652ECB}"/>
              </a:ext>
            </a:extLst>
          </p:cNvPr>
          <p:cNvSpPr txBox="1"/>
          <p:nvPr/>
        </p:nvSpPr>
        <p:spPr>
          <a:xfrm>
            <a:off x="2111114" y="5824402"/>
            <a:ext cx="1545785" cy="276999"/>
          </a:xfrm>
          <a:prstGeom prst="rect">
            <a:avLst/>
          </a:prstGeom>
          <a:noFill/>
        </p:spPr>
        <p:txBody>
          <a:bodyPr wrap="square" rtlCol="0">
            <a:spAutoFit/>
          </a:bodyPr>
          <a:lstStyle/>
          <a:p>
            <a:pPr algn="ctr"/>
            <a:r>
              <a:rPr lang="es-MX" sz="1200" dirty="0">
                <a:hlinkClick r:id="rId2"/>
              </a:rPr>
              <a:t>Link de ejecución</a:t>
            </a:r>
            <a:endParaRPr lang="es-CO" sz="1200" dirty="0"/>
          </a:p>
        </p:txBody>
      </p:sp>
      <p:pic>
        <p:nvPicPr>
          <p:cNvPr id="3" name="Imagen 2">
            <a:extLst>
              <a:ext uri="{FF2B5EF4-FFF2-40B4-BE49-F238E27FC236}">
                <a16:creationId xmlns:a16="http://schemas.microsoft.com/office/drawing/2014/main" id="{D72F8923-1488-4D61-9733-50D8292D85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6216" y="1930151"/>
            <a:ext cx="2057400" cy="4400550"/>
          </a:xfrm>
          <a:prstGeom prst="rect">
            <a:avLst/>
          </a:prstGeom>
        </p:spPr>
      </p:pic>
    </p:spTree>
    <p:extLst>
      <p:ext uri="{BB962C8B-B14F-4D97-AF65-F5344CB8AC3E}">
        <p14:creationId xmlns:p14="http://schemas.microsoft.com/office/powerpoint/2010/main" val="8548890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8627568" cy="710952"/>
          </a:xfrm>
        </p:spPr>
        <p:txBody>
          <a:bodyPr>
            <a:normAutofit/>
          </a:bodyPr>
          <a:lstStyle/>
          <a:p>
            <a:r>
              <a:rPr lang="es-CO" dirty="0"/>
              <a:t>Ciclos – Ejemplo 2</a:t>
            </a:r>
            <a:endParaRPr lang="es-CO" dirty="0">
              <a:highlight>
                <a:srgbClr val="FFFF00"/>
              </a:highlight>
            </a:endParaRPr>
          </a:p>
        </p:txBody>
      </p:sp>
      <p:sp>
        <p:nvSpPr>
          <p:cNvPr id="10" name="CuadroTexto 9">
            <a:extLst>
              <a:ext uri="{FF2B5EF4-FFF2-40B4-BE49-F238E27FC236}">
                <a16:creationId xmlns:a16="http://schemas.microsoft.com/office/drawing/2014/main" id="{44ADE36F-3836-40FC-AAE5-6014F5E19BE2}"/>
              </a:ext>
            </a:extLst>
          </p:cNvPr>
          <p:cNvSpPr txBox="1"/>
          <p:nvPr/>
        </p:nvSpPr>
        <p:spPr>
          <a:xfrm>
            <a:off x="355285" y="3863883"/>
            <a:ext cx="3928683" cy="400110"/>
          </a:xfrm>
          <a:prstGeom prst="rect">
            <a:avLst/>
          </a:prstGeom>
          <a:noFill/>
        </p:spPr>
        <p:txBody>
          <a:bodyPr wrap="square" rtlCol="0">
            <a:spAutoFit/>
          </a:bodyPr>
          <a:lstStyle/>
          <a:p>
            <a:r>
              <a:rPr lang="es-CO" sz="2000" b="1" dirty="0"/>
              <a:t>Prueba de escritorio</a:t>
            </a:r>
          </a:p>
        </p:txBody>
      </p:sp>
      <p:sp>
        <p:nvSpPr>
          <p:cNvPr id="6" name="12 Rectángulo">
            <a:extLst>
              <a:ext uri="{FF2B5EF4-FFF2-40B4-BE49-F238E27FC236}">
                <a16:creationId xmlns:a16="http://schemas.microsoft.com/office/drawing/2014/main" id="{A81BD006-0862-4E9E-ABB8-6C85A0DDA55A}"/>
              </a:ext>
            </a:extLst>
          </p:cNvPr>
          <p:cNvSpPr/>
          <p:nvPr/>
        </p:nvSpPr>
        <p:spPr>
          <a:xfrm>
            <a:off x="197748" y="992922"/>
            <a:ext cx="8617880" cy="707886"/>
          </a:xfrm>
          <a:prstGeom prst="rect">
            <a:avLst/>
          </a:prstGeom>
        </p:spPr>
        <p:txBody>
          <a:bodyPr wrap="square">
            <a:spAutoFit/>
          </a:bodyPr>
          <a:lstStyle/>
          <a:p>
            <a:r>
              <a:rPr lang="es-MX" sz="2000" dirty="0"/>
              <a:t>Escriba un algoritmo que calcule la suma de los primeros </a:t>
            </a:r>
            <a:r>
              <a:rPr lang="es-MX" sz="2000" b="1" dirty="0"/>
              <a:t>N</a:t>
            </a:r>
            <a:r>
              <a:rPr lang="es-MX" sz="2000" dirty="0"/>
              <a:t> números enteros mayores que 0, donde </a:t>
            </a:r>
            <a:r>
              <a:rPr lang="es-MX" sz="2000" b="1" dirty="0"/>
              <a:t>N</a:t>
            </a:r>
            <a:r>
              <a:rPr lang="es-MX" sz="2000" dirty="0"/>
              <a:t> es un dato de entrada. </a:t>
            </a:r>
            <a:endParaRPr lang="es-CO" sz="2000" dirty="0"/>
          </a:p>
        </p:txBody>
      </p:sp>
      <p:graphicFrame>
        <p:nvGraphicFramePr>
          <p:cNvPr id="12" name="15 Tabla">
            <a:extLst>
              <a:ext uri="{FF2B5EF4-FFF2-40B4-BE49-F238E27FC236}">
                <a16:creationId xmlns:a16="http://schemas.microsoft.com/office/drawing/2014/main" id="{B7D0DC0A-668C-456A-841A-76980638EF0C}"/>
              </a:ext>
            </a:extLst>
          </p:cNvPr>
          <p:cNvGraphicFramePr>
            <a:graphicFrameLocks noGrp="1"/>
          </p:cNvGraphicFramePr>
          <p:nvPr>
            <p:extLst>
              <p:ext uri="{D42A27DB-BD31-4B8C-83A1-F6EECF244321}">
                <p14:modId xmlns:p14="http://schemas.microsoft.com/office/powerpoint/2010/main" val="2850590041"/>
              </p:ext>
            </p:extLst>
          </p:nvPr>
        </p:nvGraphicFramePr>
        <p:xfrm>
          <a:off x="611560" y="4591579"/>
          <a:ext cx="2304256" cy="914400"/>
        </p:xfrm>
        <a:graphic>
          <a:graphicData uri="http://schemas.openxmlformats.org/drawingml/2006/table">
            <a:tbl>
              <a:tblPr firstRow="1" bandRow="1">
                <a:tableStyleId>{5940675A-B579-460E-94D1-54222C63F5DA}</a:tableStyleId>
              </a:tblPr>
              <a:tblGrid>
                <a:gridCol w="1152128">
                  <a:extLst>
                    <a:ext uri="{9D8B030D-6E8A-4147-A177-3AD203B41FA5}">
                      <a16:colId xmlns:a16="http://schemas.microsoft.com/office/drawing/2014/main" val="20000"/>
                    </a:ext>
                  </a:extLst>
                </a:gridCol>
                <a:gridCol w="1152128">
                  <a:extLst>
                    <a:ext uri="{9D8B030D-6E8A-4147-A177-3AD203B41FA5}">
                      <a16:colId xmlns:a16="http://schemas.microsoft.com/office/drawing/2014/main" val="20003"/>
                    </a:ext>
                  </a:extLst>
                </a:gridCol>
              </a:tblGrid>
              <a:tr h="227195">
                <a:tc>
                  <a:txBody>
                    <a:bodyPr/>
                    <a:lstStyle/>
                    <a:p>
                      <a:pPr algn="ctr"/>
                      <a:r>
                        <a:rPr lang="es-CO" sz="1600" b="1" dirty="0">
                          <a:solidFill>
                            <a:schemeClr val="bg1"/>
                          </a:solidFill>
                          <a:latin typeface="+mn-lt"/>
                          <a:cs typeface="Consolas" panose="020B0609020204030204" pitchFamily="49" charset="0"/>
                        </a:rPr>
                        <a:t>N</a:t>
                      </a:r>
                    </a:p>
                  </a:txBody>
                  <a:tcPr>
                    <a:solidFill>
                      <a:schemeClr val="tx1"/>
                    </a:solidFill>
                  </a:tcPr>
                </a:tc>
                <a:tc>
                  <a:txBody>
                    <a:bodyPr/>
                    <a:lstStyle/>
                    <a:p>
                      <a:pPr algn="ctr"/>
                      <a:r>
                        <a:rPr lang="es-CO" sz="1600" b="1" dirty="0">
                          <a:solidFill>
                            <a:schemeClr val="bg1"/>
                          </a:solidFill>
                          <a:latin typeface="+mn-lt"/>
                          <a:cs typeface="Consolas" panose="020B0609020204030204" pitchFamily="49" charset="0"/>
                        </a:rPr>
                        <a:t>suma</a:t>
                      </a:r>
                    </a:p>
                  </a:txBody>
                  <a:tcPr>
                    <a:solidFill>
                      <a:schemeClr val="tx1"/>
                    </a:solidFill>
                  </a:tcPr>
                </a:tc>
                <a:extLst>
                  <a:ext uri="{0D108BD9-81ED-4DB2-BD59-A6C34878D82A}">
                    <a16:rowId xmlns:a16="http://schemas.microsoft.com/office/drawing/2014/main" val="10000"/>
                  </a:ext>
                </a:extLst>
              </a:tr>
              <a:tr h="392429">
                <a:tc>
                  <a:txBody>
                    <a:bodyPr/>
                    <a:lstStyle/>
                    <a:p>
                      <a:pPr algn="ctr"/>
                      <a:r>
                        <a:rPr lang="es-CO" sz="1600" b="0" dirty="0">
                          <a:solidFill>
                            <a:schemeClr val="tx1"/>
                          </a:solidFill>
                          <a:latin typeface="+mn-lt"/>
                          <a:cs typeface="Consolas" panose="020B0609020204030204" pitchFamily="49" charset="0"/>
                        </a:rPr>
                        <a:t>0</a:t>
                      </a:r>
                    </a:p>
                    <a:p>
                      <a:pPr algn="ctr"/>
                      <a:r>
                        <a:rPr lang="es-CO" sz="1600" b="0" dirty="0">
                          <a:solidFill>
                            <a:schemeClr val="tx1"/>
                          </a:solidFill>
                          <a:latin typeface="+mn-lt"/>
                          <a:cs typeface="Consolas" panose="020B0609020204030204" pitchFamily="49" charset="0"/>
                        </a:rPr>
                        <a:t>4</a:t>
                      </a:r>
                    </a:p>
                  </a:txBody>
                  <a:tcPr/>
                </a:tc>
                <a:tc>
                  <a:txBody>
                    <a:bodyPr/>
                    <a:lstStyle/>
                    <a:p>
                      <a:pPr algn="ctr"/>
                      <a:r>
                        <a:rPr lang="es-CO" sz="1600" b="0" dirty="0">
                          <a:solidFill>
                            <a:schemeClr val="tx1"/>
                          </a:solidFill>
                          <a:latin typeface="+mn-lt"/>
                          <a:cs typeface="Consolas" panose="020B0609020204030204" pitchFamily="49" charset="0"/>
                        </a:rPr>
                        <a:t>0</a:t>
                      </a:r>
                    </a:p>
                    <a:p>
                      <a:pPr algn="ctr"/>
                      <a:r>
                        <a:rPr lang="es-CO" sz="1600" b="0" dirty="0">
                          <a:solidFill>
                            <a:schemeClr val="tx1"/>
                          </a:solidFill>
                          <a:latin typeface="+mn-lt"/>
                          <a:cs typeface="Consolas" panose="020B0609020204030204" pitchFamily="49" charset="0"/>
                        </a:rPr>
                        <a:t>10</a:t>
                      </a:r>
                    </a:p>
                  </a:txBody>
                  <a:tcPr/>
                </a:tc>
                <a:extLst>
                  <a:ext uri="{0D108BD9-81ED-4DB2-BD59-A6C34878D82A}">
                    <a16:rowId xmlns:a16="http://schemas.microsoft.com/office/drawing/2014/main" val="10001"/>
                  </a:ext>
                </a:extLst>
              </a:tr>
            </a:tbl>
          </a:graphicData>
        </a:graphic>
      </p:graphicFrame>
      <p:graphicFrame>
        <p:nvGraphicFramePr>
          <p:cNvPr id="13" name="8 Tabla">
            <a:extLst>
              <a:ext uri="{FF2B5EF4-FFF2-40B4-BE49-F238E27FC236}">
                <a16:creationId xmlns:a16="http://schemas.microsoft.com/office/drawing/2014/main" id="{94C0647B-A25E-4F30-A23F-F3A84EE9C83D}"/>
              </a:ext>
            </a:extLst>
          </p:cNvPr>
          <p:cNvGraphicFramePr>
            <a:graphicFrameLocks noGrp="1"/>
          </p:cNvGraphicFramePr>
          <p:nvPr>
            <p:extLst>
              <p:ext uri="{D42A27DB-BD31-4B8C-83A1-F6EECF244321}">
                <p14:modId xmlns:p14="http://schemas.microsoft.com/office/powerpoint/2010/main" val="3955155142"/>
              </p:ext>
            </p:extLst>
          </p:nvPr>
        </p:nvGraphicFramePr>
        <p:xfrm>
          <a:off x="3473226" y="4263993"/>
          <a:ext cx="2066924" cy="2133600"/>
        </p:xfrm>
        <a:graphic>
          <a:graphicData uri="http://schemas.openxmlformats.org/drawingml/2006/table">
            <a:tbl>
              <a:tblPr firstRow="1" bandRow="1">
                <a:tableStyleId>{5940675A-B579-460E-94D1-54222C63F5DA}</a:tableStyleId>
              </a:tblPr>
              <a:tblGrid>
                <a:gridCol w="503408">
                  <a:extLst>
                    <a:ext uri="{9D8B030D-6E8A-4147-A177-3AD203B41FA5}">
                      <a16:colId xmlns:a16="http://schemas.microsoft.com/office/drawing/2014/main" val="20001"/>
                    </a:ext>
                  </a:extLst>
                </a:gridCol>
                <a:gridCol w="781758">
                  <a:extLst>
                    <a:ext uri="{9D8B030D-6E8A-4147-A177-3AD203B41FA5}">
                      <a16:colId xmlns:a16="http://schemas.microsoft.com/office/drawing/2014/main" val="20003"/>
                    </a:ext>
                  </a:extLst>
                </a:gridCol>
                <a:gridCol w="781758">
                  <a:extLst>
                    <a:ext uri="{9D8B030D-6E8A-4147-A177-3AD203B41FA5}">
                      <a16:colId xmlns:a16="http://schemas.microsoft.com/office/drawing/2014/main" val="3040689768"/>
                    </a:ext>
                  </a:extLst>
                </a:gridCol>
              </a:tblGrid>
              <a:tr h="293088">
                <a:tc>
                  <a:txBody>
                    <a:bodyPr/>
                    <a:lstStyle/>
                    <a:p>
                      <a:pPr algn="ctr"/>
                      <a:r>
                        <a:rPr lang="es-CO" sz="1600" b="1" dirty="0">
                          <a:latin typeface="Consolas" panose="020B0609020204030204" pitchFamily="49" charset="0"/>
                          <a:cs typeface="Consolas" panose="020B0609020204030204" pitchFamily="49" charset="0"/>
                        </a:rPr>
                        <a:t>N</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600" b="1" dirty="0">
                          <a:latin typeface="Consolas" panose="020B0609020204030204" pitchFamily="49" charset="0"/>
                          <a:cs typeface="Consolas" panose="020B0609020204030204" pitchFamily="49" charset="0"/>
                        </a:rPr>
                        <a:t>num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600" b="1" dirty="0">
                          <a:latin typeface="Consolas" panose="020B0609020204030204" pitchFamily="49" charset="0"/>
                          <a:cs typeface="Consolas" panose="020B0609020204030204" pitchFamily="49" charset="0"/>
                        </a:rPr>
                        <a:t>suma</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48039">
                <a:tc>
                  <a:txBody>
                    <a:bodyPr/>
                    <a:lstStyle/>
                    <a:p>
                      <a:pPr algn="ctr"/>
                      <a:endParaRPr lang="es-CO" sz="1600" b="0"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es-CO" sz="1600" b="0" dirty="0">
                        <a:latin typeface="Consolas" panose="020B0609020204030204" pitchFamily="49" charset="0"/>
                        <a:cs typeface="Consolas" panose="020B0609020204030204" pitchFamily="49" charset="0"/>
                      </a:endParaRPr>
                    </a:p>
                    <a:p>
                      <a:pPr algn="ctr"/>
                      <a:endParaRPr lang="es-CO" sz="1600" b="0" dirty="0">
                        <a:latin typeface="Consolas" panose="020B0609020204030204" pitchFamily="49" charset="0"/>
                        <a:cs typeface="Consolas" panose="020B0609020204030204" pitchFamily="49" charset="0"/>
                      </a:endParaRPr>
                    </a:p>
                    <a:p>
                      <a:pPr algn="ctr"/>
                      <a:endParaRPr lang="es-CO" sz="1600" b="0" dirty="0">
                        <a:latin typeface="Consolas" panose="020B0609020204030204" pitchFamily="49" charset="0"/>
                        <a:cs typeface="Consolas" panose="020B0609020204030204" pitchFamily="49" charset="0"/>
                      </a:endParaRPr>
                    </a:p>
                    <a:p>
                      <a:pPr algn="ctr"/>
                      <a:endParaRPr lang="es-CO" sz="1600" b="0" dirty="0">
                        <a:latin typeface="Consolas" panose="020B0609020204030204" pitchFamily="49" charset="0"/>
                        <a:cs typeface="Consolas" panose="020B0609020204030204" pitchFamily="49" charset="0"/>
                      </a:endParaRPr>
                    </a:p>
                    <a:p>
                      <a:pPr algn="ctr"/>
                      <a:endParaRPr lang="es-CO" sz="1600" b="0" dirty="0">
                        <a:latin typeface="Consolas" panose="020B0609020204030204" pitchFamily="49" charset="0"/>
                        <a:cs typeface="Consolas" panose="020B0609020204030204" pitchFamily="49" charset="0"/>
                      </a:endParaRPr>
                    </a:p>
                    <a:p>
                      <a:pPr algn="ctr"/>
                      <a:endParaRPr lang="es-CO" sz="1600" b="0" dirty="0">
                        <a:latin typeface="Consolas" panose="020B0609020204030204" pitchFamily="49" charset="0"/>
                        <a:cs typeface="Consolas" panose="020B0609020204030204" pitchFamily="49" charset="0"/>
                      </a:endParaRPr>
                    </a:p>
                    <a:p>
                      <a:pPr algn="ctr"/>
                      <a:endParaRPr lang="es-CO" sz="1600"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es-CO" sz="1600"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9" name="CuadroTexto 8">
            <a:extLst>
              <a:ext uri="{FF2B5EF4-FFF2-40B4-BE49-F238E27FC236}">
                <a16:creationId xmlns:a16="http://schemas.microsoft.com/office/drawing/2014/main" id="{4976AD63-D586-48C8-9823-BF30889C1FD9}"/>
              </a:ext>
            </a:extLst>
          </p:cNvPr>
          <p:cNvSpPr txBox="1"/>
          <p:nvPr/>
        </p:nvSpPr>
        <p:spPr>
          <a:xfrm>
            <a:off x="419087" y="2011063"/>
            <a:ext cx="5121063" cy="1569660"/>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Inicio</a:t>
            </a:r>
          </a:p>
          <a:p>
            <a:r>
              <a:rPr lang="es-MX" sz="1200" dirty="0">
                <a:latin typeface="Consolas" panose="020B0609020204030204" pitchFamily="49" charset="0"/>
              </a:rPr>
              <a:t>  suma = 0</a:t>
            </a:r>
          </a:p>
          <a:p>
            <a:r>
              <a:rPr lang="es-MX" sz="1200" dirty="0">
                <a:latin typeface="Consolas" panose="020B0609020204030204" pitchFamily="49" charset="0"/>
              </a:rPr>
              <a:t>  Leer(N)</a:t>
            </a:r>
          </a:p>
          <a:p>
            <a:r>
              <a:rPr lang="es-MX" sz="1200" dirty="0">
                <a:solidFill>
                  <a:srgbClr val="C00000"/>
                </a:solidFill>
                <a:latin typeface="Consolas" panose="020B0609020204030204" pitchFamily="49" charset="0"/>
              </a:rPr>
              <a:t>  Para (</a:t>
            </a:r>
            <a:r>
              <a:rPr lang="es-MX" sz="1200" dirty="0" err="1">
                <a:solidFill>
                  <a:srgbClr val="C00000"/>
                </a:solidFill>
                <a:latin typeface="Consolas" panose="020B0609020204030204" pitchFamily="49" charset="0"/>
              </a:rPr>
              <a:t>num</a:t>
            </a:r>
            <a:r>
              <a:rPr lang="es-MX" sz="1200" dirty="0">
                <a:solidFill>
                  <a:srgbClr val="C00000"/>
                </a:solidFill>
                <a:latin typeface="Consolas" panose="020B0609020204030204" pitchFamily="49" charset="0"/>
              </a:rPr>
              <a:t> = 1,N + 1,1) Haga    </a:t>
            </a:r>
          </a:p>
          <a:p>
            <a:r>
              <a:rPr lang="es-MX" sz="1200" dirty="0">
                <a:solidFill>
                  <a:srgbClr val="C00000"/>
                </a:solidFill>
                <a:latin typeface="Consolas" panose="020B0609020204030204" pitchFamily="49" charset="0"/>
              </a:rPr>
              <a:t>     </a:t>
            </a:r>
            <a:r>
              <a:rPr lang="es-MX" sz="1200" dirty="0">
                <a:solidFill>
                  <a:srgbClr val="00B050"/>
                </a:solidFill>
                <a:latin typeface="Consolas" panose="020B0609020204030204" pitchFamily="49" charset="0"/>
              </a:rPr>
              <a:t>suma = suma + num </a:t>
            </a:r>
          </a:p>
          <a:p>
            <a:r>
              <a:rPr lang="es-MX" sz="1200" dirty="0">
                <a:solidFill>
                  <a:srgbClr val="C00000"/>
                </a:solidFill>
                <a:latin typeface="Consolas" panose="020B0609020204030204" pitchFamily="49" charset="0"/>
              </a:rPr>
              <a:t>  </a:t>
            </a:r>
            <a:r>
              <a:rPr lang="es-MX" sz="1200" dirty="0" err="1">
                <a:solidFill>
                  <a:srgbClr val="C00000"/>
                </a:solidFill>
                <a:latin typeface="Consolas" panose="020B0609020204030204" pitchFamily="49" charset="0"/>
              </a:rPr>
              <a:t>Fin_Para</a:t>
            </a:r>
            <a:endParaRPr lang="es-MX" sz="1200" dirty="0">
              <a:solidFill>
                <a:srgbClr val="C00000"/>
              </a:solidFill>
              <a:latin typeface="Consolas" panose="020B0609020204030204" pitchFamily="49" charset="0"/>
            </a:endParaRPr>
          </a:p>
          <a:p>
            <a:r>
              <a:rPr lang="es-MX" sz="1200" dirty="0">
                <a:latin typeface="Consolas" panose="020B0609020204030204" pitchFamily="49" charset="0"/>
              </a:rPr>
              <a:t>  Escribir(suma)</a:t>
            </a:r>
          </a:p>
          <a:p>
            <a:r>
              <a:rPr lang="es-MX" sz="1200" dirty="0">
                <a:latin typeface="Consolas" panose="020B0609020204030204" pitchFamily="49" charset="0"/>
              </a:rPr>
              <a:t>Fin</a:t>
            </a:r>
            <a:endParaRPr lang="es-CO" sz="1200" dirty="0">
              <a:latin typeface="Consolas" panose="020B0609020204030204" pitchFamily="49" charset="0"/>
            </a:endParaRPr>
          </a:p>
        </p:txBody>
      </p:sp>
      <p:pic>
        <p:nvPicPr>
          <p:cNvPr id="11" name="Imagen 10">
            <a:extLst>
              <a:ext uri="{FF2B5EF4-FFF2-40B4-BE49-F238E27FC236}">
                <a16:creationId xmlns:a16="http://schemas.microsoft.com/office/drawing/2014/main" id="{FD766FCC-E4E9-4806-AE0E-ADF5003BAE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3209" y="1980778"/>
            <a:ext cx="2057400" cy="4400550"/>
          </a:xfrm>
          <a:prstGeom prst="rect">
            <a:avLst/>
          </a:prstGeom>
        </p:spPr>
      </p:pic>
    </p:spTree>
    <p:extLst>
      <p:ext uri="{BB962C8B-B14F-4D97-AF65-F5344CB8AC3E}">
        <p14:creationId xmlns:p14="http://schemas.microsoft.com/office/powerpoint/2010/main" val="15880443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8627568" cy="710952"/>
          </a:xfrm>
        </p:spPr>
        <p:txBody>
          <a:bodyPr>
            <a:normAutofit/>
          </a:bodyPr>
          <a:lstStyle/>
          <a:p>
            <a:r>
              <a:rPr lang="es-CO" dirty="0"/>
              <a:t>Ciclos – Ejemplo 2</a:t>
            </a:r>
            <a:endParaRPr lang="es-CO" dirty="0">
              <a:highlight>
                <a:srgbClr val="FFFF00"/>
              </a:highlight>
            </a:endParaRPr>
          </a:p>
        </p:txBody>
      </p:sp>
      <p:sp>
        <p:nvSpPr>
          <p:cNvPr id="6" name="12 Rectángulo">
            <a:extLst>
              <a:ext uri="{FF2B5EF4-FFF2-40B4-BE49-F238E27FC236}">
                <a16:creationId xmlns:a16="http://schemas.microsoft.com/office/drawing/2014/main" id="{A81BD006-0862-4E9E-ABB8-6C85A0DDA55A}"/>
              </a:ext>
            </a:extLst>
          </p:cNvPr>
          <p:cNvSpPr/>
          <p:nvPr/>
        </p:nvSpPr>
        <p:spPr>
          <a:xfrm>
            <a:off x="197748" y="992922"/>
            <a:ext cx="8617880" cy="707886"/>
          </a:xfrm>
          <a:prstGeom prst="rect">
            <a:avLst/>
          </a:prstGeom>
        </p:spPr>
        <p:txBody>
          <a:bodyPr wrap="square">
            <a:spAutoFit/>
          </a:bodyPr>
          <a:lstStyle/>
          <a:p>
            <a:r>
              <a:rPr lang="es-MX" sz="2000" dirty="0"/>
              <a:t>Escriba un algoritmo que calcule la suma de los primeros </a:t>
            </a:r>
            <a:r>
              <a:rPr lang="es-MX" sz="2000" b="1" dirty="0"/>
              <a:t>N</a:t>
            </a:r>
            <a:r>
              <a:rPr lang="es-MX" sz="2000" dirty="0"/>
              <a:t> números enteros mayores que 0, donde </a:t>
            </a:r>
            <a:r>
              <a:rPr lang="es-MX" sz="2000" b="1" dirty="0"/>
              <a:t>N</a:t>
            </a:r>
            <a:r>
              <a:rPr lang="es-MX" sz="2000" dirty="0"/>
              <a:t> es un dato de entrada. </a:t>
            </a:r>
            <a:endParaRPr lang="es-CO" sz="2000" dirty="0"/>
          </a:p>
        </p:txBody>
      </p:sp>
      <p:graphicFrame>
        <p:nvGraphicFramePr>
          <p:cNvPr id="12" name="15 Tabla">
            <a:extLst>
              <a:ext uri="{FF2B5EF4-FFF2-40B4-BE49-F238E27FC236}">
                <a16:creationId xmlns:a16="http://schemas.microsoft.com/office/drawing/2014/main" id="{B7D0DC0A-668C-456A-841A-76980638EF0C}"/>
              </a:ext>
            </a:extLst>
          </p:cNvPr>
          <p:cNvGraphicFramePr>
            <a:graphicFrameLocks noGrp="1"/>
          </p:cNvGraphicFramePr>
          <p:nvPr>
            <p:extLst>
              <p:ext uri="{D42A27DB-BD31-4B8C-83A1-F6EECF244321}">
                <p14:modId xmlns:p14="http://schemas.microsoft.com/office/powerpoint/2010/main" val="1422450305"/>
              </p:ext>
            </p:extLst>
          </p:nvPr>
        </p:nvGraphicFramePr>
        <p:xfrm>
          <a:off x="879634" y="4845371"/>
          <a:ext cx="1535554" cy="727709"/>
        </p:xfrm>
        <a:graphic>
          <a:graphicData uri="http://schemas.openxmlformats.org/drawingml/2006/table">
            <a:tbl>
              <a:tblPr firstRow="1" bandRow="1">
                <a:tableStyleId>{5940675A-B579-460E-94D1-54222C63F5DA}</a:tableStyleId>
              </a:tblPr>
              <a:tblGrid>
                <a:gridCol w="767777">
                  <a:extLst>
                    <a:ext uri="{9D8B030D-6E8A-4147-A177-3AD203B41FA5}">
                      <a16:colId xmlns:a16="http://schemas.microsoft.com/office/drawing/2014/main" val="20000"/>
                    </a:ext>
                  </a:extLst>
                </a:gridCol>
                <a:gridCol w="767777">
                  <a:extLst>
                    <a:ext uri="{9D8B030D-6E8A-4147-A177-3AD203B41FA5}">
                      <a16:colId xmlns:a16="http://schemas.microsoft.com/office/drawing/2014/main" val="20003"/>
                    </a:ext>
                  </a:extLst>
                </a:gridCol>
              </a:tblGrid>
              <a:tr h="227195">
                <a:tc>
                  <a:txBody>
                    <a:bodyPr/>
                    <a:lstStyle/>
                    <a:p>
                      <a:pPr algn="ctr"/>
                      <a:r>
                        <a:rPr lang="es-CO" sz="1600" b="1" dirty="0">
                          <a:solidFill>
                            <a:schemeClr val="bg1"/>
                          </a:solidFill>
                          <a:latin typeface="+mn-lt"/>
                          <a:cs typeface="Consolas" panose="020B0609020204030204" pitchFamily="49" charset="0"/>
                        </a:rPr>
                        <a:t>N</a:t>
                      </a:r>
                    </a:p>
                  </a:txBody>
                  <a:tcPr>
                    <a:solidFill>
                      <a:schemeClr val="tx1"/>
                    </a:solidFill>
                  </a:tcPr>
                </a:tc>
                <a:tc>
                  <a:txBody>
                    <a:bodyPr/>
                    <a:lstStyle/>
                    <a:p>
                      <a:pPr algn="ctr"/>
                      <a:r>
                        <a:rPr lang="es-CO" sz="1600" b="1" dirty="0">
                          <a:solidFill>
                            <a:schemeClr val="bg1"/>
                          </a:solidFill>
                          <a:latin typeface="+mn-lt"/>
                          <a:cs typeface="Consolas" panose="020B0609020204030204" pitchFamily="49" charset="0"/>
                        </a:rPr>
                        <a:t>suma</a:t>
                      </a:r>
                    </a:p>
                  </a:txBody>
                  <a:tcPr>
                    <a:solidFill>
                      <a:schemeClr val="tx1"/>
                    </a:solidFill>
                  </a:tcPr>
                </a:tc>
                <a:extLst>
                  <a:ext uri="{0D108BD9-81ED-4DB2-BD59-A6C34878D82A}">
                    <a16:rowId xmlns:a16="http://schemas.microsoft.com/office/drawing/2014/main" val="10000"/>
                  </a:ext>
                </a:extLst>
              </a:tr>
              <a:tr h="392429">
                <a:tc>
                  <a:txBody>
                    <a:bodyPr/>
                    <a:lstStyle/>
                    <a:p>
                      <a:pPr algn="ctr"/>
                      <a:r>
                        <a:rPr lang="es-CO" sz="1600" b="0" dirty="0">
                          <a:solidFill>
                            <a:schemeClr val="tx1"/>
                          </a:solidFill>
                          <a:latin typeface="+mn-lt"/>
                          <a:cs typeface="Consolas" panose="020B0609020204030204" pitchFamily="49" charset="0"/>
                        </a:rPr>
                        <a:t>4</a:t>
                      </a:r>
                    </a:p>
                  </a:txBody>
                  <a:tcPr/>
                </a:tc>
                <a:tc>
                  <a:txBody>
                    <a:bodyPr/>
                    <a:lstStyle/>
                    <a:p>
                      <a:pPr algn="ctr"/>
                      <a:r>
                        <a:rPr lang="es-CO" sz="1600" b="0" dirty="0">
                          <a:solidFill>
                            <a:schemeClr val="tx1"/>
                          </a:solidFill>
                          <a:latin typeface="+mn-lt"/>
                          <a:cs typeface="Consolas" panose="020B0609020204030204" pitchFamily="49" charset="0"/>
                        </a:rPr>
                        <a:t>10</a:t>
                      </a:r>
                    </a:p>
                  </a:txBody>
                  <a:tcPr/>
                </a:tc>
                <a:extLst>
                  <a:ext uri="{0D108BD9-81ED-4DB2-BD59-A6C34878D82A}">
                    <a16:rowId xmlns:a16="http://schemas.microsoft.com/office/drawing/2014/main" val="10001"/>
                  </a:ext>
                </a:extLst>
              </a:tr>
            </a:tbl>
          </a:graphicData>
        </a:graphic>
      </p:graphicFrame>
      <p:graphicFrame>
        <p:nvGraphicFramePr>
          <p:cNvPr id="13" name="8 Tabla">
            <a:extLst>
              <a:ext uri="{FF2B5EF4-FFF2-40B4-BE49-F238E27FC236}">
                <a16:creationId xmlns:a16="http://schemas.microsoft.com/office/drawing/2014/main" id="{94C0647B-A25E-4F30-A23F-F3A84EE9C83D}"/>
              </a:ext>
            </a:extLst>
          </p:cNvPr>
          <p:cNvGraphicFramePr>
            <a:graphicFrameLocks noGrp="1"/>
          </p:cNvGraphicFramePr>
          <p:nvPr>
            <p:extLst>
              <p:ext uri="{D42A27DB-BD31-4B8C-83A1-F6EECF244321}">
                <p14:modId xmlns:p14="http://schemas.microsoft.com/office/powerpoint/2010/main" val="1313330247"/>
              </p:ext>
            </p:extLst>
          </p:nvPr>
        </p:nvGraphicFramePr>
        <p:xfrm>
          <a:off x="3314783" y="4437112"/>
          <a:ext cx="2570981" cy="1889760"/>
        </p:xfrm>
        <a:graphic>
          <a:graphicData uri="http://schemas.openxmlformats.org/drawingml/2006/table">
            <a:tbl>
              <a:tblPr firstRow="1" bandRow="1">
                <a:tableStyleId>{5940675A-B579-460E-94D1-54222C63F5DA}</a:tableStyleId>
              </a:tblPr>
              <a:tblGrid>
                <a:gridCol w="626173">
                  <a:extLst>
                    <a:ext uri="{9D8B030D-6E8A-4147-A177-3AD203B41FA5}">
                      <a16:colId xmlns:a16="http://schemas.microsoft.com/office/drawing/2014/main" val="20001"/>
                    </a:ext>
                  </a:extLst>
                </a:gridCol>
                <a:gridCol w="972404">
                  <a:extLst>
                    <a:ext uri="{9D8B030D-6E8A-4147-A177-3AD203B41FA5}">
                      <a16:colId xmlns:a16="http://schemas.microsoft.com/office/drawing/2014/main" val="20003"/>
                    </a:ext>
                  </a:extLst>
                </a:gridCol>
                <a:gridCol w="972404">
                  <a:extLst>
                    <a:ext uri="{9D8B030D-6E8A-4147-A177-3AD203B41FA5}">
                      <a16:colId xmlns:a16="http://schemas.microsoft.com/office/drawing/2014/main" val="3040689768"/>
                    </a:ext>
                  </a:extLst>
                </a:gridCol>
              </a:tblGrid>
              <a:tr h="293088">
                <a:tc>
                  <a:txBody>
                    <a:bodyPr/>
                    <a:lstStyle/>
                    <a:p>
                      <a:pPr algn="ctr"/>
                      <a:r>
                        <a:rPr lang="es-CO" sz="1600" b="1" dirty="0">
                          <a:latin typeface="Consolas" panose="020B0609020204030204" pitchFamily="49" charset="0"/>
                          <a:cs typeface="Consolas" panose="020B0609020204030204" pitchFamily="49" charset="0"/>
                        </a:rPr>
                        <a:t>N</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600" b="1" dirty="0">
                          <a:latin typeface="Consolas" panose="020B0609020204030204" pitchFamily="49" charset="0"/>
                          <a:cs typeface="Consolas" panose="020B0609020204030204" pitchFamily="49" charset="0"/>
                        </a:rPr>
                        <a:t>num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600" b="1" dirty="0">
                          <a:latin typeface="Consolas" panose="020B0609020204030204" pitchFamily="49" charset="0"/>
                          <a:cs typeface="Consolas" panose="020B0609020204030204" pitchFamily="49" charset="0"/>
                        </a:rPr>
                        <a:t>suma</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48039">
                <a:tc>
                  <a:txBody>
                    <a:bodyPr/>
                    <a:lstStyle/>
                    <a:p>
                      <a:pPr algn="ctr"/>
                      <a:r>
                        <a:rPr lang="es-MX" sz="1600" strike="sngStrike" dirty="0">
                          <a:solidFill>
                            <a:srgbClr val="FF0000"/>
                          </a:solidFill>
                          <a:latin typeface="Consolas" panose="020B0609020204030204" pitchFamily="49" charset="0"/>
                        </a:rPr>
                        <a:t>?</a:t>
                      </a:r>
                    </a:p>
                    <a:p>
                      <a:pPr algn="ctr"/>
                      <a:r>
                        <a:rPr lang="es-MX" sz="1600" dirty="0">
                          <a:highlight>
                            <a:srgbClr val="FFFF00"/>
                          </a:highlight>
                          <a:latin typeface="Consolas" panose="020B0609020204030204" pitchFamily="49" charset="0"/>
                        </a:rPr>
                        <a:t>4</a:t>
                      </a:r>
                      <a:endParaRPr lang="es-CO" sz="1600" b="0"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s-MX" sz="1600" strike="sngStrike" dirty="0">
                          <a:solidFill>
                            <a:srgbClr val="FF0000"/>
                          </a:solidFill>
                          <a:latin typeface="Consolas" panose="020B0609020204030204" pitchFamily="49" charset="0"/>
                        </a:rPr>
                        <a:t>?</a:t>
                      </a:r>
                    </a:p>
                    <a:p>
                      <a:pPr algn="ctr"/>
                      <a:r>
                        <a:rPr lang="es-MX" sz="1600" strike="sngStrike" dirty="0">
                          <a:solidFill>
                            <a:srgbClr val="FF0000"/>
                          </a:solidFill>
                          <a:latin typeface="Consolas" panose="020B0609020204030204" pitchFamily="49" charset="0"/>
                        </a:rPr>
                        <a:t>1</a:t>
                      </a:r>
                    </a:p>
                    <a:p>
                      <a:pPr algn="ctr"/>
                      <a:r>
                        <a:rPr lang="es-MX" sz="1600" strike="sngStrike" dirty="0">
                          <a:solidFill>
                            <a:srgbClr val="FF0000"/>
                          </a:solidFill>
                          <a:latin typeface="Consolas" panose="020B0609020204030204" pitchFamily="49" charset="0"/>
                        </a:rPr>
                        <a:t>2</a:t>
                      </a:r>
                    </a:p>
                    <a:p>
                      <a:pPr algn="ctr"/>
                      <a:r>
                        <a:rPr lang="es-MX" sz="1600" strike="sngStrike" dirty="0">
                          <a:solidFill>
                            <a:srgbClr val="FF0000"/>
                          </a:solidFill>
                          <a:latin typeface="Consolas" panose="020B0609020204030204" pitchFamily="49" charset="0"/>
                        </a:rPr>
                        <a:t>3</a:t>
                      </a:r>
                    </a:p>
                    <a:p>
                      <a:pPr algn="ctr"/>
                      <a:r>
                        <a:rPr lang="es-MX" sz="1600" dirty="0">
                          <a:highlight>
                            <a:srgbClr val="FFFF00"/>
                          </a:highlight>
                          <a:latin typeface="Consolas" panose="020B0609020204030204" pitchFamily="49" charset="0"/>
                        </a:rPr>
                        <a:t>4</a:t>
                      </a:r>
                      <a:endParaRPr lang="es-CO" sz="1600"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s-MX" sz="1600" strike="sngStrike" dirty="0">
                          <a:solidFill>
                            <a:srgbClr val="FF0000"/>
                          </a:solidFill>
                          <a:latin typeface="Consolas" panose="020B0609020204030204" pitchFamily="49" charset="0"/>
                        </a:rPr>
                        <a:t>?</a:t>
                      </a:r>
                    </a:p>
                    <a:p>
                      <a:pPr algn="ctr"/>
                      <a:r>
                        <a:rPr lang="es-MX" sz="1600" strike="sngStrike" dirty="0">
                          <a:solidFill>
                            <a:srgbClr val="FF0000"/>
                          </a:solidFill>
                          <a:latin typeface="Consolas" panose="020B0609020204030204" pitchFamily="49" charset="0"/>
                        </a:rPr>
                        <a:t>0</a:t>
                      </a:r>
                    </a:p>
                    <a:p>
                      <a:pPr algn="ctr"/>
                      <a:r>
                        <a:rPr lang="es-MX" sz="1600" strike="sngStrike" dirty="0">
                          <a:solidFill>
                            <a:srgbClr val="FF0000"/>
                          </a:solidFill>
                          <a:latin typeface="Consolas" panose="020B0609020204030204" pitchFamily="49" charset="0"/>
                        </a:rPr>
                        <a:t>1</a:t>
                      </a:r>
                    </a:p>
                    <a:p>
                      <a:pPr algn="ctr"/>
                      <a:r>
                        <a:rPr lang="es-MX" sz="1600" strike="sngStrike" dirty="0">
                          <a:solidFill>
                            <a:srgbClr val="FF0000"/>
                          </a:solidFill>
                          <a:latin typeface="Consolas" panose="020B0609020204030204" pitchFamily="49" charset="0"/>
                        </a:rPr>
                        <a:t>3</a:t>
                      </a:r>
                    </a:p>
                    <a:p>
                      <a:pPr algn="ctr"/>
                      <a:r>
                        <a:rPr lang="es-MX" sz="1600" strike="sngStrike" dirty="0">
                          <a:solidFill>
                            <a:srgbClr val="FF0000"/>
                          </a:solidFill>
                          <a:latin typeface="Consolas" panose="020B0609020204030204" pitchFamily="49" charset="0"/>
                        </a:rPr>
                        <a:t>6</a:t>
                      </a:r>
                    </a:p>
                    <a:p>
                      <a:pPr algn="ctr"/>
                      <a:r>
                        <a:rPr lang="es-MX" sz="1600" dirty="0">
                          <a:highlight>
                            <a:srgbClr val="FFFF00"/>
                          </a:highlight>
                          <a:latin typeface="Consolas" panose="020B0609020204030204" pitchFamily="49" charset="0"/>
                        </a:rPr>
                        <a:t>10</a:t>
                      </a:r>
                      <a:endParaRPr lang="es-CO" sz="1600" dirty="0">
                        <a:highlight>
                          <a:srgbClr val="FFFF00"/>
                        </a:highlight>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cxnSp>
        <p:nvCxnSpPr>
          <p:cNvPr id="9" name="Conector recto de flecha 8">
            <a:extLst>
              <a:ext uri="{FF2B5EF4-FFF2-40B4-BE49-F238E27FC236}">
                <a16:creationId xmlns:a16="http://schemas.microsoft.com/office/drawing/2014/main" id="{2DA8ECEE-6E05-4652-9D7F-84B8B8A9161D}"/>
              </a:ext>
            </a:extLst>
          </p:cNvPr>
          <p:cNvCxnSpPr>
            <a:cxnSpLocks/>
          </p:cNvCxnSpPr>
          <p:nvPr/>
        </p:nvCxnSpPr>
        <p:spPr>
          <a:xfrm flipH="1">
            <a:off x="3683232" y="5072112"/>
            <a:ext cx="166711" cy="137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5F2148A5-F76C-47E0-A68B-05461CDC435B}"/>
              </a:ext>
            </a:extLst>
          </p:cNvPr>
          <p:cNvCxnSpPr>
            <a:cxnSpLocks/>
          </p:cNvCxnSpPr>
          <p:nvPr/>
        </p:nvCxnSpPr>
        <p:spPr>
          <a:xfrm flipV="1">
            <a:off x="5526343" y="6040315"/>
            <a:ext cx="172639" cy="12399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4" name="Imagen 13">
            <a:extLst>
              <a:ext uri="{FF2B5EF4-FFF2-40B4-BE49-F238E27FC236}">
                <a16:creationId xmlns:a16="http://schemas.microsoft.com/office/drawing/2014/main" id="{1FEF512E-1FFF-4728-BE48-BEE1214BE6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8184" y="1709124"/>
            <a:ext cx="2066925" cy="4972050"/>
          </a:xfrm>
          <a:prstGeom prst="rect">
            <a:avLst/>
          </a:prstGeom>
        </p:spPr>
      </p:pic>
      <p:sp>
        <p:nvSpPr>
          <p:cNvPr id="15" name="CuadroTexto 14">
            <a:extLst>
              <a:ext uri="{FF2B5EF4-FFF2-40B4-BE49-F238E27FC236}">
                <a16:creationId xmlns:a16="http://schemas.microsoft.com/office/drawing/2014/main" id="{C3CE6CDB-CE77-4EC4-964F-FED7381E74E2}"/>
              </a:ext>
            </a:extLst>
          </p:cNvPr>
          <p:cNvSpPr txBox="1"/>
          <p:nvPr/>
        </p:nvSpPr>
        <p:spPr>
          <a:xfrm>
            <a:off x="292664" y="3993040"/>
            <a:ext cx="3928683" cy="400110"/>
          </a:xfrm>
          <a:prstGeom prst="rect">
            <a:avLst/>
          </a:prstGeom>
          <a:noFill/>
        </p:spPr>
        <p:txBody>
          <a:bodyPr wrap="square" rtlCol="0">
            <a:spAutoFit/>
          </a:bodyPr>
          <a:lstStyle/>
          <a:p>
            <a:r>
              <a:rPr lang="es-CO" sz="2000" b="1" dirty="0"/>
              <a:t>Prueba de escritorio (solución)</a:t>
            </a:r>
          </a:p>
        </p:txBody>
      </p:sp>
      <p:sp>
        <p:nvSpPr>
          <p:cNvPr id="16" name="CuadroTexto 15">
            <a:extLst>
              <a:ext uri="{FF2B5EF4-FFF2-40B4-BE49-F238E27FC236}">
                <a16:creationId xmlns:a16="http://schemas.microsoft.com/office/drawing/2014/main" id="{126311B1-A265-40E4-B4FF-92F36897F894}"/>
              </a:ext>
            </a:extLst>
          </p:cNvPr>
          <p:cNvSpPr txBox="1"/>
          <p:nvPr/>
        </p:nvSpPr>
        <p:spPr>
          <a:xfrm>
            <a:off x="419087" y="2011063"/>
            <a:ext cx="5121063" cy="1569660"/>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Inicio</a:t>
            </a:r>
          </a:p>
          <a:p>
            <a:r>
              <a:rPr lang="es-MX" sz="1200" dirty="0">
                <a:latin typeface="Consolas" panose="020B0609020204030204" pitchFamily="49" charset="0"/>
              </a:rPr>
              <a:t>  suma = 0</a:t>
            </a:r>
          </a:p>
          <a:p>
            <a:r>
              <a:rPr lang="es-MX" sz="1200" dirty="0">
                <a:latin typeface="Consolas" panose="020B0609020204030204" pitchFamily="49" charset="0"/>
              </a:rPr>
              <a:t>  Leer(N)</a:t>
            </a:r>
          </a:p>
          <a:p>
            <a:r>
              <a:rPr lang="es-MX" sz="1200" dirty="0">
                <a:solidFill>
                  <a:srgbClr val="C00000"/>
                </a:solidFill>
                <a:latin typeface="Consolas" panose="020B0609020204030204" pitchFamily="49" charset="0"/>
              </a:rPr>
              <a:t>  Para (</a:t>
            </a:r>
            <a:r>
              <a:rPr lang="es-MX" sz="1200" dirty="0" err="1">
                <a:solidFill>
                  <a:srgbClr val="C00000"/>
                </a:solidFill>
                <a:latin typeface="Consolas" panose="020B0609020204030204" pitchFamily="49" charset="0"/>
              </a:rPr>
              <a:t>num</a:t>
            </a:r>
            <a:r>
              <a:rPr lang="es-MX" sz="1200" dirty="0">
                <a:solidFill>
                  <a:srgbClr val="C00000"/>
                </a:solidFill>
                <a:latin typeface="Consolas" panose="020B0609020204030204" pitchFamily="49" charset="0"/>
              </a:rPr>
              <a:t> = 1,N,1) Haga    </a:t>
            </a:r>
          </a:p>
          <a:p>
            <a:r>
              <a:rPr lang="es-MX" sz="1200" dirty="0">
                <a:solidFill>
                  <a:srgbClr val="C00000"/>
                </a:solidFill>
                <a:latin typeface="Consolas" panose="020B0609020204030204" pitchFamily="49" charset="0"/>
              </a:rPr>
              <a:t>     </a:t>
            </a:r>
            <a:r>
              <a:rPr lang="es-MX" sz="1200" dirty="0">
                <a:solidFill>
                  <a:srgbClr val="00B050"/>
                </a:solidFill>
                <a:latin typeface="Consolas" panose="020B0609020204030204" pitchFamily="49" charset="0"/>
              </a:rPr>
              <a:t>suma = suma + num </a:t>
            </a:r>
          </a:p>
          <a:p>
            <a:r>
              <a:rPr lang="es-MX" sz="1200" dirty="0">
                <a:solidFill>
                  <a:srgbClr val="C00000"/>
                </a:solidFill>
                <a:latin typeface="Consolas" panose="020B0609020204030204" pitchFamily="49" charset="0"/>
              </a:rPr>
              <a:t>  </a:t>
            </a:r>
            <a:r>
              <a:rPr lang="es-MX" sz="1200" dirty="0" err="1">
                <a:solidFill>
                  <a:srgbClr val="C00000"/>
                </a:solidFill>
                <a:latin typeface="Consolas" panose="020B0609020204030204" pitchFamily="49" charset="0"/>
              </a:rPr>
              <a:t>Fin_Para</a:t>
            </a:r>
            <a:endParaRPr lang="es-MX" sz="1200" dirty="0">
              <a:solidFill>
                <a:srgbClr val="C00000"/>
              </a:solidFill>
              <a:latin typeface="Consolas" panose="020B0609020204030204" pitchFamily="49" charset="0"/>
            </a:endParaRPr>
          </a:p>
          <a:p>
            <a:r>
              <a:rPr lang="es-MX" sz="1200" dirty="0">
                <a:latin typeface="Consolas" panose="020B0609020204030204" pitchFamily="49" charset="0"/>
              </a:rPr>
              <a:t>  Escribir(suma)</a:t>
            </a:r>
          </a:p>
          <a:p>
            <a:r>
              <a:rPr lang="es-MX" sz="1200" dirty="0">
                <a:latin typeface="Consolas" panose="020B0609020204030204" pitchFamily="49" charset="0"/>
              </a:rPr>
              <a:t>Fin</a:t>
            </a:r>
            <a:endParaRPr lang="es-CO" sz="1200" dirty="0">
              <a:latin typeface="Consolas" panose="020B0609020204030204" pitchFamily="49" charset="0"/>
            </a:endParaRPr>
          </a:p>
        </p:txBody>
      </p:sp>
    </p:spTree>
    <p:extLst>
      <p:ext uri="{BB962C8B-B14F-4D97-AF65-F5344CB8AC3E}">
        <p14:creationId xmlns:p14="http://schemas.microsoft.com/office/powerpoint/2010/main" val="39096095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4958298" cy="710952"/>
          </a:xfrm>
        </p:spPr>
        <p:txBody>
          <a:bodyPr>
            <a:normAutofit/>
          </a:bodyPr>
          <a:lstStyle/>
          <a:p>
            <a:r>
              <a:rPr lang="es-CO" dirty="0"/>
              <a:t>Ciclos - Ejemplo 3</a:t>
            </a:r>
          </a:p>
        </p:txBody>
      </p:sp>
      <p:sp>
        <p:nvSpPr>
          <p:cNvPr id="4" name="CuadroTexto 3">
            <a:extLst>
              <a:ext uri="{FF2B5EF4-FFF2-40B4-BE49-F238E27FC236}">
                <a16:creationId xmlns:a16="http://schemas.microsoft.com/office/drawing/2014/main" id="{EF9CFB5C-90AB-42D9-8FA8-119D57F1451D}"/>
              </a:ext>
            </a:extLst>
          </p:cNvPr>
          <p:cNvSpPr txBox="1"/>
          <p:nvPr/>
        </p:nvSpPr>
        <p:spPr>
          <a:xfrm>
            <a:off x="267960" y="2986648"/>
            <a:ext cx="3354440" cy="400110"/>
          </a:xfrm>
          <a:prstGeom prst="rect">
            <a:avLst/>
          </a:prstGeom>
          <a:noFill/>
        </p:spPr>
        <p:txBody>
          <a:bodyPr wrap="square" rtlCol="0">
            <a:spAutoFit/>
          </a:bodyPr>
          <a:lstStyle/>
          <a:p>
            <a:r>
              <a:rPr lang="es-CO" sz="2000" b="1" dirty="0"/>
              <a:t>Pseudocódigo</a:t>
            </a:r>
          </a:p>
        </p:txBody>
      </p:sp>
      <p:sp>
        <p:nvSpPr>
          <p:cNvPr id="6" name="CuadroTexto 5">
            <a:extLst>
              <a:ext uri="{FF2B5EF4-FFF2-40B4-BE49-F238E27FC236}">
                <a16:creationId xmlns:a16="http://schemas.microsoft.com/office/drawing/2014/main" id="{56FD5B96-FA1D-4552-B31E-C99EE7AE8CE7}"/>
              </a:ext>
            </a:extLst>
          </p:cNvPr>
          <p:cNvSpPr txBox="1"/>
          <p:nvPr/>
        </p:nvSpPr>
        <p:spPr>
          <a:xfrm>
            <a:off x="343514" y="3382301"/>
            <a:ext cx="5121063" cy="1569660"/>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Inicio</a:t>
            </a:r>
          </a:p>
          <a:p>
            <a:r>
              <a:rPr lang="es-MX" sz="1200" dirty="0">
                <a:latin typeface="Consolas" panose="020B0609020204030204" pitchFamily="49" charset="0"/>
              </a:rPr>
              <a:t>  </a:t>
            </a:r>
            <a:r>
              <a:rPr lang="es-MX" sz="1200" dirty="0" err="1">
                <a:latin typeface="Consolas" panose="020B0609020204030204" pitchFamily="49" charset="0"/>
              </a:rPr>
              <a:t>fact</a:t>
            </a:r>
            <a:r>
              <a:rPr lang="es-MX" sz="1200" dirty="0">
                <a:latin typeface="Consolas" panose="020B0609020204030204" pitchFamily="49" charset="0"/>
              </a:rPr>
              <a:t> = 1</a:t>
            </a:r>
          </a:p>
          <a:p>
            <a:r>
              <a:rPr lang="es-MX" sz="1200" dirty="0">
                <a:latin typeface="Consolas" panose="020B0609020204030204" pitchFamily="49" charset="0"/>
              </a:rPr>
              <a:t>  Leer(n)</a:t>
            </a:r>
          </a:p>
          <a:p>
            <a:r>
              <a:rPr lang="es-MX" sz="1200" dirty="0">
                <a:solidFill>
                  <a:srgbClr val="C00000"/>
                </a:solidFill>
                <a:latin typeface="Consolas" panose="020B0609020204030204" pitchFamily="49" charset="0"/>
              </a:rPr>
              <a:t>  Para (i = 1,n,1) Haga    </a:t>
            </a:r>
          </a:p>
          <a:p>
            <a:r>
              <a:rPr lang="es-MX" sz="1200" dirty="0">
                <a:solidFill>
                  <a:srgbClr val="C00000"/>
                </a:solidFill>
                <a:latin typeface="Consolas" panose="020B0609020204030204" pitchFamily="49" charset="0"/>
              </a:rPr>
              <a:t>     </a:t>
            </a:r>
            <a:r>
              <a:rPr lang="es-MX" sz="1200" dirty="0">
                <a:solidFill>
                  <a:srgbClr val="00B050"/>
                </a:solidFill>
                <a:latin typeface="Consolas" panose="020B0609020204030204" pitchFamily="49" charset="0"/>
              </a:rPr>
              <a:t>fact = fact * i  </a:t>
            </a:r>
          </a:p>
          <a:p>
            <a:r>
              <a:rPr lang="es-MX" sz="1200" dirty="0">
                <a:solidFill>
                  <a:srgbClr val="C00000"/>
                </a:solidFill>
                <a:latin typeface="Consolas" panose="020B0609020204030204" pitchFamily="49" charset="0"/>
              </a:rPr>
              <a:t>  </a:t>
            </a:r>
            <a:r>
              <a:rPr lang="es-MX" sz="1200" dirty="0" err="1">
                <a:solidFill>
                  <a:srgbClr val="C00000"/>
                </a:solidFill>
                <a:latin typeface="Consolas" panose="020B0609020204030204" pitchFamily="49" charset="0"/>
              </a:rPr>
              <a:t>Fin_Para</a:t>
            </a:r>
            <a:endParaRPr lang="es-MX" sz="1200" dirty="0">
              <a:solidFill>
                <a:srgbClr val="C00000"/>
              </a:solidFill>
              <a:latin typeface="Consolas" panose="020B0609020204030204" pitchFamily="49" charset="0"/>
            </a:endParaRPr>
          </a:p>
          <a:p>
            <a:r>
              <a:rPr lang="es-MX" sz="1200" dirty="0">
                <a:latin typeface="Consolas" panose="020B0609020204030204" pitchFamily="49" charset="0"/>
              </a:rPr>
              <a:t>  Escribir(n, '! = ',fact)</a:t>
            </a:r>
          </a:p>
          <a:p>
            <a:r>
              <a:rPr lang="es-MX" sz="1200" dirty="0">
                <a:latin typeface="Consolas" panose="020B0609020204030204" pitchFamily="49" charset="0"/>
              </a:rPr>
              <a:t>Fin</a:t>
            </a:r>
            <a:endParaRPr lang="es-CO" sz="1200" dirty="0">
              <a:latin typeface="Consolas" panose="020B0609020204030204" pitchFamily="49" charset="0"/>
            </a:endParaRPr>
          </a:p>
        </p:txBody>
      </p:sp>
      <p:sp>
        <p:nvSpPr>
          <p:cNvPr id="8" name="CuadroTexto 7">
            <a:extLst>
              <a:ext uri="{FF2B5EF4-FFF2-40B4-BE49-F238E27FC236}">
                <a16:creationId xmlns:a16="http://schemas.microsoft.com/office/drawing/2014/main" id="{6CFF4D69-5CDF-462F-A60C-B030D6CF63EC}"/>
              </a:ext>
            </a:extLst>
          </p:cNvPr>
          <p:cNvSpPr txBox="1"/>
          <p:nvPr/>
        </p:nvSpPr>
        <p:spPr>
          <a:xfrm>
            <a:off x="275631" y="5117122"/>
            <a:ext cx="2424161" cy="400110"/>
          </a:xfrm>
          <a:prstGeom prst="rect">
            <a:avLst/>
          </a:prstGeom>
          <a:noFill/>
        </p:spPr>
        <p:txBody>
          <a:bodyPr wrap="square" rtlCol="0">
            <a:spAutoFit/>
          </a:bodyPr>
          <a:lstStyle/>
          <a:p>
            <a:r>
              <a:rPr lang="es-CO" sz="2000" b="1" dirty="0"/>
              <a:t>Python</a:t>
            </a:r>
          </a:p>
        </p:txBody>
      </p:sp>
      <p:sp>
        <p:nvSpPr>
          <p:cNvPr id="9" name="CuadroTexto 8">
            <a:extLst>
              <a:ext uri="{FF2B5EF4-FFF2-40B4-BE49-F238E27FC236}">
                <a16:creationId xmlns:a16="http://schemas.microsoft.com/office/drawing/2014/main" id="{E8DF6B4A-338F-4A50-84DB-71BC532029A9}"/>
              </a:ext>
            </a:extLst>
          </p:cNvPr>
          <p:cNvSpPr txBox="1"/>
          <p:nvPr/>
        </p:nvSpPr>
        <p:spPr>
          <a:xfrm>
            <a:off x="343514" y="5485986"/>
            <a:ext cx="5141049" cy="1015663"/>
          </a:xfrm>
          <a:prstGeom prst="rect">
            <a:avLst/>
          </a:prstGeom>
          <a:noFill/>
          <a:ln>
            <a:solidFill>
              <a:schemeClr val="tx1"/>
            </a:solidFill>
          </a:ln>
        </p:spPr>
        <p:txBody>
          <a:bodyPr wrap="square" rtlCol="0">
            <a:spAutoFit/>
          </a:bodyPr>
          <a:lstStyle/>
          <a:p>
            <a:r>
              <a:rPr lang="es-MX" sz="1200" dirty="0" err="1">
                <a:latin typeface="Consolas" panose="020B0609020204030204" pitchFamily="49" charset="0"/>
              </a:rPr>
              <a:t>fact</a:t>
            </a:r>
            <a:r>
              <a:rPr lang="es-MX" sz="1200" dirty="0">
                <a:latin typeface="Consolas" panose="020B0609020204030204" pitchFamily="49" charset="0"/>
              </a:rPr>
              <a:t> = 1</a:t>
            </a:r>
          </a:p>
          <a:p>
            <a:r>
              <a:rPr lang="es-MX" sz="1200" dirty="0">
                <a:latin typeface="Consolas" panose="020B0609020204030204" pitchFamily="49" charset="0"/>
              </a:rPr>
              <a:t>n = </a:t>
            </a:r>
            <a:r>
              <a:rPr lang="es-MX" sz="1200" dirty="0" err="1">
                <a:latin typeface="Consolas" panose="020B0609020204030204" pitchFamily="49" charset="0"/>
              </a:rPr>
              <a:t>int</a:t>
            </a:r>
            <a:r>
              <a:rPr lang="es-MX" sz="1200" dirty="0">
                <a:latin typeface="Consolas" panose="020B0609020204030204" pitchFamily="49" charset="0"/>
              </a:rPr>
              <a:t>(input('Digite el numero (&gt;= 0): '))</a:t>
            </a:r>
          </a:p>
          <a:p>
            <a:r>
              <a:rPr lang="es-MX" sz="1200" dirty="0">
                <a:solidFill>
                  <a:schemeClr val="accent5"/>
                </a:solidFill>
                <a:latin typeface="Consolas" panose="020B0609020204030204" pitchFamily="49" charset="0"/>
              </a:rPr>
              <a:t>for</a:t>
            </a:r>
            <a:r>
              <a:rPr lang="es-MX" sz="1200" dirty="0">
                <a:latin typeface="Consolas" panose="020B0609020204030204" pitchFamily="49" charset="0"/>
              </a:rPr>
              <a:t> i in range(1,n + 1):</a:t>
            </a:r>
          </a:p>
          <a:p>
            <a:r>
              <a:rPr lang="es-MX" sz="1200" dirty="0">
                <a:solidFill>
                  <a:srgbClr val="00B050"/>
                </a:solidFill>
                <a:latin typeface="Consolas" panose="020B0609020204030204" pitchFamily="49" charset="0"/>
              </a:rPr>
              <a:t>  fact = fact * i</a:t>
            </a:r>
          </a:p>
          <a:p>
            <a:r>
              <a:rPr lang="es-MX" sz="1200" dirty="0" err="1">
                <a:latin typeface="Consolas" panose="020B0609020204030204" pitchFamily="49" charset="0"/>
              </a:rPr>
              <a:t>print</a:t>
            </a:r>
            <a:r>
              <a:rPr lang="es-MX" sz="1200" dirty="0">
                <a:latin typeface="Consolas" panose="020B0609020204030204" pitchFamily="49" charset="0"/>
              </a:rPr>
              <a:t>(f"{n}! = {fact}")</a:t>
            </a:r>
          </a:p>
        </p:txBody>
      </p:sp>
      <p:sp>
        <p:nvSpPr>
          <p:cNvPr id="10" name="CuadroTexto 9">
            <a:extLst>
              <a:ext uri="{FF2B5EF4-FFF2-40B4-BE49-F238E27FC236}">
                <a16:creationId xmlns:a16="http://schemas.microsoft.com/office/drawing/2014/main" id="{976C317C-44D1-45F9-944D-2E183CA97F18}"/>
              </a:ext>
            </a:extLst>
          </p:cNvPr>
          <p:cNvSpPr txBox="1"/>
          <p:nvPr/>
        </p:nvSpPr>
        <p:spPr>
          <a:xfrm>
            <a:off x="2076615" y="6492220"/>
            <a:ext cx="1545785" cy="276999"/>
          </a:xfrm>
          <a:prstGeom prst="rect">
            <a:avLst/>
          </a:prstGeom>
          <a:noFill/>
        </p:spPr>
        <p:txBody>
          <a:bodyPr wrap="square" rtlCol="0">
            <a:spAutoFit/>
          </a:bodyPr>
          <a:lstStyle/>
          <a:p>
            <a:pPr algn="ctr"/>
            <a:r>
              <a:rPr lang="es-MX" sz="1200" dirty="0">
                <a:hlinkClick r:id="rId2"/>
              </a:rPr>
              <a:t>Link de ejecución</a:t>
            </a:r>
            <a:endParaRPr lang="es-CO" sz="1200" dirty="0"/>
          </a:p>
        </p:txBody>
      </p:sp>
      <p:pic>
        <p:nvPicPr>
          <p:cNvPr id="13" name="Imagen 12">
            <a:extLst>
              <a:ext uri="{FF2B5EF4-FFF2-40B4-BE49-F238E27FC236}">
                <a16:creationId xmlns:a16="http://schemas.microsoft.com/office/drawing/2014/main" id="{D9110865-A5E1-4D2E-8EEA-63DFA9AF0B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5087" y="2253767"/>
            <a:ext cx="2057400" cy="4391025"/>
          </a:xfrm>
          <a:prstGeom prst="rect">
            <a:avLst/>
          </a:prstGeom>
        </p:spPr>
      </p:pic>
      <mc:AlternateContent xmlns:mc="http://schemas.openxmlformats.org/markup-compatibility/2006" xmlns:a14="http://schemas.microsoft.com/office/drawing/2010/main">
        <mc:Choice Requires="a14">
          <p:sp>
            <p:nvSpPr>
              <p:cNvPr id="14" name="12 Rectángulo">
                <a:extLst>
                  <a:ext uri="{FF2B5EF4-FFF2-40B4-BE49-F238E27FC236}">
                    <a16:creationId xmlns:a16="http://schemas.microsoft.com/office/drawing/2014/main" id="{7C12BF9A-4448-4F60-8B4B-4C742FC66D71}"/>
                  </a:ext>
                </a:extLst>
              </p:cNvPr>
              <p:cNvSpPr/>
              <p:nvPr/>
            </p:nvSpPr>
            <p:spPr>
              <a:xfrm>
                <a:off x="233375" y="991847"/>
                <a:ext cx="8659105" cy="1938992"/>
              </a:xfrm>
              <a:prstGeom prst="rect">
                <a:avLst/>
              </a:prstGeom>
            </p:spPr>
            <p:txBody>
              <a:bodyPr wrap="square">
                <a:spAutoFit/>
              </a:bodyPr>
              <a:lstStyle/>
              <a:p>
                <a:r>
                  <a:rPr lang="es-MX" sz="2000" dirty="0"/>
                  <a:t>Haga un programa que calcule el factorial de un número entero no negativo </a:t>
                </a:r>
                <a14:m>
                  <m:oMath xmlns:m="http://schemas.openxmlformats.org/officeDocument/2006/math">
                    <m:r>
                      <a:rPr lang="es-MX" sz="2000" b="0" i="1" smtClean="0">
                        <a:latin typeface="Cambria Math" panose="02040503050406030204" pitchFamily="18" charset="0"/>
                      </a:rPr>
                      <m:t>𝑛</m:t>
                    </m:r>
                  </m:oMath>
                </a14:m>
                <a:r>
                  <a:rPr lang="es-MX" sz="2000" dirty="0"/>
                  <a:t>. </a:t>
                </a:r>
              </a:p>
              <a:p>
                <a:endParaRPr lang="es-MX" sz="2000" dirty="0"/>
              </a:p>
              <a:p>
                <a:r>
                  <a:rPr lang="es-MX" sz="2000" dirty="0"/>
                  <a:t>Recuerde cuando </a:t>
                </a:r>
                <a14:m>
                  <m:oMath xmlns:m="http://schemas.openxmlformats.org/officeDocument/2006/math">
                    <m:r>
                      <a:rPr lang="es-MX" sz="2000" i="1">
                        <a:latin typeface="Cambria Math" panose="02040503050406030204" pitchFamily="18" charset="0"/>
                      </a:rPr>
                      <m:t>𝑛</m:t>
                    </m:r>
                    <m:r>
                      <a:rPr lang="es-MX" sz="2000" b="0" i="1" smtClean="0">
                        <a:latin typeface="Cambria Math" panose="02040503050406030204" pitchFamily="18" charset="0"/>
                      </a:rPr>
                      <m:t>=0</m:t>
                    </m:r>
                  </m:oMath>
                </a14:m>
                <a:r>
                  <a:rPr lang="es-MX" sz="2000" dirty="0"/>
                  <a:t>, </a:t>
                </a:r>
                <a14:m>
                  <m:oMath xmlns:m="http://schemas.openxmlformats.org/officeDocument/2006/math">
                    <m:r>
                      <a:rPr lang="es-MX" sz="2000" b="0" i="1" smtClean="0">
                        <a:latin typeface="Cambria Math" panose="02040503050406030204" pitchFamily="18" charset="0"/>
                      </a:rPr>
                      <m:t>0!=1</m:t>
                    </m:r>
                  </m:oMath>
                </a14:m>
                <a:r>
                  <a:rPr lang="es-MX" sz="2000" dirty="0"/>
                  <a:t>, y para cualquier otro valor el factorial esta dado por: </a:t>
                </a:r>
              </a:p>
              <a:p>
                <a:endParaRPr lang="es-MX" sz="2000" dirty="0"/>
              </a:p>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rPr>
                        <m:t>𝑛</m:t>
                      </m:r>
                      <m:r>
                        <a:rPr lang="es-MX" sz="2000" b="0" i="1" smtClean="0">
                          <a:latin typeface="Cambria Math" panose="02040503050406030204" pitchFamily="18" charset="0"/>
                        </a:rPr>
                        <m:t>!=1×2×3×…×(</m:t>
                      </m:r>
                      <m:r>
                        <a:rPr lang="es-MX" sz="2000" b="0" i="1" smtClean="0">
                          <a:latin typeface="Cambria Math" panose="02040503050406030204" pitchFamily="18" charset="0"/>
                        </a:rPr>
                        <m:t>𝑛</m:t>
                      </m:r>
                      <m:r>
                        <a:rPr lang="es-MX" sz="2000" b="0" i="1" smtClean="0">
                          <a:latin typeface="Cambria Math" panose="02040503050406030204" pitchFamily="18" charset="0"/>
                        </a:rPr>
                        <m:t>−2)×(</m:t>
                      </m:r>
                      <m:r>
                        <a:rPr lang="es-MX" sz="2000" b="0" i="1" smtClean="0">
                          <a:latin typeface="Cambria Math" panose="02040503050406030204" pitchFamily="18" charset="0"/>
                        </a:rPr>
                        <m:t>𝑛</m:t>
                      </m:r>
                      <m:r>
                        <a:rPr lang="es-MX" sz="2000" b="0" i="1" smtClean="0">
                          <a:latin typeface="Cambria Math" panose="02040503050406030204" pitchFamily="18" charset="0"/>
                        </a:rPr>
                        <m:t>−1)×</m:t>
                      </m:r>
                      <m:r>
                        <a:rPr lang="es-MX" sz="2000" b="0" i="1" smtClean="0">
                          <a:latin typeface="Cambria Math" panose="02040503050406030204" pitchFamily="18" charset="0"/>
                        </a:rPr>
                        <m:t>𝑛</m:t>
                      </m:r>
                    </m:oMath>
                  </m:oMathPara>
                </a14:m>
                <a:endParaRPr lang="es-CO" sz="2000" dirty="0"/>
              </a:p>
            </p:txBody>
          </p:sp>
        </mc:Choice>
        <mc:Fallback xmlns="">
          <p:sp>
            <p:nvSpPr>
              <p:cNvPr id="14" name="12 Rectángulo">
                <a:extLst>
                  <a:ext uri="{FF2B5EF4-FFF2-40B4-BE49-F238E27FC236}">
                    <a16:creationId xmlns:a16="http://schemas.microsoft.com/office/drawing/2014/main" id="{7C12BF9A-4448-4F60-8B4B-4C742FC66D71}"/>
                  </a:ext>
                </a:extLst>
              </p:cNvPr>
              <p:cNvSpPr>
                <a:spLocks noRot="1" noChangeAspect="1" noMove="1" noResize="1" noEditPoints="1" noAdjustHandles="1" noChangeArrowheads="1" noChangeShapeType="1" noTextEdit="1"/>
              </p:cNvSpPr>
              <p:nvPr/>
            </p:nvSpPr>
            <p:spPr>
              <a:xfrm>
                <a:off x="233375" y="991847"/>
                <a:ext cx="8659105" cy="1938992"/>
              </a:xfrm>
              <a:prstGeom prst="rect">
                <a:avLst/>
              </a:prstGeom>
              <a:blipFill>
                <a:blip r:embed="rId4"/>
                <a:stretch>
                  <a:fillRect l="-704" t="-1887" b="-2201"/>
                </a:stretch>
              </a:blipFill>
            </p:spPr>
            <p:txBody>
              <a:bodyPr/>
              <a:lstStyle/>
              <a:p>
                <a:r>
                  <a:rPr lang="es-CO">
                    <a:noFill/>
                  </a:rPr>
                  <a:t> </a:t>
                </a:r>
              </a:p>
            </p:txBody>
          </p:sp>
        </mc:Fallback>
      </mc:AlternateContent>
    </p:spTree>
    <p:extLst>
      <p:ext uri="{BB962C8B-B14F-4D97-AF65-F5344CB8AC3E}">
        <p14:creationId xmlns:p14="http://schemas.microsoft.com/office/powerpoint/2010/main" val="20457149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8627568" cy="710952"/>
          </a:xfrm>
        </p:spPr>
        <p:txBody>
          <a:bodyPr>
            <a:normAutofit/>
          </a:bodyPr>
          <a:lstStyle/>
          <a:p>
            <a:r>
              <a:rPr lang="es-CO" dirty="0"/>
              <a:t>Ciclos – Ejemplo 3</a:t>
            </a:r>
            <a:endParaRPr lang="es-CO" dirty="0">
              <a:highlight>
                <a:srgbClr val="FFFF00"/>
              </a:highlight>
            </a:endParaRPr>
          </a:p>
        </p:txBody>
      </p:sp>
      <p:sp>
        <p:nvSpPr>
          <p:cNvPr id="10" name="CuadroTexto 9">
            <a:extLst>
              <a:ext uri="{FF2B5EF4-FFF2-40B4-BE49-F238E27FC236}">
                <a16:creationId xmlns:a16="http://schemas.microsoft.com/office/drawing/2014/main" id="{44ADE36F-3836-40FC-AAE5-6014F5E19BE2}"/>
              </a:ext>
            </a:extLst>
          </p:cNvPr>
          <p:cNvSpPr txBox="1"/>
          <p:nvPr/>
        </p:nvSpPr>
        <p:spPr>
          <a:xfrm>
            <a:off x="355284" y="3498482"/>
            <a:ext cx="3928683" cy="400110"/>
          </a:xfrm>
          <a:prstGeom prst="rect">
            <a:avLst/>
          </a:prstGeom>
          <a:noFill/>
        </p:spPr>
        <p:txBody>
          <a:bodyPr wrap="square" rtlCol="0">
            <a:spAutoFit/>
          </a:bodyPr>
          <a:lstStyle/>
          <a:p>
            <a:r>
              <a:rPr lang="es-CO" sz="2000" b="1" dirty="0"/>
              <a:t>Prueba de escritorio</a:t>
            </a:r>
          </a:p>
        </p:txBody>
      </p:sp>
      <p:graphicFrame>
        <p:nvGraphicFramePr>
          <p:cNvPr id="12" name="15 Tabla">
            <a:extLst>
              <a:ext uri="{FF2B5EF4-FFF2-40B4-BE49-F238E27FC236}">
                <a16:creationId xmlns:a16="http://schemas.microsoft.com/office/drawing/2014/main" id="{B7D0DC0A-668C-456A-841A-76980638EF0C}"/>
              </a:ext>
            </a:extLst>
          </p:cNvPr>
          <p:cNvGraphicFramePr>
            <a:graphicFrameLocks noGrp="1"/>
          </p:cNvGraphicFramePr>
          <p:nvPr>
            <p:extLst>
              <p:ext uri="{D42A27DB-BD31-4B8C-83A1-F6EECF244321}">
                <p14:modId xmlns:p14="http://schemas.microsoft.com/office/powerpoint/2010/main" val="4057760978"/>
              </p:ext>
            </p:extLst>
          </p:nvPr>
        </p:nvGraphicFramePr>
        <p:xfrm>
          <a:off x="611560" y="4591579"/>
          <a:ext cx="2304256" cy="1158240"/>
        </p:xfrm>
        <a:graphic>
          <a:graphicData uri="http://schemas.openxmlformats.org/drawingml/2006/table">
            <a:tbl>
              <a:tblPr firstRow="1" bandRow="1">
                <a:tableStyleId>{5940675A-B579-460E-94D1-54222C63F5DA}</a:tableStyleId>
              </a:tblPr>
              <a:tblGrid>
                <a:gridCol w="1152128">
                  <a:extLst>
                    <a:ext uri="{9D8B030D-6E8A-4147-A177-3AD203B41FA5}">
                      <a16:colId xmlns:a16="http://schemas.microsoft.com/office/drawing/2014/main" val="20000"/>
                    </a:ext>
                  </a:extLst>
                </a:gridCol>
                <a:gridCol w="1152128">
                  <a:extLst>
                    <a:ext uri="{9D8B030D-6E8A-4147-A177-3AD203B41FA5}">
                      <a16:colId xmlns:a16="http://schemas.microsoft.com/office/drawing/2014/main" val="20003"/>
                    </a:ext>
                  </a:extLst>
                </a:gridCol>
              </a:tblGrid>
              <a:tr h="227195">
                <a:tc>
                  <a:txBody>
                    <a:bodyPr/>
                    <a:lstStyle/>
                    <a:p>
                      <a:pPr algn="ctr"/>
                      <a:r>
                        <a:rPr lang="es-CO" sz="1600" b="1" dirty="0">
                          <a:solidFill>
                            <a:schemeClr val="bg1"/>
                          </a:solidFill>
                          <a:latin typeface="+mn-lt"/>
                          <a:cs typeface="Consolas" panose="020B0609020204030204" pitchFamily="49" charset="0"/>
                        </a:rPr>
                        <a:t>n</a:t>
                      </a:r>
                    </a:p>
                  </a:txBody>
                  <a:tcPr>
                    <a:solidFill>
                      <a:schemeClr val="tx1"/>
                    </a:solidFill>
                  </a:tcPr>
                </a:tc>
                <a:tc>
                  <a:txBody>
                    <a:bodyPr/>
                    <a:lstStyle/>
                    <a:p>
                      <a:pPr algn="ctr"/>
                      <a:r>
                        <a:rPr lang="es-CO" sz="1600" b="1" dirty="0">
                          <a:solidFill>
                            <a:schemeClr val="bg1"/>
                          </a:solidFill>
                          <a:latin typeface="+mn-lt"/>
                          <a:cs typeface="Consolas" panose="020B0609020204030204" pitchFamily="49" charset="0"/>
                        </a:rPr>
                        <a:t>factorial</a:t>
                      </a:r>
                    </a:p>
                  </a:txBody>
                  <a:tcPr>
                    <a:solidFill>
                      <a:schemeClr val="tx1"/>
                    </a:solidFill>
                  </a:tcPr>
                </a:tc>
                <a:extLst>
                  <a:ext uri="{0D108BD9-81ED-4DB2-BD59-A6C34878D82A}">
                    <a16:rowId xmlns:a16="http://schemas.microsoft.com/office/drawing/2014/main" val="10000"/>
                  </a:ext>
                </a:extLst>
              </a:tr>
              <a:tr h="392429">
                <a:tc>
                  <a:txBody>
                    <a:bodyPr/>
                    <a:lstStyle/>
                    <a:p>
                      <a:pPr algn="ctr"/>
                      <a:r>
                        <a:rPr lang="es-CO" sz="1600" b="0" dirty="0">
                          <a:solidFill>
                            <a:schemeClr val="tx1"/>
                          </a:solidFill>
                          <a:latin typeface="+mn-lt"/>
                          <a:cs typeface="Consolas" panose="020B0609020204030204" pitchFamily="49" charset="0"/>
                        </a:rPr>
                        <a:t>0</a:t>
                      </a:r>
                    </a:p>
                    <a:p>
                      <a:pPr algn="ctr"/>
                      <a:r>
                        <a:rPr lang="es-CO" sz="1600" b="0" dirty="0">
                          <a:solidFill>
                            <a:schemeClr val="tx1"/>
                          </a:solidFill>
                          <a:latin typeface="+mn-lt"/>
                          <a:cs typeface="Consolas" panose="020B0609020204030204" pitchFamily="49" charset="0"/>
                        </a:rPr>
                        <a:t>3</a:t>
                      </a:r>
                    </a:p>
                    <a:p>
                      <a:pPr algn="ctr"/>
                      <a:r>
                        <a:rPr lang="es-CO" sz="1600" b="0" dirty="0">
                          <a:solidFill>
                            <a:schemeClr val="tx1"/>
                          </a:solidFill>
                          <a:latin typeface="+mn-lt"/>
                          <a:cs typeface="Consolas" panose="020B0609020204030204" pitchFamily="49" charset="0"/>
                        </a:rPr>
                        <a:t>5</a:t>
                      </a:r>
                    </a:p>
                  </a:txBody>
                  <a:tcPr/>
                </a:tc>
                <a:tc>
                  <a:txBody>
                    <a:bodyPr/>
                    <a:lstStyle/>
                    <a:p>
                      <a:pPr algn="ctr"/>
                      <a:r>
                        <a:rPr lang="es-CO" sz="1600" b="0" dirty="0">
                          <a:solidFill>
                            <a:schemeClr val="tx1"/>
                          </a:solidFill>
                          <a:latin typeface="+mn-lt"/>
                          <a:cs typeface="Consolas" panose="020B0609020204030204" pitchFamily="49" charset="0"/>
                        </a:rPr>
                        <a:t>1</a:t>
                      </a:r>
                    </a:p>
                    <a:p>
                      <a:pPr algn="ctr"/>
                      <a:r>
                        <a:rPr lang="es-CO" sz="1600" b="0" dirty="0">
                          <a:solidFill>
                            <a:schemeClr val="tx1"/>
                          </a:solidFill>
                          <a:latin typeface="+mn-lt"/>
                          <a:cs typeface="Consolas" panose="020B0609020204030204" pitchFamily="49" charset="0"/>
                        </a:rPr>
                        <a:t>6</a:t>
                      </a:r>
                    </a:p>
                    <a:p>
                      <a:pPr algn="ctr"/>
                      <a:r>
                        <a:rPr lang="es-CO" sz="1600" b="0" dirty="0">
                          <a:solidFill>
                            <a:schemeClr val="tx1"/>
                          </a:solidFill>
                          <a:latin typeface="+mn-lt"/>
                          <a:cs typeface="Consolas" panose="020B0609020204030204" pitchFamily="49" charset="0"/>
                        </a:rPr>
                        <a:t>120</a:t>
                      </a:r>
                    </a:p>
                  </a:txBody>
                  <a:tcPr/>
                </a:tc>
                <a:extLst>
                  <a:ext uri="{0D108BD9-81ED-4DB2-BD59-A6C34878D82A}">
                    <a16:rowId xmlns:a16="http://schemas.microsoft.com/office/drawing/2014/main" val="10001"/>
                  </a:ext>
                </a:extLst>
              </a:tr>
            </a:tbl>
          </a:graphicData>
        </a:graphic>
      </p:graphicFrame>
      <p:graphicFrame>
        <p:nvGraphicFramePr>
          <p:cNvPr id="13" name="8 Tabla">
            <a:extLst>
              <a:ext uri="{FF2B5EF4-FFF2-40B4-BE49-F238E27FC236}">
                <a16:creationId xmlns:a16="http://schemas.microsoft.com/office/drawing/2014/main" id="{94C0647B-A25E-4F30-A23F-F3A84EE9C83D}"/>
              </a:ext>
            </a:extLst>
          </p:cNvPr>
          <p:cNvGraphicFramePr>
            <a:graphicFrameLocks noGrp="1"/>
          </p:cNvGraphicFramePr>
          <p:nvPr>
            <p:extLst>
              <p:ext uri="{D42A27DB-BD31-4B8C-83A1-F6EECF244321}">
                <p14:modId xmlns:p14="http://schemas.microsoft.com/office/powerpoint/2010/main" val="3157094009"/>
              </p:ext>
            </p:extLst>
          </p:nvPr>
        </p:nvGraphicFramePr>
        <p:xfrm>
          <a:off x="3473226" y="4263993"/>
          <a:ext cx="2066924" cy="2133600"/>
        </p:xfrm>
        <a:graphic>
          <a:graphicData uri="http://schemas.openxmlformats.org/drawingml/2006/table">
            <a:tbl>
              <a:tblPr firstRow="1" bandRow="1">
                <a:tableStyleId>{5940675A-B579-460E-94D1-54222C63F5DA}</a:tableStyleId>
              </a:tblPr>
              <a:tblGrid>
                <a:gridCol w="503408">
                  <a:extLst>
                    <a:ext uri="{9D8B030D-6E8A-4147-A177-3AD203B41FA5}">
                      <a16:colId xmlns:a16="http://schemas.microsoft.com/office/drawing/2014/main" val="20001"/>
                    </a:ext>
                  </a:extLst>
                </a:gridCol>
                <a:gridCol w="781758">
                  <a:extLst>
                    <a:ext uri="{9D8B030D-6E8A-4147-A177-3AD203B41FA5}">
                      <a16:colId xmlns:a16="http://schemas.microsoft.com/office/drawing/2014/main" val="20003"/>
                    </a:ext>
                  </a:extLst>
                </a:gridCol>
                <a:gridCol w="781758">
                  <a:extLst>
                    <a:ext uri="{9D8B030D-6E8A-4147-A177-3AD203B41FA5}">
                      <a16:colId xmlns:a16="http://schemas.microsoft.com/office/drawing/2014/main" val="3040689768"/>
                    </a:ext>
                  </a:extLst>
                </a:gridCol>
              </a:tblGrid>
              <a:tr h="293088">
                <a:tc>
                  <a:txBody>
                    <a:bodyPr/>
                    <a:lstStyle/>
                    <a:p>
                      <a:pPr algn="ctr"/>
                      <a:r>
                        <a:rPr lang="es-CO" sz="1600" b="1" dirty="0">
                          <a:latin typeface="Consolas" panose="020B0609020204030204" pitchFamily="49" charset="0"/>
                          <a:cs typeface="Consolas" panose="020B0609020204030204" pitchFamily="49" charset="0"/>
                        </a:rPr>
                        <a:t>n</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600" b="1" dirty="0">
                          <a:latin typeface="Consolas" panose="020B0609020204030204" pitchFamily="49" charset="0"/>
                          <a:cs typeface="Consolas" panose="020B0609020204030204" pitchFamily="49" charset="0"/>
                        </a:rPr>
                        <a: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600" b="1" dirty="0">
                          <a:latin typeface="Consolas" panose="020B0609020204030204" pitchFamily="49" charset="0"/>
                          <a:cs typeface="Consolas" panose="020B0609020204030204" pitchFamily="49" charset="0"/>
                        </a:rPr>
                        <a:t>fact</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48039">
                <a:tc>
                  <a:txBody>
                    <a:bodyPr/>
                    <a:lstStyle/>
                    <a:p>
                      <a:pPr algn="ctr"/>
                      <a:endParaRPr lang="es-CO" sz="1600" b="0"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es-CO" sz="1600" b="0" dirty="0">
                        <a:latin typeface="Consolas" panose="020B0609020204030204" pitchFamily="49" charset="0"/>
                        <a:cs typeface="Consolas" panose="020B0609020204030204" pitchFamily="49" charset="0"/>
                      </a:endParaRPr>
                    </a:p>
                    <a:p>
                      <a:pPr algn="ctr"/>
                      <a:endParaRPr lang="es-CO" sz="1600" b="0" dirty="0">
                        <a:latin typeface="Consolas" panose="020B0609020204030204" pitchFamily="49" charset="0"/>
                        <a:cs typeface="Consolas" panose="020B0609020204030204" pitchFamily="49" charset="0"/>
                      </a:endParaRPr>
                    </a:p>
                    <a:p>
                      <a:pPr algn="ctr"/>
                      <a:endParaRPr lang="es-CO" sz="1600" b="0" dirty="0">
                        <a:latin typeface="Consolas" panose="020B0609020204030204" pitchFamily="49" charset="0"/>
                        <a:cs typeface="Consolas" panose="020B0609020204030204" pitchFamily="49" charset="0"/>
                      </a:endParaRPr>
                    </a:p>
                    <a:p>
                      <a:pPr algn="ctr"/>
                      <a:endParaRPr lang="es-CO" sz="1600" b="0" dirty="0">
                        <a:latin typeface="Consolas" panose="020B0609020204030204" pitchFamily="49" charset="0"/>
                        <a:cs typeface="Consolas" panose="020B0609020204030204" pitchFamily="49" charset="0"/>
                      </a:endParaRPr>
                    </a:p>
                    <a:p>
                      <a:pPr algn="ctr"/>
                      <a:endParaRPr lang="es-CO" sz="1600" b="0" dirty="0">
                        <a:latin typeface="Consolas" panose="020B0609020204030204" pitchFamily="49" charset="0"/>
                        <a:cs typeface="Consolas" panose="020B0609020204030204" pitchFamily="49" charset="0"/>
                      </a:endParaRPr>
                    </a:p>
                    <a:p>
                      <a:pPr algn="ctr"/>
                      <a:endParaRPr lang="es-CO" sz="1600" b="0" dirty="0">
                        <a:latin typeface="Consolas" panose="020B0609020204030204" pitchFamily="49" charset="0"/>
                        <a:cs typeface="Consolas" panose="020B0609020204030204" pitchFamily="49" charset="0"/>
                      </a:endParaRPr>
                    </a:p>
                    <a:p>
                      <a:pPr algn="ctr"/>
                      <a:endParaRPr lang="es-CO" sz="1600"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endParaRPr lang="es-CO" sz="1600" b="0" dirty="0">
                        <a:latin typeface="Consolas" panose="020B0609020204030204" pitchFamily="49" charset="0"/>
                        <a:cs typeface="Consolas" panose="020B0609020204030204" pitchFamily="49" charset="0"/>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sp>
        <p:nvSpPr>
          <p:cNvPr id="15" name="CuadroTexto 14">
            <a:extLst>
              <a:ext uri="{FF2B5EF4-FFF2-40B4-BE49-F238E27FC236}">
                <a16:creationId xmlns:a16="http://schemas.microsoft.com/office/drawing/2014/main" id="{34B445B3-612A-4D63-865A-B3591A36DFD7}"/>
              </a:ext>
            </a:extLst>
          </p:cNvPr>
          <p:cNvSpPr txBox="1"/>
          <p:nvPr/>
        </p:nvSpPr>
        <p:spPr>
          <a:xfrm>
            <a:off x="450952" y="1563010"/>
            <a:ext cx="5121063" cy="1569660"/>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Inicio</a:t>
            </a:r>
          </a:p>
          <a:p>
            <a:r>
              <a:rPr lang="es-MX" sz="1200" dirty="0">
                <a:latin typeface="Consolas" panose="020B0609020204030204" pitchFamily="49" charset="0"/>
              </a:rPr>
              <a:t>  </a:t>
            </a:r>
            <a:r>
              <a:rPr lang="es-MX" sz="1200" dirty="0" err="1">
                <a:latin typeface="Consolas" panose="020B0609020204030204" pitchFamily="49" charset="0"/>
              </a:rPr>
              <a:t>fact</a:t>
            </a:r>
            <a:r>
              <a:rPr lang="es-MX" sz="1200" dirty="0">
                <a:latin typeface="Consolas" panose="020B0609020204030204" pitchFamily="49" charset="0"/>
              </a:rPr>
              <a:t> = 1</a:t>
            </a:r>
          </a:p>
          <a:p>
            <a:r>
              <a:rPr lang="es-MX" sz="1200" dirty="0">
                <a:latin typeface="Consolas" panose="020B0609020204030204" pitchFamily="49" charset="0"/>
              </a:rPr>
              <a:t>  Leer(n)</a:t>
            </a:r>
          </a:p>
          <a:p>
            <a:r>
              <a:rPr lang="es-MX" sz="1200" dirty="0">
                <a:solidFill>
                  <a:srgbClr val="C00000"/>
                </a:solidFill>
                <a:latin typeface="Consolas" panose="020B0609020204030204" pitchFamily="49" charset="0"/>
              </a:rPr>
              <a:t>  Para (i = 1,n,1) Haga    </a:t>
            </a:r>
          </a:p>
          <a:p>
            <a:r>
              <a:rPr lang="es-MX" sz="1200" dirty="0">
                <a:solidFill>
                  <a:srgbClr val="C00000"/>
                </a:solidFill>
                <a:latin typeface="Consolas" panose="020B0609020204030204" pitchFamily="49" charset="0"/>
              </a:rPr>
              <a:t>     </a:t>
            </a:r>
            <a:r>
              <a:rPr lang="es-MX" sz="1200" dirty="0">
                <a:solidFill>
                  <a:srgbClr val="00B050"/>
                </a:solidFill>
                <a:latin typeface="Consolas" panose="020B0609020204030204" pitchFamily="49" charset="0"/>
              </a:rPr>
              <a:t>fact = fact * i  </a:t>
            </a:r>
          </a:p>
          <a:p>
            <a:r>
              <a:rPr lang="es-MX" sz="1200" dirty="0">
                <a:solidFill>
                  <a:srgbClr val="C00000"/>
                </a:solidFill>
                <a:latin typeface="Consolas" panose="020B0609020204030204" pitchFamily="49" charset="0"/>
              </a:rPr>
              <a:t>  </a:t>
            </a:r>
            <a:r>
              <a:rPr lang="es-MX" sz="1200" dirty="0" err="1">
                <a:solidFill>
                  <a:srgbClr val="C00000"/>
                </a:solidFill>
                <a:latin typeface="Consolas" panose="020B0609020204030204" pitchFamily="49" charset="0"/>
              </a:rPr>
              <a:t>Fin_Para</a:t>
            </a:r>
            <a:endParaRPr lang="es-MX" sz="1200" dirty="0">
              <a:solidFill>
                <a:srgbClr val="C00000"/>
              </a:solidFill>
              <a:latin typeface="Consolas" panose="020B0609020204030204" pitchFamily="49" charset="0"/>
            </a:endParaRPr>
          </a:p>
          <a:p>
            <a:r>
              <a:rPr lang="es-MX" sz="1200" dirty="0">
                <a:latin typeface="Consolas" panose="020B0609020204030204" pitchFamily="49" charset="0"/>
              </a:rPr>
              <a:t>  Escribir(n, '! = ',fact)</a:t>
            </a:r>
          </a:p>
          <a:p>
            <a:r>
              <a:rPr lang="es-MX" sz="1200" dirty="0">
                <a:latin typeface="Consolas" panose="020B0609020204030204" pitchFamily="49" charset="0"/>
              </a:rPr>
              <a:t>Fin</a:t>
            </a:r>
            <a:endParaRPr lang="es-CO" sz="1200" dirty="0">
              <a:latin typeface="Consolas" panose="020B0609020204030204" pitchFamily="49" charset="0"/>
            </a:endParaRPr>
          </a:p>
        </p:txBody>
      </p:sp>
      <p:pic>
        <p:nvPicPr>
          <p:cNvPr id="17" name="Imagen 16">
            <a:extLst>
              <a:ext uri="{FF2B5EF4-FFF2-40B4-BE49-F238E27FC236}">
                <a16:creationId xmlns:a16="http://schemas.microsoft.com/office/drawing/2014/main" id="{D0CECD4F-046C-42F5-BD4E-1B439E29B8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7328" y="983410"/>
            <a:ext cx="2563623" cy="5471436"/>
          </a:xfrm>
          <a:prstGeom prst="rect">
            <a:avLst/>
          </a:prstGeom>
        </p:spPr>
      </p:pic>
    </p:spTree>
    <p:extLst>
      <p:ext uri="{BB962C8B-B14F-4D97-AF65-F5344CB8AC3E}">
        <p14:creationId xmlns:p14="http://schemas.microsoft.com/office/powerpoint/2010/main" val="10871177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8627568" cy="710952"/>
          </a:xfrm>
        </p:spPr>
        <p:txBody>
          <a:bodyPr>
            <a:normAutofit/>
          </a:bodyPr>
          <a:lstStyle/>
          <a:p>
            <a:r>
              <a:rPr lang="es-CO" dirty="0"/>
              <a:t>Ciclos – Ejemplo 3</a:t>
            </a:r>
            <a:endParaRPr lang="es-CO" dirty="0">
              <a:highlight>
                <a:srgbClr val="FFFF00"/>
              </a:highlight>
            </a:endParaRPr>
          </a:p>
        </p:txBody>
      </p:sp>
      <p:graphicFrame>
        <p:nvGraphicFramePr>
          <p:cNvPr id="12" name="15 Tabla">
            <a:extLst>
              <a:ext uri="{FF2B5EF4-FFF2-40B4-BE49-F238E27FC236}">
                <a16:creationId xmlns:a16="http://schemas.microsoft.com/office/drawing/2014/main" id="{B7D0DC0A-668C-456A-841A-76980638EF0C}"/>
              </a:ext>
            </a:extLst>
          </p:cNvPr>
          <p:cNvGraphicFramePr>
            <a:graphicFrameLocks noGrp="1"/>
          </p:cNvGraphicFramePr>
          <p:nvPr>
            <p:extLst>
              <p:ext uri="{D42A27DB-BD31-4B8C-83A1-F6EECF244321}">
                <p14:modId xmlns:p14="http://schemas.microsoft.com/office/powerpoint/2010/main" val="2930049267"/>
              </p:ext>
            </p:extLst>
          </p:nvPr>
        </p:nvGraphicFramePr>
        <p:xfrm>
          <a:off x="922868" y="4437112"/>
          <a:ext cx="1560899" cy="727709"/>
        </p:xfrm>
        <a:graphic>
          <a:graphicData uri="http://schemas.openxmlformats.org/drawingml/2006/table">
            <a:tbl>
              <a:tblPr firstRow="1" bandRow="1">
                <a:tableStyleId>{5940675A-B579-460E-94D1-54222C63F5DA}</a:tableStyleId>
              </a:tblPr>
              <a:tblGrid>
                <a:gridCol w="477562">
                  <a:extLst>
                    <a:ext uri="{9D8B030D-6E8A-4147-A177-3AD203B41FA5}">
                      <a16:colId xmlns:a16="http://schemas.microsoft.com/office/drawing/2014/main" val="20000"/>
                    </a:ext>
                  </a:extLst>
                </a:gridCol>
                <a:gridCol w="1083337">
                  <a:extLst>
                    <a:ext uri="{9D8B030D-6E8A-4147-A177-3AD203B41FA5}">
                      <a16:colId xmlns:a16="http://schemas.microsoft.com/office/drawing/2014/main" val="20003"/>
                    </a:ext>
                  </a:extLst>
                </a:gridCol>
              </a:tblGrid>
              <a:tr h="227195">
                <a:tc>
                  <a:txBody>
                    <a:bodyPr/>
                    <a:lstStyle/>
                    <a:p>
                      <a:pPr algn="ctr"/>
                      <a:r>
                        <a:rPr lang="es-CO" sz="1600" b="1" dirty="0">
                          <a:solidFill>
                            <a:schemeClr val="bg1"/>
                          </a:solidFill>
                          <a:latin typeface="+mn-lt"/>
                          <a:cs typeface="Consolas" panose="020B0609020204030204" pitchFamily="49" charset="0"/>
                        </a:rPr>
                        <a:t>n</a:t>
                      </a:r>
                    </a:p>
                  </a:txBody>
                  <a:tcPr>
                    <a:solidFill>
                      <a:schemeClr val="tx1"/>
                    </a:solidFill>
                  </a:tcPr>
                </a:tc>
                <a:tc>
                  <a:txBody>
                    <a:bodyPr/>
                    <a:lstStyle/>
                    <a:p>
                      <a:pPr algn="ctr"/>
                      <a:r>
                        <a:rPr lang="es-CO" sz="1600" b="1" dirty="0">
                          <a:solidFill>
                            <a:schemeClr val="bg1"/>
                          </a:solidFill>
                          <a:latin typeface="+mn-lt"/>
                          <a:cs typeface="Consolas" panose="020B0609020204030204" pitchFamily="49" charset="0"/>
                        </a:rPr>
                        <a:t>factorial</a:t>
                      </a:r>
                    </a:p>
                  </a:txBody>
                  <a:tcPr>
                    <a:solidFill>
                      <a:schemeClr val="tx1"/>
                    </a:solidFill>
                  </a:tcPr>
                </a:tc>
                <a:extLst>
                  <a:ext uri="{0D108BD9-81ED-4DB2-BD59-A6C34878D82A}">
                    <a16:rowId xmlns:a16="http://schemas.microsoft.com/office/drawing/2014/main" val="10000"/>
                  </a:ext>
                </a:extLst>
              </a:tr>
              <a:tr h="392429">
                <a:tc>
                  <a:txBody>
                    <a:bodyPr/>
                    <a:lstStyle/>
                    <a:p>
                      <a:pPr algn="ctr"/>
                      <a:r>
                        <a:rPr lang="es-CO" sz="1600" b="0" dirty="0">
                          <a:solidFill>
                            <a:schemeClr val="tx1"/>
                          </a:solidFill>
                          <a:latin typeface="+mn-lt"/>
                          <a:cs typeface="Consolas" panose="020B0609020204030204" pitchFamily="49" charset="0"/>
                        </a:rPr>
                        <a:t>5</a:t>
                      </a:r>
                    </a:p>
                  </a:txBody>
                  <a:tcPr/>
                </a:tc>
                <a:tc>
                  <a:txBody>
                    <a:bodyPr/>
                    <a:lstStyle/>
                    <a:p>
                      <a:pPr algn="ctr"/>
                      <a:r>
                        <a:rPr lang="es-CO" sz="1600" b="0" dirty="0">
                          <a:solidFill>
                            <a:schemeClr val="tx1"/>
                          </a:solidFill>
                          <a:latin typeface="+mn-lt"/>
                          <a:cs typeface="Consolas" panose="020B0609020204030204" pitchFamily="49" charset="0"/>
                        </a:rPr>
                        <a:t>120</a:t>
                      </a:r>
                    </a:p>
                  </a:txBody>
                  <a:tcPr/>
                </a:tc>
                <a:extLst>
                  <a:ext uri="{0D108BD9-81ED-4DB2-BD59-A6C34878D82A}">
                    <a16:rowId xmlns:a16="http://schemas.microsoft.com/office/drawing/2014/main" val="10001"/>
                  </a:ext>
                </a:extLst>
              </a:tr>
            </a:tbl>
          </a:graphicData>
        </a:graphic>
      </p:graphicFrame>
      <p:graphicFrame>
        <p:nvGraphicFramePr>
          <p:cNvPr id="13" name="8 Tabla">
            <a:extLst>
              <a:ext uri="{FF2B5EF4-FFF2-40B4-BE49-F238E27FC236}">
                <a16:creationId xmlns:a16="http://schemas.microsoft.com/office/drawing/2014/main" id="{94C0647B-A25E-4F30-A23F-F3A84EE9C83D}"/>
              </a:ext>
            </a:extLst>
          </p:cNvPr>
          <p:cNvGraphicFramePr>
            <a:graphicFrameLocks noGrp="1"/>
          </p:cNvGraphicFramePr>
          <p:nvPr>
            <p:extLst>
              <p:ext uri="{D42A27DB-BD31-4B8C-83A1-F6EECF244321}">
                <p14:modId xmlns:p14="http://schemas.microsoft.com/office/powerpoint/2010/main" val="287096386"/>
              </p:ext>
            </p:extLst>
          </p:nvPr>
        </p:nvGraphicFramePr>
        <p:xfrm>
          <a:off x="3314783" y="4437112"/>
          <a:ext cx="2570981" cy="2133600"/>
        </p:xfrm>
        <a:graphic>
          <a:graphicData uri="http://schemas.openxmlformats.org/drawingml/2006/table">
            <a:tbl>
              <a:tblPr firstRow="1" bandRow="1">
                <a:tableStyleId>{5940675A-B579-460E-94D1-54222C63F5DA}</a:tableStyleId>
              </a:tblPr>
              <a:tblGrid>
                <a:gridCol w="626173">
                  <a:extLst>
                    <a:ext uri="{9D8B030D-6E8A-4147-A177-3AD203B41FA5}">
                      <a16:colId xmlns:a16="http://schemas.microsoft.com/office/drawing/2014/main" val="20001"/>
                    </a:ext>
                  </a:extLst>
                </a:gridCol>
                <a:gridCol w="972404">
                  <a:extLst>
                    <a:ext uri="{9D8B030D-6E8A-4147-A177-3AD203B41FA5}">
                      <a16:colId xmlns:a16="http://schemas.microsoft.com/office/drawing/2014/main" val="20003"/>
                    </a:ext>
                  </a:extLst>
                </a:gridCol>
                <a:gridCol w="972404">
                  <a:extLst>
                    <a:ext uri="{9D8B030D-6E8A-4147-A177-3AD203B41FA5}">
                      <a16:colId xmlns:a16="http://schemas.microsoft.com/office/drawing/2014/main" val="3040689768"/>
                    </a:ext>
                  </a:extLst>
                </a:gridCol>
              </a:tblGrid>
              <a:tr h="293088">
                <a:tc>
                  <a:txBody>
                    <a:bodyPr/>
                    <a:lstStyle/>
                    <a:p>
                      <a:pPr algn="ctr"/>
                      <a:r>
                        <a:rPr lang="es-CO" sz="1600" b="1" dirty="0">
                          <a:latin typeface="Consolas" panose="020B0609020204030204" pitchFamily="49" charset="0"/>
                          <a:cs typeface="Consolas" panose="020B0609020204030204" pitchFamily="49" charset="0"/>
                        </a:rPr>
                        <a:t>N</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600" b="1" dirty="0">
                          <a:latin typeface="Consolas" panose="020B0609020204030204" pitchFamily="49" charset="0"/>
                          <a:cs typeface="Consolas" panose="020B0609020204030204" pitchFamily="49" charset="0"/>
                        </a:rPr>
                        <a: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600" b="1" dirty="0">
                          <a:latin typeface="Consolas" panose="020B0609020204030204" pitchFamily="49" charset="0"/>
                          <a:cs typeface="Consolas" panose="020B0609020204030204" pitchFamily="49" charset="0"/>
                        </a:rPr>
                        <a:t>fact</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48039">
                <a:tc>
                  <a:txBody>
                    <a:bodyPr/>
                    <a:lstStyle/>
                    <a:p>
                      <a:pPr algn="ctr"/>
                      <a:r>
                        <a:rPr lang="es-MX" sz="1600" strike="sngStrike" dirty="0">
                          <a:solidFill>
                            <a:srgbClr val="FF0000"/>
                          </a:solidFill>
                          <a:latin typeface="Consolas" panose="020B0609020204030204" pitchFamily="49" charset="0"/>
                        </a:rPr>
                        <a:t>?</a:t>
                      </a:r>
                    </a:p>
                    <a:p>
                      <a:pPr algn="ctr"/>
                      <a:r>
                        <a:rPr lang="es-MX" sz="1600" dirty="0">
                          <a:highlight>
                            <a:srgbClr val="FFFF00"/>
                          </a:highlight>
                          <a:latin typeface="Consolas" panose="020B0609020204030204" pitchFamily="49" charset="0"/>
                        </a:rPr>
                        <a:t>5</a:t>
                      </a:r>
                      <a:endParaRPr lang="es-CO" sz="1600" b="0" dirty="0">
                        <a:latin typeface="Consolas" panose="020B0609020204030204" pitchFamily="49" charset="0"/>
                        <a:cs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s-MX" sz="1600" strike="sngStrike" dirty="0">
                          <a:solidFill>
                            <a:srgbClr val="FF0000"/>
                          </a:solidFill>
                          <a:latin typeface="Consolas" panose="020B0609020204030204" pitchFamily="49" charset="0"/>
                        </a:rPr>
                        <a:t>?</a:t>
                      </a:r>
                    </a:p>
                    <a:p>
                      <a:pPr algn="ctr"/>
                      <a:r>
                        <a:rPr lang="es-MX" sz="1600" strike="sngStrike" dirty="0">
                          <a:solidFill>
                            <a:srgbClr val="FF0000"/>
                          </a:solidFill>
                          <a:latin typeface="Consolas" panose="020B0609020204030204" pitchFamily="49" charset="0"/>
                        </a:rPr>
                        <a:t>1</a:t>
                      </a:r>
                    </a:p>
                    <a:p>
                      <a:pPr algn="ctr"/>
                      <a:r>
                        <a:rPr lang="es-MX" sz="1600" strike="sngStrike" dirty="0">
                          <a:solidFill>
                            <a:srgbClr val="FF0000"/>
                          </a:solidFill>
                          <a:latin typeface="Consolas" panose="020B0609020204030204" pitchFamily="49" charset="0"/>
                        </a:rPr>
                        <a:t>2</a:t>
                      </a:r>
                    </a:p>
                    <a:p>
                      <a:pPr algn="ctr"/>
                      <a:r>
                        <a:rPr lang="es-MX" sz="1600" strike="sngStrike" dirty="0">
                          <a:solidFill>
                            <a:srgbClr val="FF0000"/>
                          </a:solidFill>
                          <a:latin typeface="Consolas" panose="020B0609020204030204" pitchFamily="49" charset="0"/>
                        </a:rPr>
                        <a:t>3</a:t>
                      </a:r>
                    </a:p>
                    <a:p>
                      <a:pPr algn="ctr"/>
                      <a:r>
                        <a:rPr lang="es-MX" sz="1600" strike="sngStrike" dirty="0">
                          <a:solidFill>
                            <a:srgbClr val="FF0000"/>
                          </a:solidFill>
                          <a:latin typeface="Consolas" panose="020B0609020204030204" pitchFamily="49" charset="0"/>
                        </a:rPr>
                        <a:t>4</a:t>
                      </a:r>
                    </a:p>
                    <a:p>
                      <a:pPr algn="ctr"/>
                      <a:r>
                        <a:rPr lang="es-MX" sz="1600" strike="noStrike" dirty="0">
                          <a:solidFill>
                            <a:schemeClr val="tx1"/>
                          </a:solidFill>
                          <a:highlight>
                            <a:srgbClr val="FFFF00"/>
                          </a:highlight>
                          <a:latin typeface="Consolas" panose="020B0609020204030204" pitchFamily="49"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s-MX" sz="1600" strike="sngStrike" dirty="0">
                          <a:solidFill>
                            <a:srgbClr val="FF0000"/>
                          </a:solidFill>
                          <a:latin typeface="Consolas" panose="020B0609020204030204" pitchFamily="49" charset="0"/>
                        </a:rPr>
                        <a:t>?</a:t>
                      </a:r>
                    </a:p>
                    <a:p>
                      <a:pPr algn="ctr"/>
                      <a:r>
                        <a:rPr lang="es-MX" sz="1600" strike="sngStrike" dirty="0">
                          <a:solidFill>
                            <a:srgbClr val="FF0000"/>
                          </a:solidFill>
                          <a:latin typeface="Consolas" panose="020B0609020204030204" pitchFamily="49" charset="0"/>
                        </a:rPr>
                        <a:t>1</a:t>
                      </a:r>
                    </a:p>
                    <a:p>
                      <a:pPr algn="ctr"/>
                      <a:r>
                        <a:rPr lang="es-MX" sz="1600" strike="sngStrike" dirty="0">
                          <a:solidFill>
                            <a:srgbClr val="FF0000"/>
                          </a:solidFill>
                          <a:latin typeface="Consolas" panose="020B0609020204030204" pitchFamily="49" charset="0"/>
                        </a:rPr>
                        <a:t>2</a:t>
                      </a:r>
                    </a:p>
                    <a:p>
                      <a:pPr algn="ctr"/>
                      <a:r>
                        <a:rPr lang="es-MX" sz="1600" strike="sngStrike" dirty="0">
                          <a:solidFill>
                            <a:srgbClr val="FF0000"/>
                          </a:solidFill>
                          <a:latin typeface="Consolas" panose="020B0609020204030204" pitchFamily="49" charset="0"/>
                        </a:rPr>
                        <a:t>6</a:t>
                      </a:r>
                    </a:p>
                    <a:p>
                      <a:pPr algn="ctr"/>
                      <a:r>
                        <a:rPr lang="es-MX" sz="1600" strike="sngStrike" dirty="0">
                          <a:solidFill>
                            <a:srgbClr val="FF0000"/>
                          </a:solidFill>
                          <a:latin typeface="Consolas" panose="020B0609020204030204" pitchFamily="49" charset="0"/>
                        </a:rPr>
                        <a:t>24</a:t>
                      </a:r>
                    </a:p>
                    <a:p>
                      <a:pPr algn="ctr"/>
                      <a:r>
                        <a:rPr lang="es-MX" sz="1600" strike="noStrike" dirty="0">
                          <a:solidFill>
                            <a:schemeClr val="tx1"/>
                          </a:solidFill>
                          <a:highlight>
                            <a:srgbClr val="FFFF00"/>
                          </a:highlight>
                          <a:latin typeface="Consolas" panose="020B0609020204030204" pitchFamily="49" charset="0"/>
                        </a:rPr>
                        <a:t>120</a:t>
                      </a:r>
                    </a:p>
                    <a:p>
                      <a:pPr algn="ctr"/>
                      <a:endParaRPr lang="es-CO" sz="1600" dirty="0">
                        <a:highlight>
                          <a:srgbClr val="FFFF00"/>
                        </a:highlight>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bl>
          </a:graphicData>
        </a:graphic>
      </p:graphicFrame>
      <p:cxnSp>
        <p:nvCxnSpPr>
          <p:cNvPr id="9" name="Conector recto de flecha 8">
            <a:extLst>
              <a:ext uri="{FF2B5EF4-FFF2-40B4-BE49-F238E27FC236}">
                <a16:creationId xmlns:a16="http://schemas.microsoft.com/office/drawing/2014/main" id="{2DA8ECEE-6E05-4652-9D7F-84B8B8A9161D}"/>
              </a:ext>
            </a:extLst>
          </p:cNvPr>
          <p:cNvCxnSpPr>
            <a:cxnSpLocks/>
          </p:cNvCxnSpPr>
          <p:nvPr/>
        </p:nvCxnSpPr>
        <p:spPr>
          <a:xfrm>
            <a:off x="3337601" y="5111750"/>
            <a:ext cx="198757" cy="12915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5F2148A5-F76C-47E0-A68B-05461CDC435B}"/>
              </a:ext>
            </a:extLst>
          </p:cNvPr>
          <p:cNvCxnSpPr>
            <a:cxnSpLocks/>
          </p:cNvCxnSpPr>
          <p:nvPr/>
        </p:nvCxnSpPr>
        <p:spPr>
          <a:xfrm flipV="1">
            <a:off x="5623497" y="6021288"/>
            <a:ext cx="172639" cy="12399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CuadroTexto 14">
            <a:extLst>
              <a:ext uri="{FF2B5EF4-FFF2-40B4-BE49-F238E27FC236}">
                <a16:creationId xmlns:a16="http://schemas.microsoft.com/office/drawing/2014/main" id="{C3CE6CDB-CE77-4EC4-964F-FED7381E74E2}"/>
              </a:ext>
            </a:extLst>
          </p:cNvPr>
          <p:cNvSpPr txBox="1"/>
          <p:nvPr/>
        </p:nvSpPr>
        <p:spPr>
          <a:xfrm>
            <a:off x="388083" y="3670729"/>
            <a:ext cx="3928683" cy="400110"/>
          </a:xfrm>
          <a:prstGeom prst="rect">
            <a:avLst/>
          </a:prstGeom>
          <a:noFill/>
        </p:spPr>
        <p:txBody>
          <a:bodyPr wrap="square" rtlCol="0">
            <a:spAutoFit/>
          </a:bodyPr>
          <a:lstStyle/>
          <a:p>
            <a:r>
              <a:rPr lang="es-CO" sz="2000" b="1" dirty="0"/>
              <a:t>Prueba de escritorio (solución)</a:t>
            </a:r>
          </a:p>
        </p:txBody>
      </p:sp>
      <p:cxnSp>
        <p:nvCxnSpPr>
          <p:cNvPr id="19" name="Conector recto de flecha 18">
            <a:extLst>
              <a:ext uri="{FF2B5EF4-FFF2-40B4-BE49-F238E27FC236}">
                <a16:creationId xmlns:a16="http://schemas.microsoft.com/office/drawing/2014/main" id="{6C04725D-5C75-4B1C-936B-782EB0A4622D}"/>
              </a:ext>
            </a:extLst>
          </p:cNvPr>
          <p:cNvCxnSpPr>
            <a:cxnSpLocks/>
          </p:cNvCxnSpPr>
          <p:nvPr/>
        </p:nvCxnSpPr>
        <p:spPr>
          <a:xfrm flipV="1">
            <a:off x="3728473" y="5111750"/>
            <a:ext cx="170427" cy="12927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CuadroTexto 19">
            <a:extLst>
              <a:ext uri="{FF2B5EF4-FFF2-40B4-BE49-F238E27FC236}">
                <a16:creationId xmlns:a16="http://schemas.microsoft.com/office/drawing/2014/main" id="{317B2127-4F0D-4319-A7E1-3CB3D932245B}"/>
              </a:ext>
            </a:extLst>
          </p:cNvPr>
          <p:cNvSpPr txBox="1"/>
          <p:nvPr/>
        </p:nvSpPr>
        <p:spPr>
          <a:xfrm>
            <a:off x="450952" y="1563010"/>
            <a:ext cx="5121063" cy="1569660"/>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Inicio</a:t>
            </a:r>
          </a:p>
          <a:p>
            <a:r>
              <a:rPr lang="es-MX" sz="1200" dirty="0">
                <a:latin typeface="Consolas" panose="020B0609020204030204" pitchFamily="49" charset="0"/>
              </a:rPr>
              <a:t>  </a:t>
            </a:r>
            <a:r>
              <a:rPr lang="es-MX" sz="1200" dirty="0" err="1">
                <a:latin typeface="Consolas" panose="020B0609020204030204" pitchFamily="49" charset="0"/>
              </a:rPr>
              <a:t>fact</a:t>
            </a:r>
            <a:r>
              <a:rPr lang="es-MX" sz="1200" dirty="0">
                <a:latin typeface="Consolas" panose="020B0609020204030204" pitchFamily="49" charset="0"/>
              </a:rPr>
              <a:t> = 1</a:t>
            </a:r>
          </a:p>
          <a:p>
            <a:r>
              <a:rPr lang="es-MX" sz="1200" dirty="0">
                <a:latin typeface="Consolas" panose="020B0609020204030204" pitchFamily="49" charset="0"/>
              </a:rPr>
              <a:t>  Leer(n)</a:t>
            </a:r>
          </a:p>
          <a:p>
            <a:r>
              <a:rPr lang="es-MX" sz="1200" dirty="0">
                <a:solidFill>
                  <a:srgbClr val="C00000"/>
                </a:solidFill>
                <a:latin typeface="Consolas" panose="020B0609020204030204" pitchFamily="49" charset="0"/>
              </a:rPr>
              <a:t>  Para (i = 1,n,1) Haga    </a:t>
            </a:r>
          </a:p>
          <a:p>
            <a:r>
              <a:rPr lang="es-MX" sz="1200" dirty="0">
                <a:solidFill>
                  <a:srgbClr val="C00000"/>
                </a:solidFill>
                <a:latin typeface="Consolas" panose="020B0609020204030204" pitchFamily="49" charset="0"/>
              </a:rPr>
              <a:t>     </a:t>
            </a:r>
            <a:r>
              <a:rPr lang="es-MX" sz="1200" dirty="0">
                <a:solidFill>
                  <a:srgbClr val="00B050"/>
                </a:solidFill>
                <a:latin typeface="Consolas" panose="020B0609020204030204" pitchFamily="49" charset="0"/>
              </a:rPr>
              <a:t>fact = fact * i  </a:t>
            </a:r>
          </a:p>
          <a:p>
            <a:r>
              <a:rPr lang="es-MX" sz="1200" dirty="0">
                <a:solidFill>
                  <a:srgbClr val="C00000"/>
                </a:solidFill>
                <a:latin typeface="Consolas" panose="020B0609020204030204" pitchFamily="49" charset="0"/>
              </a:rPr>
              <a:t>  </a:t>
            </a:r>
            <a:r>
              <a:rPr lang="es-MX" sz="1200" dirty="0" err="1">
                <a:solidFill>
                  <a:srgbClr val="C00000"/>
                </a:solidFill>
                <a:latin typeface="Consolas" panose="020B0609020204030204" pitchFamily="49" charset="0"/>
              </a:rPr>
              <a:t>Fin_Para</a:t>
            </a:r>
            <a:endParaRPr lang="es-MX" sz="1200" dirty="0">
              <a:solidFill>
                <a:srgbClr val="C00000"/>
              </a:solidFill>
              <a:latin typeface="Consolas" panose="020B0609020204030204" pitchFamily="49" charset="0"/>
            </a:endParaRPr>
          </a:p>
          <a:p>
            <a:r>
              <a:rPr lang="es-MX" sz="1200" dirty="0">
                <a:latin typeface="Consolas" panose="020B0609020204030204" pitchFamily="49" charset="0"/>
              </a:rPr>
              <a:t>  Escribir(n, '! = ',fact)</a:t>
            </a:r>
          </a:p>
          <a:p>
            <a:r>
              <a:rPr lang="es-MX" sz="1200" dirty="0">
                <a:latin typeface="Consolas" panose="020B0609020204030204" pitchFamily="49" charset="0"/>
              </a:rPr>
              <a:t>Fin</a:t>
            </a:r>
            <a:endParaRPr lang="es-CO" sz="1200" dirty="0">
              <a:latin typeface="Consolas" panose="020B0609020204030204" pitchFamily="49" charset="0"/>
            </a:endParaRPr>
          </a:p>
        </p:txBody>
      </p:sp>
      <p:pic>
        <p:nvPicPr>
          <p:cNvPr id="21" name="Imagen 20">
            <a:extLst>
              <a:ext uri="{FF2B5EF4-FFF2-40B4-BE49-F238E27FC236}">
                <a16:creationId xmlns:a16="http://schemas.microsoft.com/office/drawing/2014/main" id="{29A490DD-2AE9-4DFF-A7E6-A532812CBA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3030" y="1340768"/>
            <a:ext cx="2290017" cy="4887490"/>
          </a:xfrm>
          <a:prstGeom prst="rect">
            <a:avLst/>
          </a:prstGeom>
        </p:spPr>
      </p:pic>
    </p:spTree>
    <p:extLst>
      <p:ext uri="{BB962C8B-B14F-4D97-AF65-F5344CB8AC3E}">
        <p14:creationId xmlns:p14="http://schemas.microsoft.com/office/powerpoint/2010/main" val="8054218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92904" y="260648"/>
            <a:ext cx="4958298" cy="710952"/>
          </a:xfrm>
        </p:spPr>
        <p:txBody>
          <a:bodyPr>
            <a:normAutofit/>
          </a:bodyPr>
          <a:lstStyle/>
          <a:p>
            <a:r>
              <a:rPr lang="es-CO" dirty="0"/>
              <a:t>Ciclos - Ejemplo 4</a:t>
            </a:r>
          </a:p>
        </p:txBody>
      </p:sp>
      <p:sp>
        <p:nvSpPr>
          <p:cNvPr id="7" name="12 Rectángulo">
            <a:extLst>
              <a:ext uri="{FF2B5EF4-FFF2-40B4-BE49-F238E27FC236}">
                <a16:creationId xmlns:a16="http://schemas.microsoft.com/office/drawing/2014/main" id="{31480163-1532-4B08-8163-9B8775D997E1}"/>
              </a:ext>
            </a:extLst>
          </p:cNvPr>
          <p:cNvSpPr/>
          <p:nvPr/>
        </p:nvSpPr>
        <p:spPr>
          <a:xfrm>
            <a:off x="206444" y="946890"/>
            <a:ext cx="8731112" cy="400110"/>
          </a:xfrm>
          <a:prstGeom prst="rect">
            <a:avLst/>
          </a:prstGeom>
        </p:spPr>
        <p:txBody>
          <a:bodyPr wrap="square">
            <a:spAutoFit/>
          </a:bodyPr>
          <a:lstStyle/>
          <a:p>
            <a:r>
              <a:rPr lang="es-MX" sz="2000" dirty="0"/>
              <a:t>Imprimir los números del n a 1 alternando el signo, por ejemplo: 6, -5, 4, -3, 2, -1.</a:t>
            </a:r>
          </a:p>
        </p:txBody>
      </p:sp>
      <p:sp>
        <p:nvSpPr>
          <p:cNvPr id="19" name="CuadroTexto 18">
            <a:extLst>
              <a:ext uri="{FF2B5EF4-FFF2-40B4-BE49-F238E27FC236}">
                <a16:creationId xmlns:a16="http://schemas.microsoft.com/office/drawing/2014/main" id="{B1DDFAA6-3667-4F39-9C7B-346F92D7DDD2}"/>
              </a:ext>
            </a:extLst>
          </p:cNvPr>
          <p:cNvSpPr txBox="1"/>
          <p:nvPr/>
        </p:nvSpPr>
        <p:spPr>
          <a:xfrm>
            <a:off x="357560" y="2111122"/>
            <a:ext cx="4903997" cy="1569660"/>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Inicio</a:t>
            </a:r>
          </a:p>
          <a:p>
            <a:r>
              <a:rPr lang="es-MX" sz="1200" dirty="0">
                <a:latin typeface="Consolas" panose="020B0609020204030204" pitchFamily="49" charset="0"/>
              </a:rPr>
              <a:t>  i = 0</a:t>
            </a:r>
          </a:p>
          <a:p>
            <a:r>
              <a:rPr lang="es-MX" sz="1200" dirty="0">
                <a:latin typeface="Consolas" panose="020B0609020204030204" pitchFamily="49" charset="0"/>
              </a:rPr>
              <a:t>  Leer(N)</a:t>
            </a:r>
          </a:p>
          <a:p>
            <a:r>
              <a:rPr lang="es-MX" sz="1200" dirty="0">
                <a:solidFill>
                  <a:srgbClr val="C00000"/>
                </a:solidFill>
                <a:latin typeface="Consolas" panose="020B0609020204030204" pitchFamily="49" charset="0"/>
              </a:rPr>
              <a:t>  Para (</a:t>
            </a:r>
            <a:r>
              <a:rPr lang="es-MX" sz="1200" dirty="0" err="1">
                <a:solidFill>
                  <a:srgbClr val="C00000"/>
                </a:solidFill>
                <a:latin typeface="Consolas" panose="020B0609020204030204" pitchFamily="49" charset="0"/>
              </a:rPr>
              <a:t>num</a:t>
            </a:r>
            <a:r>
              <a:rPr lang="es-MX" sz="1200" dirty="0">
                <a:solidFill>
                  <a:srgbClr val="C00000"/>
                </a:solidFill>
                <a:latin typeface="Consolas" panose="020B0609020204030204" pitchFamily="49" charset="0"/>
              </a:rPr>
              <a:t> = N,</a:t>
            </a:r>
            <a:r>
              <a:rPr lang="es-MX" sz="1200" dirty="0">
                <a:solidFill>
                  <a:srgbClr val="C00000"/>
                </a:solidFill>
                <a:highlight>
                  <a:srgbClr val="FFFF00"/>
                </a:highlight>
                <a:latin typeface="Consolas" panose="020B0609020204030204" pitchFamily="49" charset="0"/>
              </a:rPr>
              <a:t>1</a:t>
            </a:r>
            <a:r>
              <a:rPr lang="es-MX" sz="1200" dirty="0">
                <a:solidFill>
                  <a:srgbClr val="C00000"/>
                </a:solidFill>
                <a:latin typeface="Consolas" panose="020B0609020204030204" pitchFamily="49" charset="0"/>
              </a:rPr>
              <a:t>,-1) Haga    </a:t>
            </a:r>
          </a:p>
          <a:p>
            <a:r>
              <a:rPr lang="es-MX" sz="1200" dirty="0">
                <a:solidFill>
                  <a:srgbClr val="00B050"/>
                </a:solidFill>
                <a:latin typeface="Consolas" panose="020B0609020204030204" pitchFamily="49" charset="0"/>
              </a:rPr>
              <a:t>     Escribir(((-1)**i)*</a:t>
            </a:r>
            <a:r>
              <a:rPr lang="es-MX" sz="1200" dirty="0" err="1">
                <a:solidFill>
                  <a:srgbClr val="00B050"/>
                </a:solidFill>
                <a:latin typeface="Consolas" panose="020B0609020204030204" pitchFamily="49" charset="0"/>
              </a:rPr>
              <a:t>num</a:t>
            </a:r>
            <a:r>
              <a:rPr lang="es-MX" sz="1200" dirty="0">
                <a:solidFill>
                  <a:srgbClr val="00B050"/>
                </a:solidFill>
                <a:latin typeface="Consolas" panose="020B0609020204030204" pitchFamily="49" charset="0"/>
              </a:rPr>
              <a:t>)</a:t>
            </a:r>
          </a:p>
          <a:p>
            <a:r>
              <a:rPr lang="es-MX" sz="1200" dirty="0">
                <a:solidFill>
                  <a:srgbClr val="00B050"/>
                </a:solidFill>
                <a:latin typeface="Consolas" panose="020B0609020204030204" pitchFamily="49" charset="0"/>
              </a:rPr>
              <a:t>     i = i + 1</a:t>
            </a:r>
          </a:p>
          <a:p>
            <a:r>
              <a:rPr lang="es-MX" sz="1200" dirty="0">
                <a:solidFill>
                  <a:srgbClr val="C00000"/>
                </a:solidFill>
                <a:latin typeface="Consolas" panose="020B0609020204030204" pitchFamily="49" charset="0"/>
              </a:rPr>
              <a:t>  </a:t>
            </a:r>
            <a:r>
              <a:rPr lang="es-MX" sz="1200" dirty="0" err="1">
                <a:solidFill>
                  <a:srgbClr val="C00000"/>
                </a:solidFill>
                <a:latin typeface="Consolas" panose="020B0609020204030204" pitchFamily="49" charset="0"/>
              </a:rPr>
              <a:t>Fin_Para</a:t>
            </a:r>
            <a:endParaRPr lang="es-MX" sz="1200" dirty="0">
              <a:solidFill>
                <a:srgbClr val="C00000"/>
              </a:solidFill>
              <a:latin typeface="Consolas" panose="020B0609020204030204" pitchFamily="49" charset="0"/>
            </a:endParaRPr>
          </a:p>
          <a:p>
            <a:r>
              <a:rPr lang="es-MX" sz="1200" dirty="0">
                <a:latin typeface="Consolas" panose="020B0609020204030204" pitchFamily="49" charset="0"/>
              </a:rPr>
              <a:t>Fin</a:t>
            </a:r>
            <a:endParaRPr lang="es-CO" sz="1200" dirty="0">
              <a:latin typeface="Consolas" panose="020B0609020204030204" pitchFamily="49" charset="0"/>
            </a:endParaRPr>
          </a:p>
        </p:txBody>
      </p:sp>
      <p:sp>
        <p:nvSpPr>
          <p:cNvPr id="22" name="CuadroTexto 21">
            <a:extLst>
              <a:ext uri="{FF2B5EF4-FFF2-40B4-BE49-F238E27FC236}">
                <a16:creationId xmlns:a16="http://schemas.microsoft.com/office/drawing/2014/main" id="{C71781E0-C46B-441A-883A-5CFC056CDCD7}"/>
              </a:ext>
            </a:extLst>
          </p:cNvPr>
          <p:cNvSpPr txBox="1"/>
          <p:nvPr/>
        </p:nvSpPr>
        <p:spPr>
          <a:xfrm>
            <a:off x="2154247" y="5456257"/>
            <a:ext cx="1545785" cy="276999"/>
          </a:xfrm>
          <a:prstGeom prst="rect">
            <a:avLst/>
          </a:prstGeom>
          <a:noFill/>
        </p:spPr>
        <p:txBody>
          <a:bodyPr wrap="square" rtlCol="0">
            <a:spAutoFit/>
          </a:bodyPr>
          <a:lstStyle/>
          <a:p>
            <a:pPr algn="ctr"/>
            <a:r>
              <a:rPr lang="es-MX" sz="1200" dirty="0">
                <a:hlinkClick r:id="rId2"/>
              </a:rPr>
              <a:t>Link de ejecución</a:t>
            </a:r>
            <a:endParaRPr lang="es-CO" sz="1200" dirty="0"/>
          </a:p>
        </p:txBody>
      </p:sp>
      <p:pic>
        <p:nvPicPr>
          <p:cNvPr id="4" name="Imagen 3">
            <a:extLst>
              <a:ext uri="{FF2B5EF4-FFF2-40B4-BE49-F238E27FC236}">
                <a16:creationId xmlns:a16="http://schemas.microsoft.com/office/drawing/2014/main" id="{9617A929-AA5E-4B44-BB7B-2F2153DDE3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84168" y="1654131"/>
            <a:ext cx="2247900" cy="4295775"/>
          </a:xfrm>
          <a:prstGeom prst="rect">
            <a:avLst/>
          </a:prstGeom>
        </p:spPr>
      </p:pic>
      <p:sp>
        <p:nvSpPr>
          <p:cNvPr id="20" name="CuadroTexto 19">
            <a:extLst>
              <a:ext uri="{FF2B5EF4-FFF2-40B4-BE49-F238E27FC236}">
                <a16:creationId xmlns:a16="http://schemas.microsoft.com/office/drawing/2014/main" id="{74683FF4-C330-4EBE-ACD8-C22A4D29A2EE}"/>
              </a:ext>
            </a:extLst>
          </p:cNvPr>
          <p:cNvSpPr txBox="1"/>
          <p:nvPr/>
        </p:nvSpPr>
        <p:spPr>
          <a:xfrm>
            <a:off x="373428" y="4404921"/>
            <a:ext cx="4903998" cy="1015663"/>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 = 0</a:t>
            </a:r>
          </a:p>
          <a:p>
            <a:r>
              <a:rPr lang="es-MX" sz="1200" dirty="0">
                <a:latin typeface="Consolas" panose="020B0609020204030204" pitchFamily="49" charset="0"/>
              </a:rPr>
              <a:t>N = </a:t>
            </a:r>
            <a:r>
              <a:rPr lang="es-MX" sz="1200" dirty="0" err="1">
                <a:latin typeface="Consolas" panose="020B0609020204030204" pitchFamily="49" charset="0"/>
              </a:rPr>
              <a:t>int</a:t>
            </a:r>
            <a:r>
              <a:rPr lang="es-MX" sz="1200" dirty="0">
                <a:latin typeface="Consolas" panose="020B0609020204030204" pitchFamily="49" charset="0"/>
              </a:rPr>
              <a:t>(input('Digite un numero entero positivo: '))</a:t>
            </a:r>
          </a:p>
          <a:p>
            <a:r>
              <a:rPr lang="es-MX" sz="1200" dirty="0">
                <a:solidFill>
                  <a:schemeClr val="accent5"/>
                </a:solidFill>
                <a:latin typeface="Consolas" panose="020B0609020204030204" pitchFamily="49" charset="0"/>
              </a:rPr>
              <a:t>for</a:t>
            </a:r>
            <a:r>
              <a:rPr lang="es-MX" sz="1200" dirty="0">
                <a:latin typeface="Consolas" panose="020B0609020204030204" pitchFamily="49" charset="0"/>
              </a:rPr>
              <a:t> </a:t>
            </a:r>
            <a:r>
              <a:rPr lang="es-MX" sz="1200" dirty="0" err="1">
                <a:latin typeface="Consolas" panose="020B0609020204030204" pitchFamily="49" charset="0"/>
              </a:rPr>
              <a:t>num</a:t>
            </a:r>
            <a:r>
              <a:rPr lang="es-MX" sz="1200" dirty="0">
                <a:latin typeface="Consolas" panose="020B0609020204030204" pitchFamily="49" charset="0"/>
              </a:rPr>
              <a:t> in range(N,</a:t>
            </a:r>
            <a:r>
              <a:rPr lang="es-MX" sz="1200" dirty="0">
                <a:highlight>
                  <a:srgbClr val="FFFF00"/>
                </a:highlight>
                <a:latin typeface="Consolas" panose="020B0609020204030204" pitchFamily="49" charset="0"/>
              </a:rPr>
              <a:t>0</a:t>
            </a:r>
            <a:r>
              <a:rPr lang="es-MX" sz="1200" dirty="0">
                <a:latin typeface="Consolas" panose="020B0609020204030204" pitchFamily="49" charset="0"/>
              </a:rPr>
              <a:t>,-1):</a:t>
            </a:r>
          </a:p>
          <a:p>
            <a:r>
              <a:rPr lang="es-MX" sz="1200" dirty="0">
                <a:solidFill>
                  <a:srgbClr val="00B050"/>
                </a:solidFill>
                <a:latin typeface="Consolas" panose="020B0609020204030204" pitchFamily="49" charset="0"/>
              </a:rPr>
              <a:t>  </a:t>
            </a:r>
            <a:r>
              <a:rPr lang="es-MX" sz="1200" dirty="0" err="1">
                <a:solidFill>
                  <a:srgbClr val="00B050"/>
                </a:solidFill>
                <a:latin typeface="Consolas" panose="020B0609020204030204" pitchFamily="49" charset="0"/>
              </a:rPr>
              <a:t>print</a:t>
            </a:r>
            <a:r>
              <a:rPr lang="es-MX" sz="1200" dirty="0">
                <a:solidFill>
                  <a:srgbClr val="00B050"/>
                </a:solidFill>
                <a:latin typeface="Consolas" panose="020B0609020204030204" pitchFamily="49" charset="0"/>
              </a:rPr>
              <a:t>(((-1)**i)*</a:t>
            </a:r>
            <a:r>
              <a:rPr lang="es-MX" sz="1200" dirty="0" err="1">
                <a:solidFill>
                  <a:srgbClr val="00B050"/>
                </a:solidFill>
                <a:latin typeface="Consolas" panose="020B0609020204030204" pitchFamily="49" charset="0"/>
              </a:rPr>
              <a:t>num</a:t>
            </a:r>
            <a:r>
              <a:rPr lang="es-MX" sz="1200" dirty="0">
                <a:solidFill>
                  <a:srgbClr val="00B050"/>
                </a:solidFill>
                <a:latin typeface="Consolas" panose="020B0609020204030204" pitchFamily="49" charset="0"/>
              </a:rPr>
              <a:t>)</a:t>
            </a:r>
          </a:p>
          <a:p>
            <a:r>
              <a:rPr lang="es-MX" sz="1200" dirty="0">
                <a:solidFill>
                  <a:srgbClr val="00B050"/>
                </a:solidFill>
                <a:latin typeface="Consolas" panose="020B0609020204030204" pitchFamily="49" charset="0"/>
              </a:rPr>
              <a:t>  i += 1</a:t>
            </a:r>
          </a:p>
        </p:txBody>
      </p:sp>
      <p:sp>
        <p:nvSpPr>
          <p:cNvPr id="23" name="CuadroTexto 22">
            <a:extLst>
              <a:ext uri="{FF2B5EF4-FFF2-40B4-BE49-F238E27FC236}">
                <a16:creationId xmlns:a16="http://schemas.microsoft.com/office/drawing/2014/main" id="{33958CDA-079A-4A93-BE48-5D9DA18C2AA5}"/>
              </a:ext>
            </a:extLst>
          </p:cNvPr>
          <p:cNvSpPr txBox="1"/>
          <p:nvPr/>
        </p:nvSpPr>
        <p:spPr>
          <a:xfrm>
            <a:off x="345592" y="1658892"/>
            <a:ext cx="3354440" cy="400110"/>
          </a:xfrm>
          <a:prstGeom prst="rect">
            <a:avLst/>
          </a:prstGeom>
          <a:noFill/>
        </p:spPr>
        <p:txBody>
          <a:bodyPr wrap="square" rtlCol="0">
            <a:spAutoFit/>
          </a:bodyPr>
          <a:lstStyle/>
          <a:p>
            <a:r>
              <a:rPr lang="es-CO" sz="2000" b="1" dirty="0"/>
              <a:t>Pseudocódigo</a:t>
            </a:r>
          </a:p>
        </p:txBody>
      </p:sp>
      <p:sp>
        <p:nvSpPr>
          <p:cNvPr id="24" name="CuadroTexto 23">
            <a:extLst>
              <a:ext uri="{FF2B5EF4-FFF2-40B4-BE49-F238E27FC236}">
                <a16:creationId xmlns:a16="http://schemas.microsoft.com/office/drawing/2014/main" id="{6DF07C11-318B-4750-8F27-F86A0F7695CE}"/>
              </a:ext>
            </a:extLst>
          </p:cNvPr>
          <p:cNvSpPr txBox="1"/>
          <p:nvPr/>
        </p:nvSpPr>
        <p:spPr>
          <a:xfrm>
            <a:off x="373428" y="3969138"/>
            <a:ext cx="2424161" cy="400110"/>
          </a:xfrm>
          <a:prstGeom prst="rect">
            <a:avLst/>
          </a:prstGeom>
          <a:noFill/>
        </p:spPr>
        <p:txBody>
          <a:bodyPr wrap="square" rtlCol="0">
            <a:spAutoFit/>
          </a:bodyPr>
          <a:lstStyle/>
          <a:p>
            <a:r>
              <a:rPr lang="es-CO" sz="2000" b="1" dirty="0"/>
              <a:t>Python</a:t>
            </a:r>
          </a:p>
        </p:txBody>
      </p:sp>
      <p:sp>
        <p:nvSpPr>
          <p:cNvPr id="25" name="CuadroTexto 24">
            <a:extLst>
              <a:ext uri="{FF2B5EF4-FFF2-40B4-BE49-F238E27FC236}">
                <a16:creationId xmlns:a16="http://schemas.microsoft.com/office/drawing/2014/main" id="{24B672B4-12FF-40CD-BAFA-C9263073BF3F}"/>
              </a:ext>
            </a:extLst>
          </p:cNvPr>
          <p:cNvSpPr txBox="1"/>
          <p:nvPr/>
        </p:nvSpPr>
        <p:spPr>
          <a:xfrm>
            <a:off x="73638" y="6167045"/>
            <a:ext cx="8996724" cy="646331"/>
          </a:xfrm>
          <a:prstGeom prst="rect">
            <a:avLst/>
          </a:prstGeom>
          <a:solidFill>
            <a:schemeClr val="accent6">
              <a:lumMod val="20000"/>
              <a:lumOff val="80000"/>
            </a:schemeClr>
          </a:solidFill>
        </p:spPr>
        <p:txBody>
          <a:bodyPr wrap="square">
            <a:spAutoFit/>
          </a:bodyPr>
          <a:lstStyle/>
          <a:p>
            <a:r>
              <a:rPr lang="es-MX" b="1" dirty="0"/>
              <a:t>Nota</a:t>
            </a:r>
            <a:r>
              <a:rPr lang="es-MX" dirty="0"/>
              <a:t>: con actualización negativa, el límite de parada es </a:t>
            </a:r>
            <a:r>
              <a:rPr lang="es-MX" sz="1600" b="1" dirty="0">
                <a:latin typeface="Consolas" panose="020B0609020204030204" pitchFamily="49" charset="0"/>
              </a:rPr>
              <a:t>fin - 1</a:t>
            </a:r>
            <a:r>
              <a:rPr lang="es-MX" sz="1600" dirty="0"/>
              <a:t> </a:t>
            </a:r>
            <a:r>
              <a:rPr lang="es-MX" dirty="0"/>
              <a:t>(no </a:t>
            </a:r>
            <a:r>
              <a:rPr lang="es-MX" sz="1600" b="1" dirty="0">
                <a:latin typeface="Consolas" panose="020B0609020204030204" pitchFamily="49" charset="0"/>
              </a:rPr>
              <a:t>fin + 1</a:t>
            </a:r>
            <a:r>
              <a:rPr lang="es-MX" dirty="0"/>
              <a:t>), porque </a:t>
            </a:r>
            <a:r>
              <a:rPr lang="es-MX" sz="1600" b="1" dirty="0">
                <a:latin typeface="Consolas" panose="020B0609020204030204" pitchFamily="49" charset="0"/>
              </a:rPr>
              <a:t>range()</a:t>
            </a:r>
            <a:r>
              <a:rPr lang="es-MX" dirty="0"/>
              <a:t> excluye ese valor en la dirección del paso. Por eso </a:t>
            </a:r>
            <a:r>
              <a:rPr lang="es-MX" sz="1600" b="1" dirty="0">
                <a:latin typeface="Consolas" panose="020B0609020204030204" pitchFamily="49" charset="0"/>
              </a:rPr>
              <a:t>range(N, 0, -1)</a:t>
            </a:r>
            <a:r>
              <a:rPr lang="es-MX" dirty="0"/>
              <a:t> y no </a:t>
            </a:r>
            <a:r>
              <a:rPr lang="es-MX" sz="1600" b="1" dirty="0">
                <a:latin typeface="Consolas" panose="020B0609020204030204" pitchFamily="49" charset="0"/>
              </a:rPr>
              <a:t>range(N, 2, -1)</a:t>
            </a:r>
            <a:r>
              <a:rPr lang="es-MX" dirty="0"/>
              <a:t>.</a:t>
            </a:r>
            <a:endParaRPr lang="es-CO" dirty="0"/>
          </a:p>
        </p:txBody>
      </p:sp>
    </p:spTree>
    <p:extLst>
      <p:ext uri="{BB962C8B-B14F-4D97-AF65-F5344CB8AC3E}">
        <p14:creationId xmlns:p14="http://schemas.microsoft.com/office/powerpoint/2010/main" val="28326594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8387126" cy="710952"/>
          </a:xfrm>
        </p:spPr>
        <p:txBody>
          <a:bodyPr>
            <a:normAutofit/>
          </a:bodyPr>
          <a:lstStyle/>
          <a:p>
            <a:r>
              <a:rPr lang="es-CO" dirty="0"/>
              <a:t>Sobre el ciclo para en python</a:t>
            </a:r>
          </a:p>
        </p:txBody>
      </p:sp>
      <p:sp>
        <p:nvSpPr>
          <p:cNvPr id="13" name="12 Rectángulo"/>
          <p:cNvSpPr/>
          <p:nvPr/>
        </p:nvSpPr>
        <p:spPr>
          <a:xfrm>
            <a:off x="145314" y="1080832"/>
            <a:ext cx="8747165" cy="1015663"/>
          </a:xfrm>
          <a:prstGeom prst="rect">
            <a:avLst/>
          </a:prstGeom>
        </p:spPr>
        <p:txBody>
          <a:bodyPr wrap="square">
            <a:spAutoFit/>
          </a:bodyPr>
          <a:lstStyle/>
          <a:p>
            <a:pPr marL="342900" indent="-342900" rtl="0">
              <a:buFont typeface="Arial" panose="020B0604020202020204" pitchFamily="34" charset="0"/>
              <a:buChar char="•"/>
            </a:pPr>
            <a:r>
              <a:rPr lang="es-MX" sz="2000" dirty="0"/>
              <a:t>Como se dijo previamente, el ciclo Para en Python es diferente de la implementación en otros lenguajes como C, ya que la variable de control (</a:t>
            </a:r>
            <a:r>
              <a:rPr lang="es-MX" b="1" dirty="0"/>
              <a:t>iterating_var</a:t>
            </a:r>
            <a:r>
              <a:rPr lang="es-MX" sz="2000" dirty="0"/>
              <a:t>) itera sobre los elementos de una secuencia (</a:t>
            </a:r>
            <a:r>
              <a:rPr lang="es-MX" b="1" dirty="0">
                <a:latin typeface="Consolas" panose="020B0609020204030204" pitchFamily="49" charset="0"/>
              </a:rPr>
              <a:t>sequence</a:t>
            </a:r>
            <a:r>
              <a:rPr lang="es-MX" sz="2000" dirty="0"/>
              <a:t>).</a:t>
            </a:r>
          </a:p>
        </p:txBody>
      </p:sp>
      <p:pic>
        <p:nvPicPr>
          <p:cNvPr id="4" name="Picture 2" descr="for loop in Python">
            <a:extLst>
              <a:ext uri="{FF2B5EF4-FFF2-40B4-BE49-F238E27FC236}">
                <a16:creationId xmlns:a16="http://schemas.microsoft.com/office/drawing/2014/main" id="{75E7160A-B9CC-412D-8AA7-197A2A447A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6300" y="2420888"/>
            <a:ext cx="3695700" cy="3343275"/>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F05BA242-99A2-4608-B79B-FDA4DFC834C3}"/>
              </a:ext>
            </a:extLst>
          </p:cNvPr>
          <p:cNvSpPr txBox="1"/>
          <p:nvPr/>
        </p:nvSpPr>
        <p:spPr>
          <a:xfrm>
            <a:off x="4836740" y="3645024"/>
            <a:ext cx="3695700" cy="584775"/>
          </a:xfrm>
          <a:prstGeom prst="rect">
            <a:avLst/>
          </a:prstGeom>
          <a:noFill/>
          <a:ln>
            <a:solidFill>
              <a:schemeClr val="tx1"/>
            </a:solidFill>
          </a:ln>
        </p:spPr>
        <p:txBody>
          <a:bodyPr wrap="square">
            <a:spAutoFit/>
          </a:bodyPr>
          <a:lstStyle/>
          <a:p>
            <a:pPr indent="-57150"/>
            <a:r>
              <a:rPr lang="es-ES" sz="1600" dirty="0">
                <a:solidFill>
                  <a:schemeClr val="accent4"/>
                </a:solidFill>
                <a:latin typeface="Consolas" panose="020B0609020204030204" pitchFamily="49" charset="0"/>
              </a:rPr>
              <a:t>for </a:t>
            </a:r>
            <a:r>
              <a:rPr lang="es-ES" sz="1600" dirty="0" err="1">
                <a:solidFill>
                  <a:srgbClr val="C00000"/>
                </a:solidFill>
                <a:latin typeface="Consolas" panose="020B0609020204030204" pitchFamily="49" charset="0"/>
              </a:rPr>
              <a:t>iterating_var</a:t>
            </a:r>
            <a:r>
              <a:rPr lang="es-ES" sz="1600" dirty="0">
                <a:solidFill>
                  <a:schemeClr val="accent4"/>
                </a:solidFill>
                <a:latin typeface="Consolas" panose="020B0609020204030204" pitchFamily="49" charset="0"/>
              </a:rPr>
              <a:t> in </a:t>
            </a:r>
            <a:r>
              <a:rPr lang="es-ES" sz="1600" dirty="0" err="1">
                <a:solidFill>
                  <a:srgbClr val="C00000"/>
                </a:solidFill>
                <a:latin typeface="Consolas" panose="020B0609020204030204" pitchFamily="49" charset="0"/>
              </a:rPr>
              <a:t>sequence</a:t>
            </a:r>
            <a:r>
              <a:rPr lang="es-ES" sz="1600" dirty="0">
                <a:solidFill>
                  <a:schemeClr val="accent4"/>
                </a:solidFill>
                <a:latin typeface="Consolas" panose="020B0609020204030204" pitchFamily="49" charset="0"/>
              </a:rPr>
              <a:t>:</a:t>
            </a:r>
          </a:p>
          <a:p>
            <a:pPr indent="-57150"/>
            <a:r>
              <a:rPr lang="es-ES" sz="1600" dirty="0">
                <a:latin typeface="Consolas" panose="020B0609020204030204" pitchFamily="49" charset="0"/>
              </a:rPr>
              <a:t>  </a:t>
            </a:r>
            <a:r>
              <a:rPr lang="es-ES" sz="1600" dirty="0" err="1">
                <a:latin typeface="Consolas" panose="020B0609020204030204" pitchFamily="49" charset="0"/>
              </a:rPr>
              <a:t>statement</a:t>
            </a:r>
            <a:r>
              <a:rPr lang="es-ES" sz="1600" dirty="0">
                <a:latin typeface="Consolas" panose="020B0609020204030204" pitchFamily="49" charset="0"/>
              </a:rPr>
              <a:t>(s)</a:t>
            </a:r>
          </a:p>
        </p:txBody>
      </p:sp>
    </p:spTree>
    <p:extLst>
      <p:ext uri="{BB962C8B-B14F-4D97-AF65-F5344CB8AC3E}">
        <p14:creationId xmlns:p14="http://schemas.microsoft.com/office/powerpoint/2010/main" val="37966409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207684"/>
            <a:ext cx="8387126" cy="710952"/>
          </a:xfrm>
        </p:spPr>
        <p:txBody>
          <a:bodyPr>
            <a:normAutofit/>
          </a:bodyPr>
          <a:lstStyle/>
          <a:p>
            <a:r>
              <a:rPr lang="es-CO" dirty="0"/>
              <a:t>¿Qué es una secuencia?</a:t>
            </a:r>
          </a:p>
        </p:txBody>
      </p:sp>
      <p:sp>
        <p:nvSpPr>
          <p:cNvPr id="13" name="12 Rectángulo"/>
          <p:cNvSpPr/>
          <p:nvPr/>
        </p:nvSpPr>
        <p:spPr>
          <a:xfrm>
            <a:off x="145314" y="911521"/>
            <a:ext cx="8747165" cy="2554545"/>
          </a:xfrm>
          <a:prstGeom prst="rect">
            <a:avLst/>
          </a:prstGeom>
        </p:spPr>
        <p:txBody>
          <a:bodyPr wrap="square">
            <a:spAutoFit/>
          </a:bodyPr>
          <a:lstStyle/>
          <a:p>
            <a:pPr marL="342900" indent="-342900" rtl="0">
              <a:buFont typeface="Arial" panose="020B0604020202020204" pitchFamily="34" charset="0"/>
              <a:buChar char="•"/>
            </a:pPr>
            <a:r>
              <a:rPr lang="es-MX" sz="2000" dirty="0"/>
              <a:t>Una secuencia es una colección ordenada de elementos, donde cada uno ocupa una posición (índice) que empieza en 0.</a:t>
            </a:r>
          </a:p>
          <a:p>
            <a:pPr marL="342900" indent="-342900" rtl="0">
              <a:buFont typeface="Arial" panose="020B0604020202020204" pitchFamily="34" charset="0"/>
              <a:buChar char="•"/>
            </a:pPr>
            <a:r>
              <a:rPr lang="es-MX" sz="2000" dirty="0"/>
              <a:t>El for de Python recorre una secuencia elemento por elemento  (no cuenta posiciones ni necesita saber cuántas hay de antemano).</a:t>
            </a:r>
          </a:p>
          <a:p>
            <a:pPr marL="342900" indent="-342900" rtl="0">
              <a:buFont typeface="Arial" panose="020B0604020202020204" pitchFamily="34" charset="0"/>
              <a:buChar char="•"/>
            </a:pPr>
            <a:r>
              <a:rPr lang="es-MX" sz="2000" dirty="0"/>
              <a:t>Python tiene varios tipos de secuencia: cadenas, listas, tuplas, range, y otras para datos binarios (bytes, bytearray).</a:t>
            </a:r>
          </a:p>
          <a:p>
            <a:pPr marL="342900" indent="-342900" rtl="0">
              <a:buFont typeface="Arial" panose="020B0604020202020204" pitchFamily="34" charset="0"/>
              <a:buChar char="•"/>
            </a:pPr>
            <a:r>
              <a:rPr lang="es-MX" sz="2000" dirty="0"/>
              <a:t>En esta clase nos vamos a centrar en las tres que más se van usar por ahora: cadenas, listas y range. </a:t>
            </a:r>
          </a:p>
        </p:txBody>
      </p:sp>
      <p:graphicFrame>
        <p:nvGraphicFramePr>
          <p:cNvPr id="7" name="Tabla 6">
            <a:extLst>
              <a:ext uri="{FF2B5EF4-FFF2-40B4-BE49-F238E27FC236}">
                <a16:creationId xmlns:a16="http://schemas.microsoft.com/office/drawing/2014/main" id="{8261377D-881E-408B-8D38-E9EF7C529D1F}"/>
              </a:ext>
            </a:extLst>
          </p:cNvPr>
          <p:cNvGraphicFramePr>
            <a:graphicFrameLocks noGrp="1"/>
          </p:cNvGraphicFramePr>
          <p:nvPr>
            <p:extLst>
              <p:ext uri="{D42A27DB-BD31-4B8C-83A1-F6EECF244321}">
                <p14:modId xmlns:p14="http://schemas.microsoft.com/office/powerpoint/2010/main" val="1715416038"/>
              </p:ext>
            </p:extLst>
          </p:nvPr>
        </p:nvGraphicFramePr>
        <p:xfrm>
          <a:off x="5795268" y="3466066"/>
          <a:ext cx="2736306" cy="914400"/>
        </p:xfrm>
        <a:graphic>
          <a:graphicData uri="http://schemas.openxmlformats.org/drawingml/2006/table">
            <a:tbl>
              <a:tblPr firstRow="1" bandRow="1">
                <a:tableStyleId>{5940675A-B579-460E-94D1-54222C63F5DA}</a:tableStyleId>
              </a:tblPr>
              <a:tblGrid>
                <a:gridCol w="456051">
                  <a:extLst>
                    <a:ext uri="{9D8B030D-6E8A-4147-A177-3AD203B41FA5}">
                      <a16:colId xmlns:a16="http://schemas.microsoft.com/office/drawing/2014/main" val="2528789048"/>
                    </a:ext>
                  </a:extLst>
                </a:gridCol>
                <a:gridCol w="456051">
                  <a:extLst>
                    <a:ext uri="{9D8B030D-6E8A-4147-A177-3AD203B41FA5}">
                      <a16:colId xmlns:a16="http://schemas.microsoft.com/office/drawing/2014/main" val="2119767178"/>
                    </a:ext>
                  </a:extLst>
                </a:gridCol>
                <a:gridCol w="456051">
                  <a:extLst>
                    <a:ext uri="{9D8B030D-6E8A-4147-A177-3AD203B41FA5}">
                      <a16:colId xmlns:a16="http://schemas.microsoft.com/office/drawing/2014/main" val="917484916"/>
                    </a:ext>
                  </a:extLst>
                </a:gridCol>
                <a:gridCol w="456051">
                  <a:extLst>
                    <a:ext uri="{9D8B030D-6E8A-4147-A177-3AD203B41FA5}">
                      <a16:colId xmlns:a16="http://schemas.microsoft.com/office/drawing/2014/main" val="915207115"/>
                    </a:ext>
                  </a:extLst>
                </a:gridCol>
                <a:gridCol w="456051">
                  <a:extLst>
                    <a:ext uri="{9D8B030D-6E8A-4147-A177-3AD203B41FA5}">
                      <a16:colId xmlns:a16="http://schemas.microsoft.com/office/drawing/2014/main" val="3687366780"/>
                    </a:ext>
                  </a:extLst>
                </a:gridCol>
                <a:gridCol w="456051">
                  <a:extLst>
                    <a:ext uri="{9D8B030D-6E8A-4147-A177-3AD203B41FA5}">
                      <a16:colId xmlns:a16="http://schemas.microsoft.com/office/drawing/2014/main" val="2560393847"/>
                    </a:ext>
                  </a:extLst>
                </a:gridCol>
              </a:tblGrid>
              <a:tr h="0">
                <a:tc>
                  <a:txBody>
                    <a:bodyPr/>
                    <a:lstStyle/>
                    <a:p>
                      <a:pPr algn="ctr"/>
                      <a:r>
                        <a:rPr lang="es-CO" sz="1200" b="1" dirty="0">
                          <a:solidFill>
                            <a:srgbClr val="FF0000"/>
                          </a:solidFill>
                          <a:latin typeface="Consolas" panose="020B0609020204030204" pitchFamily="49" charset="0"/>
                        </a:rPr>
                        <a:t>0</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200" b="1" dirty="0">
                          <a:solidFill>
                            <a:srgbClr val="FF0000"/>
                          </a:solidFill>
                          <a:latin typeface="Consolas" panose="020B0609020204030204" pitchFamily="49" charset="0"/>
                        </a:rPr>
                        <a:t>1</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200" b="1" dirty="0">
                          <a:solidFill>
                            <a:srgbClr val="FF0000"/>
                          </a:solidFill>
                          <a:latin typeface="Consolas" panose="020B0609020204030204" pitchFamily="49" charset="0"/>
                        </a:rPr>
                        <a:t>2</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200" b="1" dirty="0">
                          <a:solidFill>
                            <a:srgbClr val="FF0000"/>
                          </a:solidFill>
                          <a:latin typeface="Consolas" panose="020B0609020204030204" pitchFamily="49" charset="0"/>
                        </a:rPr>
                        <a:t>3</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200" b="1" dirty="0">
                          <a:solidFill>
                            <a:srgbClr val="FF0000"/>
                          </a:solidFill>
                          <a:latin typeface="Consolas" panose="020B0609020204030204" pitchFamily="49" charset="0"/>
                        </a:rPr>
                        <a:t>4</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200" b="1" dirty="0">
                          <a:solidFill>
                            <a:srgbClr val="FF0000"/>
                          </a:solidFill>
                          <a:latin typeface="Consolas" panose="020B0609020204030204" pitchFamily="49" charset="0"/>
                        </a:rPr>
                        <a:t>5</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5003687"/>
                  </a:ext>
                </a:extLst>
              </a:tr>
              <a:tr h="0">
                <a:tc>
                  <a:txBody>
                    <a:bodyPr/>
                    <a:lstStyle/>
                    <a:p>
                      <a:pPr algn="ctr"/>
                      <a:r>
                        <a:rPr lang="es-CO" sz="1800" dirty="0">
                          <a:latin typeface="Consolas" panose="020B0609020204030204" pitchFamily="49" charset="0"/>
                        </a:rPr>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800" dirty="0">
                          <a:latin typeface="Consolas" panose="020B0609020204030204" pitchFamily="49" charset="0"/>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800" dirty="0">
                          <a:latin typeface="Consolas" panose="020B0609020204030204" pitchFamily="49" charset="0"/>
                        </a:rPr>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800" dirty="0">
                          <a:latin typeface="Consolas" panose="020B0609020204030204" pitchFamily="49" charset="0"/>
                        </a:rPr>
                        <a: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800" dirty="0">
                          <a:latin typeface="Consolas" panose="020B0609020204030204" pitchFamily="49" charset="0"/>
                        </a:rPr>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800" dirty="0">
                          <a:latin typeface="Consolas" panose="020B0609020204030204" pitchFamily="49" charset="0"/>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5954232"/>
                  </a:ext>
                </a:extLst>
              </a:tr>
              <a:tr h="0">
                <a:tc>
                  <a:txBody>
                    <a:bodyPr/>
                    <a:lstStyle/>
                    <a:p>
                      <a:pPr algn="ctr"/>
                      <a:r>
                        <a:rPr lang="es-CO" sz="1200" b="1" dirty="0">
                          <a:solidFill>
                            <a:srgbClr val="FF0000"/>
                          </a:solidFill>
                          <a:latin typeface="Consolas" panose="020B0609020204030204" pitchFamily="49" charset="0"/>
                        </a:rPr>
                        <a:t>-6</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s-CO" sz="1200" b="1" dirty="0">
                          <a:solidFill>
                            <a:srgbClr val="FF0000"/>
                          </a:solidFill>
                          <a:latin typeface="Consolas" panose="020B0609020204030204" pitchFamily="49" charset="0"/>
                        </a:rPr>
                        <a:t>-5</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s-CO" sz="1200" b="1" dirty="0">
                          <a:solidFill>
                            <a:srgbClr val="FF0000"/>
                          </a:solidFill>
                          <a:latin typeface="Consolas" panose="020B0609020204030204" pitchFamily="49" charset="0"/>
                        </a:rPr>
                        <a:t>-4</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s-CO" sz="1200" b="1" dirty="0">
                          <a:solidFill>
                            <a:srgbClr val="FF0000"/>
                          </a:solidFill>
                          <a:latin typeface="Consolas" panose="020B0609020204030204" pitchFamily="49" charset="0"/>
                        </a:rPr>
                        <a:t>-3</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s-CO" sz="1200" b="1" dirty="0">
                          <a:solidFill>
                            <a:srgbClr val="FF0000"/>
                          </a:solidFill>
                          <a:latin typeface="Consolas" panose="020B0609020204030204" pitchFamily="49" charset="0"/>
                        </a:rPr>
                        <a:t>-2</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s-CO" sz="1200" b="1" dirty="0">
                          <a:solidFill>
                            <a:srgbClr val="FF0000"/>
                          </a:solidFill>
                          <a:latin typeface="Consolas" panose="020B0609020204030204" pitchFamily="49" charset="0"/>
                        </a:rPr>
                        <a:t>-1</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07577084"/>
                  </a:ext>
                </a:extLst>
              </a:tr>
            </a:tbl>
          </a:graphicData>
        </a:graphic>
      </p:graphicFrame>
      <p:graphicFrame>
        <p:nvGraphicFramePr>
          <p:cNvPr id="9" name="Tabla 8">
            <a:extLst>
              <a:ext uri="{FF2B5EF4-FFF2-40B4-BE49-F238E27FC236}">
                <a16:creationId xmlns:a16="http://schemas.microsoft.com/office/drawing/2014/main" id="{40B066F8-8E9A-4CAB-B5EE-8D55FC6C1689}"/>
              </a:ext>
            </a:extLst>
          </p:cNvPr>
          <p:cNvGraphicFramePr>
            <a:graphicFrameLocks noGrp="1"/>
          </p:cNvGraphicFramePr>
          <p:nvPr>
            <p:extLst>
              <p:ext uri="{D42A27DB-BD31-4B8C-83A1-F6EECF244321}">
                <p14:modId xmlns:p14="http://schemas.microsoft.com/office/powerpoint/2010/main" val="2196624634"/>
              </p:ext>
            </p:extLst>
          </p:nvPr>
        </p:nvGraphicFramePr>
        <p:xfrm>
          <a:off x="4897218" y="4639733"/>
          <a:ext cx="3959900" cy="914400"/>
        </p:xfrm>
        <a:graphic>
          <a:graphicData uri="http://schemas.openxmlformats.org/drawingml/2006/table">
            <a:tbl>
              <a:tblPr firstRow="1" bandRow="1">
                <a:tableStyleId>{5940675A-B579-460E-94D1-54222C63F5DA}</a:tableStyleId>
              </a:tblPr>
              <a:tblGrid>
                <a:gridCol w="1311593">
                  <a:extLst>
                    <a:ext uri="{9D8B030D-6E8A-4147-A177-3AD203B41FA5}">
                      <a16:colId xmlns:a16="http://schemas.microsoft.com/office/drawing/2014/main" val="2528789048"/>
                    </a:ext>
                  </a:extLst>
                </a:gridCol>
                <a:gridCol w="766615">
                  <a:extLst>
                    <a:ext uri="{9D8B030D-6E8A-4147-A177-3AD203B41FA5}">
                      <a16:colId xmlns:a16="http://schemas.microsoft.com/office/drawing/2014/main" val="2119767178"/>
                    </a:ext>
                  </a:extLst>
                </a:gridCol>
                <a:gridCol w="855392">
                  <a:extLst>
                    <a:ext uri="{9D8B030D-6E8A-4147-A177-3AD203B41FA5}">
                      <a16:colId xmlns:a16="http://schemas.microsoft.com/office/drawing/2014/main" val="917484916"/>
                    </a:ext>
                  </a:extLst>
                </a:gridCol>
                <a:gridCol w="1026300">
                  <a:extLst>
                    <a:ext uri="{9D8B030D-6E8A-4147-A177-3AD203B41FA5}">
                      <a16:colId xmlns:a16="http://schemas.microsoft.com/office/drawing/2014/main" val="915207115"/>
                    </a:ext>
                  </a:extLst>
                </a:gridCol>
              </a:tblGrid>
              <a:tr h="0">
                <a:tc>
                  <a:txBody>
                    <a:bodyPr/>
                    <a:lstStyle/>
                    <a:p>
                      <a:pPr algn="ctr"/>
                      <a:r>
                        <a:rPr lang="es-CO" sz="1200" b="1" dirty="0">
                          <a:solidFill>
                            <a:srgbClr val="FF0000"/>
                          </a:solidFill>
                          <a:latin typeface="Consolas" panose="020B0609020204030204" pitchFamily="49" charset="0"/>
                        </a:rPr>
                        <a:t>0</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200" b="1" dirty="0">
                          <a:solidFill>
                            <a:srgbClr val="FF0000"/>
                          </a:solidFill>
                          <a:latin typeface="Consolas" panose="020B0609020204030204" pitchFamily="49" charset="0"/>
                        </a:rPr>
                        <a:t>1</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200" b="1" dirty="0">
                          <a:solidFill>
                            <a:srgbClr val="FF0000"/>
                          </a:solidFill>
                          <a:latin typeface="Consolas" panose="020B0609020204030204" pitchFamily="49" charset="0"/>
                        </a:rPr>
                        <a:t>2</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200" b="1" dirty="0">
                          <a:solidFill>
                            <a:srgbClr val="FF0000"/>
                          </a:solidFill>
                          <a:latin typeface="Consolas" panose="020B0609020204030204" pitchFamily="49" charset="0"/>
                        </a:rPr>
                        <a:t>3</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5003687"/>
                  </a:ext>
                </a:extLst>
              </a:tr>
              <a:tr h="0">
                <a:tc>
                  <a:txBody>
                    <a:bodyPr/>
                    <a:lstStyle/>
                    <a:p>
                      <a:pPr algn="ctr"/>
                      <a:r>
                        <a:rPr lang="es-CO" sz="1800" dirty="0">
                          <a:latin typeface="Consolas" panose="020B0609020204030204" pitchFamily="49" charset="0"/>
                        </a:rPr>
                        <a:t>'Python'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800" dirty="0">
                          <a:latin typeface="Consolas" panose="020B0609020204030204" pitchFamily="49"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800" dirty="0">
                          <a:latin typeface="Consolas" panose="020B0609020204030204" pitchFamily="49" charset="0"/>
                        </a:rPr>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800" dirty="0">
                          <a:latin typeface="Consolas" panose="020B0609020204030204" pitchFamily="49" charset="0"/>
                        </a:rPr>
                        <a:t>'Java'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5954232"/>
                  </a:ext>
                </a:extLst>
              </a:tr>
              <a:tr h="0">
                <a:tc>
                  <a:txBody>
                    <a:bodyPr/>
                    <a:lstStyle/>
                    <a:p>
                      <a:pPr algn="ctr"/>
                      <a:r>
                        <a:rPr lang="es-CO" sz="1200" b="1" dirty="0">
                          <a:solidFill>
                            <a:srgbClr val="FF0000"/>
                          </a:solidFill>
                          <a:latin typeface="Consolas" panose="020B0609020204030204" pitchFamily="49" charset="0"/>
                        </a:rPr>
                        <a:t>-4</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s-CO" sz="1200" b="1" dirty="0">
                          <a:solidFill>
                            <a:srgbClr val="FF0000"/>
                          </a:solidFill>
                          <a:latin typeface="Consolas" panose="020B0609020204030204" pitchFamily="49" charset="0"/>
                        </a:rPr>
                        <a:t>-3</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s-CO" sz="1200" b="1" dirty="0">
                          <a:solidFill>
                            <a:srgbClr val="FF0000"/>
                          </a:solidFill>
                          <a:latin typeface="Consolas" panose="020B0609020204030204" pitchFamily="49" charset="0"/>
                        </a:rPr>
                        <a:t>-2</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s-CO" sz="1200" b="1" dirty="0">
                          <a:solidFill>
                            <a:srgbClr val="FF0000"/>
                          </a:solidFill>
                          <a:latin typeface="Consolas" panose="020B0609020204030204" pitchFamily="49" charset="0"/>
                        </a:rPr>
                        <a:t>-1</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07577084"/>
                  </a:ext>
                </a:extLst>
              </a:tr>
            </a:tbl>
          </a:graphicData>
        </a:graphic>
      </p:graphicFrame>
      <p:graphicFrame>
        <p:nvGraphicFramePr>
          <p:cNvPr id="10" name="Tabla 9">
            <a:extLst>
              <a:ext uri="{FF2B5EF4-FFF2-40B4-BE49-F238E27FC236}">
                <a16:creationId xmlns:a16="http://schemas.microsoft.com/office/drawing/2014/main" id="{60E29E72-9C54-4135-ACBD-2E31380C4FB4}"/>
              </a:ext>
            </a:extLst>
          </p:cNvPr>
          <p:cNvGraphicFramePr>
            <a:graphicFrameLocks noGrp="1"/>
          </p:cNvGraphicFramePr>
          <p:nvPr>
            <p:extLst>
              <p:ext uri="{D42A27DB-BD31-4B8C-83A1-F6EECF244321}">
                <p14:modId xmlns:p14="http://schemas.microsoft.com/office/powerpoint/2010/main" val="60037339"/>
              </p:ext>
            </p:extLst>
          </p:nvPr>
        </p:nvGraphicFramePr>
        <p:xfrm>
          <a:off x="6084168" y="5724175"/>
          <a:ext cx="1944216" cy="914400"/>
        </p:xfrm>
        <a:graphic>
          <a:graphicData uri="http://schemas.openxmlformats.org/drawingml/2006/table">
            <a:tbl>
              <a:tblPr firstRow="1" bandRow="1">
                <a:tableStyleId>{5940675A-B579-460E-94D1-54222C63F5DA}</a:tableStyleId>
              </a:tblPr>
              <a:tblGrid>
                <a:gridCol w="486054">
                  <a:extLst>
                    <a:ext uri="{9D8B030D-6E8A-4147-A177-3AD203B41FA5}">
                      <a16:colId xmlns:a16="http://schemas.microsoft.com/office/drawing/2014/main" val="2528789048"/>
                    </a:ext>
                  </a:extLst>
                </a:gridCol>
                <a:gridCol w="486054">
                  <a:extLst>
                    <a:ext uri="{9D8B030D-6E8A-4147-A177-3AD203B41FA5}">
                      <a16:colId xmlns:a16="http://schemas.microsoft.com/office/drawing/2014/main" val="2119767178"/>
                    </a:ext>
                  </a:extLst>
                </a:gridCol>
                <a:gridCol w="486054">
                  <a:extLst>
                    <a:ext uri="{9D8B030D-6E8A-4147-A177-3AD203B41FA5}">
                      <a16:colId xmlns:a16="http://schemas.microsoft.com/office/drawing/2014/main" val="917484916"/>
                    </a:ext>
                  </a:extLst>
                </a:gridCol>
                <a:gridCol w="486054">
                  <a:extLst>
                    <a:ext uri="{9D8B030D-6E8A-4147-A177-3AD203B41FA5}">
                      <a16:colId xmlns:a16="http://schemas.microsoft.com/office/drawing/2014/main" val="915207115"/>
                    </a:ext>
                  </a:extLst>
                </a:gridCol>
              </a:tblGrid>
              <a:tr h="0">
                <a:tc>
                  <a:txBody>
                    <a:bodyPr/>
                    <a:lstStyle/>
                    <a:p>
                      <a:pPr algn="ctr"/>
                      <a:r>
                        <a:rPr lang="es-CO" sz="1200" b="1" dirty="0">
                          <a:solidFill>
                            <a:srgbClr val="FF0000"/>
                          </a:solidFill>
                          <a:latin typeface="Consolas" panose="020B0609020204030204" pitchFamily="49" charset="0"/>
                        </a:rPr>
                        <a:t>0</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200" b="1" dirty="0">
                          <a:solidFill>
                            <a:srgbClr val="FF0000"/>
                          </a:solidFill>
                          <a:latin typeface="Consolas" panose="020B0609020204030204" pitchFamily="49" charset="0"/>
                        </a:rPr>
                        <a:t>1</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200" b="1" dirty="0">
                          <a:solidFill>
                            <a:srgbClr val="FF0000"/>
                          </a:solidFill>
                          <a:latin typeface="Consolas" panose="020B0609020204030204" pitchFamily="49" charset="0"/>
                        </a:rPr>
                        <a:t>2</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200" b="1" dirty="0">
                          <a:solidFill>
                            <a:srgbClr val="FF0000"/>
                          </a:solidFill>
                          <a:latin typeface="Consolas" panose="020B0609020204030204" pitchFamily="49" charset="0"/>
                        </a:rPr>
                        <a:t>3</a:t>
                      </a:r>
                    </a:p>
                  </a:txBody>
                  <a:tcPr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5003687"/>
                  </a:ext>
                </a:extLst>
              </a:tr>
              <a:tr h="0">
                <a:tc>
                  <a:txBody>
                    <a:bodyPr/>
                    <a:lstStyle/>
                    <a:p>
                      <a:pPr algn="ctr"/>
                      <a:r>
                        <a:rPr lang="es-CO" sz="1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800" dirty="0">
                          <a:latin typeface="Consolas" panose="020B0609020204030204" pitchFamily="49"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800" dirty="0">
                          <a:latin typeface="Consolas" panose="020B0609020204030204" pitchFamily="49"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800" dirty="0">
                          <a:latin typeface="Consolas" panose="020B0609020204030204" pitchFamily="49"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5954232"/>
                  </a:ext>
                </a:extLst>
              </a:tr>
              <a:tr h="0">
                <a:tc>
                  <a:txBody>
                    <a:bodyPr/>
                    <a:lstStyle/>
                    <a:p>
                      <a:pPr algn="ctr"/>
                      <a:r>
                        <a:rPr lang="es-CO" sz="1200" b="1" dirty="0">
                          <a:solidFill>
                            <a:srgbClr val="FF0000"/>
                          </a:solidFill>
                          <a:latin typeface="Consolas" panose="020B0609020204030204" pitchFamily="49" charset="0"/>
                        </a:rPr>
                        <a:t>-4</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s-CO" sz="1200" b="1" dirty="0">
                          <a:solidFill>
                            <a:srgbClr val="FF0000"/>
                          </a:solidFill>
                          <a:latin typeface="Consolas" panose="020B0609020204030204" pitchFamily="49" charset="0"/>
                        </a:rPr>
                        <a:t>-3</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s-CO" sz="1200" b="1" dirty="0">
                          <a:solidFill>
                            <a:srgbClr val="FF0000"/>
                          </a:solidFill>
                          <a:latin typeface="Consolas" panose="020B0609020204030204" pitchFamily="49" charset="0"/>
                        </a:rPr>
                        <a:t>-2</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ctr"/>
                      <a:r>
                        <a:rPr lang="es-CO" sz="1200" b="1" dirty="0">
                          <a:solidFill>
                            <a:srgbClr val="FF0000"/>
                          </a:solidFill>
                          <a:latin typeface="Consolas" panose="020B0609020204030204" pitchFamily="49" charset="0"/>
                        </a:rPr>
                        <a:t>-1</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07577084"/>
                  </a:ext>
                </a:extLst>
              </a:tr>
            </a:tbl>
          </a:graphicData>
        </a:graphic>
      </p:graphicFrame>
      <p:sp>
        <p:nvSpPr>
          <p:cNvPr id="11" name="CuadroTexto 10">
            <a:extLst>
              <a:ext uri="{FF2B5EF4-FFF2-40B4-BE49-F238E27FC236}">
                <a16:creationId xmlns:a16="http://schemas.microsoft.com/office/drawing/2014/main" id="{4547FEF5-6B41-44AC-A192-557CEFD0D3E8}"/>
              </a:ext>
            </a:extLst>
          </p:cNvPr>
          <p:cNvSpPr txBox="1"/>
          <p:nvPr/>
        </p:nvSpPr>
        <p:spPr>
          <a:xfrm>
            <a:off x="412965" y="4166256"/>
            <a:ext cx="3918159" cy="1569660"/>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 Cadena (</a:t>
            </a:r>
            <a:r>
              <a:rPr lang="es-MX" sz="1200" dirty="0" err="1">
                <a:latin typeface="Consolas" panose="020B0609020204030204" pitchFamily="49" charset="0"/>
              </a:rPr>
              <a:t>str</a:t>
            </a:r>
            <a:r>
              <a:rPr lang="es-MX" sz="1200" dirty="0">
                <a:latin typeface="Consolas" panose="020B0609020204030204" pitchFamily="49" charset="0"/>
              </a:rPr>
              <a:t>)</a:t>
            </a:r>
          </a:p>
          <a:p>
            <a:r>
              <a:rPr lang="es-MX" sz="1200" dirty="0">
                <a:latin typeface="Consolas" panose="020B0609020204030204" pitchFamily="49" charset="0"/>
              </a:rPr>
              <a:t>Lenguaje = "Python"</a:t>
            </a:r>
          </a:p>
          <a:p>
            <a:endParaRPr lang="es-MX" sz="1200" dirty="0">
              <a:latin typeface="Consolas" panose="020B0609020204030204" pitchFamily="49" charset="0"/>
            </a:endParaRPr>
          </a:p>
          <a:p>
            <a:r>
              <a:rPr lang="es-MX" sz="1200" dirty="0">
                <a:latin typeface="Consolas" panose="020B0609020204030204" pitchFamily="49" charset="0"/>
              </a:rPr>
              <a:t># List (list)</a:t>
            </a:r>
          </a:p>
          <a:p>
            <a:r>
              <a:rPr lang="es-MX" sz="1200" dirty="0">
                <a:latin typeface="Consolas" panose="020B0609020204030204" pitchFamily="49" charset="0"/>
              </a:rPr>
              <a:t>lenguajes = ["Python", "C", "C++", "Java"]</a:t>
            </a:r>
          </a:p>
          <a:p>
            <a:endParaRPr lang="es-MX" sz="1200" dirty="0">
              <a:latin typeface="Consolas" panose="020B0609020204030204" pitchFamily="49" charset="0"/>
            </a:endParaRPr>
          </a:p>
          <a:p>
            <a:r>
              <a:rPr lang="es-MX" sz="1200" dirty="0">
                <a:latin typeface="Consolas" panose="020B0609020204030204" pitchFamily="49" charset="0"/>
              </a:rPr>
              <a:t># range (range)</a:t>
            </a:r>
          </a:p>
          <a:p>
            <a:r>
              <a:rPr lang="es-MX" sz="1200" dirty="0">
                <a:latin typeface="Consolas" panose="020B0609020204030204" pitchFamily="49" charset="0"/>
              </a:rPr>
              <a:t>Numeros = range(1,5,1)</a:t>
            </a:r>
            <a:endParaRPr lang="es-MX" sz="1200" dirty="0">
              <a:solidFill>
                <a:srgbClr val="00B050"/>
              </a:solidFill>
              <a:latin typeface="Consolas" panose="020B0609020204030204" pitchFamily="49" charset="0"/>
            </a:endParaRPr>
          </a:p>
        </p:txBody>
      </p:sp>
    </p:spTree>
    <p:extLst>
      <p:ext uri="{BB962C8B-B14F-4D97-AF65-F5344CB8AC3E}">
        <p14:creationId xmlns:p14="http://schemas.microsoft.com/office/powerpoint/2010/main" val="569481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207684"/>
            <a:ext cx="8387126" cy="710952"/>
          </a:xfrm>
        </p:spPr>
        <p:txBody>
          <a:bodyPr>
            <a:normAutofit/>
          </a:bodyPr>
          <a:lstStyle/>
          <a:p>
            <a:r>
              <a:rPr lang="es-CO" dirty="0"/>
              <a:t>Secuencias: Listas</a:t>
            </a:r>
          </a:p>
        </p:txBody>
      </p:sp>
      <p:sp>
        <p:nvSpPr>
          <p:cNvPr id="13" name="12 Rectángulo"/>
          <p:cNvSpPr/>
          <p:nvPr/>
        </p:nvSpPr>
        <p:spPr>
          <a:xfrm>
            <a:off x="145315" y="952983"/>
            <a:ext cx="5002749" cy="3170099"/>
          </a:xfrm>
          <a:prstGeom prst="rect">
            <a:avLst/>
          </a:prstGeom>
        </p:spPr>
        <p:txBody>
          <a:bodyPr wrap="square">
            <a:spAutoFit/>
          </a:bodyPr>
          <a:lstStyle/>
          <a:p>
            <a:pPr marL="342900" indent="-342900" rtl="0">
              <a:buFont typeface="Arial" panose="020B0604020202020204" pitchFamily="34" charset="0"/>
              <a:buChar char="•"/>
            </a:pPr>
            <a:r>
              <a:rPr lang="es-MX" sz="2000" dirty="0"/>
              <a:t>Una lista es una secuencia </a:t>
            </a:r>
            <a:r>
              <a:rPr lang="es-MX" sz="2000" b="1" dirty="0"/>
              <a:t>mutable</a:t>
            </a:r>
            <a:r>
              <a:rPr lang="es-MX" sz="2000" dirty="0"/>
              <a:t> (que se puede cambiar) y ordenada de elementos, escrita entre corchetes [ ]. </a:t>
            </a:r>
          </a:p>
          <a:p>
            <a:pPr marL="342900" indent="-342900" rtl="0">
              <a:buFont typeface="Arial" panose="020B0604020202020204" pitchFamily="34" charset="0"/>
              <a:buChar char="•"/>
            </a:pPr>
            <a:r>
              <a:rPr lang="es-MX" sz="2000" dirty="0"/>
              <a:t>Puede contener cualquier tipo de dato</a:t>
            </a:r>
            <a:r>
              <a:rPr lang="es-CO" sz="2000" dirty="0"/>
              <a:t> (enteros, flotantes, cadenas o incluso diferentes tipos).</a:t>
            </a:r>
          </a:p>
          <a:p>
            <a:pPr marL="342900" indent="-342900" rtl="0">
              <a:buFont typeface="Arial" panose="020B0604020202020204" pitchFamily="34" charset="0"/>
              <a:buChar char="•"/>
            </a:pPr>
            <a:r>
              <a:rPr lang="es-CO" sz="2000" dirty="0"/>
              <a:t>La lista es por así decirlo, el equivalente en programación (sin ser estricto) a los arreglos.</a:t>
            </a:r>
          </a:p>
          <a:p>
            <a:pPr marL="342900" indent="-342900" rtl="0">
              <a:buFont typeface="Arial" panose="020B0604020202020204" pitchFamily="34" charset="0"/>
              <a:buChar char="•"/>
            </a:pPr>
            <a:r>
              <a:rPr lang="es-CO" sz="2000" dirty="0"/>
              <a:t>Una lista puede almacenar otras listas.</a:t>
            </a:r>
            <a:endParaRPr lang="es-MX" sz="2000" dirty="0"/>
          </a:p>
        </p:txBody>
      </p:sp>
      <p:sp>
        <p:nvSpPr>
          <p:cNvPr id="11" name="CuadroTexto 10">
            <a:extLst>
              <a:ext uri="{FF2B5EF4-FFF2-40B4-BE49-F238E27FC236}">
                <a16:creationId xmlns:a16="http://schemas.microsoft.com/office/drawing/2014/main" id="{4547FEF5-6B41-44AC-A192-557CEFD0D3E8}"/>
              </a:ext>
            </a:extLst>
          </p:cNvPr>
          <p:cNvSpPr txBox="1"/>
          <p:nvPr/>
        </p:nvSpPr>
        <p:spPr>
          <a:xfrm>
            <a:off x="498447" y="4373162"/>
            <a:ext cx="4296481" cy="1569660"/>
          </a:xfrm>
          <a:prstGeom prst="rect">
            <a:avLst/>
          </a:prstGeom>
          <a:noFill/>
          <a:ln>
            <a:solidFill>
              <a:schemeClr val="tx1"/>
            </a:solidFill>
          </a:ln>
        </p:spPr>
        <p:txBody>
          <a:bodyPr wrap="square" rtlCol="0">
            <a:spAutoFit/>
          </a:bodyPr>
          <a:lstStyle/>
          <a:p>
            <a:r>
              <a:rPr lang="es-MX" sz="1600" dirty="0">
                <a:latin typeface="Consolas" panose="020B0609020204030204" pitchFamily="49" charset="0"/>
              </a:rPr>
              <a:t>L1 = []</a:t>
            </a:r>
          </a:p>
          <a:p>
            <a:r>
              <a:rPr lang="es-MX" sz="1600" dirty="0">
                <a:latin typeface="Consolas" panose="020B0609020204030204" pitchFamily="49" charset="0"/>
              </a:rPr>
              <a:t>L2 = ["amarillo", "azul", "rojo"]</a:t>
            </a:r>
          </a:p>
          <a:p>
            <a:r>
              <a:rPr lang="es-MX" sz="1600" dirty="0">
                <a:latin typeface="Consolas" panose="020B0609020204030204" pitchFamily="49" charset="0"/>
              </a:rPr>
              <a:t>L3 = [1, 2, 3, 4]</a:t>
            </a:r>
          </a:p>
          <a:p>
            <a:r>
              <a:rPr lang="es-MX" sz="1600" dirty="0">
                <a:latin typeface="Consolas" panose="020B0609020204030204" pitchFamily="49" charset="0"/>
              </a:rPr>
              <a:t>L4 = ["uno", 1.0, 1]</a:t>
            </a:r>
          </a:p>
          <a:p>
            <a:r>
              <a:rPr lang="es-MX" sz="1600" dirty="0">
                <a:latin typeface="Consolas" panose="020B0609020204030204" pitchFamily="49" charset="0"/>
              </a:rPr>
              <a:t>L5 = [True, False] </a:t>
            </a:r>
          </a:p>
          <a:p>
            <a:r>
              <a:rPr lang="es-MX" sz="1600" dirty="0">
                <a:latin typeface="Consolas" panose="020B0609020204030204" pitchFamily="49" charset="0"/>
              </a:rPr>
              <a:t>L6 = [[1, 2, 3],[4, 5, 6],[7, 8, 9]]</a:t>
            </a:r>
          </a:p>
        </p:txBody>
      </p:sp>
      <p:sp>
        <p:nvSpPr>
          <p:cNvPr id="12" name="CuadroTexto 11">
            <a:extLst>
              <a:ext uri="{FF2B5EF4-FFF2-40B4-BE49-F238E27FC236}">
                <a16:creationId xmlns:a16="http://schemas.microsoft.com/office/drawing/2014/main" id="{E8C4C7DD-0F7A-42E8-905D-027643B7D136}"/>
              </a:ext>
            </a:extLst>
          </p:cNvPr>
          <p:cNvSpPr txBox="1"/>
          <p:nvPr/>
        </p:nvSpPr>
        <p:spPr>
          <a:xfrm>
            <a:off x="1873794" y="5942822"/>
            <a:ext cx="1545785" cy="276999"/>
          </a:xfrm>
          <a:prstGeom prst="rect">
            <a:avLst/>
          </a:prstGeom>
          <a:noFill/>
        </p:spPr>
        <p:txBody>
          <a:bodyPr wrap="square" rtlCol="0">
            <a:spAutoFit/>
          </a:bodyPr>
          <a:lstStyle/>
          <a:p>
            <a:pPr algn="ctr"/>
            <a:r>
              <a:rPr lang="es-MX" sz="1200" dirty="0">
                <a:hlinkClick r:id="rId2"/>
              </a:rPr>
              <a:t>Link de ejecución</a:t>
            </a:r>
            <a:endParaRPr lang="es-CO" sz="1200" dirty="0"/>
          </a:p>
        </p:txBody>
      </p:sp>
      <p:pic>
        <p:nvPicPr>
          <p:cNvPr id="4" name="Imagen 3">
            <a:extLst>
              <a:ext uri="{FF2B5EF4-FFF2-40B4-BE49-F238E27FC236}">
                <a16:creationId xmlns:a16="http://schemas.microsoft.com/office/drawing/2014/main" id="{D1FDFA90-048C-4D1E-B44A-4A2625087256}"/>
              </a:ext>
            </a:extLst>
          </p:cNvPr>
          <p:cNvPicPr>
            <a:picLocks noChangeAspect="1"/>
          </p:cNvPicPr>
          <p:nvPr/>
        </p:nvPicPr>
        <p:blipFill>
          <a:blip r:embed="rId3"/>
          <a:stretch>
            <a:fillRect/>
          </a:stretch>
        </p:blipFill>
        <p:spPr>
          <a:xfrm>
            <a:off x="5181622" y="952983"/>
            <a:ext cx="3710858" cy="5449369"/>
          </a:xfrm>
          <a:prstGeom prst="rect">
            <a:avLst/>
          </a:prstGeom>
        </p:spPr>
      </p:pic>
    </p:spTree>
    <p:extLst>
      <p:ext uri="{BB962C8B-B14F-4D97-AF65-F5344CB8AC3E}">
        <p14:creationId xmlns:p14="http://schemas.microsoft.com/office/powerpoint/2010/main" val="25490621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207684"/>
            <a:ext cx="8387126" cy="710952"/>
          </a:xfrm>
        </p:spPr>
        <p:txBody>
          <a:bodyPr>
            <a:normAutofit/>
          </a:bodyPr>
          <a:lstStyle/>
          <a:p>
            <a:r>
              <a:rPr lang="es-CO" dirty="0"/>
              <a:t>Secuencias: Cadenas</a:t>
            </a:r>
          </a:p>
        </p:txBody>
      </p:sp>
      <p:sp>
        <p:nvSpPr>
          <p:cNvPr id="13" name="12 Rectángulo"/>
          <p:cNvSpPr/>
          <p:nvPr/>
        </p:nvSpPr>
        <p:spPr>
          <a:xfrm>
            <a:off x="145314" y="952983"/>
            <a:ext cx="8747165" cy="2554545"/>
          </a:xfrm>
          <a:prstGeom prst="rect">
            <a:avLst/>
          </a:prstGeom>
        </p:spPr>
        <p:txBody>
          <a:bodyPr wrap="square">
            <a:spAutoFit/>
          </a:bodyPr>
          <a:lstStyle/>
          <a:p>
            <a:pPr marL="342900" indent="-342900" rtl="0">
              <a:buFont typeface="Arial" panose="020B0604020202020204" pitchFamily="34" charset="0"/>
              <a:buChar char="•"/>
            </a:pPr>
            <a:r>
              <a:rPr lang="es-MX" sz="2000" dirty="0"/>
              <a:t>Como vimos al principio del curso, una cadena es una secuencia inmutable (no se puede cambiar) y ordenada de  caracteres, escrita entre comillas simples </a:t>
            </a:r>
            <a:r>
              <a:rPr lang="es-MX" b="1" dirty="0">
                <a:latin typeface="Consolas" panose="020B0609020204030204" pitchFamily="49" charset="0"/>
              </a:rPr>
              <a:t>' '</a:t>
            </a:r>
            <a:r>
              <a:rPr lang="es-MX" sz="2000" dirty="0"/>
              <a:t> o dobles </a:t>
            </a:r>
            <a:r>
              <a:rPr lang="es-MX" b="1" dirty="0">
                <a:latin typeface="Consolas" panose="020B0609020204030204" pitchFamily="49" charset="0"/>
              </a:rPr>
              <a:t>" "</a:t>
            </a:r>
            <a:r>
              <a:rPr lang="es-MX" sz="2000" dirty="0"/>
              <a:t>.</a:t>
            </a:r>
          </a:p>
          <a:p>
            <a:pPr marL="342900" indent="-342900" rtl="0">
              <a:buFont typeface="Arial" panose="020B0604020202020204" pitchFamily="34" charset="0"/>
              <a:buChar char="•"/>
            </a:pPr>
            <a:r>
              <a:rPr lang="es-MX" sz="2000" dirty="0"/>
              <a:t>Se comporta como una lista de caracteres: se puede recorrer, indexar y medir con </a:t>
            </a:r>
            <a:r>
              <a:rPr lang="es-MX" b="1" dirty="0">
                <a:latin typeface="Consolas" panose="020B0609020204030204" pitchFamily="49" charset="0"/>
              </a:rPr>
              <a:t>len()</a:t>
            </a:r>
            <a:r>
              <a:rPr lang="es-MX" sz="2000" dirty="0"/>
              <a:t>, pero a diferencia de la lista, no se puede modificar directamente.</a:t>
            </a:r>
          </a:p>
          <a:p>
            <a:pPr marL="342900" indent="-342900" rtl="0">
              <a:buFont typeface="Arial" panose="020B0604020202020204" pitchFamily="34" charset="0"/>
              <a:buChar char="•"/>
            </a:pPr>
            <a:r>
              <a:rPr lang="es-MX" sz="2000" dirty="0"/>
              <a:t>Aunque "contenga" números, una cadena sigue siendo texto: </a:t>
            </a:r>
            <a:r>
              <a:rPr lang="es-MX" b="1" dirty="0">
                <a:latin typeface="Consolas" panose="020B0609020204030204" pitchFamily="49" charset="0"/>
              </a:rPr>
              <a:t>"123"</a:t>
            </a:r>
            <a:r>
              <a:rPr lang="es-MX" sz="2000" dirty="0"/>
              <a:t> no es lo mismo que el entero </a:t>
            </a:r>
            <a:r>
              <a:rPr lang="es-MX" b="1" dirty="0">
                <a:latin typeface="Consolas" panose="020B0609020204030204" pitchFamily="49" charset="0"/>
              </a:rPr>
              <a:t>123</a:t>
            </a:r>
            <a:r>
              <a:rPr lang="es-MX" sz="2000" dirty="0"/>
              <a:t>.</a:t>
            </a:r>
          </a:p>
          <a:p>
            <a:pPr marL="342900" indent="-342900" rtl="0">
              <a:buFont typeface="Arial" panose="020B0604020202020204" pitchFamily="34" charset="0"/>
              <a:buChar char="•"/>
            </a:pPr>
            <a:r>
              <a:rPr lang="es-MX" sz="2000" dirty="0"/>
              <a:t>Con comillas triples (</a:t>
            </a:r>
            <a:r>
              <a:rPr lang="es-MX" b="1" dirty="0">
                <a:latin typeface="Consolas" panose="020B0609020204030204" pitchFamily="49" charset="0"/>
              </a:rPr>
              <a:t>'''</a:t>
            </a:r>
            <a:r>
              <a:rPr lang="es-MX" sz="2000" dirty="0"/>
              <a:t> o </a:t>
            </a:r>
            <a:r>
              <a:rPr lang="es-MX" b="1" dirty="0">
                <a:latin typeface="Consolas" panose="020B0609020204030204" pitchFamily="49" charset="0"/>
              </a:rPr>
              <a:t>"""</a:t>
            </a:r>
            <a:r>
              <a:rPr lang="es-MX" sz="2000" dirty="0"/>
              <a:t>) se pueden escribir cadenas de varias líneas.</a:t>
            </a:r>
          </a:p>
        </p:txBody>
      </p:sp>
      <p:sp>
        <p:nvSpPr>
          <p:cNvPr id="11" name="CuadroTexto 10">
            <a:extLst>
              <a:ext uri="{FF2B5EF4-FFF2-40B4-BE49-F238E27FC236}">
                <a16:creationId xmlns:a16="http://schemas.microsoft.com/office/drawing/2014/main" id="{4547FEF5-6B41-44AC-A192-557CEFD0D3E8}"/>
              </a:ext>
            </a:extLst>
          </p:cNvPr>
          <p:cNvSpPr txBox="1"/>
          <p:nvPr/>
        </p:nvSpPr>
        <p:spPr>
          <a:xfrm>
            <a:off x="611560" y="3717032"/>
            <a:ext cx="3240360" cy="1815882"/>
          </a:xfrm>
          <a:prstGeom prst="rect">
            <a:avLst/>
          </a:prstGeom>
          <a:noFill/>
          <a:ln>
            <a:solidFill>
              <a:schemeClr val="tx1"/>
            </a:solidFill>
          </a:ln>
        </p:spPr>
        <p:txBody>
          <a:bodyPr wrap="square" rtlCol="0">
            <a:spAutoFit/>
          </a:bodyPr>
          <a:lstStyle/>
          <a:p>
            <a:r>
              <a:rPr lang="es-MX" sz="1600" dirty="0">
                <a:latin typeface="Consolas" panose="020B0609020204030204" pitchFamily="49" charset="0"/>
              </a:rPr>
              <a:t>C1 = ""</a:t>
            </a:r>
          </a:p>
          <a:p>
            <a:r>
              <a:rPr lang="es-MX" sz="1600" dirty="0">
                <a:latin typeface="Consolas" panose="020B0609020204030204" pitchFamily="49" charset="0"/>
              </a:rPr>
              <a:t>C2 = "Hola mundo"</a:t>
            </a:r>
          </a:p>
          <a:p>
            <a:r>
              <a:rPr lang="es-MX" sz="1600" dirty="0">
                <a:latin typeface="Consolas" panose="020B0609020204030204" pitchFamily="49" charset="0"/>
              </a:rPr>
              <a:t>C3 = 'Python'</a:t>
            </a:r>
          </a:p>
          <a:p>
            <a:r>
              <a:rPr lang="es-MX" sz="1600" dirty="0">
                <a:latin typeface="Consolas" panose="020B0609020204030204" pitchFamily="49" charset="0"/>
              </a:rPr>
              <a:t>C4 = "123"</a:t>
            </a:r>
          </a:p>
          <a:p>
            <a:r>
              <a:rPr lang="es-MX" sz="1600" dirty="0">
                <a:latin typeface="Consolas" panose="020B0609020204030204" pitchFamily="49" charset="0"/>
              </a:rPr>
              <a:t>C5 = "Línea 1\</a:t>
            </a:r>
            <a:r>
              <a:rPr lang="es-MX" sz="1600" dirty="0" err="1">
                <a:latin typeface="Consolas" panose="020B0609020204030204" pitchFamily="49" charset="0"/>
              </a:rPr>
              <a:t>nLínea</a:t>
            </a:r>
            <a:r>
              <a:rPr lang="es-MX" sz="1600" dirty="0">
                <a:latin typeface="Consolas" panose="020B0609020204030204" pitchFamily="49" charset="0"/>
              </a:rPr>
              <a:t> 2"</a:t>
            </a:r>
          </a:p>
          <a:p>
            <a:r>
              <a:rPr lang="es-MX" sz="1600" dirty="0">
                <a:latin typeface="Consolas" panose="020B0609020204030204" pitchFamily="49" charset="0"/>
              </a:rPr>
              <a:t>C6 = """Varias</a:t>
            </a:r>
          </a:p>
          <a:p>
            <a:r>
              <a:rPr lang="es-MX" sz="1600" dirty="0">
                <a:latin typeface="Consolas" panose="020B0609020204030204" pitchFamily="49" charset="0"/>
              </a:rPr>
              <a:t>líneas"""</a:t>
            </a:r>
          </a:p>
        </p:txBody>
      </p:sp>
      <p:pic>
        <p:nvPicPr>
          <p:cNvPr id="3" name="Imagen 2">
            <a:extLst>
              <a:ext uri="{FF2B5EF4-FFF2-40B4-BE49-F238E27FC236}">
                <a16:creationId xmlns:a16="http://schemas.microsoft.com/office/drawing/2014/main" id="{8DA77D08-C907-44A2-A0DE-24121A0120BB}"/>
              </a:ext>
            </a:extLst>
          </p:cNvPr>
          <p:cNvPicPr>
            <a:picLocks noChangeAspect="1"/>
          </p:cNvPicPr>
          <p:nvPr/>
        </p:nvPicPr>
        <p:blipFill>
          <a:blip r:embed="rId2"/>
          <a:stretch>
            <a:fillRect/>
          </a:stretch>
        </p:blipFill>
        <p:spPr>
          <a:xfrm>
            <a:off x="4716016" y="3807944"/>
            <a:ext cx="2789408" cy="2789408"/>
          </a:xfrm>
          <a:prstGeom prst="rect">
            <a:avLst/>
          </a:prstGeom>
        </p:spPr>
      </p:pic>
      <p:sp>
        <p:nvSpPr>
          <p:cNvPr id="7" name="CuadroTexto 6">
            <a:extLst>
              <a:ext uri="{FF2B5EF4-FFF2-40B4-BE49-F238E27FC236}">
                <a16:creationId xmlns:a16="http://schemas.microsoft.com/office/drawing/2014/main" id="{E0F72EE9-40B0-4C65-BB76-0772A1EBE037}"/>
              </a:ext>
            </a:extLst>
          </p:cNvPr>
          <p:cNvSpPr txBox="1"/>
          <p:nvPr/>
        </p:nvSpPr>
        <p:spPr>
          <a:xfrm>
            <a:off x="1458847" y="5582178"/>
            <a:ext cx="1545785" cy="276999"/>
          </a:xfrm>
          <a:prstGeom prst="rect">
            <a:avLst/>
          </a:prstGeom>
          <a:noFill/>
        </p:spPr>
        <p:txBody>
          <a:bodyPr wrap="square" rtlCol="0">
            <a:spAutoFit/>
          </a:bodyPr>
          <a:lstStyle/>
          <a:p>
            <a:pPr algn="ctr"/>
            <a:r>
              <a:rPr lang="es-MX" sz="1200" dirty="0">
                <a:hlinkClick r:id="rId3"/>
              </a:rPr>
              <a:t>Link de ejecución</a:t>
            </a:r>
            <a:endParaRPr lang="es-CO" sz="1200" dirty="0"/>
          </a:p>
        </p:txBody>
      </p:sp>
    </p:spTree>
    <p:extLst>
      <p:ext uri="{BB962C8B-B14F-4D97-AF65-F5344CB8AC3E}">
        <p14:creationId xmlns:p14="http://schemas.microsoft.com/office/powerpoint/2010/main" val="15111795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207684"/>
            <a:ext cx="8387126" cy="710952"/>
          </a:xfrm>
        </p:spPr>
        <p:txBody>
          <a:bodyPr>
            <a:normAutofit/>
          </a:bodyPr>
          <a:lstStyle/>
          <a:p>
            <a:r>
              <a:rPr lang="es-CO" dirty="0"/>
              <a:t>Secuencias: range</a:t>
            </a:r>
          </a:p>
        </p:txBody>
      </p:sp>
      <p:sp>
        <p:nvSpPr>
          <p:cNvPr id="13" name="12 Rectángulo"/>
          <p:cNvSpPr/>
          <p:nvPr/>
        </p:nvSpPr>
        <p:spPr>
          <a:xfrm>
            <a:off x="140378" y="805240"/>
            <a:ext cx="8747165" cy="1938992"/>
          </a:xfrm>
          <a:prstGeom prst="rect">
            <a:avLst/>
          </a:prstGeom>
        </p:spPr>
        <p:txBody>
          <a:bodyPr wrap="square">
            <a:spAutoFit/>
          </a:bodyPr>
          <a:lstStyle/>
          <a:p>
            <a:pPr marL="342900" indent="-342900" rtl="0">
              <a:buFont typeface="Arial" panose="020B0604020202020204" pitchFamily="34" charset="0"/>
              <a:buChar char="•"/>
            </a:pPr>
            <a:r>
              <a:rPr lang="es-MX" b="1" dirty="0">
                <a:latin typeface="Consolas" panose="020B0609020204030204" pitchFamily="49" charset="0"/>
              </a:rPr>
              <a:t>range()</a:t>
            </a:r>
            <a:r>
              <a:rPr lang="es-MX" sz="2000" dirty="0"/>
              <a:t> genera una secuencia de números enteros; no acepta decimales.</a:t>
            </a:r>
          </a:p>
          <a:p>
            <a:pPr marL="342900" indent="-342900" rtl="0">
              <a:buFont typeface="Arial" panose="020B0604020202020204" pitchFamily="34" charset="0"/>
              <a:buChar char="•"/>
            </a:pPr>
            <a:r>
              <a:rPr lang="es-MX" sz="2000" b="1" dirty="0"/>
              <a:t>No es una lista</a:t>
            </a:r>
            <a:r>
              <a:rPr lang="es-MX" sz="2000" dirty="0"/>
              <a:t>: es un objeto de tipo range (inmutable). Para ver sus valores como lista, se usa </a:t>
            </a:r>
            <a:r>
              <a:rPr lang="es-MX" b="1" dirty="0">
                <a:latin typeface="Consolas" panose="020B0609020204030204" pitchFamily="49" charset="0"/>
              </a:rPr>
              <a:t>list(...)</a:t>
            </a:r>
            <a:r>
              <a:rPr lang="es-MX" sz="2000" dirty="0"/>
              <a:t>.</a:t>
            </a:r>
          </a:p>
          <a:p>
            <a:pPr marL="342900" indent="-342900" rtl="0">
              <a:buFont typeface="Arial" panose="020B0604020202020204" pitchFamily="34" charset="0"/>
              <a:buChar char="•"/>
            </a:pPr>
            <a:r>
              <a:rPr lang="es-MX" sz="2000" b="1" dirty="0"/>
              <a:t>Puede recibir uno, dos o tres argumentos</a:t>
            </a:r>
            <a:r>
              <a:rPr lang="es-MX" sz="2000" dirty="0"/>
              <a:t>: </a:t>
            </a:r>
            <a:r>
              <a:rPr lang="es-MX" b="1" dirty="0">
                <a:latin typeface="Consolas" panose="020B0609020204030204" pitchFamily="49" charset="0"/>
              </a:rPr>
              <a:t>range(fin)</a:t>
            </a:r>
            <a:r>
              <a:rPr lang="es-MX" sz="2000" dirty="0"/>
              <a:t>, </a:t>
            </a:r>
            <a:r>
              <a:rPr lang="es-MX" b="1" dirty="0">
                <a:latin typeface="Consolas" panose="020B0609020204030204" pitchFamily="49" charset="0"/>
              </a:rPr>
              <a:t>range(inicio, fin)</a:t>
            </a:r>
            <a:r>
              <a:rPr lang="es-MX" sz="2000" dirty="0"/>
              <a:t> o </a:t>
            </a:r>
            <a:r>
              <a:rPr lang="es-MX" b="1" dirty="0">
                <a:latin typeface="Consolas" panose="020B0609020204030204" pitchFamily="49" charset="0"/>
              </a:rPr>
              <a:t>range(inicio, fin, paso)</a:t>
            </a:r>
            <a:r>
              <a:rPr lang="es-MX" sz="2000" dirty="0"/>
              <a:t>. El límite final siempre queda excluido.</a:t>
            </a:r>
          </a:p>
          <a:p>
            <a:pPr marL="342900" indent="-342900" rtl="0">
              <a:buFont typeface="Arial" panose="020B0604020202020204" pitchFamily="34" charset="0"/>
              <a:buChar char="•"/>
            </a:pPr>
            <a:r>
              <a:rPr lang="es-MX" sz="2000" dirty="0"/>
              <a:t>El paso puede ser negativo, para generar una secuencia descendente.</a:t>
            </a:r>
          </a:p>
        </p:txBody>
      </p:sp>
      <p:sp>
        <p:nvSpPr>
          <p:cNvPr id="11" name="CuadroTexto 10">
            <a:extLst>
              <a:ext uri="{FF2B5EF4-FFF2-40B4-BE49-F238E27FC236}">
                <a16:creationId xmlns:a16="http://schemas.microsoft.com/office/drawing/2014/main" id="{4547FEF5-6B41-44AC-A192-557CEFD0D3E8}"/>
              </a:ext>
            </a:extLst>
          </p:cNvPr>
          <p:cNvSpPr txBox="1"/>
          <p:nvPr/>
        </p:nvSpPr>
        <p:spPr>
          <a:xfrm>
            <a:off x="1093018" y="3789040"/>
            <a:ext cx="3240360" cy="1569660"/>
          </a:xfrm>
          <a:prstGeom prst="rect">
            <a:avLst/>
          </a:prstGeom>
          <a:noFill/>
          <a:ln>
            <a:solidFill>
              <a:schemeClr val="tx1"/>
            </a:solidFill>
          </a:ln>
        </p:spPr>
        <p:txBody>
          <a:bodyPr wrap="square" rtlCol="0">
            <a:spAutoFit/>
          </a:bodyPr>
          <a:lstStyle/>
          <a:p>
            <a:r>
              <a:rPr lang="es-MX" sz="1600" dirty="0">
                <a:latin typeface="Consolas" panose="020B0609020204030204" pitchFamily="49" charset="0"/>
              </a:rPr>
              <a:t>R1 = range(0)</a:t>
            </a:r>
          </a:p>
          <a:p>
            <a:r>
              <a:rPr lang="es-MX" sz="1600" dirty="0">
                <a:latin typeface="Consolas" panose="020B0609020204030204" pitchFamily="49" charset="0"/>
              </a:rPr>
              <a:t>R2 = range(5)</a:t>
            </a:r>
          </a:p>
          <a:p>
            <a:r>
              <a:rPr lang="es-MX" sz="1600" dirty="0">
                <a:latin typeface="Consolas" panose="020B0609020204030204" pitchFamily="49" charset="0"/>
              </a:rPr>
              <a:t>R3 = range(1, 5)</a:t>
            </a:r>
          </a:p>
          <a:p>
            <a:r>
              <a:rPr lang="es-MX" sz="1600" dirty="0">
                <a:latin typeface="Consolas" panose="020B0609020204030204" pitchFamily="49" charset="0"/>
              </a:rPr>
              <a:t>R4 = range(1, 10, 2)</a:t>
            </a:r>
          </a:p>
          <a:p>
            <a:r>
              <a:rPr lang="es-MX" sz="1600" dirty="0">
                <a:latin typeface="Consolas" panose="020B0609020204030204" pitchFamily="49" charset="0"/>
              </a:rPr>
              <a:t>R5 = range(10, 0, -1)</a:t>
            </a:r>
          </a:p>
          <a:p>
            <a:r>
              <a:rPr lang="es-MX" sz="1600" dirty="0">
                <a:latin typeface="Consolas" panose="020B0609020204030204" pitchFamily="49" charset="0"/>
              </a:rPr>
              <a:t>R6 = list(range(5))</a:t>
            </a:r>
          </a:p>
        </p:txBody>
      </p:sp>
      <p:sp>
        <p:nvSpPr>
          <p:cNvPr id="7" name="CuadroTexto 6">
            <a:extLst>
              <a:ext uri="{FF2B5EF4-FFF2-40B4-BE49-F238E27FC236}">
                <a16:creationId xmlns:a16="http://schemas.microsoft.com/office/drawing/2014/main" id="{E0F72EE9-40B0-4C65-BB76-0772A1EBE037}"/>
              </a:ext>
            </a:extLst>
          </p:cNvPr>
          <p:cNvSpPr txBox="1"/>
          <p:nvPr/>
        </p:nvSpPr>
        <p:spPr>
          <a:xfrm>
            <a:off x="1898453" y="5369159"/>
            <a:ext cx="1545785" cy="276999"/>
          </a:xfrm>
          <a:prstGeom prst="rect">
            <a:avLst/>
          </a:prstGeom>
          <a:noFill/>
        </p:spPr>
        <p:txBody>
          <a:bodyPr wrap="square" rtlCol="0">
            <a:spAutoFit/>
          </a:bodyPr>
          <a:lstStyle/>
          <a:p>
            <a:pPr algn="ctr"/>
            <a:r>
              <a:rPr lang="es-MX" sz="1200" dirty="0">
                <a:hlinkClick r:id="rId2"/>
              </a:rPr>
              <a:t>Link de ejecución</a:t>
            </a:r>
            <a:endParaRPr lang="es-CO" sz="1200" dirty="0"/>
          </a:p>
        </p:txBody>
      </p:sp>
      <p:pic>
        <p:nvPicPr>
          <p:cNvPr id="4" name="Imagen 3">
            <a:extLst>
              <a:ext uri="{FF2B5EF4-FFF2-40B4-BE49-F238E27FC236}">
                <a16:creationId xmlns:a16="http://schemas.microsoft.com/office/drawing/2014/main" id="{8DB76B3D-B6B4-46FD-B6C2-AA578C6E756A}"/>
              </a:ext>
            </a:extLst>
          </p:cNvPr>
          <p:cNvPicPr>
            <a:picLocks noChangeAspect="1"/>
          </p:cNvPicPr>
          <p:nvPr/>
        </p:nvPicPr>
        <p:blipFill>
          <a:blip r:embed="rId3"/>
          <a:stretch>
            <a:fillRect/>
          </a:stretch>
        </p:blipFill>
        <p:spPr>
          <a:xfrm>
            <a:off x="5292080" y="2846914"/>
            <a:ext cx="3054995" cy="3890027"/>
          </a:xfrm>
          <a:prstGeom prst="rect">
            <a:avLst/>
          </a:prstGeom>
        </p:spPr>
      </p:pic>
    </p:spTree>
    <p:extLst>
      <p:ext uri="{BB962C8B-B14F-4D97-AF65-F5344CB8AC3E}">
        <p14:creationId xmlns:p14="http://schemas.microsoft.com/office/powerpoint/2010/main" val="8668874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207684"/>
            <a:ext cx="8858308" cy="710952"/>
          </a:xfrm>
        </p:spPr>
        <p:txBody>
          <a:bodyPr>
            <a:normAutofit fontScale="90000"/>
          </a:bodyPr>
          <a:lstStyle/>
          <a:p>
            <a:r>
              <a:rPr lang="es-CO" dirty="0"/>
              <a:t>El mismo for para tres secuencias distintas</a:t>
            </a:r>
          </a:p>
        </p:txBody>
      </p:sp>
      <p:sp>
        <p:nvSpPr>
          <p:cNvPr id="13" name="12 Rectángulo"/>
          <p:cNvSpPr/>
          <p:nvPr/>
        </p:nvSpPr>
        <p:spPr>
          <a:xfrm>
            <a:off x="140378" y="805240"/>
            <a:ext cx="8747165" cy="707886"/>
          </a:xfrm>
          <a:prstGeom prst="rect">
            <a:avLst/>
          </a:prstGeom>
        </p:spPr>
        <p:txBody>
          <a:bodyPr wrap="square">
            <a:spAutoFit/>
          </a:bodyPr>
          <a:lstStyle/>
          <a:p>
            <a:pPr marL="342900" indent="-342900" rtl="0">
              <a:buFont typeface="Arial" panose="020B0604020202020204" pitchFamily="34" charset="0"/>
              <a:buChar char="•"/>
            </a:pPr>
            <a:r>
              <a:rPr lang="es-MX" sz="2000" dirty="0"/>
              <a:t>Sin importar el tipo de secuencia, el </a:t>
            </a:r>
            <a:r>
              <a:rPr lang="es-MX" b="1" dirty="0">
                <a:latin typeface="Consolas" panose="020B0609020204030204" pitchFamily="49" charset="0"/>
              </a:rPr>
              <a:t>for</a:t>
            </a:r>
            <a:r>
              <a:rPr lang="es-MX" sz="2000" dirty="0"/>
              <a:t> de Python usa siempre la misma sintaxis. Lo único que cambia es la secuencia.</a:t>
            </a:r>
          </a:p>
        </p:txBody>
      </p:sp>
      <p:sp>
        <p:nvSpPr>
          <p:cNvPr id="11" name="CuadroTexto 10">
            <a:extLst>
              <a:ext uri="{FF2B5EF4-FFF2-40B4-BE49-F238E27FC236}">
                <a16:creationId xmlns:a16="http://schemas.microsoft.com/office/drawing/2014/main" id="{4547FEF5-6B41-44AC-A192-557CEFD0D3E8}"/>
              </a:ext>
            </a:extLst>
          </p:cNvPr>
          <p:cNvSpPr txBox="1"/>
          <p:nvPr/>
        </p:nvSpPr>
        <p:spPr>
          <a:xfrm>
            <a:off x="590130" y="2926375"/>
            <a:ext cx="3423510" cy="646331"/>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colores = ["Amarillo", "Azul", "Rojo"]</a:t>
            </a:r>
          </a:p>
          <a:p>
            <a:r>
              <a:rPr lang="es-MX" sz="1200" dirty="0">
                <a:latin typeface="Consolas" panose="020B0609020204030204" pitchFamily="49" charset="0"/>
              </a:rPr>
              <a:t>for color in colores: </a:t>
            </a:r>
          </a:p>
          <a:p>
            <a:r>
              <a:rPr lang="es-MX" sz="1200" dirty="0">
                <a:latin typeface="Consolas" panose="020B0609020204030204" pitchFamily="49" charset="0"/>
              </a:rPr>
              <a:t>  </a:t>
            </a:r>
            <a:r>
              <a:rPr lang="es-MX" sz="1200" dirty="0" err="1">
                <a:latin typeface="Consolas" panose="020B0609020204030204" pitchFamily="49" charset="0"/>
              </a:rPr>
              <a:t>print</a:t>
            </a:r>
            <a:r>
              <a:rPr lang="es-MX" sz="1200" dirty="0">
                <a:latin typeface="Consolas" panose="020B0609020204030204" pitchFamily="49" charset="0"/>
              </a:rPr>
              <a:t>(color)</a:t>
            </a:r>
          </a:p>
        </p:txBody>
      </p:sp>
      <p:sp>
        <p:nvSpPr>
          <p:cNvPr id="7" name="CuadroTexto 6">
            <a:extLst>
              <a:ext uri="{FF2B5EF4-FFF2-40B4-BE49-F238E27FC236}">
                <a16:creationId xmlns:a16="http://schemas.microsoft.com/office/drawing/2014/main" id="{E0F72EE9-40B0-4C65-BB76-0772A1EBE037}"/>
              </a:ext>
            </a:extLst>
          </p:cNvPr>
          <p:cNvSpPr txBox="1"/>
          <p:nvPr/>
        </p:nvSpPr>
        <p:spPr>
          <a:xfrm>
            <a:off x="1528992" y="3590106"/>
            <a:ext cx="1545785" cy="276999"/>
          </a:xfrm>
          <a:prstGeom prst="rect">
            <a:avLst/>
          </a:prstGeom>
          <a:noFill/>
        </p:spPr>
        <p:txBody>
          <a:bodyPr wrap="square" rtlCol="0">
            <a:spAutoFit/>
          </a:bodyPr>
          <a:lstStyle/>
          <a:p>
            <a:pPr algn="ctr"/>
            <a:r>
              <a:rPr lang="es-MX" sz="1200" dirty="0">
                <a:hlinkClick r:id="rId2"/>
              </a:rPr>
              <a:t>Link de ejecución</a:t>
            </a:r>
            <a:endParaRPr lang="es-CO" sz="1200" dirty="0"/>
          </a:p>
        </p:txBody>
      </p:sp>
      <p:sp>
        <p:nvSpPr>
          <p:cNvPr id="8" name="CuadroTexto 7">
            <a:extLst>
              <a:ext uri="{FF2B5EF4-FFF2-40B4-BE49-F238E27FC236}">
                <a16:creationId xmlns:a16="http://schemas.microsoft.com/office/drawing/2014/main" id="{A0A0A28C-185D-4FE6-94A5-2E592A563DA4}"/>
              </a:ext>
            </a:extLst>
          </p:cNvPr>
          <p:cNvSpPr txBox="1"/>
          <p:nvPr/>
        </p:nvSpPr>
        <p:spPr>
          <a:xfrm>
            <a:off x="2724150" y="1637691"/>
            <a:ext cx="3695700" cy="584775"/>
          </a:xfrm>
          <a:prstGeom prst="rect">
            <a:avLst/>
          </a:prstGeom>
          <a:noFill/>
          <a:ln>
            <a:solidFill>
              <a:schemeClr val="tx1"/>
            </a:solidFill>
          </a:ln>
        </p:spPr>
        <p:txBody>
          <a:bodyPr wrap="square">
            <a:spAutoFit/>
          </a:bodyPr>
          <a:lstStyle/>
          <a:p>
            <a:pPr indent="-57150"/>
            <a:r>
              <a:rPr lang="es-ES" sz="1600" dirty="0">
                <a:solidFill>
                  <a:schemeClr val="accent4"/>
                </a:solidFill>
                <a:latin typeface="Consolas" panose="020B0609020204030204" pitchFamily="49" charset="0"/>
              </a:rPr>
              <a:t>for </a:t>
            </a:r>
            <a:r>
              <a:rPr lang="es-ES" sz="1600" dirty="0" err="1">
                <a:solidFill>
                  <a:srgbClr val="C00000"/>
                </a:solidFill>
                <a:latin typeface="Consolas" panose="020B0609020204030204" pitchFamily="49" charset="0"/>
              </a:rPr>
              <a:t>iterating_var</a:t>
            </a:r>
            <a:r>
              <a:rPr lang="es-ES" sz="1600" dirty="0">
                <a:solidFill>
                  <a:schemeClr val="accent4"/>
                </a:solidFill>
                <a:latin typeface="Consolas" panose="020B0609020204030204" pitchFamily="49" charset="0"/>
              </a:rPr>
              <a:t> in </a:t>
            </a:r>
            <a:r>
              <a:rPr lang="es-ES" sz="1600" dirty="0" err="1">
                <a:solidFill>
                  <a:srgbClr val="C00000"/>
                </a:solidFill>
                <a:latin typeface="Consolas" panose="020B0609020204030204" pitchFamily="49" charset="0"/>
              </a:rPr>
              <a:t>sequence</a:t>
            </a:r>
            <a:r>
              <a:rPr lang="es-ES" sz="1600" dirty="0">
                <a:solidFill>
                  <a:schemeClr val="accent4"/>
                </a:solidFill>
                <a:latin typeface="Consolas" panose="020B0609020204030204" pitchFamily="49" charset="0"/>
              </a:rPr>
              <a:t>:</a:t>
            </a:r>
          </a:p>
          <a:p>
            <a:pPr indent="-57150"/>
            <a:r>
              <a:rPr lang="es-ES" sz="1600" dirty="0">
                <a:latin typeface="Consolas" panose="020B0609020204030204" pitchFamily="49" charset="0"/>
              </a:rPr>
              <a:t>  statemen(s)</a:t>
            </a:r>
          </a:p>
        </p:txBody>
      </p:sp>
      <p:sp>
        <p:nvSpPr>
          <p:cNvPr id="9" name="CuadroTexto 8">
            <a:extLst>
              <a:ext uri="{FF2B5EF4-FFF2-40B4-BE49-F238E27FC236}">
                <a16:creationId xmlns:a16="http://schemas.microsoft.com/office/drawing/2014/main" id="{542F113F-51BB-44D6-A147-878DCD4F6167}"/>
              </a:ext>
            </a:extLst>
          </p:cNvPr>
          <p:cNvSpPr txBox="1"/>
          <p:nvPr/>
        </p:nvSpPr>
        <p:spPr>
          <a:xfrm>
            <a:off x="588679" y="4897143"/>
            <a:ext cx="3423510" cy="646331"/>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saludo = "Hola mundo"</a:t>
            </a:r>
          </a:p>
          <a:p>
            <a:r>
              <a:rPr lang="es-MX" sz="1200" dirty="0">
                <a:latin typeface="Consolas" panose="020B0609020204030204" pitchFamily="49" charset="0"/>
              </a:rPr>
              <a:t>for letra in saludo: </a:t>
            </a:r>
          </a:p>
          <a:p>
            <a:r>
              <a:rPr lang="es-MX" sz="1200" dirty="0">
                <a:latin typeface="Consolas" panose="020B0609020204030204" pitchFamily="49" charset="0"/>
              </a:rPr>
              <a:t>  </a:t>
            </a:r>
            <a:r>
              <a:rPr lang="es-MX" sz="1200" dirty="0" err="1">
                <a:latin typeface="Consolas" panose="020B0609020204030204" pitchFamily="49" charset="0"/>
              </a:rPr>
              <a:t>print</a:t>
            </a:r>
            <a:r>
              <a:rPr lang="es-MX" sz="1200" dirty="0">
                <a:latin typeface="Consolas" panose="020B0609020204030204" pitchFamily="49" charset="0"/>
              </a:rPr>
              <a:t>(letra, </a:t>
            </a:r>
            <a:r>
              <a:rPr lang="es-MX" sz="1200" dirty="0" err="1">
                <a:latin typeface="Consolas" panose="020B0609020204030204" pitchFamily="49" charset="0"/>
              </a:rPr>
              <a:t>end</a:t>
            </a:r>
            <a:r>
              <a:rPr lang="es-MX" sz="1200" dirty="0">
                <a:latin typeface="Consolas" panose="020B0609020204030204" pitchFamily="49" charset="0"/>
              </a:rPr>
              <a:t> = " ")</a:t>
            </a:r>
          </a:p>
        </p:txBody>
      </p:sp>
      <p:sp>
        <p:nvSpPr>
          <p:cNvPr id="3" name="CuadroTexto 2">
            <a:extLst>
              <a:ext uri="{FF2B5EF4-FFF2-40B4-BE49-F238E27FC236}">
                <a16:creationId xmlns:a16="http://schemas.microsoft.com/office/drawing/2014/main" id="{1C900FFE-6CA2-4717-BFED-CD74DCEE3125}"/>
              </a:ext>
            </a:extLst>
          </p:cNvPr>
          <p:cNvSpPr txBox="1"/>
          <p:nvPr/>
        </p:nvSpPr>
        <p:spPr>
          <a:xfrm>
            <a:off x="588679" y="2526088"/>
            <a:ext cx="668196" cy="400110"/>
          </a:xfrm>
          <a:prstGeom prst="rect">
            <a:avLst/>
          </a:prstGeom>
          <a:noFill/>
        </p:spPr>
        <p:txBody>
          <a:bodyPr wrap="none" rtlCol="0">
            <a:spAutoFit/>
          </a:bodyPr>
          <a:lstStyle/>
          <a:p>
            <a:r>
              <a:rPr lang="es-CO" sz="2000" b="1" dirty="0"/>
              <a:t>Lista</a:t>
            </a:r>
          </a:p>
        </p:txBody>
      </p:sp>
      <p:sp>
        <p:nvSpPr>
          <p:cNvPr id="12" name="CuadroTexto 11">
            <a:extLst>
              <a:ext uri="{FF2B5EF4-FFF2-40B4-BE49-F238E27FC236}">
                <a16:creationId xmlns:a16="http://schemas.microsoft.com/office/drawing/2014/main" id="{38F7231A-A53C-4B4F-8D22-2A3FCACC38DE}"/>
              </a:ext>
            </a:extLst>
          </p:cNvPr>
          <p:cNvSpPr txBox="1"/>
          <p:nvPr/>
        </p:nvSpPr>
        <p:spPr>
          <a:xfrm>
            <a:off x="549237" y="4482194"/>
            <a:ext cx="979755" cy="400110"/>
          </a:xfrm>
          <a:prstGeom prst="rect">
            <a:avLst/>
          </a:prstGeom>
          <a:noFill/>
        </p:spPr>
        <p:txBody>
          <a:bodyPr wrap="none" rtlCol="0">
            <a:spAutoFit/>
          </a:bodyPr>
          <a:lstStyle/>
          <a:p>
            <a:r>
              <a:rPr lang="es-CO" sz="2000" b="1" dirty="0"/>
              <a:t>Cadena</a:t>
            </a:r>
          </a:p>
        </p:txBody>
      </p:sp>
      <p:pic>
        <p:nvPicPr>
          <p:cNvPr id="15" name="Imagen 14">
            <a:extLst>
              <a:ext uri="{FF2B5EF4-FFF2-40B4-BE49-F238E27FC236}">
                <a16:creationId xmlns:a16="http://schemas.microsoft.com/office/drawing/2014/main" id="{7315A0A0-1AC0-4E0E-8C32-017B4C29202C}"/>
              </a:ext>
            </a:extLst>
          </p:cNvPr>
          <p:cNvPicPr>
            <a:picLocks noChangeAspect="1"/>
          </p:cNvPicPr>
          <p:nvPr/>
        </p:nvPicPr>
        <p:blipFill>
          <a:blip r:embed="rId3"/>
          <a:stretch>
            <a:fillRect/>
          </a:stretch>
        </p:blipFill>
        <p:spPr>
          <a:xfrm>
            <a:off x="4572000" y="2381250"/>
            <a:ext cx="3528391" cy="2021474"/>
          </a:xfrm>
          <a:prstGeom prst="rect">
            <a:avLst/>
          </a:prstGeom>
        </p:spPr>
      </p:pic>
      <p:sp>
        <p:nvSpPr>
          <p:cNvPr id="16" name="CuadroTexto 15">
            <a:extLst>
              <a:ext uri="{FF2B5EF4-FFF2-40B4-BE49-F238E27FC236}">
                <a16:creationId xmlns:a16="http://schemas.microsoft.com/office/drawing/2014/main" id="{990480A6-3D70-43C4-ADE0-B64D3BC606CA}"/>
              </a:ext>
            </a:extLst>
          </p:cNvPr>
          <p:cNvSpPr txBox="1"/>
          <p:nvPr/>
        </p:nvSpPr>
        <p:spPr>
          <a:xfrm>
            <a:off x="1563898" y="5576081"/>
            <a:ext cx="1545785" cy="276999"/>
          </a:xfrm>
          <a:prstGeom prst="rect">
            <a:avLst/>
          </a:prstGeom>
          <a:noFill/>
        </p:spPr>
        <p:txBody>
          <a:bodyPr wrap="square" rtlCol="0">
            <a:spAutoFit/>
          </a:bodyPr>
          <a:lstStyle/>
          <a:p>
            <a:pPr algn="ctr"/>
            <a:r>
              <a:rPr lang="es-MX" sz="1200" dirty="0">
                <a:hlinkClick r:id="rId4"/>
              </a:rPr>
              <a:t>Link de ejecución</a:t>
            </a:r>
            <a:endParaRPr lang="es-CO" sz="1200" dirty="0"/>
          </a:p>
        </p:txBody>
      </p:sp>
      <p:pic>
        <p:nvPicPr>
          <p:cNvPr id="18" name="Imagen 17">
            <a:extLst>
              <a:ext uri="{FF2B5EF4-FFF2-40B4-BE49-F238E27FC236}">
                <a16:creationId xmlns:a16="http://schemas.microsoft.com/office/drawing/2014/main" id="{7DF8DA5F-0E23-4213-859B-EA2AEA90ED8B}"/>
              </a:ext>
            </a:extLst>
          </p:cNvPr>
          <p:cNvPicPr>
            <a:picLocks noChangeAspect="1"/>
          </p:cNvPicPr>
          <p:nvPr/>
        </p:nvPicPr>
        <p:blipFill>
          <a:blip r:embed="rId5"/>
          <a:stretch>
            <a:fillRect/>
          </a:stretch>
        </p:blipFill>
        <p:spPr>
          <a:xfrm>
            <a:off x="4572000" y="4672849"/>
            <a:ext cx="3457201" cy="1806465"/>
          </a:xfrm>
          <a:prstGeom prst="rect">
            <a:avLst/>
          </a:prstGeom>
        </p:spPr>
      </p:pic>
    </p:spTree>
    <p:extLst>
      <p:ext uri="{BB962C8B-B14F-4D97-AF65-F5344CB8AC3E}">
        <p14:creationId xmlns:p14="http://schemas.microsoft.com/office/powerpoint/2010/main" val="36482158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207684"/>
            <a:ext cx="8858308" cy="710952"/>
          </a:xfrm>
        </p:spPr>
        <p:txBody>
          <a:bodyPr>
            <a:normAutofit fontScale="90000"/>
          </a:bodyPr>
          <a:lstStyle/>
          <a:p>
            <a:r>
              <a:rPr lang="es-CO" dirty="0"/>
              <a:t>El mismo for para tres secuencias distintas</a:t>
            </a:r>
          </a:p>
        </p:txBody>
      </p:sp>
      <p:sp>
        <p:nvSpPr>
          <p:cNvPr id="13" name="12 Rectángulo"/>
          <p:cNvSpPr/>
          <p:nvPr/>
        </p:nvSpPr>
        <p:spPr>
          <a:xfrm>
            <a:off x="140378" y="805240"/>
            <a:ext cx="8747165" cy="707886"/>
          </a:xfrm>
          <a:prstGeom prst="rect">
            <a:avLst/>
          </a:prstGeom>
        </p:spPr>
        <p:txBody>
          <a:bodyPr wrap="square">
            <a:spAutoFit/>
          </a:bodyPr>
          <a:lstStyle/>
          <a:p>
            <a:pPr marL="342900" indent="-342900" rtl="0">
              <a:buFont typeface="Arial" panose="020B0604020202020204" pitchFamily="34" charset="0"/>
              <a:buChar char="•"/>
            </a:pPr>
            <a:r>
              <a:rPr lang="es-MX" sz="2000" dirty="0"/>
              <a:t>Sin importar el tipo de secuencia, el </a:t>
            </a:r>
            <a:r>
              <a:rPr lang="es-MX" b="1" dirty="0">
                <a:latin typeface="Consolas" panose="020B0609020204030204" pitchFamily="49" charset="0"/>
              </a:rPr>
              <a:t>for</a:t>
            </a:r>
            <a:r>
              <a:rPr lang="es-MX" sz="2000" dirty="0"/>
              <a:t> de Python usa siempre la misma sintaxis. Lo único que cambia es la secuencia.</a:t>
            </a:r>
          </a:p>
        </p:txBody>
      </p:sp>
      <p:sp>
        <p:nvSpPr>
          <p:cNvPr id="8" name="CuadroTexto 7">
            <a:extLst>
              <a:ext uri="{FF2B5EF4-FFF2-40B4-BE49-F238E27FC236}">
                <a16:creationId xmlns:a16="http://schemas.microsoft.com/office/drawing/2014/main" id="{A0A0A28C-185D-4FE6-94A5-2E592A563DA4}"/>
              </a:ext>
            </a:extLst>
          </p:cNvPr>
          <p:cNvSpPr txBox="1"/>
          <p:nvPr/>
        </p:nvSpPr>
        <p:spPr>
          <a:xfrm>
            <a:off x="2724150" y="1637691"/>
            <a:ext cx="3695700" cy="584775"/>
          </a:xfrm>
          <a:prstGeom prst="rect">
            <a:avLst/>
          </a:prstGeom>
          <a:noFill/>
          <a:ln>
            <a:solidFill>
              <a:schemeClr val="tx1"/>
            </a:solidFill>
          </a:ln>
        </p:spPr>
        <p:txBody>
          <a:bodyPr wrap="square">
            <a:spAutoFit/>
          </a:bodyPr>
          <a:lstStyle/>
          <a:p>
            <a:pPr indent="-57150"/>
            <a:r>
              <a:rPr lang="es-ES" sz="1600" dirty="0">
                <a:solidFill>
                  <a:schemeClr val="accent4"/>
                </a:solidFill>
                <a:latin typeface="Consolas" panose="020B0609020204030204" pitchFamily="49" charset="0"/>
              </a:rPr>
              <a:t>for </a:t>
            </a:r>
            <a:r>
              <a:rPr lang="es-ES" sz="1600" dirty="0" err="1">
                <a:solidFill>
                  <a:srgbClr val="C00000"/>
                </a:solidFill>
                <a:latin typeface="Consolas" panose="020B0609020204030204" pitchFamily="49" charset="0"/>
              </a:rPr>
              <a:t>iterating_var</a:t>
            </a:r>
            <a:r>
              <a:rPr lang="es-ES" sz="1600" dirty="0">
                <a:solidFill>
                  <a:schemeClr val="accent4"/>
                </a:solidFill>
                <a:latin typeface="Consolas" panose="020B0609020204030204" pitchFamily="49" charset="0"/>
              </a:rPr>
              <a:t> in </a:t>
            </a:r>
            <a:r>
              <a:rPr lang="es-ES" sz="1600" dirty="0" err="1">
                <a:solidFill>
                  <a:srgbClr val="C00000"/>
                </a:solidFill>
                <a:latin typeface="Consolas" panose="020B0609020204030204" pitchFamily="49" charset="0"/>
              </a:rPr>
              <a:t>sequence</a:t>
            </a:r>
            <a:r>
              <a:rPr lang="es-ES" sz="1600" dirty="0">
                <a:solidFill>
                  <a:schemeClr val="accent4"/>
                </a:solidFill>
                <a:latin typeface="Consolas" panose="020B0609020204030204" pitchFamily="49" charset="0"/>
              </a:rPr>
              <a:t>:</a:t>
            </a:r>
          </a:p>
          <a:p>
            <a:pPr indent="-57150"/>
            <a:r>
              <a:rPr lang="es-ES" sz="1600" dirty="0">
                <a:latin typeface="Consolas" panose="020B0609020204030204" pitchFamily="49" charset="0"/>
              </a:rPr>
              <a:t>  </a:t>
            </a:r>
            <a:r>
              <a:rPr lang="es-ES" sz="1600" dirty="0" err="1">
                <a:latin typeface="Consolas" panose="020B0609020204030204" pitchFamily="49" charset="0"/>
              </a:rPr>
              <a:t>statement</a:t>
            </a:r>
            <a:r>
              <a:rPr lang="es-ES" sz="1600" dirty="0">
                <a:latin typeface="Consolas" panose="020B0609020204030204" pitchFamily="49" charset="0"/>
              </a:rPr>
              <a:t>(s)</a:t>
            </a:r>
          </a:p>
        </p:txBody>
      </p:sp>
      <p:sp>
        <p:nvSpPr>
          <p:cNvPr id="10" name="CuadroTexto 9">
            <a:extLst>
              <a:ext uri="{FF2B5EF4-FFF2-40B4-BE49-F238E27FC236}">
                <a16:creationId xmlns:a16="http://schemas.microsoft.com/office/drawing/2014/main" id="{4B621FB4-2668-4ADE-BE29-6AFAFEB60630}"/>
              </a:ext>
            </a:extLst>
          </p:cNvPr>
          <p:cNvSpPr txBox="1"/>
          <p:nvPr/>
        </p:nvSpPr>
        <p:spPr>
          <a:xfrm>
            <a:off x="683568" y="2946445"/>
            <a:ext cx="3423510" cy="646331"/>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rango = range(1,11)</a:t>
            </a:r>
          </a:p>
          <a:p>
            <a:r>
              <a:rPr lang="es-MX" sz="1200" dirty="0">
                <a:latin typeface="Consolas" panose="020B0609020204030204" pitchFamily="49" charset="0"/>
              </a:rPr>
              <a:t>for </a:t>
            </a:r>
            <a:r>
              <a:rPr lang="es-MX" sz="1200" dirty="0" err="1">
                <a:latin typeface="Consolas" panose="020B0609020204030204" pitchFamily="49" charset="0"/>
              </a:rPr>
              <a:t>num</a:t>
            </a:r>
            <a:r>
              <a:rPr lang="es-MX" sz="1200" dirty="0">
                <a:latin typeface="Consolas" panose="020B0609020204030204" pitchFamily="49" charset="0"/>
              </a:rPr>
              <a:t> in rango: </a:t>
            </a:r>
          </a:p>
          <a:p>
            <a:r>
              <a:rPr lang="es-MX" sz="1200" dirty="0">
                <a:latin typeface="Consolas" panose="020B0609020204030204" pitchFamily="49" charset="0"/>
              </a:rPr>
              <a:t>  </a:t>
            </a:r>
            <a:r>
              <a:rPr lang="es-MX" sz="1200" dirty="0" err="1">
                <a:latin typeface="Consolas" panose="020B0609020204030204" pitchFamily="49" charset="0"/>
              </a:rPr>
              <a:t>print</a:t>
            </a:r>
            <a:r>
              <a:rPr lang="es-MX" sz="1200" dirty="0">
                <a:latin typeface="Consolas" panose="020B0609020204030204" pitchFamily="49" charset="0"/>
              </a:rPr>
              <a:t>(</a:t>
            </a:r>
            <a:r>
              <a:rPr lang="es-MX" sz="1200" dirty="0" err="1">
                <a:latin typeface="Consolas" panose="020B0609020204030204" pitchFamily="49" charset="0"/>
              </a:rPr>
              <a:t>num</a:t>
            </a:r>
            <a:r>
              <a:rPr lang="es-MX" sz="1200" dirty="0">
                <a:latin typeface="Consolas" panose="020B0609020204030204" pitchFamily="49" charset="0"/>
              </a:rPr>
              <a:t>)</a:t>
            </a:r>
          </a:p>
        </p:txBody>
      </p:sp>
      <p:sp>
        <p:nvSpPr>
          <p:cNvPr id="14" name="CuadroTexto 13">
            <a:extLst>
              <a:ext uri="{FF2B5EF4-FFF2-40B4-BE49-F238E27FC236}">
                <a16:creationId xmlns:a16="http://schemas.microsoft.com/office/drawing/2014/main" id="{8C1F5438-4141-4043-8CB2-F8C4C3A9AB43}"/>
              </a:ext>
            </a:extLst>
          </p:cNvPr>
          <p:cNvSpPr txBox="1"/>
          <p:nvPr/>
        </p:nvSpPr>
        <p:spPr>
          <a:xfrm>
            <a:off x="683568" y="2546335"/>
            <a:ext cx="850617" cy="400110"/>
          </a:xfrm>
          <a:prstGeom prst="rect">
            <a:avLst/>
          </a:prstGeom>
          <a:noFill/>
        </p:spPr>
        <p:txBody>
          <a:bodyPr wrap="none" rtlCol="0">
            <a:spAutoFit/>
          </a:bodyPr>
          <a:lstStyle/>
          <a:p>
            <a:r>
              <a:rPr lang="es-CO" sz="2000" b="1" dirty="0"/>
              <a:t>Rango</a:t>
            </a:r>
          </a:p>
        </p:txBody>
      </p:sp>
      <p:sp>
        <p:nvSpPr>
          <p:cNvPr id="19" name="CuadroTexto 18">
            <a:extLst>
              <a:ext uri="{FF2B5EF4-FFF2-40B4-BE49-F238E27FC236}">
                <a16:creationId xmlns:a16="http://schemas.microsoft.com/office/drawing/2014/main" id="{BA062E11-9A0E-4F18-829A-E49C8FA16CE5}"/>
              </a:ext>
            </a:extLst>
          </p:cNvPr>
          <p:cNvSpPr txBox="1"/>
          <p:nvPr/>
        </p:nvSpPr>
        <p:spPr>
          <a:xfrm>
            <a:off x="1506982" y="3657064"/>
            <a:ext cx="1545785" cy="276999"/>
          </a:xfrm>
          <a:prstGeom prst="rect">
            <a:avLst/>
          </a:prstGeom>
          <a:noFill/>
        </p:spPr>
        <p:txBody>
          <a:bodyPr wrap="square" rtlCol="0">
            <a:spAutoFit/>
          </a:bodyPr>
          <a:lstStyle/>
          <a:p>
            <a:pPr algn="ctr"/>
            <a:r>
              <a:rPr lang="es-MX" sz="1200" dirty="0">
                <a:hlinkClick r:id="rId2"/>
              </a:rPr>
              <a:t>Link de ejecución</a:t>
            </a:r>
            <a:endParaRPr lang="es-CO" sz="1200" dirty="0"/>
          </a:p>
        </p:txBody>
      </p:sp>
      <p:pic>
        <p:nvPicPr>
          <p:cNvPr id="21" name="Imagen 20">
            <a:extLst>
              <a:ext uri="{FF2B5EF4-FFF2-40B4-BE49-F238E27FC236}">
                <a16:creationId xmlns:a16="http://schemas.microsoft.com/office/drawing/2014/main" id="{DB0B52EA-8B49-496E-9998-B9187A758E88}"/>
              </a:ext>
            </a:extLst>
          </p:cNvPr>
          <p:cNvPicPr>
            <a:picLocks noChangeAspect="1"/>
          </p:cNvPicPr>
          <p:nvPr/>
        </p:nvPicPr>
        <p:blipFill>
          <a:blip r:embed="rId3"/>
          <a:stretch>
            <a:fillRect/>
          </a:stretch>
        </p:blipFill>
        <p:spPr>
          <a:xfrm>
            <a:off x="4549598" y="2557221"/>
            <a:ext cx="4123672" cy="3732107"/>
          </a:xfrm>
          <a:prstGeom prst="rect">
            <a:avLst/>
          </a:prstGeom>
        </p:spPr>
      </p:pic>
    </p:spTree>
    <p:extLst>
      <p:ext uri="{BB962C8B-B14F-4D97-AF65-F5344CB8AC3E}">
        <p14:creationId xmlns:p14="http://schemas.microsoft.com/office/powerpoint/2010/main" val="31353841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4450226" cy="710952"/>
          </a:xfrm>
        </p:spPr>
        <p:txBody>
          <a:bodyPr>
            <a:normAutofit/>
          </a:bodyPr>
          <a:lstStyle/>
          <a:p>
            <a:r>
              <a:rPr lang="es-CO" dirty="0"/>
              <a:t>Ciclos – Ejemplo 5</a:t>
            </a:r>
          </a:p>
        </p:txBody>
      </p:sp>
      <p:sp>
        <p:nvSpPr>
          <p:cNvPr id="13" name="12 Rectángulo"/>
          <p:cNvSpPr/>
          <p:nvPr/>
        </p:nvSpPr>
        <p:spPr>
          <a:xfrm>
            <a:off x="145314" y="846114"/>
            <a:ext cx="8747165" cy="4093428"/>
          </a:xfrm>
          <a:prstGeom prst="rect">
            <a:avLst/>
          </a:prstGeom>
        </p:spPr>
        <p:txBody>
          <a:bodyPr wrap="square">
            <a:spAutoFit/>
          </a:bodyPr>
          <a:lstStyle/>
          <a:p>
            <a:pPr rtl="0"/>
            <a:r>
              <a:rPr lang="es-MX" sz="2000" dirty="0"/>
              <a:t>Hacer un programa que lea primero el número de estudiantes de un curso (</a:t>
            </a:r>
            <a:r>
              <a:rPr lang="es-MX" sz="2000" b="1" dirty="0"/>
              <a:t>N</a:t>
            </a:r>
            <a:r>
              <a:rPr lang="es-MX" sz="2000" dirty="0"/>
              <a:t>), y luego lea las </a:t>
            </a:r>
            <a:r>
              <a:rPr lang="es-MX" sz="2000" b="1" dirty="0"/>
              <a:t>N</a:t>
            </a:r>
            <a:r>
              <a:rPr lang="es-MX" sz="2000" dirty="0"/>
              <a:t> notas correspondientes (valores decimales entre 0.0 y 5.0), una a una.</a:t>
            </a:r>
          </a:p>
          <a:p>
            <a:pPr rtl="0"/>
            <a:endParaRPr lang="es-MX" sz="2000" dirty="0"/>
          </a:p>
          <a:p>
            <a:pPr rtl="0"/>
            <a:r>
              <a:rPr lang="es-MX" sz="2000" dirty="0"/>
              <a:t>Considere que la nota mínima aprobatoria es 3.0: una nota es aprobada si es mayor o igual a 3.0, y reprobada si es menor a 3.0.</a:t>
            </a:r>
          </a:p>
          <a:p>
            <a:pPr rtl="0"/>
            <a:endParaRPr lang="es-MX" sz="2000" dirty="0"/>
          </a:p>
          <a:p>
            <a:pPr rtl="0"/>
            <a:r>
              <a:rPr lang="es-MX" sz="2000" dirty="0"/>
              <a:t>Al finalizar la lectura, el programa deberá entregar:</a:t>
            </a:r>
          </a:p>
          <a:p>
            <a:pPr marL="342900" indent="-342900" rtl="0">
              <a:buFont typeface="Arial" panose="020B0604020202020204" pitchFamily="34" charset="0"/>
              <a:buChar char="•"/>
            </a:pPr>
            <a:r>
              <a:rPr lang="es-MX" sz="2000" dirty="0"/>
              <a:t>El porcentaje de estudiantes aprobados.</a:t>
            </a:r>
          </a:p>
          <a:p>
            <a:pPr marL="342900" indent="-342900" rtl="0">
              <a:buFont typeface="Arial" panose="020B0604020202020204" pitchFamily="34" charset="0"/>
              <a:buChar char="•"/>
            </a:pPr>
            <a:r>
              <a:rPr lang="es-MX" sz="2000" dirty="0"/>
              <a:t>El porcentaje de estudiantes reprobados.</a:t>
            </a:r>
          </a:p>
          <a:p>
            <a:pPr marL="342900" indent="-342900" rtl="0">
              <a:buFont typeface="Arial" panose="020B0604020202020204" pitchFamily="34" charset="0"/>
              <a:buChar char="•"/>
            </a:pPr>
            <a:r>
              <a:rPr lang="es-MX" sz="2000" dirty="0"/>
              <a:t>El promedio de las notas aprobadas.</a:t>
            </a:r>
          </a:p>
          <a:p>
            <a:pPr marL="342900" indent="-342900" rtl="0">
              <a:buFont typeface="Arial" panose="020B0604020202020204" pitchFamily="34" charset="0"/>
              <a:buChar char="•"/>
            </a:pPr>
            <a:r>
              <a:rPr lang="es-MX" sz="2000" dirty="0"/>
              <a:t>El promedio de las notas reprobadas.</a:t>
            </a:r>
          </a:p>
          <a:p>
            <a:pPr marL="342900" indent="-342900" rtl="0">
              <a:buFont typeface="Arial" panose="020B0604020202020204" pitchFamily="34" charset="0"/>
              <a:buChar char="•"/>
            </a:pPr>
            <a:r>
              <a:rPr lang="es-MX" sz="2000" dirty="0"/>
              <a:t>El promedio de las notas del curso.</a:t>
            </a:r>
          </a:p>
        </p:txBody>
      </p:sp>
    </p:spTree>
    <p:extLst>
      <p:ext uri="{BB962C8B-B14F-4D97-AF65-F5344CB8AC3E}">
        <p14:creationId xmlns:p14="http://schemas.microsoft.com/office/powerpoint/2010/main" val="4179445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4450226" cy="710952"/>
          </a:xfrm>
        </p:spPr>
        <p:txBody>
          <a:bodyPr>
            <a:normAutofit/>
          </a:bodyPr>
          <a:lstStyle/>
          <a:p>
            <a:r>
              <a:rPr lang="es-CO" dirty="0"/>
              <a:t>Ciclos – Ejemplo 5</a:t>
            </a:r>
          </a:p>
        </p:txBody>
      </p:sp>
      <p:sp>
        <p:nvSpPr>
          <p:cNvPr id="4" name="5 CuadroTexto">
            <a:extLst>
              <a:ext uri="{FF2B5EF4-FFF2-40B4-BE49-F238E27FC236}">
                <a16:creationId xmlns:a16="http://schemas.microsoft.com/office/drawing/2014/main" id="{0AFF77B4-4060-4028-A473-CEFF63FFD241}"/>
              </a:ext>
            </a:extLst>
          </p:cNvPr>
          <p:cNvSpPr txBox="1"/>
          <p:nvPr/>
        </p:nvSpPr>
        <p:spPr>
          <a:xfrm>
            <a:off x="251520" y="2630578"/>
            <a:ext cx="4016228" cy="3877985"/>
          </a:xfrm>
          <a:prstGeom prst="rect">
            <a:avLst/>
          </a:prstGeom>
          <a:noFill/>
        </p:spPr>
        <p:txBody>
          <a:bodyPr wrap="square" rtlCol="0">
            <a:spAutoFit/>
          </a:bodyPr>
          <a:lstStyle/>
          <a:p>
            <a:r>
              <a:rPr lang="es-CO" sz="1400" b="1" dirty="0"/>
              <a:t>Datos de entrada: </a:t>
            </a:r>
          </a:p>
          <a:p>
            <a:pPr marL="285750" indent="-285750">
              <a:buFont typeface="Arial" panose="020B0604020202020204" pitchFamily="34" charset="0"/>
              <a:buChar char="•"/>
            </a:pPr>
            <a:r>
              <a:rPr lang="es-CO" sz="1200" b="1" dirty="0"/>
              <a:t>Cantidad de estudiantes</a:t>
            </a:r>
          </a:p>
          <a:p>
            <a:pPr marL="285750" indent="-285750">
              <a:buFont typeface="Arial" panose="020B0604020202020204" pitchFamily="34" charset="0"/>
              <a:buChar char="•"/>
            </a:pPr>
            <a:r>
              <a:rPr lang="es-CO" sz="1200" b="1" dirty="0"/>
              <a:t>Nota del estudiante</a:t>
            </a:r>
            <a:endParaRPr lang="es-CO" sz="1200" dirty="0"/>
          </a:p>
          <a:p>
            <a:r>
              <a:rPr lang="es-CO" sz="1400" b="1" dirty="0"/>
              <a:t>Datos de salida: </a:t>
            </a:r>
          </a:p>
          <a:p>
            <a:pPr marL="285750" indent="-285750">
              <a:buFont typeface="Arial" panose="020B0604020202020204" pitchFamily="34" charset="0"/>
              <a:buChar char="•"/>
            </a:pPr>
            <a:r>
              <a:rPr lang="es-CO" sz="1200" b="1" dirty="0"/>
              <a:t>Porcentaje de estudiantes que ganaron</a:t>
            </a:r>
          </a:p>
          <a:p>
            <a:pPr marL="285750" indent="-285750">
              <a:buFont typeface="Arial" panose="020B0604020202020204" pitchFamily="34" charset="0"/>
              <a:buChar char="•"/>
            </a:pPr>
            <a:r>
              <a:rPr lang="es-CO" sz="1200" b="1" dirty="0"/>
              <a:t>Porcentaje de estudiantes que perdieron</a:t>
            </a:r>
          </a:p>
          <a:p>
            <a:pPr marL="285750" indent="-285750">
              <a:buFont typeface="Arial" panose="020B0604020202020204" pitchFamily="34" charset="0"/>
              <a:buChar char="•"/>
            </a:pPr>
            <a:r>
              <a:rPr lang="es-CO" sz="1200" b="1" dirty="0"/>
              <a:t>Promedio de notas de los que ganaron</a:t>
            </a:r>
          </a:p>
          <a:p>
            <a:pPr marL="285750" indent="-285750">
              <a:buFont typeface="Arial" panose="020B0604020202020204" pitchFamily="34" charset="0"/>
              <a:buChar char="•"/>
            </a:pPr>
            <a:r>
              <a:rPr lang="es-CO" sz="1200" b="1" dirty="0"/>
              <a:t>Promedio de notas de los que perdieron</a:t>
            </a:r>
          </a:p>
          <a:p>
            <a:pPr marL="285750" indent="-285750">
              <a:buFont typeface="Arial" panose="020B0604020202020204" pitchFamily="34" charset="0"/>
              <a:buChar char="•"/>
            </a:pPr>
            <a:r>
              <a:rPr lang="es-CO" sz="1200" b="1" dirty="0"/>
              <a:t>Promedio de notas del curso.</a:t>
            </a:r>
          </a:p>
          <a:p>
            <a:r>
              <a:rPr lang="es-CO" sz="1400" b="1" dirty="0"/>
              <a:t>Definición de variables:</a:t>
            </a:r>
          </a:p>
          <a:p>
            <a:pPr marL="285750" indent="-285750">
              <a:buFont typeface="Arial" panose="020B0604020202020204" pitchFamily="34" charset="0"/>
              <a:buChar char="•"/>
            </a:pPr>
            <a:r>
              <a:rPr lang="es-CO" sz="1200" b="1" dirty="0"/>
              <a:t>Entrada/salida</a:t>
            </a:r>
            <a:r>
              <a:rPr lang="es-CO" sz="1200" dirty="0"/>
              <a:t>:</a:t>
            </a:r>
          </a:p>
          <a:p>
            <a:pPr marL="800100" lvl="1" indent="-342900">
              <a:buFont typeface="Arial" pitchFamily="34" charset="0"/>
              <a:buChar char="•"/>
            </a:pPr>
            <a:r>
              <a:rPr lang="es-CO" sz="1200" b="1" dirty="0">
                <a:latin typeface="Consolas" panose="020B0609020204030204" pitchFamily="49" charset="0"/>
              </a:rPr>
              <a:t>N</a:t>
            </a:r>
            <a:r>
              <a:rPr lang="es-CO" sz="1200" b="1" dirty="0"/>
              <a:t>:</a:t>
            </a:r>
            <a:r>
              <a:rPr lang="es-CO" sz="1200" dirty="0"/>
              <a:t> Numero de estudiantes</a:t>
            </a:r>
            <a:endParaRPr lang="es-CO" sz="1200" b="1" dirty="0">
              <a:latin typeface="Consolas" panose="020B0609020204030204" pitchFamily="49" charset="0"/>
            </a:endParaRPr>
          </a:p>
          <a:p>
            <a:pPr marL="800100" lvl="1" indent="-342900">
              <a:buFont typeface="Arial" pitchFamily="34" charset="0"/>
              <a:buChar char="•"/>
            </a:pPr>
            <a:r>
              <a:rPr lang="es-CO" sz="1200" b="1" dirty="0">
                <a:latin typeface="Consolas" panose="020B0609020204030204" pitchFamily="49" charset="0"/>
              </a:rPr>
              <a:t>nota</a:t>
            </a:r>
            <a:r>
              <a:rPr lang="es-CO" sz="1200" b="1" dirty="0"/>
              <a:t>:</a:t>
            </a:r>
            <a:r>
              <a:rPr lang="es-CO" sz="1200" dirty="0"/>
              <a:t> Nota del estudiante</a:t>
            </a:r>
          </a:p>
          <a:p>
            <a:pPr marL="800100" lvl="1" indent="-342900">
              <a:buFont typeface="Arial" pitchFamily="34" charset="0"/>
              <a:buChar char="•"/>
            </a:pPr>
            <a:r>
              <a:rPr lang="es-CO" sz="1200" b="1" dirty="0" err="1">
                <a:latin typeface="Consolas" panose="020B0609020204030204" pitchFamily="49" charset="0"/>
              </a:rPr>
              <a:t>p_aprobaron</a:t>
            </a:r>
            <a:r>
              <a:rPr lang="es-CO" sz="1200" b="1" dirty="0"/>
              <a:t>:</a:t>
            </a:r>
            <a:r>
              <a:rPr lang="es-CO" sz="1200" dirty="0"/>
              <a:t> Porcentaje ganadores.</a:t>
            </a:r>
          </a:p>
          <a:p>
            <a:pPr marL="800100" lvl="1" indent="-342900">
              <a:buFont typeface="Arial" pitchFamily="34" charset="0"/>
              <a:buChar char="•"/>
            </a:pPr>
            <a:r>
              <a:rPr lang="es-CO" sz="1200" b="1" dirty="0" err="1">
                <a:latin typeface="Consolas" panose="020B0609020204030204" pitchFamily="49" charset="0"/>
              </a:rPr>
              <a:t>p_reprobaron</a:t>
            </a:r>
            <a:r>
              <a:rPr lang="es-CO" sz="1200" b="1" dirty="0"/>
              <a:t>:</a:t>
            </a:r>
            <a:r>
              <a:rPr lang="es-CO" sz="1200" dirty="0"/>
              <a:t> Porcentaje perdedores.</a:t>
            </a:r>
          </a:p>
          <a:p>
            <a:pPr marL="800100" lvl="1" indent="-342900">
              <a:buFont typeface="Arial" pitchFamily="34" charset="0"/>
              <a:buChar char="•"/>
            </a:pPr>
            <a:r>
              <a:rPr lang="es-CO" sz="1200" b="1" dirty="0" err="1">
                <a:latin typeface="Consolas" panose="020B0609020204030204" pitchFamily="49" charset="0"/>
              </a:rPr>
              <a:t>prom_nota_reprobada</a:t>
            </a:r>
            <a:r>
              <a:rPr lang="es-CO" sz="1200" b="1" dirty="0"/>
              <a:t>:</a:t>
            </a:r>
            <a:r>
              <a:rPr lang="es-CO" sz="1200" dirty="0"/>
              <a:t> Promedio notas reprobadas.</a:t>
            </a:r>
          </a:p>
          <a:p>
            <a:pPr marL="800100" lvl="1" indent="-342900">
              <a:buFont typeface="Arial" pitchFamily="34" charset="0"/>
              <a:buChar char="•"/>
            </a:pPr>
            <a:r>
              <a:rPr lang="es-CO" sz="1200" b="1" dirty="0" err="1">
                <a:latin typeface="Consolas" panose="020B0609020204030204" pitchFamily="49" charset="0"/>
              </a:rPr>
              <a:t>prom_nota_aprobada</a:t>
            </a:r>
            <a:r>
              <a:rPr lang="es-CO" sz="1200" b="1" dirty="0"/>
              <a:t>:</a:t>
            </a:r>
            <a:r>
              <a:rPr lang="es-CO" sz="1200" dirty="0"/>
              <a:t> Promedio de notas aprobadas.</a:t>
            </a:r>
          </a:p>
          <a:p>
            <a:pPr marL="800100" lvl="1" indent="-342900">
              <a:buFont typeface="Arial" pitchFamily="34" charset="0"/>
              <a:buChar char="•"/>
            </a:pPr>
            <a:r>
              <a:rPr lang="es-CO" sz="1200" b="1" dirty="0" err="1">
                <a:latin typeface="Consolas" panose="020B0609020204030204" pitchFamily="49" charset="0"/>
              </a:rPr>
              <a:t>prom</a:t>
            </a:r>
            <a:r>
              <a:rPr lang="es-CO" sz="1200" b="1" dirty="0"/>
              <a:t>:</a:t>
            </a:r>
            <a:r>
              <a:rPr lang="es-CO" sz="1200" dirty="0"/>
              <a:t> Promedio de notas del curso</a:t>
            </a:r>
          </a:p>
        </p:txBody>
      </p:sp>
      <p:grpSp>
        <p:nvGrpSpPr>
          <p:cNvPr id="7" name="Grupo 6">
            <a:extLst>
              <a:ext uri="{FF2B5EF4-FFF2-40B4-BE49-F238E27FC236}">
                <a16:creationId xmlns:a16="http://schemas.microsoft.com/office/drawing/2014/main" id="{C5943E81-7B0B-4384-893B-081D1858AF5B}"/>
              </a:ext>
            </a:extLst>
          </p:cNvPr>
          <p:cNvGrpSpPr/>
          <p:nvPr/>
        </p:nvGrpSpPr>
        <p:grpSpPr>
          <a:xfrm>
            <a:off x="388239" y="1196752"/>
            <a:ext cx="8202163" cy="1353956"/>
            <a:chOff x="233375" y="1772816"/>
            <a:chExt cx="8202163" cy="1353956"/>
          </a:xfrm>
        </p:grpSpPr>
        <p:grpSp>
          <p:nvGrpSpPr>
            <p:cNvPr id="9" name="5 Grupo">
              <a:extLst>
                <a:ext uri="{FF2B5EF4-FFF2-40B4-BE49-F238E27FC236}">
                  <a16:creationId xmlns:a16="http://schemas.microsoft.com/office/drawing/2014/main" id="{8FE9501D-19B2-420E-8A81-14427FA16D0F}"/>
                </a:ext>
              </a:extLst>
            </p:cNvPr>
            <p:cNvGrpSpPr/>
            <p:nvPr/>
          </p:nvGrpSpPr>
          <p:grpSpPr>
            <a:xfrm>
              <a:off x="233375" y="1772816"/>
              <a:ext cx="8202163" cy="783771"/>
              <a:chOff x="518399" y="1739458"/>
              <a:chExt cx="8202163" cy="783771"/>
            </a:xfrm>
          </p:grpSpPr>
          <p:sp>
            <p:nvSpPr>
              <p:cNvPr id="14" name="10 Rectángulo">
                <a:extLst>
                  <a:ext uri="{FF2B5EF4-FFF2-40B4-BE49-F238E27FC236}">
                    <a16:creationId xmlns:a16="http://schemas.microsoft.com/office/drawing/2014/main" id="{732DCE9F-2A6E-4881-8CCD-4CE0FC8198EC}"/>
                  </a:ext>
                </a:extLst>
              </p:cNvPr>
              <p:cNvSpPr/>
              <p:nvPr/>
            </p:nvSpPr>
            <p:spPr>
              <a:xfrm>
                <a:off x="518399" y="1879706"/>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Inputs</a:t>
                </a:r>
              </a:p>
            </p:txBody>
          </p:sp>
          <p:sp>
            <p:nvSpPr>
              <p:cNvPr id="15" name="11 Rectángulo">
                <a:extLst>
                  <a:ext uri="{FF2B5EF4-FFF2-40B4-BE49-F238E27FC236}">
                    <a16:creationId xmlns:a16="http://schemas.microsoft.com/office/drawing/2014/main" id="{D86AB898-ED06-41ED-9F16-2741BC621F0A}"/>
                  </a:ext>
                </a:extLst>
              </p:cNvPr>
              <p:cNvSpPr/>
              <p:nvPr/>
            </p:nvSpPr>
            <p:spPr>
              <a:xfrm>
                <a:off x="3563888" y="1739458"/>
                <a:ext cx="2104858" cy="7837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t>Process</a:t>
                </a:r>
              </a:p>
            </p:txBody>
          </p:sp>
          <p:sp>
            <p:nvSpPr>
              <p:cNvPr id="16" name="13 Rectángulo">
                <a:extLst>
                  <a:ext uri="{FF2B5EF4-FFF2-40B4-BE49-F238E27FC236}">
                    <a16:creationId xmlns:a16="http://schemas.microsoft.com/office/drawing/2014/main" id="{15B0EB24-1412-40D0-BADE-91B8F6959980}"/>
                  </a:ext>
                </a:extLst>
              </p:cNvPr>
              <p:cNvSpPr/>
              <p:nvPr/>
            </p:nvSpPr>
            <p:spPr>
              <a:xfrm>
                <a:off x="7374799" y="1884602"/>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Outputs</a:t>
                </a:r>
              </a:p>
            </p:txBody>
          </p:sp>
          <p:sp>
            <p:nvSpPr>
              <p:cNvPr id="17" name="14 Flecha derecha">
                <a:extLst>
                  <a:ext uri="{FF2B5EF4-FFF2-40B4-BE49-F238E27FC236}">
                    <a16:creationId xmlns:a16="http://schemas.microsoft.com/office/drawing/2014/main" id="{BA235EE0-F469-4F0E-8043-5302A861A07F}"/>
                  </a:ext>
                </a:extLst>
              </p:cNvPr>
              <p:cNvSpPr/>
              <p:nvPr/>
            </p:nvSpPr>
            <p:spPr>
              <a:xfrm>
                <a:off x="1851561" y="2038875"/>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21 Flecha derecha">
                <a:extLst>
                  <a:ext uri="{FF2B5EF4-FFF2-40B4-BE49-F238E27FC236}">
                    <a16:creationId xmlns:a16="http://schemas.microsoft.com/office/drawing/2014/main" id="{62F7BF08-B9CA-499B-A028-82DE3DEEF1A3}"/>
                  </a:ext>
                </a:extLst>
              </p:cNvPr>
              <p:cNvSpPr/>
              <p:nvPr/>
            </p:nvSpPr>
            <p:spPr>
              <a:xfrm>
                <a:off x="5676075" y="2031618"/>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11" name="10 Rectángulo">
              <a:extLst>
                <a:ext uri="{FF2B5EF4-FFF2-40B4-BE49-F238E27FC236}">
                  <a16:creationId xmlns:a16="http://schemas.microsoft.com/office/drawing/2014/main" id="{A599FC2C-8781-48C6-AFD4-F86EC2C1085F}"/>
                </a:ext>
              </a:extLst>
            </p:cNvPr>
            <p:cNvSpPr/>
            <p:nvPr/>
          </p:nvSpPr>
          <p:spPr>
            <a:xfrm>
              <a:off x="3136637" y="2628009"/>
              <a:ext cx="2389311"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Variables auxiliares</a:t>
              </a:r>
            </a:p>
          </p:txBody>
        </p:sp>
      </p:grpSp>
      <p:sp>
        <p:nvSpPr>
          <p:cNvPr id="19" name="5 CuadroTexto">
            <a:extLst>
              <a:ext uri="{FF2B5EF4-FFF2-40B4-BE49-F238E27FC236}">
                <a16:creationId xmlns:a16="http://schemas.microsoft.com/office/drawing/2014/main" id="{1D7C1E8D-4FE2-4F9A-9CBA-F480756E5707}"/>
              </a:ext>
            </a:extLst>
          </p:cNvPr>
          <p:cNvSpPr txBox="1"/>
          <p:nvPr/>
        </p:nvSpPr>
        <p:spPr>
          <a:xfrm>
            <a:off x="4396594" y="2653792"/>
            <a:ext cx="4193807" cy="2523768"/>
          </a:xfrm>
          <a:prstGeom prst="rect">
            <a:avLst/>
          </a:prstGeom>
          <a:noFill/>
        </p:spPr>
        <p:txBody>
          <a:bodyPr wrap="square" rtlCol="0">
            <a:spAutoFit/>
          </a:bodyPr>
          <a:lstStyle/>
          <a:p>
            <a:r>
              <a:rPr lang="es-CO" sz="1400" b="1" dirty="0"/>
              <a:t>Definición de variables:</a:t>
            </a:r>
          </a:p>
          <a:p>
            <a:pPr marL="342900" indent="-342900">
              <a:buFont typeface="Arial" pitchFamily="34" charset="0"/>
              <a:buChar char="•"/>
            </a:pPr>
            <a:r>
              <a:rPr lang="es-CO" sz="1200" b="1" dirty="0"/>
              <a:t>Variables auxiliares</a:t>
            </a:r>
            <a:r>
              <a:rPr lang="es-CO" sz="1200" dirty="0"/>
              <a:t>:</a:t>
            </a:r>
          </a:p>
          <a:p>
            <a:pPr marL="800100" lvl="1" indent="-342900">
              <a:buFont typeface="Arial" pitchFamily="34" charset="0"/>
              <a:buChar char="•"/>
            </a:pPr>
            <a:r>
              <a:rPr lang="es-CO" sz="1200" b="1" dirty="0">
                <a:latin typeface="Consolas" panose="020B0609020204030204" pitchFamily="49" charset="0"/>
              </a:rPr>
              <a:t>i</a:t>
            </a:r>
            <a:r>
              <a:rPr lang="es-CO" sz="1200" b="1" dirty="0"/>
              <a:t>:</a:t>
            </a:r>
            <a:r>
              <a:rPr lang="es-CO" sz="1200" dirty="0"/>
              <a:t> Contador asociado a la i-</a:t>
            </a:r>
            <a:r>
              <a:rPr lang="es-CO" sz="1200" dirty="0" err="1"/>
              <a:t>esima</a:t>
            </a:r>
            <a:r>
              <a:rPr lang="es-CO" sz="1200" dirty="0"/>
              <a:t> nota</a:t>
            </a:r>
            <a:endParaRPr lang="es-CO" sz="1200" b="1" dirty="0">
              <a:latin typeface="Consolas" panose="020B0609020204030204" pitchFamily="49" charset="0"/>
            </a:endParaRPr>
          </a:p>
          <a:p>
            <a:pPr marL="800100" lvl="1" indent="-342900">
              <a:buFont typeface="Arial" pitchFamily="34" charset="0"/>
              <a:buChar char="•"/>
            </a:pPr>
            <a:r>
              <a:rPr lang="es-CO" sz="1200" b="1" dirty="0" err="1">
                <a:latin typeface="Consolas" panose="020B0609020204030204" pitchFamily="49" charset="0"/>
              </a:rPr>
              <a:t>notas_reprobadas</a:t>
            </a:r>
            <a:r>
              <a:rPr lang="es-CO" sz="1200" b="1" dirty="0"/>
              <a:t>:</a:t>
            </a:r>
            <a:r>
              <a:rPr lang="es-CO" sz="1200" dirty="0"/>
              <a:t> Numero de notas reprobadas (contador)</a:t>
            </a:r>
          </a:p>
          <a:p>
            <a:pPr marL="800100" lvl="1" indent="-342900">
              <a:buFont typeface="Arial" pitchFamily="34" charset="0"/>
              <a:buChar char="•"/>
            </a:pPr>
            <a:r>
              <a:rPr lang="es-CO" sz="1200" b="1" dirty="0" err="1">
                <a:latin typeface="Consolas" panose="020B0609020204030204" pitchFamily="49" charset="0"/>
              </a:rPr>
              <a:t>suma_reprobadas</a:t>
            </a:r>
            <a:r>
              <a:rPr lang="es-CO" sz="1200" b="1" dirty="0"/>
              <a:t>: </a:t>
            </a:r>
            <a:r>
              <a:rPr lang="es-CO" sz="1200" dirty="0"/>
              <a:t>Suma de notas reprobadas (acumulador).</a:t>
            </a:r>
          </a:p>
          <a:p>
            <a:pPr marL="800100" lvl="1" indent="-342900">
              <a:buFont typeface="Arial" pitchFamily="34" charset="0"/>
              <a:buChar char="•"/>
            </a:pPr>
            <a:r>
              <a:rPr lang="es-CO" sz="1200" b="1" dirty="0" err="1">
                <a:latin typeface="Consolas" panose="020B0609020204030204" pitchFamily="49" charset="0"/>
              </a:rPr>
              <a:t>notas_aprobadas</a:t>
            </a:r>
            <a:r>
              <a:rPr lang="es-CO" sz="1200" b="1" dirty="0"/>
              <a:t>:</a:t>
            </a:r>
            <a:r>
              <a:rPr lang="es-CO" sz="1200" dirty="0"/>
              <a:t> Numero de notas aprobadas (contador)</a:t>
            </a:r>
          </a:p>
          <a:p>
            <a:pPr marL="800100" lvl="1" indent="-342900">
              <a:buFont typeface="Arial" pitchFamily="34" charset="0"/>
              <a:buChar char="•"/>
            </a:pPr>
            <a:r>
              <a:rPr lang="es-CO" sz="1200" b="1" dirty="0" err="1">
                <a:latin typeface="Consolas" panose="020B0609020204030204" pitchFamily="49" charset="0"/>
              </a:rPr>
              <a:t>suma_aprobadas</a:t>
            </a:r>
            <a:r>
              <a:rPr lang="es-CO" sz="1200" b="1" dirty="0"/>
              <a:t>: </a:t>
            </a:r>
            <a:r>
              <a:rPr lang="es-CO" sz="1200" dirty="0"/>
              <a:t>Suma de notas reprobadas (acumulador).</a:t>
            </a:r>
          </a:p>
          <a:p>
            <a:pPr marL="800100" lvl="1" indent="-342900">
              <a:buFont typeface="Arial" pitchFamily="34" charset="0"/>
              <a:buChar char="•"/>
            </a:pPr>
            <a:r>
              <a:rPr lang="es-CO" sz="1200" b="1" dirty="0" err="1">
                <a:latin typeface="Consolas" panose="020B0609020204030204" pitchFamily="49" charset="0"/>
              </a:rPr>
              <a:t>suma_notas</a:t>
            </a:r>
            <a:r>
              <a:rPr lang="es-CO" sz="1200" b="1" dirty="0"/>
              <a:t>:</a:t>
            </a:r>
            <a:r>
              <a:rPr lang="es-CO" sz="1200" dirty="0"/>
              <a:t> Suma de las notas registradas.</a:t>
            </a:r>
          </a:p>
          <a:p>
            <a:pPr marL="800100" lvl="1" indent="-342900">
              <a:buFont typeface="Arial" pitchFamily="34" charset="0"/>
              <a:buChar char="•"/>
            </a:pPr>
            <a:endParaRPr lang="es-CO" sz="1200" dirty="0"/>
          </a:p>
        </p:txBody>
      </p:sp>
    </p:spTree>
    <p:extLst>
      <p:ext uri="{BB962C8B-B14F-4D97-AF65-F5344CB8AC3E}">
        <p14:creationId xmlns:p14="http://schemas.microsoft.com/office/powerpoint/2010/main" val="19584341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4450226" cy="710952"/>
          </a:xfrm>
        </p:spPr>
        <p:txBody>
          <a:bodyPr>
            <a:normAutofit/>
          </a:bodyPr>
          <a:lstStyle/>
          <a:p>
            <a:r>
              <a:rPr lang="es-CO" dirty="0"/>
              <a:t>Ciclos – Ejemplo 5</a:t>
            </a:r>
          </a:p>
        </p:txBody>
      </p:sp>
      <p:grpSp>
        <p:nvGrpSpPr>
          <p:cNvPr id="2" name="Grupo 1">
            <a:extLst>
              <a:ext uri="{FF2B5EF4-FFF2-40B4-BE49-F238E27FC236}">
                <a16:creationId xmlns:a16="http://schemas.microsoft.com/office/drawing/2014/main" id="{42121BD4-1753-4AE5-983B-5A26A45B380F}"/>
              </a:ext>
            </a:extLst>
          </p:cNvPr>
          <p:cNvGrpSpPr/>
          <p:nvPr/>
        </p:nvGrpSpPr>
        <p:grpSpPr>
          <a:xfrm>
            <a:off x="122269" y="1484784"/>
            <a:ext cx="8966864" cy="3412142"/>
            <a:chOff x="122269" y="1155110"/>
            <a:chExt cx="8966864" cy="3412142"/>
          </a:xfrm>
        </p:grpSpPr>
        <p:grpSp>
          <p:nvGrpSpPr>
            <p:cNvPr id="9" name="5 Grupo">
              <a:extLst>
                <a:ext uri="{FF2B5EF4-FFF2-40B4-BE49-F238E27FC236}">
                  <a16:creationId xmlns:a16="http://schemas.microsoft.com/office/drawing/2014/main" id="{8FE9501D-19B2-420E-8A81-14427FA16D0F}"/>
                </a:ext>
              </a:extLst>
            </p:cNvPr>
            <p:cNvGrpSpPr/>
            <p:nvPr/>
          </p:nvGrpSpPr>
          <p:grpSpPr>
            <a:xfrm>
              <a:off x="122269" y="1155110"/>
              <a:ext cx="8202163" cy="783771"/>
              <a:chOff x="518399" y="1739458"/>
              <a:chExt cx="8202163" cy="783771"/>
            </a:xfrm>
          </p:grpSpPr>
          <p:sp>
            <p:nvSpPr>
              <p:cNvPr id="14" name="10 Rectángulo">
                <a:extLst>
                  <a:ext uri="{FF2B5EF4-FFF2-40B4-BE49-F238E27FC236}">
                    <a16:creationId xmlns:a16="http://schemas.microsoft.com/office/drawing/2014/main" id="{732DCE9F-2A6E-4881-8CCD-4CE0FC8198EC}"/>
                  </a:ext>
                </a:extLst>
              </p:cNvPr>
              <p:cNvSpPr/>
              <p:nvPr/>
            </p:nvSpPr>
            <p:spPr>
              <a:xfrm>
                <a:off x="518399" y="1879706"/>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Inputs</a:t>
                </a:r>
              </a:p>
            </p:txBody>
          </p:sp>
          <p:sp>
            <p:nvSpPr>
              <p:cNvPr id="15" name="11 Rectángulo">
                <a:extLst>
                  <a:ext uri="{FF2B5EF4-FFF2-40B4-BE49-F238E27FC236}">
                    <a16:creationId xmlns:a16="http://schemas.microsoft.com/office/drawing/2014/main" id="{D86AB898-ED06-41ED-9F16-2741BC621F0A}"/>
                  </a:ext>
                </a:extLst>
              </p:cNvPr>
              <p:cNvSpPr/>
              <p:nvPr/>
            </p:nvSpPr>
            <p:spPr>
              <a:xfrm>
                <a:off x="3563888" y="1739458"/>
                <a:ext cx="2104858" cy="7837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t>Process</a:t>
                </a:r>
              </a:p>
            </p:txBody>
          </p:sp>
          <p:sp>
            <p:nvSpPr>
              <p:cNvPr id="16" name="13 Rectángulo">
                <a:extLst>
                  <a:ext uri="{FF2B5EF4-FFF2-40B4-BE49-F238E27FC236}">
                    <a16:creationId xmlns:a16="http://schemas.microsoft.com/office/drawing/2014/main" id="{15B0EB24-1412-40D0-BADE-91B8F6959980}"/>
                  </a:ext>
                </a:extLst>
              </p:cNvPr>
              <p:cNvSpPr/>
              <p:nvPr/>
            </p:nvSpPr>
            <p:spPr>
              <a:xfrm>
                <a:off x="7374799" y="1884602"/>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Outputs</a:t>
                </a:r>
              </a:p>
            </p:txBody>
          </p:sp>
          <p:sp>
            <p:nvSpPr>
              <p:cNvPr id="17" name="14 Flecha derecha">
                <a:extLst>
                  <a:ext uri="{FF2B5EF4-FFF2-40B4-BE49-F238E27FC236}">
                    <a16:creationId xmlns:a16="http://schemas.microsoft.com/office/drawing/2014/main" id="{BA235EE0-F469-4F0E-8043-5302A861A07F}"/>
                  </a:ext>
                </a:extLst>
              </p:cNvPr>
              <p:cNvSpPr/>
              <p:nvPr/>
            </p:nvSpPr>
            <p:spPr>
              <a:xfrm>
                <a:off x="1851561" y="2038875"/>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21 Flecha derecha">
                <a:extLst>
                  <a:ext uri="{FF2B5EF4-FFF2-40B4-BE49-F238E27FC236}">
                    <a16:creationId xmlns:a16="http://schemas.microsoft.com/office/drawing/2014/main" id="{62F7BF08-B9CA-499B-A028-82DE3DEEF1A3}"/>
                  </a:ext>
                </a:extLst>
              </p:cNvPr>
              <p:cNvSpPr/>
              <p:nvPr/>
            </p:nvSpPr>
            <p:spPr>
              <a:xfrm>
                <a:off x="5676075" y="2031618"/>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10" name="1 Rectángulo">
              <a:extLst>
                <a:ext uri="{FF2B5EF4-FFF2-40B4-BE49-F238E27FC236}">
                  <a16:creationId xmlns:a16="http://schemas.microsoft.com/office/drawing/2014/main" id="{D1398223-11E8-42D2-AEF3-AD54D2C419C3}"/>
                </a:ext>
              </a:extLst>
            </p:cNvPr>
            <p:cNvSpPr/>
            <p:nvPr/>
          </p:nvSpPr>
          <p:spPr>
            <a:xfrm>
              <a:off x="7175891" y="1771538"/>
              <a:ext cx="1119217" cy="276999"/>
            </a:xfrm>
            <a:prstGeom prst="rect">
              <a:avLst/>
            </a:prstGeom>
          </p:spPr>
          <p:txBody>
            <a:bodyPr wrap="none">
              <a:spAutoFit/>
            </a:bodyPr>
            <a:lstStyle/>
            <a:p>
              <a:r>
                <a:rPr lang="es-CO" sz="1200" dirty="0" err="1">
                  <a:latin typeface="Consolas" panose="020B0609020204030204" pitchFamily="49" charset="0"/>
                  <a:cs typeface="Consolas" panose="020B0609020204030204" pitchFamily="49" charset="0"/>
                </a:rPr>
                <a:t>p_aprobaron</a:t>
              </a:r>
              <a:endParaRPr lang="es-CO" sz="1200" dirty="0">
                <a:latin typeface="Consolas" panose="020B0609020204030204" pitchFamily="49" charset="0"/>
                <a:cs typeface="Consolas" panose="020B0609020204030204" pitchFamily="49" charset="0"/>
              </a:endParaRPr>
            </a:p>
          </p:txBody>
        </p:sp>
        <p:sp>
          <p:nvSpPr>
            <p:cNvPr id="11" name="10 Rectángulo">
              <a:extLst>
                <a:ext uri="{FF2B5EF4-FFF2-40B4-BE49-F238E27FC236}">
                  <a16:creationId xmlns:a16="http://schemas.microsoft.com/office/drawing/2014/main" id="{A599FC2C-8781-48C6-AFD4-F86EC2C1085F}"/>
                </a:ext>
              </a:extLst>
            </p:cNvPr>
            <p:cNvSpPr/>
            <p:nvPr/>
          </p:nvSpPr>
          <p:spPr>
            <a:xfrm>
              <a:off x="3167758" y="2745541"/>
              <a:ext cx="2389311"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O" b="1" dirty="0">
                  <a:solidFill>
                    <a:schemeClr val="tx1"/>
                  </a:solidFill>
                </a:rPr>
                <a:t>Variables auxiliares</a:t>
              </a:r>
            </a:p>
          </p:txBody>
        </p:sp>
        <p:sp>
          <p:nvSpPr>
            <p:cNvPr id="12" name="1 Rectángulo">
              <a:extLst>
                <a:ext uri="{FF2B5EF4-FFF2-40B4-BE49-F238E27FC236}">
                  <a16:creationId xmlns:a16="http://schemas.microsoft.com/office/drawing/2014/main" id="{C6B5573E-DBD7-4223-86BE-BEC503A9E92F}"/>
                </a:ext>
              </a:extLst>
            </p:cNvPr>
            <p:cNvSpPr/>
            <p:nvPr/>
          </p:nvSpPr>
          <p:spPr>
            <a:xfrm>
              <a:off x="3563888" y="3228197"/>
              <a:ext cx="1544012" cy="276999"/>
            </a:xfrm>
            <a:prstGeom prst="rect">
              <a:avLst/>
            </a:prstGeom>
          </p:spPr>
          <p:txBody>
            <a:bodyPr wrap="none">
              <a:spAutoFit/>
            </a:bodyPr>
            <a:lstStyle/>
            <a:p>
              <a:r>
                <a:rPr lang="es-CO" sz="1200" dirty="0" err="1">
                  <a:latin typeface="Consolas" panose="020B0609020204030204" pitchFamily="49" charset="0"/>
                  <a:cs typeface="Consolas" panose="020B0609020204030204" pitchFamily="49" charset="0"/>
                </a:rPr>
                <a:t>notas_reprobadas</a:t>
              </a:r>
              <a:endParaRPr lang="es-CO" sz="1200" dirty="0">
                <a:latin typeface="Consolas" panose="020B0609020204030204" pitchFamily="49" charset="0"/>
                <a:cs typeface="Consolas" panose="020B0609020204030204" pitchFamily="49" charset="0"/>
              </a:endParaRPr>
            </a:p>
          </p:txBody>
        </p:sp>
        <p:sp>
          <p:nvSpPr>
            <p:cNvPr id="20" name="1 Rectángulo">
              <a:extLst>
                <a:ext uri="{FF2B5EF4-FFF2-40B4-BE49-F238E27FC236}">
                  <a16:creationId xmlns:a16="http://schemas.microsoft.com/office/drawing/2014/main" id="{0C86435B-112B-4DBD-B639-6CE51F189FE3}"/>
                </a:ext>
              </a:extLst>
            </p:cNvPr>
            <p:cNvSpPr/>
            <p:nvPr/>
          </p:nvSpPr>
          <p:spPr>
            <a:xfrm>
              <a:off x="513284" y="1759321"/>
              <a:ext cx="524503"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N</a:t>
              </a:r>
            </a:p>
          </p:txBody>
        </p:sp>
        <p:sp>
          <p:nvSpPr>
            <p:cNvPr id="21" name="1 Rectángulo">
              <a:extLst>
                <a:ext uri="{FF2B5EF4-FFF2-40B4-BE49-F238E27FC236}">
                  <a16:creationId xmlns:a16="http://schemas.microsoft.com/office/drawing/2014/main" id="{3B2C50F9-587E-446F-83C8-BDF0086F3C88}"/>
                </a:ext>
              </a:extLst>
            </p:cNvPr>
            <p:cNvSpPr/>
            <p:nvPr/>
          </p:nvSpPr>
          <p:spPr>
            <a:xfrm>
              <a:off x="7164288" y="2259022"/>
              <a:ext cx="1911180" cy="276999"/>
            </a:xfrm>
            <a:prstGeom prst="rect">
              <a:avLst/>
            </a:prstGeom>
          </p:spPr>
          <p:txBody>
            <a:bodyPr wrap="square">
              <a:spAutoFit/>
            </a:bodyPr>
            <a:lstStyle/>
            <a:p>
              <a:r>
                <a:rPr lang="es-CO" sz="1200" dirty="0" err="1">
                  <a:latin typeface="Consolas" panose="020B0609020204030204" pitchFamily="49" charset="0"/>
                  <a:cs typeface="Consolas" panose="020B0609020204030204" pitchFamily="49" charset="0"/>
                </a:rPr>
                <a:t>prom_nota_reprobada</a:t>
              </a:r>
              <a:endParaRPr lang="es-CO" sz="1200" dirty="0">
                <a:latin typeface="Consolas" panose="020B0609020204030204" pitchFamily="49" charset="0"/>
                <a:cs typeface="Consolas" panose="020B0609020204030204" pitchFamily="49" charset="0"/>
              </a:endParaRPr>
            </a:p>
          </p:txBody>
        </p:sp>
        <p:sp>
          <p:nvSpPr>
            <p:cNvPr id="22" name="1 Rectángulo">
              <a:extLst>
                <a:ext uri="{FF2B5EF4-FFF2-40B4-BE49-F238E27FC236}">
                  <a16:creationId xmlns:a16="http://schemas.microsoft.com/office/drawing/2014/main" id="{24AAC88C-EDFD-4BDF-93B4-69386E31AA14}"/>
                </a:ext>
              </a:extLst>
            </p:cNvPr>
            <p:cNvSpPr/>
            <p:nvPr/>
          </p:nvSpPr>
          <p:spPr>
            <a:xfrm>
              <a:off x="7164288" y="2010010"/>
              <a:ext cx="1204176" cy="276999"/>
            </a:xfrm>
            <a:prstGeom prst="rect">
              <a:avLst/>
            </a:prstGeom>
          </p:spPr>
          <p:txBody>
            <a:bodyPr wrap="none">
              <a:spAutoFit/>
            </a:bodyPr>
            <a:lstStyle/>
            <a:p>
              <a:r>
                <a:rPr lang="es-CO" sz="1200" dirty="0" err="1">
                  <a:latin typeface="Consolas" panose="020B0609020204030204" pitchFamily="49" charset="0"/>
                  <a:cs typeface="Consolas" panose="020B0609020204030204" pitchFamily="49" charset="0"/>
                </a:rPr>
                <a:t>p_reprobaron</a:t>
              </a:r>
              <a:endParaRPr lang="es-CO" sz="1200" dirty="0">
                <a:latin typeface="Consolas" panose="020B0609020204030204" pitchFamily="49" charset="0"/>
                <a:cs typeface="Consolas" panose="020B0609020204030204" pitchFamily="49" charset="0"/>
              </a:endParaRPr>
            </a:p>
          </p:txBody>
        </p:sp>
        <p:sp>
          <p:nvSpPr>
            <p:cNvPr id="23" name="1 Rectángulo">
              <a:extLst>
                <a:ext uri="{FF2B5EF4-FFF2-40B4-BE49-F238E27FC236}">
                  <a16:creationId xmlns:a16="http://schemas.microsoft.com/office/drawing/2014/main" id="{03A24B10-0B74-4597-ABFC-A6C64FB4EC49}"/>
                </a:ext>
              </a:extLst>
            </p:cNvPr>
            <p:cNvSpPr/>
            <p:nvPr/>
          </p:nvSpPr>
          <p:spPr>
            <a:xfrm>
              <a:off x="7177953" y="2525481"/>
              <a:ext cx="1911180" cy="276999"/>
            </a:xfrm>
            <a:prstGeom prst="rect">
              <a:avLst/>
            </a:prstGeom>
          </p:spPr>
          <p:txBody>
            <a:bodyPr wrap="square">
              <a:spAutoFit/>
            </a:bodyPr>
            <a:lstStyle/>
            <a:p>
              <a:r>
                <a:rPr lang="es-CO" sz="1200" dirty="0" err="1">
                  <a:latin typeface="Consolas" panose="020B0609020204030204" pitchFamily="49" charset="0"/>
                  <a:cs typeface="Consolas" panose="020B0609020204030204" pitchFamily="49" charset="0"/>
                </a:rPr>
                <a:t>prom_nota_aprobada</a:t>
              </a:r>
              <a:endParaRPr lang="es-CO" sz="1200" dirty="0">
                <a:latin typeface="Consolas" panose="020B0609020204030204" pitchFamily="49" charset="0"/>
                <a:cs typeface="Consolas" panose="020B0609020204030204" pitchFamily="49" charset="0"/>
              </a:endParaRPr>
            </a:p>
          </p:txBody>
        </p:sp>
        <p:sp>
          <p:nvSpPr>
            <p:cNvPr id="24" name="1 Rectángulo">
              <a:extLst>
                <a:ext uri="{FF2B5EF4-FFF2-40B4-BE49-F238E27FC236}">
                  <a16:creationId xmlns:a16="http://schemas.microsoft.com/office/drawing/2014/main" id="{ACAAE8C9-A755-4A05-82D0-15B03F4A99D9}"/>
                </a:ext>
              </a:extLst>
            </p:cNvPr>
            <p:cNvSpPr/>
            <p:nvPr/>
          </p:nvSpPr>
          <p:spPr>
            <a:xfrm>
              <a:off x="7167676" y="2779496"/>
              <a:ext cx="1911180" cy="276999"/>
            </a:xfrm>
            <a:prstGeom prst="rect">
              <a:avLst/>
            </a:prstGeom>
          </p:spPr>
          <p:txBody>
            <a:bodyPr wrap="square">
              <a:spAutoFit/>
            </a:bodyPr>
            <a:lstStyle/>
            <a:p>
              <a:r>
                <a:rPr lang="es-CO" sz="1200" dirty="0" err="1">
                  <a:latin typeface="Consolas" panose="020B0609020204030204" pitchFamily="49" charset="0"/>
                  <a:cs typeface="Consolas" panose="020B0609020204030204" pitchFamily="49" charset="0"/>
                </a:rPr>
                <a:t>prom</a:t>
              </a:r>
              <a:endParaRPr lang="es-CO" sz="1200" dirty="0">
                <a:latin typeface="Consolas" panose="020B0609020204030204" pitchFamily="49" charset="0"/>
                <a:cs typeface="Consolas" panose="020B0609020204030204" pitchFamily="49" charset="0"/>
              </a:endParaRPr>
            </a:p>
          </p:txBody>
        </p:sp>
        <p:sp>
          <p:nvSpPr>
            <p:cNvPr id="25" name="10 Rectángulo">
              <a:extLst>
                <a:ext uri="{FF2B5EF4-FFF2-40B4-BE49-F238E27FC236}">
                  <a16:creationId xmlns:a16="http://schemas.microsoft.com/office/drawing/2014/main" id="{28D00F6F-FEF1-4AC2-B61B-4F94924076AB}"/>
                </a:ext>
              </a:extLst>
            </p:cNvPr>
            <p:cNvSpPr/>
            <p:nvPr/>
          </p:nvSpPr>
          <p:spPr>
            <a:xfrm>
              <a:off x="3167757" y="2007992"/>
              <a:ext cx="2389311"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O" b="1" dirty="0">
                  <a:solidFill>
                    <a:schemeClr val="tx1"/>
                  </a:solidFill>
                </a:rPr>
                <a:t>Constantes</a:t>
              </a:r>
            </a:p>
          </p:txBody>
        </p:sp>
        <p:sp>
          <p:nvSpPr>
            <p:cNvPr id="26" name="1 Rectángulo">
              <a:extLst>
                <a:ext uri="{FF2B5EF4-FFF2-40B4-BE49-F238E27FC236}">
                  <a16:creationId xmlns:a16="http://schemas.microsoft.com/office/drawing/2014/main" id="{2038A0DC-3DBE-4D08-B99D-C81A64192003}"/>
                </a:ext>
              </a:extLst>
            </p:cNvPr>
            <p:cNvSpPr/>
            <p:nvPr/>
          </p:nvSpPr>
          <p:spPr>
            <a:xfrm>
              <a:off x="3412382" y="2479595"/>
              <a:ext cx="2112186"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NOTA_MINIMA = 3.0</a:t>
              </a:r>
            </a:p>
          </p:txBody>
        </p:sp>
        <p:sp>
          <p:nvSpPr>
            <p:cNvPr id="27" name="1 Rectángulo">
              <a:extLst>
                <a:ext uri="{FF2B5EF4-FFF2-40B4-BE49-F238E27FC236}">
                  <a16:creationId xmlns:a16="http://schemas.microsoft.com/office/drawing/2014/main" id="{DD8EBF09-5B86-4E31-845E-25EE4E914911}"/>
                </a:ext>
              </a:extLst>
            </p:cNvPr>
            <p:cNvSpPr/>
            <p:nvPr/>
          </p:nvSpPr>
          <p:spPr>
            <a:xfrm>
              <a:off x="3563888" y="3483090"/>
              <a:ext cx="1459054" cy="276999"/>
            </a:xfrm>
            <a:prstGeom prst="rect">
              <a:avLst/>
            </a:prstGeom>
          </p:spPr>
          <p:txBody>
            <a:bodyPr wrap="none">
              <a:spAutoFit/>
            </a:bodyPr>
            <a:lstStyle/>
            <a:p>
              <a:r>
                <a:rPr lang="es-CO" sz="1200" dirty="0" err="1">
                  <a:latin typeface="Consolas" panose="020B0609020204030204" pitchFamily="49" charset="0"/>
                  <a:cs typeface="Consolas" panose="020B0609020204030204" pitchFamily="49" charset="0"/>
                </a:rPr>
                <a:t>notas_aprobadas</a:t>
              </a:r>
              <a:endParaRPr lang="es-CO" sz="1200" dirty="0">
                <a:latin typeface="Consolas" panose="020B0609020204030204" pitchFamily="49" charset="0"/>
                <a:cs typeface="Consolas" panose="020B0609020204030204" pitchFamily="49" charset="0"/>
              </a:endParaRPr>
            </a:p>
          </p:txBody>
        </p:sp>
        <p:sp>
          <p:nvSpPr>
            <p:cNvPr id="28" name="1 Rectángulo">
              <a:extLst>
                <a:ext uri="{FF2B5EF4-FFF2-40B4-BE49-F238E27FC236}">
                  <a16:creationId xmlns:a16="http://schemas.microsoft.com/office/drawing/2014/main" id="{40E934AA-0485-4C51-A363-779A0FA8C931}"/>
                </a:ext>
              </a:extLst>
            </p:cNvPr>
            <p:cNvSpPr/>
            <p:nvPr/>
          </p:nvSpPr>
          <p:spPr>
            <a:xfrm>
              <a:off x="3563888" y="3752626"/>
              <a:ext cx="1459054" cy="276999"/>
            </a:xfrm>
            <a:prstGeom prst="rect">
              <a:avLst/>
            </a:prstGeom>
          </p:spPr>
          <p:txBody>
            <a:bodyPr wrap="none">
              <a:spAutoFit/>
            </a:bodyPr>
            <a:lstStyle/>
            <a:p>
              <a:r>
                <a:rPr lang="es-CO" sz="1200" dirty="0" err="1">
                  <a:latin typeface="Consolas" panose="020B0609020204030204" pitchFamily="49" charset="0"/>
                  <a:cs typeface="Consolas" panose="020B0609020204030204" pitchFamily="49" charset="0"/>
                </a:rPr>
                <a:t>suma_reprobadas</a:t>
              </a:r>
              <a:endParaRPr lang="es-CO" sz="1200" dirty="0">
                <a:latin typeface="Consolas" panose="020B0609020204030204" pitchFamily="49" charset="0"/>
                <a:cs typeface="Consolas" panose="020B0609020204030204" pitchFamily="49" charset="0"/>
              </a:endParaRPr>
            </a:p>
          </p:txBody>
        </p:sp>
        <p:sp>
          <p:nvSpPr>
            <p:cNvPr id="29" name="1 Rectángulo">
              <a:extLst>
                <a:ext uri="{FF2B5EF4-FFF2-40B4-BE49-F238E27FC236}">
                  <a16:creationId xmlns:a16="http://schemas.microsoft.com/office/drawing/2014/main" id="{F3EAF573-8220-4313-80C9-F2BE1AF3C4FF}"/>
                </a:ext>
              </a:extLst>
            </p:cNvPr>
            <p:cNvSpPr/>
            <p:nvPr/>
          </p:nvSpPr>
          <p:spPr>
            <a:xfrm>
              <a:off x="3563888" y="4013105"/>
              <a:ext cx="1374094" cy="276999"/>
            </a:xfrm>
            <a:prstGeom prst="rect">
              <a:avLst/>
            </a:prstGeom>
          </p:spPr>
          <p:txBody>
            <a:bodyPr wrap="none">
              <a:spAutoFit/>
            </a:bodyPr>
            <a:lstStyle/>
            <a:p>
              <a:r>
                <a:rPr lang="es-CO" sz="1200" dirty="0" err="1">
                  <a:latin typeface="Consolas" panose="020B0609020204030204" pitchFamily="49" charset="0"/>
                  <a:cs typeface="Consolas" panose="020B0609020204030204" pitchFamily="49" charset="0"/>
                </a:rPr>
                <a:t>suma_aprobadas</a:t>
              </a:r>
              <a:endParaRPr lang="es-CO" sz="1200" dirty="0">
                <a:latin typeface="Consolas" panose="020B0609020204030204" pitchFamily="49" charset="0"/>
                <a:cs typeface="Consolas" panose="020B0609020204030204" pitchFamily="49" charset="0"/>
              </a:endParaRPr>
            </a:p>
          </p:txBody>
        </p:sp>
        <p:sp>
          <p:nvSpPr>
            <p:cNvPr id="30" name="1 Rectángulo">
              <a:extLst>
                <a:ext uri="{FF2B5EF4-FFF2-40B4-BE49-F238E27FC236}">
                  <a16:creationId xmlns:a16="http://schemas.microsoft.com/office/drawing/2014/main" id="{CD1C955F-F65D-4DA6-B23B-C422F3C2F58C}"/>
                </a:ext>
              </a:extLst>
            </p:cNvPr>
            <p:cNvSpPr/>
            <p:nvPr/>
          </p:nvSpPr>
          <p:spPr>
            <a:xfrm>
              <a:off x="3563888" y="4290253"/>
              <a:ext cx="1374094" cy="276999"/>
            </a:xfrm>
            <a:prstGeom prst="rect">
              <a:avLst/>
            </a:prstGeom>
          </p:spPr>
          <p:txBody>
            <a:bodyPr wrap="square">
              <a:spAutoFit/>
            </a:bodyPr>
            <a:lstStyle/>
            <a:p>
              <a:r>
                <a:rPr lang="es-CO" sz="1200" dirty="0" err="1">
                  <a:latin typeface="Consolas" panose="020B0609020204030204" pitchFamily="49" charset="0"/>
                  <a:cs typeface="Consolas" panose="020B0609020204030204" pitchFamily="49" charset="0"/>
                </a:rPr>
                <a:t>suma_notas</a:t>
              </a:r>
              <a:endParaRPr lang="es-CO" sz="1200" dirty="0">
                <a:latin typeface="Consolas" panose="020B0609020204030204" pitchFamily="49" charset="0"/>
                <a:cs typeface="Consolas" panose="020B0609020204030204" pitchFamily="49" charset="0"/>
              </a:endParaRPr>
            </a:p>
          </p:txBody>
        </p:sp>
      </p:grpSp>
      <p:sp>
        <p:nvSpPr>
          <p:cNvPr id="32" name="1 Rectángulo">
            <a:extLst>
              <a:ext uri="{FF2B5EF4-FFF2-40B4-BE49-F238E27FC236}">
                <a16:creationId xmlns:a16="http://schemas.microsoft.com/office/drawing/2014/main" id="{0A97BFA9-AEB9-454A-844E-D5AB7853D0B1}"/>
              </a:ext>
            </a:extLst>
          </p:cNvPr>
          <p:cNvSpPr/>
          <p:nvPr/>
        </p:nvSpPr>
        <p:spPr>
          <a:xfrm>
            <a:off x="513284" y="2310048"/>
            <a:ext cx="524503"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nota</a:t>
            </a:r>
          </a:p>
        </p:txBody>
      </p:sp>
    </p:spTree>
    <p:extLst>
      <p:ext uri="{BB962C8B-B14F-4D97-AF65-F5344CB8AC3E}">
        <p14:creationId xmlns:p14="http://schemas.microsoft.com/office/powerpoint/2010/main" val="12578828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4EB46DA0-4F51-4B8C-933C-B01FC5FF0D7D}"/>
              </a:ext>
            </a:extLst>
          </p:cNvPr>
          <p:cNvSpPr txBox="1"/>
          <p:nvPr/>
        </p:nvSpPr>
        <p:spPr>
          <a:xfrm>
            <a:off x="200315" y="3068960"/>
            <a:ext cx="4227669" cy="3323987"/>
          </a:xfrm>
          <a:prstGeom prst="rect">
            <a:avLst/>
          </a:prstGeom>
          <a:noFill/>
          <a:ln>
            <a:solidFill>
              <a:schemeClr val="tx1"/>
            </a:solidFill>
          </a:ln>
        </p:spPr>
        <p:txBody>
          <a:bodyPr wrap="square">
            <a:spAutoFit/>
          </a:bodyPr>
          <a:lstStyle/>
          <a:p>
            <a:r>
              <a:rPr lang="es-MX" sz="1000" dirty="0">
                <a:latin typeface="Consolas" panose="020B0609020204030204" pitchFamily="49" charset="0"/>
              </a:rPr>
              <a:t>Inicio</a:t>
            </a:r>
          </a:p>
          <a:p>
            <a:r>
              <a:rPr lang="es-MX" sz="1000" dirty="0">
                <a:latin typeface="Consolas" panose="020B0609020204030204" pitchFamily="49" charset="0"/>
              </a:rPr>
              <a:t>  NOTA_MINIMA = 3.0</a:t>
            </a:r>
          </a:p>
          <a:p>
            <a:r>
              <a:rPr lang="es-MX" sz="1000" dirty="0">
                <a:latin typeface="Consolas" panose="020B0609020204030204" pitchFamily="49" charset="0"/>
              </a:rPr>
              <a:t>  </a:t>
            </a:r>
            <a:r>
              <a:rPr lang="es-MX" sz="1000" dirty="0" err="1">
                <a:latin typeface="Consolas" panose="020B0609020204030204" pitchFamily="49" charset="0"/>
              </a:rPr>
              <a:t>notas_reprobadas</a:t>
            </a:r>
            <a:r>
              <a:rPr lang="es-MX" sz="1000" dirty="0">
                <a:latin typeface="Consolas" panose="020B0609020204030204" pitchFamily="49" charset="0"/>
              </a:rPr>
              <a:t> = 0</a:t>
            </a:r>
          </a:p>
          <a:p>
            <a:r>
              <a:rPr lang="es-MX" sz="1000" dirty="0">
                <a:latin typeface="Consolas" panose="020B0609020204030204" pitchFamily="49" charset="0"/>
              </a:rPr>
              <a:t>  </a:t>
            </a:r>
            <a:r>
              <a:rPr lang="es-MX" sz="1000" dirty="0" err="1">
                <a:latin typeface="Consolas" panose="020B0609020204030204" pitchFamily="49" charset="0"/>
              </a:rPr>
              <a:t>notas_aprobadas</a:t>
            </a:r>
            <a:r>
              <a:rPr lang="es-MX" sz="1000" dirty="0">
                <a:latin typeface="Consolas" panose="020B0609020204030204" pitchFamily="49" charset="0"/>
              </a:rPr>
              <a:t> = 0</a:t>
            </a:r>
          </a:p>
          <a:p>
            <a:r>
              <a:rPr lang="es-MX" sz="1000" dirty="0">
                <a:latin typeface="Consolas" panose="020B0609020204030204" pitchFamily="49" charset="0"/>
              </a:rPr>
              <a:t>  </a:t>
            </a:r>
            <a:r>
              <a:rPr lang="es-MX" sz="1000" dirty="0" err="1">
                <a:latin typeface="Consolas" panose="020B0609020204030204" pitchFamily="49" charset="0"/>
              </a:rPr>
              <a:t>suma_reprobadas</a:t>
            </a:r>
            <a:r>
              <a:rPr lang="es-MX" sz="1000" dirty="0">
                <a:latin typeface="Consolas" panose="020B0609020204030204" pitchFamily="49" charset="0"/>
              </a:rPr>
              <a:t> = 0</a:t>
            </a:r>
          </a:p>
          <a:p>
            <a:r>
              <a:rPr lang="es-MX" sz="1000" dirty="0">
                <a:latin typeface="Consolas" panose="020B0609020204030204" pitchFamily="49" charset="0"/>
              </a:rPr>
              <a:t>  </a:t>
            </a:r>
            <a:r>
              <a:rPr lang="es-MX" sz="1000" dirty="0" err="1">
                <a:latin typeface="Consolas" panose="020B0609020204030204" pitchFamily="49" charset="0"/>
              </a:rPr>
              <a:t>suma_aprobadas</a:t>
            </a:r>
            <a:r>
              <a:rPr lang="es-MX" sz="1000" dirty="0">
                <a:latin typeface="Consolas" panose="020B0609020204030204" pitchFamily="49" charset="0"/>
              </a:rPr>
              <a:t> = 0</a:t>
            </a:r>
          </a:p>
          <a:p>
            <a:r>
              <a:rPr lang="es-MX" sz="1000" dirty="0">
                <a:latin typeface="Consolas" panose="020B0609020204030204" pitchFamily="49" charset="0"/>
              </a:rPr>
              <a:t>  Leer(N)</a:t>
            </a:r>
          </a:p>
          <a:p>
            <a:r>
              <a:rPr lang="es-MX" sz="1000" dirty="0">
                <a:solidFill>
                  <a:srgbClr val="C00000"/>
                </a:solidFill>
                <a:latin typeface="Consolas" panose="020B0609020204030204" pitchFamily="49" charset="0"/>
              </a:rPr>
              <a:t>  Para (i = 0,N - 1,1) Haga    </a:t>
            </a:r>
          </a:p>
          <a:p>
            <a:r>
              <a:rPr lang="es-MX" sz="1000" dirty="0">
                <a:solidFill>
                  <a:srgbClr val="C00000"/>
                </a:solidFill>
                <a:latin typeface="Consolas" panose="020B0609020204030204" pitchFamily="49" charset="0"/>
              </a:rPr>
              <a:t>    Leer(nota) </a:t>
            </a:r>
          </a:p>
          <a:p>
            <a:r>
              <a:rPr lang="es-MX" sz="1000" dirty="0">
                <a:solidFill>
                  <a:srgbClr val="00B050"/>
                </a:solidFill>
                <a:latin typeface="Consolas" panose="020B0609020204030204" pitchFamily="49" charset="0"/>
              </a:rPr>
              <a:t>    Si nota &gt;= NOTA_MINIMA Entonces</a:t>
            </a:r>
          </a:p>
          <a:p>
            <a:r>
              <a:rPr lang="es-MX" sz="1000" dirty="0">
                <a:solidFill>
                  <a:srgbClr val="00B050"/>
                </a:solidFill>
                <a:latin typeface="Consolas" panose="020B0609020204030204" pitchFamily="49" charset="0"/>
              </a:rPr>
              <a:t>      </a:t>
            </a:r>
            <a:r>
              <a:rPr lang="es-MX" sz="1000" dirty="0" err="1">
                <a:solidFill>
                  <a:srgbClr val="00B050"/>
                </a:solidFill>
                <a:latin typeface="Consolas" panose="020B0609020204030204" pitchFamily="49" charset="0"/>
              </a:rPr>
              <a:t>notas_aprobadas</a:t>
            </a:r>
            <a:r>
              <a:rPr lang="es-MX" sz="1000" dirty="0">
                <a:solidFill>
                  <a:srgbClr val="00B050"/>
                </a:solidFill>
                <a:latin typeface="Consolas" panose="020B0609020204030204" pitchFamily="49" charset="0"/>
              </a:rPr>
              <a:t> = </a:t>
            </a:r>
            <a:r>
              <a:rPr lang="es-MX" sz="1000" dirty="0" err="1">
                <a:solidFill>
                  <a:srgbClr val="00B050"/>
                </a:solidFill>
                <a:latin typeface="Consolas" panose="020B0609020204030204" pitchFamily="49" charset="0"/>
              </a:rPr>
              <a:t>notas_aprobadas</a:t>
            </a:r>
            <a:r>
              <a:rPr lang="es-MX" sz="1000" dirty="0">
                <a:solidFill>
                  <a:srgbClr val="00B050"/>
                </a:solidFill>
                <a:latin typeface="Consolas" panose="020B0609020204030204" pitchFamily="49" charset="0"/>
              </a:rPr>
              <a:t> + 1</a:t>
            </a:r>
          </a:p>
          <a:p>
            <a:r>
              <a:rPr lang="es-MX" sz="1000" dirty="0">
                <a:solidFill>
                  <a:srgbClr val="00B050"/>
                </a:solidFill>
                <a:latin typeface="Consolas" panose="020B0609020204030204" pitchFamily="49" charset="0"/>
              </a:rPr>
              <a:t>      </a:t>
            </a:r>
            <a:r>
              <a:rPr lang="es-MX" sz="1000" dirty="0" err="1">
                <a:solidFill>
                  <a:srgbClr val="00B050"/>
                </a:solidFill>
                <a:latin typeface="Consolas" panose="020B0609020204030204" pitchFamily="49" charset="0"/>
              </a:rPr>
              <a:t>suma_aprobadas</a:t>
            </a:r>
            <a:r>
              <a:rPr lang="es-MX" sz="1000" dirty="0">
                <a:solidFill>
                  <a:srgbClr val="00B050"/>
                </a:solidFill>
                <a:latin typeface="Consolas" panose="020B0609020204030204" pitchFamily="49" charset="0"/>
              </a:rPr>
              <a:t> = </a:t>
            </a:r>
            <a:r>
              <a:rPr lang="es-MX" sz="1000" dirty="0" err="1">
                <a:solidFill>
                  <a:srgbClr val="00B050"/>
                </a:solidFill>
                <a:latin typeface="Consolas" panose="020B0609020204030204" pitchFamily="49" charset="0"/>
              </a:rPr>
              <a:t>suma_aprobadas</a:t>
            </a:r>
            <a:r>
              <a:rPr lang="es-MX" sz="1000" dirty="0">
                <a:solidFill>
                  <a:srgbClr val="00B050"/>
                </a:solidFill>
                <a:latin typeface="Consolas" panose="020B0609020204030204" pitchFamily="49" charset="0"/>
              </a:rPr>
              <a:t> + nota</a:t>
            </a:r>
          </a:p>
          <a:p>
            <a:r>
              <a:rPr lang="es-MX" sz="1000" dirty="0">
                <a:solidFill>
                  <a:srgbClr val="00B050"/>
                </a:solidFill>
                <a:latin typeface="Consolas" panose="020B0609020204030204" pitchFamily="49" charset="0"/>
              </a:rPr>
              <a:t>    Sino</a:t>
            </a:r>
          </a:p>
          <a:p>
            <a:r>
              <a:rPr lang="es-MX" sz="1000" dirty="0">
                <a:solidFill>
                  <a:srgbClr val="00B050"/>
                </a:solidFill>
                <a:latin typeface="Consolas" panose="020B0609020204030204" pitchFamily="49" charset="0"/>
              </a:rPr>
              <a:t>      </a:t>
            </a:r>
            <a:r>
              <a:rPr lang="es-MX" sz="1000" dirty="0" err="1">
                <a:solidFill>
                  <a:srgbClr val="00B050"/>
                </a:solidFill>
                <a:latin typeface="Consolas" panose="020B0609020204030204" pitchFamily="49" charset="0"/>
              </a:rPr>
              <a:t>notas_reprobadas</a:t>
            </a:r>
            <a:r>
              <a:rPr lang="es-MX" sz="1000" dirty="0">
                <a:solidFill>
                  <a:srgbClr val="00B050"/>
                </a:solidFill>
                <a:latin typeface="Consolas" panose="020B0609020204030204" pitchFamily="49" charset="0"/>
              </a:rPr>
              <a:t> = </a:t>
            </a:r>
            <a:r>
              <a:rPr lang="es-MX" sz="1000" dirty="0" err="1">
                <a:solidFill>
                  <a:srgbClr val="00B050"/>
                </a:solidFill>
                <a:latin typeface="Consolas" panose="020B0609020204030204" pitchFamily="49" charset="0"/>
              </a:rPr>
              <a:t>notas_reprobadas</a:t>
            </a:r>
            <a:r>
              <a:rPr lang="es-MX" sz="1000" dirty="0">
                <a:solidFill>
                  <a:srgbClr val="00B050"/>
                </a:solidFill>
                <a:latin typeface="Consolas" panose="020B0609020204030204" pitchFamily="49" charset="0"/>
              </a:rPr>
              <a:t> + 1</a:t>
            </a:r>
          </a:p>
          <a:p>
            <a:r>
              <a:rPr lang="es-MX" sz="1000" dirty="0">
                <a:solidFill>
                  <a:srgbClr val="00B050"/>
                </a:solidFill>
                <a:latin typeface="Consolas" panose="020B0609020204030204" pitchFamily="49" charset="0"/>
              </a:rPr>
              <a:t>      </a:t>
            </a:r>
            <a:r>
              <a:rPr lang="es-MX" sz="1000" dirty="0" err="1">
                <a:solidFill>
                  <a:srgbClr val="00B050"/>
                </a:solidFill>
                <a:latin typeface="Consolas" panose="020B0609020204030204" pitchFamily="49" charset="0"/>
              </a:rPr>
              <a:t>suma_reprobadas</a:t>
            </a:r>
            <a:r>
              <a:rPr lang="es-MX" sz="1000" dirty="0">
                <a:solidFill>
                  <a:srgbClr val="00B050"/>
                </a:solidFill>
                <a:latin typeface="Consolas" panose="020B0609020204030204" pitchFamily="49" charset="0"/>
              </a:rPr>
              <a:t> = </a:t>
            </a:r>
            <a:r>
              <a:rPr lang="es-MX" sz="1000" dirty="0" err="1">
                <a:solidFill>
                  <a:srgbClr val="00B050"/>
                </a:solidFill>
                <a:latin typeface="Consolas" panose="020B0609020204030204" pitchFamily="49" charset="0"/>
              </a:rPr>
              <a:t>suma_reprobadas</a:t>
            </a:r>
            <a:r>
              <a:rPr lang="es-MX" sz="1000" dirty="0">
                <a:solidFill>
                  <a:srgbClr val="00B050"/>
                </a:solidFill>
                <a:latin typeface="Consolas" panose="020B0609020204030204" pitchFamily="49" charset="0"/>
              </a:rPr>
              <a:t> + nota</a:t>
            </a:r>
          </a:p>
          <a:p>
            <a:r>
              <a:rPr lang="es-MX" sz="1000" dirty="0">
                <a:solidFill>
                  <a:srgbClr val="00B050"/>
                </a:solidFill>
                <a:latin typeface="Consolas" panose="020B0609020204030204" pitchFamily="49" charset="0"/>
              </a:rPr>
              <a:t>    Fin_Si</a:t>
            </a:r>
          </a:p>
          <a:p>
            <a:r>
              <a:rPr lang="es-MX" sz="1000" dirty="0">
                <a:solidFill>
                  <a:srgbClr val="C00000"/>
                </a:solidFill>
                <a:latin typeface="Consolas" panose="020B0609020204030204" pitchFamily="49" charset="0"/>
              </a:rPr>
              <a:t>  </a:t>
            </a:r>
            <a:r>
              <a:rPr lang="es-MX" sz="1000" dirty="0" err="1">
                <a:solidFill>
                  <a:srgbClr val="C00000"/>
                </a:solidFill>
                <a:latin typeface="Consolas" panose="020B0609020204030204" pitchFamily="49" charset="0"/>
              </a:rPr>
              <a:t>Fin_Para</a:t>
            </a:r>
            <a:endParaRPr lang="es-MX" sz="1000" dirty="0">
              <a:solidFill>
                <a:srgbClr val="C00000"/>
              </a:solidFill>
              <a:latin typeface="Consolas" panose="020B0609020204030204" pitchFamily="49" charset="0"/>
            </a:endParaRPr>
          </a:p>
          <a:p>
            <a:r>
              <a:rPr lang="es-MX" sz="1000" dirty="0">
                <a:latin typeface="Consolas" panose="020B0609020204030204" pitchFamily="49" charset="0"/>
              </a:rPr>
              <a:t>  </a:t>
            </a:r>
            <a:r>
              <a:rPr lang="es-MX" sz="1000" dirty="0" err="1">
                <a:latin typeface="Consolas" panose="020B0609020204030204" pitchFamily="49" charset="0"/>
              </a:rPr>
              <a:t>suma_notas</a:t>
            </a:r>
            <a:r>
              <a:rPr lang="es-MX" sz="1000" dirty="0">
                <a:latin typeface="Consolas" panose="020B0609020204030204" pitchFamily="49" charset="0"/>
              </a:rPr>
              <a:t> = </a:t>
            </a:r>
            <a:r>
              <a:rPr lang="es-MX" sz="1000" dirty="0" err="1">
                <a:latin typeface="Consolas" panose="020B0609020204030204" pitchFamily="49" charset="0"/>
              </a:rPr>
              <a:t>suma_reprobadas</a:t>
            </a:r>
            <a:r>
              <a:rPr lang="es-MX" sz="1000" dirty="0">
                <a:latin typeface="Consolas" panose="020B0609020204030204" pitchFamily="49" charset="0"/>
              </a:rPr>
              <a:t> + </a:t>
            </a:r>
            <a:r>
              <a:rPr lang="es-MX" sz="1000" dirty="0" err="1">
                <a:latin typeface="Consolas" panose="020B0609020204030204" pitchFamily="49" charset="0"/>
              </a:rPr>
              <a:t>suma_aprobadas</a:t>
            </a:r>
            <a:endParaRPr lang="es-MX" sz="1000" dirty="0">
              <a:latin typeface="Consolas" panose="020B0609020204030204" pitchFamily="49" charset="0"/>
            </a:endParaRPr>
          </a:p>
          <a:p>
            <a:r>
              <a:rPr lang="es-MX" sz="1000" dirty="0">
                <a:latin typeface="Consolas" panose="020B0609020204030204" pitchFamily="49" charset="0"/>
              </a:rPr>
              <a:t>  </a:t>
            </a:r>
            <a:r>
              <a:rPr lang="es-MX" sz="1000" dirty="0" err="1">
                <a:latin typeface="Consolas" panose="020B0609020204030204" pitchFamily="49" charset="0"/>
              </a:rPr>
              <a:t>total_notas</a:t>
            </a:r>
            <a:r>
              <a:rPr lang="es-MX" sz="1000" dirty="0">
                <a:latin typeface="Consolas" panose="020B0609020204030204" pitchFamily="49" charset="0"/>
              </a:rPr>
              <a:t> = </a:t>
            </a:r>
            <a:r>
              <a:rPr lang="es-MX" sz="1000" dirty="0" err="1">
                <a:latin typeface="Consolas" panose="020B0609020204030204" pitchFamily="49" charset="0"/>
              </a:rPr>
              <a:t>notas_aprobadas</a:t>
            </a:r>
            <a:r>
              <a:rPr lang="es-MX" sz="1000" dirty="0">
                <a:latin typeface="Consolas" panose="020B0609020204030204" pitchFamily="49" charset="0"/>
              </a:rPr>
              <a:t> + </a:t>
            </a:r>
            <a:r>
              <a:rPr lang="es-MX" sz="1000" dirty="0" err="1">
                <a:latin typeface="Consolas" panose="020B0609020204030204" pitchFamily="49" charset="0"/>
              </a:rPr>
              <a:t>notas_reprobadas</a:t>
            </a:r>
            <a:endParaRPr lang="es-MX" sz="1000" dirty="0">
              <a:latin typeface="Consolas" panose="020B0609020204030204" pitchFamily="49" charset="0"/>
            </a:endParaRPr>
          </a:p>
          <a:p>
            <a:r>
              <a:rPr lang="es-MX" sz="1000" dirty="0">
                <a:latin typeface="Consolas" panose="020B0609020204030204" pitchFamily="49" charset="0"/>
              </a:rPr>
              <a:t>  ...</a:t>
            </a:r>
          </a:p>
          <a:p>
            <a:r>
              <a:rPr lang="es-MX" sz="1000" dirty="0">
                <a:latin typeface="Consolas" panose="020B0609020204030204" pitchFamily="49" charset="0"/>
              </a:rPr>
              <a:t>Fin</a:t>
            </a:r>
            <a:endParaRPr lang="es-CO" sz="1000" dirty="0">
              <a:solidFill>
                <a:srgbClr val="C00000"/>
              </a:solidFill>
              <a:latin typeface="Consolas" panose="020B0609020204030204" pitchFamily="49" charset="0"/>
            </a:endParaRPr>
          </a:p>
        </p:txBody>
      </p:sp>
      <p:sp>
        <p:nvSpPr>
          <p:cNvPr id="10" name="4 Título">
            <a:extLst>
              <a:ext uri="{FF2B5EF4-FFF2-40B4-BE49-F238E27FC236}">
                <a16:creationId xmlns:a16="http://schemas.microsoft.com/office/drawing/2014/main" id="{AE7AE4FE-857D-48EA-8C2E-EFF7E2B785AF}"/>
              </a:ext>
            </a:extLst>
          </p:cNvPr>
          <p:cNvSpPr txBox="1">
            <a:spLocks/>
          </p:cNvSpPr>
          <p:nvPr/>
        </p:nvSpPr>
        <p:spPr>
          <a:xfrm>
            <a:off x="74736" y="85895"/>
            <a:ext cx="6153447" cy="67880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Ciclos – Ejemplo 5</a:t>
            </a:r>
          </a:p>
        </p:txBody>
      </p:sp>
      <p:pic>
        <p:nvPicPr>
          <p:cNvPr id="4" name="Imagen 3">
            <a:extLst>
              <a:ext uri="{FF2B5EF4-FFF2-40B4-BE49-F238E27FC236}">
                <a16:creationId xmlns:a16="http://schemas.microsoft.com/office/drawing/2014/main" id="{879E8B5D-AC59-4BB7-B228-6E04126644E7}"/>
              </a:ext>
            </a:extLst>
          </p:cNvPr>
          <p:cNvPicPr>
            <a:picLocks noChangeAspect="1"/>
          </p:cNvPicPr>
          <p:nvPr/>
        </p:nvPicPr>
        <p:blipFill>
          <a:blip r:embed="rId2"/>
          <a:stretch>
            <a:fillRect/>
          </a:stretch>
        </p:blipFill>
        <p:spPr>
          <a:xfrm>
            <a:off x="5868144" y="116632"/>
            <a:ext cx="3168352" cy="3035601"/>
          </a:xfrm>
          <a:prstGeom prst="rect">
            <a:avLst/>
          </a:prstGeom>
        </p:spPr>
      </p:pic>
      <p:sp>
        <p:nvSpPr>
          <p:cNvPr id="7" name="CuadroTexto 6">
            <a:extLst>
              <a:ext uri="{FF2B5EF4-FFF2-40B4-BE49-F238E27FC236}">
                <a16:creationId xmlns:a16="http://schemas.microsoft.com/office/drawing/2014/main" id="{88136558-4DB9-472F-B72C-F3B7E28C5F25}"/>
              </a:ext>
            </a:extLst>
          </p:cNvPr>
          <p:cNvSpPr txBox="1"/>
          <p:nvPr/>
        </p:nvSpPr>
        <p:spPr>
          <a:xfrm>
            <a:off x="4644009" y="3501008"/>
            <a:ext cx="3960439" cy="2708434"/>
          </a:xfrm>
          <a:prstGeom prst="rect">
            <a:avLst/>
          </a:prstGeom>
          <a:noFill/>
          <a:ln>
            <a:solidFill>
              <a:schemeClr val="tx1"/>
            </a:solidFill>
          </a:ln>
        </p:spPr>
        <p:txBody>
          <a:bodyPr wrap="square">
            <a:spAutoFit/>
          </a:bodyPr>
          <a:lstStyle/>
          <a:p>
            <a:r>
              <a:rPr lang="es-MX" sz="1000" dirty="0">
                <a:latin typeface="Consolas" panose="020B0609020204030204" pitchFamily="49" charset="0"/>
              </a:rPr>
              <a:t>NOTA_MINIMA = 3.0</a:t>
            </a:r>
          </a:p>
          <a:p>
            <a:r>
              <a:rPr lang="es-MX" sz="1000" dirty="0" err="1">
                <a:latin typeface="Consolas" panose="020B0609020204030204" pitchFamily="49" charset="0"/>
              </a:rPr>
              <a:t>notas_reprobadas</a:t>
            </a:r>
            <a:r>
              <a:rPr lang="es-MX" sz="1000" dirty="0">
                <a:latin typeface="Consolas" panose="020B0609020204030204" pitchFamily="49" charset="0"/>
              </a:rPr>
              <a:t> = 0</a:t>
            </a:r>
          </a:p>
          <a:p>
            <a:r>
              <a:rPr lang="es-MX" sz="1000" dirty="0" err="1">
                <a:latin typeface="Consolas" panose="020B0609020204030204" pitchFamily="49" charset="0"/>
              </a:rPr>
              <a:t>notas_aprobadas</a:t>
            </a:r>
            <a:r>
              <a:rPr lang="es-MX" sz="1000" dirty="0">
                <a:latin typeface="Consolas" panose="020B0609020204030204" pitchFamily="49" charset="0"/>
              </a:rPr>
              <a:t> = 0</a:t>
            </a:r>
          </a:p>
          <a:p>
            <a:r>
              <a:rPr lang="es-MX" sz="1000" dirty="0" err="1">
                <a:latin typeface="Consolas" panose="020B0609020204030204" pitchFamily="49" charset="0"/>
              </a:rPr>
              <a:t>suma_reprobadas</a:t>
            </a:r>
            <a:r>
              <a:rPr lang="es-MX" sz="1000" dirty="0">
                <a:latin typeface="Consolas" panose="020B0609020204030204" pitchFamily="49" charset="0"/>
              </a:rPr>
              <a:t> = 0</a:t>
            </a:r>
          </a:p>
          <a:p>
            <a:r>
              <a:rPr lang="es-MX" sz="1000" dirty="0" err="1">
                <a:latin typeface="Consolas" panose="020B0609020204030204" pitchFamily="49" charset="0"/>
              </a:rPr>
              <a:t>suma_aprobadas</a:t>
            </a:r>
            <a:r>
              <a:rPr lang="es-MX" sz="1000" dirty="0">
                <a:latin typeface="Consolas" panose="020B0609020204030204" pitchFamily="49" charset="0"/>
              </a:rPr>
              <a:t> = 0</a:t>
            </a:r>
          </a:p>
          <a:p>
            <a:r>
              <a:rPr lang="es-MX" sz="1000" b="0" dirty="0">
                <a:effectLst/>
                <a:latin typeface="Consolas" panose="020B0609020204030204" pitchFamily="49" charset="0"/>
              </a:rPr>
              <a:t>N = </a:t>
            </a:r>
            <a:r>
              <a:rPr lang="es-MX" sz="1000" b="0" dirty="0" err="1">
                <a:effectLst/>
                <a:latin typeface="Consolas" panose="020B0609020204030204" pitchFamily="49" charset="0"/>
              </a:rPr>
              <a:t>int</a:t>
            </a:r>
            <a:r>
              <a:rPr lang="es-MX" sz="1000" b="0" dirty="0">
                <a:effectLst/>
                <a:latin typeface="Consolas" panose="020B0609020204030204" pitchFamily="49" charset="0"/>
              </a:rPr>
              <a:t>(input('Ingrese el número de estudiantes: '))</a:t>
            </a:r>
          </a:p>
          <a:p>
            <a:r>
              <a:rPr lang="es-MX" sz="1000" dirty="0">
                <a:solidFill>
                  <a:srgbClr val="C00000"/>
                </a:solidFill>
                <a:latin typeface="Consolas" panose="020B0609020204030204" pitchFamily="49" charset="0"/>
              </a:rPr>
              <a:t>for i in range(N):</a:t>
            </a:r>
          </a:p>
          <a:p>
            <a:r>
              <a:rPr lang="es-MX" sz="1000" dirty="0">
                <a:solidFill>
                  <a:srgbClr val="C00000"/>
                </a:solidFill>
                <a:latin typeface="Consolas" panose="020B0609020204030204" pitchFamily="49" charset="0"/>
              </a:rPr>
              <a:t>  nota = </a:t>
            </a:r>
            <a:r>
              <a:rPr lang="es-MX" sz="1000" dirty="0" err="1">
                <a:solidFill>
                  <a:srgbClr val="C00000"/>
                </a:solidFill>
                <a:latin typeface="Consolas" panose="020B0609020204030204" pitchFamily="49" charset="0"/>
              </a:rPr>
              <a:t>float</a:t>
            </a:r>
            <a:r>
              <a:rPr lang="es-MX" sz="1000" dirty="0">
                <a:solidFill>
                  <a:srgbClr val="C00000"/>
                </a:solidFill>
                <a:latin typeface="Consolas" panose="020B0609020204030204" pitchFamily="49" charset="0"/>
              </a:rPr>
              <a:t>(input('Ingrese la nota: '))</a:t>
            </a:r>
          </a:p>
          <a:p>
            <a:r>
              <a:rPr lang="es-MX" sz="1000" dirty="0">
                <a:solidFill>
                  <a:srgbClr val="00B050"/>
                </a:solidFill>
                <a:latin typeface="Consolas" panose="020B0609020204030204" pitchFamily="49" charset="0"/>
              </a:rPr>
              <a:t>  </a:t>
            </a:r>
            <a:r>
              <a:rPr lang="es-MX" sz="1000" dirty="0" err="1">
                <a:solidFill>
                  <a:srgbClr val="00B050"/>
                </a:solidFill>
                <a:latin typeface="Consolas" panose="020B0609020204030204" pitchFamily="49" charset="0"/>
              </a:rPr>
              <a:t>if</a:t>
            </a:r>
            <a:r>
              <a:rPr lang="es-MX" sz="1000" dirty="0">
                <a:solidFill>
                  <a:srgbClr val="00B050"/>
                </a:solidFill>
                <a:latin typeface="Consolas" panose="020B0609020204030204" pitchFamily="49" charset="0"/>
              </a:rPr>
              <a:t> nota &gt;= NOTA_MINIMA:</a:t>
            </a:r>
          </a:p>
          <a:p>
            <a:r>
              <a:rPr lang="es-MX" sz="1000" dirty="0">
                <a:solidFill>
                  <a:srgbClr val="00B050"/>
                </a:solidFill>
                <a:latin typeface="Consolas" panose="020B0609020204030204" pitchFamily="49" charset="0"/>
              </a:rPr>
              <a:t>    </a:t>
            </a:r>
            <a:r>
              <a:rPr lang="es-MX" sz="1000" dirty="0" err="1">
                <a:solidFill>
                  <a:srgbClr val="00B050"/>
                </a:solidFill>
                <a:latin typeface="Consolas" panose="020B0609020204030204" pitchFamily="49" charset="0"/>
              </a:rPr>
              <a:t>notas_aprobadas</a:t>
            </a:r>
            <a:r>
              <a:rPr lang="es-MX" sz="1000" dirty="0">
                <a:solidFill>
                  <a:srgbClr val="00B050"/>
                </a:solidFill>
                <a:latin typeface="Consolas" panose="020B0609020204030204" pitchFamily="49" charset="0"/>
              </a:rPr>
              <a:t> = </a:t>
            </a:r>
            <a:r>
              <a:rPr lang="es-MX" sz="1000" dirty="0" err="1">
                <a:solidFill>
                  <a:srgbClr val="00B050"/>
                </a:solidFill>
                <a:latin typeface="Consolas" panose="020B0609020204030204" pitchFamily="49" charset="0"/>
              </a:rPr>
              <a:t>notas_aprobadas</a:t>
            </a:r>
            <a:r>
              <a:rPr lang="es-MX" sz="1000" dirty="0">
                <a:solidFill>
                  <a:srgbClr val="00B050"/>
                </a:solidFill>
                <a:latin typeface="Consolas" panose="020B0609020204030204" pitchFamily="49" charset="0"/>
              </a:rPr>
              <a:t> + 1</a:t>
            </a:r>
          </a:p>
          <a:p>
            <a:r>
              <a:rPr lang="es-MX" sz="1000" dirty="0">
                <a:solidFill>
                  <a:srgbClr val="00B050"/>
                </a:solidFill>
                <a:latin typeface="Consolas" panose="020B0609020204030204" pitchFamily="49" charset="0"/>
              </a:rPr>
              <a:t>    </a:t>
            </a:r>
            <a:r>
              <a:rPr lang="es-MX" sz="1000" dirty="0" err="1">
                <a:solidFill>
                  <a:srgbClr val="00B050"/>
                </a:solidFill>
                <a:latin typeface="Consolas" panose="020B0609020204030204" pitchFamily="49" charset="0"/>
              </a:rPr>
              <a:t>suma_aprobadas</a:t>
            </a:r>
            <a:r>
              <a:rPr lang="es-MX" sz="1000" dirty="0">
                <a:solidFill>
                  <a:srgbClr val="00B050"/>
                </a:solidFill>
                <a:latin typeface="Consolas" panose="020B0609020204030204" pitchFamily="49" charset="0"/>
              </a:rPr>
              <a:t> = </a:t>
            </a:r>
            <a:r>
              <a:rPr lang="es-MX" sz="1000" dirty="0" err="1">
                <a:solidFill>
                  <a:srgbClr val="00B050"/>
                </a:solidFill>
                <a:latin typeface="Consolas" panose="020B0609020204030204" pitchFamily="49" charset="0"/>
              </a:rPr>
              <a:t>suma_aprobadas</a:t>
            </a:r>
            <a:r>
              <a:rPr lang="es-MX" sz="1000" dirty="0">
                <a:solidFill>
                  <a:srgbClr val="00B050"/>
                </a:solidFill>
                <a:latin typeface="Consolas" panose="020B0609020204030204" pitchFamily="49" charset="0"/>
              </a:rPr>
              <a:t> + nota</a:t>
            </a:r>
          </a:p>
          <a:p>
            <a:r>
              <a:rPr lang="es-MX" sz="1000" dirty="0">
                <a:solidFill>
                  <a:srgbClr val="00B050"/>
                </a:solidFill>
                <a:latin typeface="Consolas" panose="020B0609020204030204" pitchFamily="49" charset="0"/>
              </a:rPr>
              <a:t>  </a:t>
            </a:r>
            <a:r>
              <a:rPr lang="es-MX" sz="1000" dirty="0" err="1">
                <a:solidFill>
                  <a:srgbClr val="00B050"/>
                </a:solidFill>
                <a:latin typeface="Consolas" panose="020B0609020204030204" pitchFamily="49" charset="0"/>
              </a:rPr>
              <a:t>else</a:t>
            </a:r>
            <a:r>
              <a:rPr lang="es-MX" sz="1000" dirty="0">
                <a:solidFill>
                  <a:srgbClr val="00B050"/>
                </a:solidFill>
                <a:latin typeface="Consolas" panose="020B0609020204030204" pitchFamily="49" charset="0"/>
              </a:rPr>
              <a:t>:</a:t>
            </a:r>
          </a:p>
          <a:p>
            <a:r>
              <a:rPr lang="es-MX" sz="1000" dirty="0">
                <a:solidFill>
                  <a:srgbClr val="00B050"/>
                </a:solidFill>
                <a:latin typeface="Consolas" panose="020B0609020204030204" pitchFamily="49" charset="0"/>
              </a:rPr>
              <a:t>    </a:t>
            </a:r>
            <a:r>
              <a:rPr lang="es-MX" sz="1000" dirty="0" err="1">
                <a:solidFill>
                  <a:srgbClr val="00B050"/>
                </a:solidFill>
                <a:latin typeface="Consolas" panose="020B0609020204030204" pitchFamily="49" charset="0"/>
              </a:rPr>
              <a:t>notas_reprobadas</a:t>
            </a:r>
            <a:r>
              <a:rPr lang="es-MX" sz="1000" dirty="0">
                <a:solidFill>
                  <a:srgbClr val="00B050"/>
                </a:solidFill>
                <a:latin typeface="Consolas" panose="020B0609020204030204" pitchFamily="49" charset="0"/>
              </a:rPr>
              <a:t> = </a:t>
            </a:r>
            <a:r>
              <a:rPr lang="es-MX" sz="1000" dirty="0" err="1">
                <a:solidFill>
                  <a:srgbClr val="00B050"/>
                </a:solidFill>
                <a:latin typeface="Consolas" panose="020B0609020204030204" pitchFamily="49" charset="0"/>
              </a:rPr>
              <a:t>notas_reprobadas</a:t>
            </a:r>
            <a:r>
              <a:rPr lang="es-MX" sz="1000" dirty="0">
                <a:solidFill>
                  <a:srgbClr val="00B050"/>
                </a:solidFill>
                <a:latin typeface="Consolas" panose="020B0609020204030204" pitchFamily="49" charset="0"/>
              </a:rPr>
              <a:t> + 1</a:t>
            </a:r>
          </a:p>
          <a:p>
            <a:r>
              <a:rPr lang="es-MX" sz="1000" dirty="0">
                <a:solidFill>
                  <a:srgbClr val="00B050"/>
                </a:solidFill>
                <a:latin typeface="Consolas" panose="020B0609020204030204" pitchFamily="49" charset="0"/>
              </a:rPr>
              <a:t>    </a:t>
            </a:r>
            <a:r>
              <a:rPr lang="es-MX" sz="1000" dirty="0" err="1">
                <a:solidFill>
                  <a:srgbClr val="00B050"/>
                </a:solidFill>
                <a:latin typeface="Consolas" panose="020B0609020204030204" pitchFamily="49" charset="0"/>
              </a:rPr>
              <a:t>suma_reprobadas</a:t>
            </a:r>
            <a:r>
              <a:rPr lang="es-MX" sz="1000" dirty="0">
                <a:solidFill>
                  <a:srgbClr val="00B050"/>
                </a:solidFill>
                <a:latin typeface="Consolas" panose="020B0609020204030204" pitchFamily="49" charset="0"/>
              </a:rPr>
              <a:t> = </a:t>
            </a:r>
            <a:r>
              <a:rPr lang="es-MX" sz="1000" dirty="0" err="1">
                <a:solidFill>
                  <a:srgbClr val="00B050"/>
                </a:solidFill>
                <a:latin typeface="Consolas" panose="020B0609020204030204" pitchFamily="49" charset="0"/>
              </a:rPr>
              <a:t>suma_reprobadas</a:t>
            </a:r>
            <a:r>
              <a:rPr lang="es-MX" sz="1000" dirty="0">
                <a:solidFill>
                  <a:srgbClr val="00B050"/>
                </a:solidFill>
                <a:latin typeface="Consolas" panose="020B0609020204030204" pitchFamily="49" charset="0"/>
              </a:rPr>
              <a:t> + nota</a:t>
            </a:r>
          </a:p>
          <a:p>
            <a:r>
              <a:rPr lang="es-MX" sz="1000" dirty="0">
                <a:latin typeface="Consolas" panose="020B0609020204030204" pitchFamily="49" charset="0"/>
              </a:rPr>
              <a:t>  </a:t>
            </a:r>
            <a:r>
              <a:rPr lang="es-MX" sz="1000" dirty="0" err="1">
                <a:latin typeface="Consolas" panose="020B0609020204030204" pitchFamily="49" charset="0"/>
              </a:rPr>
              <a:t>suma_notas</a:t>
            </a:r>
            <a:r>
              <a:rPr lang="es-MX" sz="1000" dirty="0">
                <a:latin typeface="Consolas" panose="020B0609020204030204" pitchFamily="49" charset="0"/>
              </a:rPr>
              <a:t> = </a:t>
            </a:r>
            <a:r>
              <a:rPr lang="es-MX" sz="1000" dirty="0" err="1">
                <a:latin typeface="Consolas" panose="020B0609020204030204" pitchFamily="49" charset="0"/>
              </a:rPr>
              <a:t>suma_reprobadas</a:t>
            </a:r>
            <a:r>
              <a:rPr lang="es-MX" sz="1000" dirty="0">
                <a:latin typeface="Consolas" panose="020B0609020204030204" pitchFamily="49" charset="0"/>
              </a:rPr>
              <a:t> + </a:t>
            </a:r>
            <a:r>
              <a:rPr lang="es-MX" sz="1000" dirty="0" err="1">
                <a:latin typeface="Consolas" panose="020B0609020204030204" pitchFamily="49" charset="0"/>
              </a:rPr>
              <a:t>suma_aprobadas</a:t>
            </a:r>
            <a:endParaRPr lang="es-MX" sz="1000" dirty="0">
              <a:latin typeface="Consolas" panose="020B0609020204030204" pitchFamily="49" charset="0"/>
            </a:endParaRPr>
          </a:p>
          <a:p>
            <a:r>
              <a:rPr lang="es-MX" sz="1000" dirty="0">
                <a:latin typeface="Consolas" panose="020B0609020204030204" pitchFamily="49" charset="0"/>
              </a:rPr>
              <a:t>  </a:t>
            </a:r>
            <a:r>
              <a:rPr lang="es-MX" sz="1000" dirty="0" err="1">
                <a:latin typeface="Consolas" panose="020B0609020204030204" pitchFamily="49" charset="0"/>
              </a:rPr>
              <a:t>total_notas</a:t>
            </a:r>
            <a:r>
              <a:rPr lang="es-MX" sz="1000" dirty="0">
                <a:latin typeface="Consolas" panose="020B0609020204030204" pitchFamily="49" charset="0"/>
              </a:rPr>
              <a:t> = </a:t>
            </a:r>
            <a:r>
              <a:rPr lang="es-MX" sz="1000" dirty="0" err="1">
                <a:latin typeface="Consolas" panose="020B0609020204030204" pitchFamily="49" charset="0"/>
              </a:rPr>
              <a:t>notas_aprobadas</a:t>
            </a:r>
            <a:r>
              <a:rPr lang="es-MX" sz="1000" dirty="0">
                <a:latin typeface="Consolas" panose="020B0609020204030204" pitchFamily="49" charset="0"/>
              </a:rPr>
              <a:t> + </a:t>
            </a:r>
            <a:r>
              <a:rPr lang="es-MX" sz="1000" dirty="0" err="1">
                <a:latin typeface="Consolas" panose="020B0609020204030204" pitchFamily="49" charset="0"/>
              </a:rPr>
              <a:t>notas_reprobadas</a:t>
            </a:r>
            <a:endParaRPr lang="es-MX" sz="1000" dirty="0">
              <a:latin typeface="Consolas" panose="020B0609020204030204" pitchFamily="49" charset="0"/>
            </a:endParaRPr>
          </a:p>
          <a:p>
            <a:r>
              <a:rPr lang="es-MX" sz="1000" dirty="0">
                <a:latin typeface="Consolas" panose="020B0609020204030204" pitchFamily="49" charset="0"/>
              </a:rPr>
              <a:t>  ...</a:t>
            </a:r>
            <a:endParaRPr lang="es-CO" sz="1000" dirty="0">
              <a:solidFill>
                <a:srgbClr val="C00000"/>
              </a:solidFill>
              <a:latin typeface="Consolas" panose="020B0609020204030204" pitchFamily="49" charset="0"/>
            </a:endParaRPr>
          </a:p>
        </p:txBody>
      </p:sp>
      <p:sp>
        <p:nvSpPr>
          <p:cNvPr id="8" name="12 Rectángulo">
            <a:extLst>
              <a:ext uri="{FF2B5EF4-FFF2-40B4-BE49-F238E27FC236}">
                <a16:creationId xmlns:a16="http://schemas.microsoft.com/office/drawing/2014/main" id="{9F2D5CE1-C0CE-4B6F-88CE-35802A5AEB47}"/>
              </a:ext>
            </a:extLst>
          </p:cNvPr>
          <p:cNvSpPr/>
          <p:nvPr/>
        </p:nvSpPr>
        <p:spPr>
          <a:xfrm>
            <a:off x="200315" y="846114"/>
            <a:ext cx="5307789" cy="1938992"/>
          </a:xfrm>
          <a:prstGeom prst="rect">
            <a:avLst/>
          </a:prstGeom>
        </p:spPr>
        <p:txBody>
          <a:bodyPr wrap="square">
            <a:spAutoFit/>
          </a:bodyPr>
          <a:lstStyle/>
          <a:p>
            <a:pPr rtl="0"/>
            <a:r>
              <a:rPr lang="es-MX" sz="2000" b="1" dirty="0"/>
              <a:t>Implementación de la solución - parte 1</a:t>
            </a:r>
            <a:r>
              <a:rPr lang="es-MX" sz="2000" dirty="0"/>
              <a:t>:</a:t>
            </a:r>
          </a:p>
          <a:p>
            <a:pPr marL="342900" indent="-342900" rtl="0">
              <a:buFont typeface="Arial" panose="020B0604020202020204" pitchFamily="34" charset="0"/>
              <a:buChar char="•"/>
            </a:pPr>
            <a:r>
              <a:rPr lang="es-MX" sz="2000" dirty="0"/>
              <a:t>Inicialización.</a:t>
            </a:r>
          </a:p>
          <a:p>
            <a:pPr marL="342900" indent="-342900" rtl="0">
              <a:buFont typeface="Arial" panose="020B0604020202020204" pitchFamily="34" charset="0"/>
              <a:buChar char="•"/>
            </a:pPr>
            <a:r>
              <a:rPr lang="es-MX" sz="2000" dirty="0"/>
              <a:t>Para cada uno de los estudiantes:</a:t>
            </a:r>
          </a:p>
          <a:p>
            <a:pPr marL="800100" lvl="1" indent="-342900">
              <a:buFont typeface="Arial" panose="020B0604020202020204" pitchFamily="34" charset="0"/>
              <a:buChar char="•"/>
            </a:pPr>
            <a:r>
              <a:rPr lang="es-MX" sz="2000" dirty="0"/>
              <a:t>Entrada de la nota de cada estudiante.</a:t>
            </a:r>
          </a:p>
          <a:p>
            <a:pPr marL="800100" lvl="1" indent="-342900">
              <a:buFont typeface="Arial" panose="020B0604020202020204" pitchFamily="34" charset="0"/>
              <a:buChar char="•"/>
            </a:pPr>
            <a:r>
              <a:rPr lang="es-MX" sz="2000" dirty="0"/>
              <a:t>Actualización de contadores y acumuladores de acuerdo a la nota.</a:t>
            </a:r>
          </a:p>
        </p:txBody>
      </p:sp>
    </p:spTree>
    <p:extLst>
      <p:ext uri="{BB962C8B-B14F-4D97-AF65-F5344CB8AC3E}">
        <p14:creationId xmlns:p14="http://schemas.microsoft.com/office/powerpoint/2010/main" val="1702038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4 Título">
            <a:extLst>
              <a:ext uri="{FF2B5EF4-FFF2-40B4-BE49-F238E27FC236}">
                <a16:creationId xmlns:a16="http://schemas.microsoft.com/office/drawing/2014/main" id="{AE7AE4FE-857D-48EA-8C2E-EFF7E2B785AF}"/>
              </a:ext>
            </a:extLst>
          </p:cNvPr>
          <p:cNvSpPr txBox="1">
            <a:spLocks/>
          </p:cNvSpPr>
          <p:nvPr/>
        </p:nvSpPr>
        <p:spPr>
          <a:xfrm>
            <a:off x="74736" y="85895"/>
            <a:ext cx="6153447" cy="67880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Ciclos – Ejemplo 5</a:t>
            </a:r>
          </a:p>
        </p:txBody>
      </p:sp>
      <p:pic>
        <p:nvPicPr>
          <p:cNvPr id="3" name="Imagen 2">
            <a:extLst>
              <a:ext uri="{FF2B5EF4-FFF2-40B4-BE49-F238E27FC236}">
                <a16:creationId xmlns:a16="http://schemas.microsoft.com/office/drawing/2014/main" id="{C4ABE37B-B287-4528-9CBB-FD491994660D}"/>
              </a:ext>
            </a:extLst>
          </p:cNvPr>
          <p:cNvPicPr>
            <a:picLocks noChangeAspect="1"/>
          </p:cNvPicPr>
          <p:nvPr/>
        </p:nvPicPr>
        <p:blipFill>
          <a:blip r:embed="rId2"/>
          <a:stretch>
            <a:fillRect/>
          </a:stretch>
        </p:blipFill>
        <p:spPr>
          <a:xfrm>
            <a:off x="4844184" y="44625"/>
            <a:ext cx="4099792" cy="2561500"/>
          </a:xfrm>
          <a:prstGeom prst="rect">
            <a:avLst/>
          </a:prstGeom>
        </p:spPr>
      </p:pic>
      <p:sp>
        <p:nvSpPr>
          <p:cNvPr id="7" name="CuadroTexto 6">
            <a:extLst>
              <a:ext uri="{FF2B5EF4-FFF2-40B4-BE49-F238E27FC236}">
                <a16:creationId xmlns:a16="http://schemas.microsoft.com/office/drawing/2014/main" id="{FFBC0875-56AD-4BFE-B208-84E40305F67D}"/>
              </a:ext>
            </a:extLst>
          </p:cNvPr>
          <p:cNvSpPr txBox="1"/>
          <p:nvPr/>
        </p:nvSpPr>
        <p:spPr>
          <a:xfrm>
            <a:off x="109786" y="2679878"/>
            <a:ext cx="4534222" cy="3785652"/>
          </a:xfrm>
          <a:prstGeom prst="rect">
            <a:avLst/>
          </a:prstGeom>
          <a:noFill/>
          <a:ln>
            <a:solidFill>
              <a:schemeClr val="tx1"/>
            </a:solidFill>
          </a:ln>
        </p:spPr>
        <p:txBody>
          <a:bodyPr wrap="square">
            <a:spAutoFit/>
          </a:bodyPr>
          <a:lstStyle/>
          <a:p>
            <a:r>
              <a:rPr lang="es-MX" sz="1000" dirty="0">
                <a:latin typeface="Consolas" panose="020B0609020204030204" pitchFamily="49" charset="0"/>
              </a:rPr>
              <a:t>  ...</a:t>
            </a:r>
          </a:p>
          <a:p>
            <a:r>
              <a:rPr lang="es-MX" sz="1000" dirty="0">
                <a:latin typeface="Consolas" panose="020B0609020204030204" pitchFamily="49" charset="0"/>
              </a:rPr>
              <a:t>  </a:t>
            </a:r>
            <a:r>
              <a:rPr lang="es-MX" sz="1000" dirty="0">
                <a:solidFill>
                  <a:srgbClr val="0070C0"/>
                </a:solidFill>
                <a:latin typeface="Consolas" panose="020B0609020204030204" pitchFamily="49" charset="0"/>
              </a:rPr>
              <a:t>Si </a:t>
            </a:r>
            <a:r>
              <a:rPr lang="es-MX" sz="1000" dirty="0" err="1">
                <a:solidFill>
                  <a:srgbClr val="0070C0"/>
                </a:solidFill>
                <a:latin typeface="Consolas" panose="020B0609020204030204" pitchFamily="49" charset="0"/>
              </a:rPr>
              <a:t>total_notas</a:t>
            </a:r>
            <a:r>
              <a:rPr lang="es-MX" sz="1000" dirty="0">
                <a:solidFill>
                  <a:srgbClr val="0070C0"/>
                </a:solidFill>
                <a:latin typeface="Consolas" panose="020B0609020204030204" pitchFamily="49" charset="0"/>
              </a:rPr>
              <a:t> == 0 Entonces</a:t>
            </a:r>
          </a:p>
          <a:p>
            <a:r>
              <a:rPr lang="es-MX" sz="1000" dirty="0">
                <a:solidFill>
                  <a:srgbClr val="0070C0"/>
                </a:solidFill>
                <a:latin typeface="Consolas" panose="020B0609020204030204" pitchFamily="49" charset="0"/>
              </a:rPr>
              <a:t>    Escribir("No hay estudiantes")</a:t>
            </a:r>
          </a:p>
          <a:p>
            <a:r>
              <a:rPr lang="es-MX" sz="1000" dirty="0">
                <a:solidFill>
                  <a:srgbClr val="0070C0"/>
                </a:solidFill>
                <a:latin typeface="Consolas" panose="020B0609020204030204" pitchFamily="49" charset="0"/>
              </a:rPr>
              <a:t>  Sino</a:t>
            </a:r>
          </a:p>
          <a:p>
            <a:r>
              <a:rPr lang="es-MX" sz="1000" dirty="0">
                <a:solidFill>
                  <a:srgbClr val="0070C0"/>
                </a:solidFill>
                <a:latin typeface="Consolas" panose="020B0609020204030204" pitchFamily="49" charset="0"/>
              </a:rPr>
              <a:t>    </a:t>
            </a:r>
            <a:r>
              <a:rPr lang="es-MX" sz="1000" dirty="0" err="1">
                <a:solidFill>
                  <a:srgbClr val="0070C0"/>
                </a:solidFill>
                <a:latin typeface="Consolas" panose="020B0609020204030204" pitchFamily="49" charset="0"/>
              </a:rPr>
              <a:t>p_aprobaron</a:t>
            </a:r>
            <a:r>
              <a:rPr lang="es-MX" sz="1000" dirty="0">
                <a:solidFill>
                  <a:srgbClr val="0070C0"/>
                </a:solidFill>
                <a:latin typeface="Consolas" panose="020B0609020204030204" pitchFamily="49" charset="0"/>
              </a:rPr>
              <a:t> = (</a:t>
            </a:r>
            <a:r>
              <a:rPr lang="es-MX" sz="1000" dirty="0" err="1">
                <a:solidFill>
                  <a:srgbClr val="0070C0"/>
                </a:solidFill>
                <a:latin typeface="Consolas" panose="020B0609020204030204" pitchFamily="49" charset="0"/>
              </a:rPr>
              <a:t>notas_aprobadas</a:t>
            </a:r>
            <a:r>
              <a:rPr lang="es-MX" sz="1000" dirty="0">
                <a:solidFill>
                  <a:srgbClr val="0070C0"/>
                </a:solidFill>
                <a:latin typeface="Consolas" panose="020B0609020204030204" pitchFamily="49" charset="0"/>
              </a:rPr>
              <a:t>/</a:t>
            </a:r>
            <a:r>
              <a:rPr lang="es-MX" sz="1000" dirty="0" err="1">
                <a:solidFill>
                  <a:srgbClr val="0070C0"/>
                </a:solidFill>
                <a:latin typeface="Consolas" panose="020B0609020204030204" pitchFamily="49" charset="0"/>
              </a:rPr>
              <a:t>total_notas</a:t>
            </a:r>
            <a:r>
              <a:rPr lang="es-MX" sz="1000" dirty="0">
                <a:solidFill>
                  <a:srgbClr val="0070C0"/>
                </a:solidFill>
                <a:latin typeface="Consolas" panose="020B0609020204030204" pitchFamily="49" charset="0"/>
              </a:rPr>
              <a:t>)*100</a:t>
            </a:r>
          </a:p>
          <a:p>
            <a:r>
              <a:rPr lang="es-MX" sz="1000" dirty="0">
                <a:solidFill>
                  <a:srgbClr val="0070C0"/>
                </a:solidFill>
                <a:latin typeface="Consolas" panose="020B0609020204030204" pitchFamily="49" charset="0"/>
              </a:rPr>
              <a:t>    </a:t>
            </a:r>
            <a:r>
              <a:rPr lang="es-MX" sz="1000" dirty="0" err="1">
                <a:solidFill>
                  <a:srgbClr val="0070C0"/>
                </a:solidFill>
                <a:latin typeface="Consolas" panose="020B0609020204030204" pitchFamily="49" charset="0"/>
              </a:rPr>
              <a:t>p_reprobaron</a:t>
            </a:r>
            <a:r>
              <a:rPr lang="es-MX" sz="1000" dirty="0">
                <a:solidFill>
                  <a:srgbClr val="0070C0"/>
                </a:solidFill>
                <a:latin typeface="Consolas" panose="020B0609020204030204" pitchFamily="49" charset="0"/>
              </a:rPr>
              <a:t> = (</a:t>
            </a:r>
            <a:r>
              <a:rPr lang="es-MX" sz="1000" dirty="0" err="1">
                <a:solidFill>
                  <a:srgbClr val="0070C0"/>
                </a:solidFill>
                <a:latin typeface="Consolas" panose="020B0609020204030204" pitchFamily="49" charset="0"/>
              </a:rPr>
              <a:t>notas_reprobadas</a:t>
            </a:r>
            <a:r>
              <a:rPr lang="es-MX" sz="1000" dirty="0">
                <a:solidFill>
                  <a:srgbClr val="0070C0"/>
                </a:solidFill>
                <a:latin typeface="Consolas" panose="020B0609020204030204" pitchFamily="49" charset="0"/>
              </a:rPr>
              <a:t>/</a:t>
            </a:r>
            <a:r>
              <a:rPr lang="es-MX" sz="1000" dirty="0" err="1">
                <a:solidFill>
                  <a:srgbClr val="0070C0"/>
                </a:solidFill>
                <a:latin typeface="Consolas" panose="020B0609020204030204" pitchFamily="49" charset="0"/>
              </a:rPr>
              <a:t>total_notas</a:t>
            </a:r>
            <a:r>
              <a:rPr lang="es-MX" sz="1000" dirty="0">
                <a:solidFill>
                  <a:srgbClr val="0070C0"/>
                </a:solidFill>
                <a:latin typeface="Consolas" panose="020B0609020204030204" pitchFamily="49" charset="0"/>
              </a:rPr>
              <a:t>)*100</a:t>
            </a:r>
          </a:p>
          <a:p>
            <a:r>
              <a:rPr lang="es-MX" sz="1000" dirty="0">
                <a:solidFill>
                  <a:srgbClr val="0070C0"/>
                </a:solidFill>
                <a:latin typeface="Consolas" panose="020B0609020204030204" pitchFamily="49" charset="0"/>
              </a:rPr>
              <a:t>    </a:t>
            </a:r>
            <a:r>
              <a:rPr lang="es-MX" sz="1000" dirty="0">
                <a:solidFill>
                  <a:schemeClr val="accent6"/>
                </a:solidFill>
                <a:latin typeface="Consolas" panose="020B0609020204030204" pitchFamily="49" charset="0"/>
              </a:rPr>
              <a:t>Si (</a:t>
            </a:r>
            <a:r>
              <a:rPr lang="es-MX" sz="1000" dirty="0" err="1">
                <a:solidFill>
                  <a:schemeClr val="accent6"/>
                </a:solidFill>
                <a:latin typeface="Consolas" panose="020B0609020204030204" pitchFamily="49" charset="0"/>
              </a:rPr>
              <a:t>notas_aprobadas</a:t>
            </a:r>
            <a:r>
              <a:rPr lang="es-MX" sz="1000" dirty="0">
                <a:solidFill>
                  <a:schemeClr val="accent6"/>
                </a:solidFill>
                <a:latin typeface="Consolas" panose="020B0609020204030204" pitchFamily="49" charset="0"/>
              </a:rPr>
              <a:t> == 0) Entonces</a:t>
            </a:r>
          </a:p>
          <a:p>
            <a:r>
              <a:rPr lang="es-MX" sz="1000" dirty="0">
                <a:solidFill>
                  <a:schemeClr val="accent6"/>
                </a:solidFill>
                <a:latin typeface="Consolas" panose="020B0609020204030204" pitchFamily="49" charset="0"/>
              </a:rPr>
              <a:t>      </a:t>
            </a:r>
            <a:r>
              <a:rPr lang="es-MX" sz="1000" dirty="0" err="1">
                <a:solidFill>
                  <a:schemeClr val="accent6"/>
                </a:solidFill>
                <a:latin typeface="Consolas" panose="020B0609020204030204" pitchFamily="49" charset="0"/>
              </a:rPr>
              <a:t>prom_nota_reprobada</a:t>
            </a:r>
            <a:r>
              <a:rPr lang="es-MX" sz="1000" dirty="0">
                <a:solidFill>
                  <a:schemeClr val="accent6"/>
                </a:solidFill>
                <a:latin typeface="Consolas" panose="020B0609020204030204" pitchFamily="49" charset="0"/>
              </a:rPr>
              <a:t> = </a:t>
            </a:r>
            <a:r>
              <a:rPr lang="es-MX" sz="1000" dirty="0" err="1">
                <a:solidFill>
                  <a:schemeClr val="accent6"/>
                </a:solidFill>
                <a:latin typeface="Consolas" panose="020B0609020204030204" pitchFamily="49" charset="0"/>
              </a:rPr>
              <a:t>suma_reprobadas</a:t>
            </a:r>
            <a:r>
              <a:rPr lang="es-MX" sz="1000" dirty="0">
                <a:solidFill>
                  <a:schemeClr val="accent6"/>
                </a:solidFill>
                <a:latin typeface="Consolas" panose="020B0609020204030204" pitchFamily="49" charset="0"/>
              </a:rPr>
              <a:t>/</a:t>
            </a:r>
            <a:r>
              <a:rPr lang="es-MX" sz="1000" dirty="0" err="1">
                <a:solidFill>
                  <a:schemeClr val="accent6"/>
                </a:solidFill>
                <a:latin typeface="Consolas" panose="020B0609020204030204" pitchFamily="49" charset="0"/>
              </a:rPr>
              <a:t>notas_reprobadas</a:t>
            </a:r>
            <a:endParaRPr lang="es-MX" sz="1000" dirty="0">
              <a:solidFill>
                <a:schemeClr val="accent6"/>
              </a:solidFill>
              <a:latin typeface="Consolas" panose="020B0609020204030204" pitchFamily="49" charset="0"/>
            </a:endParaRPr>
          </a:p>
          <a:p>
            <a:r>
              <a:rPr lang="es-MX" sz="1000" dirty="0">
                <a:solidFill>
                  <a:schemeClr val="accent6"/>
                </a:solidFill>
                <a:latin typeface="Consolas" panose="020B0609020204030204" pitchFamily="49" charset="0"/>
              </a:rPr>
              <a:t>      </a:t>
            </a:r>
            <a:r>
              <a:rPr lang="es-MX" sz="1000" dirty="0" err="1">
                <a:solidFill>
                  <a:schemeClr val="accent6"/>
                </a:solidFill>
                <a:latin typeface="Consolas" panose="020B0609020204030204" pitchFamily="49" charset="0"/>
              </a:rPr>
              <a:t>prom_nota_aprobada</a:t>
            </a:r>
            <a:r>
              <a:rPr lang="es-MX" sz="1000" dirty="0">
                <a:solidFill>
                  <a:schemeClr val="accent6"/>
                </a:solidFill>
                <a:latin typeface="Consolas" panose="020B0609020204030204" pitchFamily="49" charset="0"/>
              </a:rPr>
              <a:t> = 0</a:t>
            </a:r>
          </a:p>
          <a:p>
            <a:r>
              <a:rPr lang="es-MX" sz="1000" dirty="0">
                <a:solidFill>
                  <a:schemeClr val="accent6"/>
                </a:solidFill>
                <a:latin typeface="Consolas" panose="020B0609020204030204" pitchFamily="49" charset="0"/>
              </a:rPr>
              <a:t>    Sino</a:t>
            </a:r>
          </a:p>
          <a:p>
            <a:r>
              <a:rPr lang="es-MX" sz="1000" dirty="0">
                <a:solidFill>
                  <a:schemeClr val="accent6"/>
                </a:solidFill>
                <a:latin typeface="Consolas" panose="020B0609020204030204" pitchFamily="49" charset="0"/>
              </a:rPr>
              <a:t>      Si (</a:t>
            </a:r>
            <a:r>
              <a:rPr lang="es-MX" sz="1000" dirty="0" err="1">
                <a:solidFill>
                  <a:schemeClr val="accent6"/>
                </a:solidFill>
                <a:latin typeface="Consolas" panose="020B0609020204030204" pitchFamily="49" charset="0"/>
              </a:rPr>
              <a:t>notas_reprobadas</a:t>
            </a:r>
            <a:r>
              <a:rPr lang="es-MX" sz="1000" dirty="0">
                <a:solidFill>
                  <a:schemeClr val="accent6"/>
                </a:solidFill>
                <a:latin typeface="Consolas" panose="020B0609020204030204" pitchFamily="49" charset="0"/>
              </a:rPr>
              <a:t> == 0) Entonces</a:t>
            </a:r>
          </a:p>
          <a:p>
            <a:r>
              <a:rPr lang="es-MX" sz="1000" dirty="0">
                <a:solidFill>
                  <a:schemeClr val="accent6"/>
                </a:solidFill>
                <a:latin typeface="Consolas" panose="020B0609020204030204" pitchFamily="49" charset="0"/>
              </a:rPr>
              <a:t>        </a:t>
            </a:r>
            <a:r>
              <a:rPr lang="es-MX" sz="1000" dirty="0" err="1">
                <a:solidFill>
                  <a:schemeClr val="accent6"/>
                </a:solidFill>
                <a:latin typeface="Consolas" panose="020B0609020204030204" pitchFamily="49" charset="0"/>
              </a:rPr>
              <a:t>prom_nota_aprobada</a:t>
            </a:r>
            <a:r>
              <a:rPr lang="es-MX" sz="1000" dirty="0">
                <a:solidFill>
                  <a:schemeClr val="accent6"/>
                </a:solidFill>
                <a:latin typeface="Consolas" panose="020B0609020204030204" pitchFamily="49" charset="0"/>
              </a:rPr>
              <a:t> = </a:t>
            </a:r>
            <a:r>
              <a:rPr lang="es-MX" sz="1000" dirty="0" err="1">
                <a:solidFill>
                  <a:schemeClr val="accent6"/>
                </a:solidFill>
                <a:latin typeface="Consolas" panose="020B0609020204030204" pitchFamily="49" charset="0"/>
              </a:rPr>
              <a:t>suma_aprobadas</a:t>
            </a:r>
            <a:r>
              <a:rPr lang="es-MX" sz="1000" dirty="0">
                <a:solidFill>
                  <a:schemeClr val="accent6"/>
                </a:solidFill>
                <a:latin typeface="Consolas" panose="020B0609020204030204" pitchFamily="49" charset="0"/>
              </a:rPr>
              <a:t>/</a:t>
            </a:r>
            <a:r>
              <a:rPr lang="es-MX" sz="1000" dirty="0" err="1">
                <a:solidFill>
                  <a:schemeClr val="accent6"/>
                </a:solidFill>
                <a:latin typeface="Consolas" panose="020B0609020204030204" pitchFamily="49" charset="0"/>
              </a:rPr>
              <a:t>notas_aprobadas</a:t>
            </a:r>
            <a:endParaRPr lang="es-MX" sz="1000" dirty="0">
              <a:solidFill>
                <a:schemeClr val="accent6"/>
              </a:solidFill>
              <a:latin typeface="Consolas" panose="020B0609020204030204" pitchFamily="49" charset="0"/>
            </a:endParaRPr>
          </a:p>
          <a:p>
            <a:r>
              <a:rPr lang="es-MX" sz="1000" dirty="0">
                <a:solidFill>
                  <a:schemeClr val="accent6"/>
                </a:solidFill>
                <a:latin typeface="Consolas" panose="020B0609020204030204" pitchFamily="49" charset="0"/>
              </a:rPr>
              <a:t>        </a:t>
            </a:r>
            <a:r>
              <a:rPr lang="es-MX" sz="1000" dirty="0" err="1">
                <a:solidFill>
                  <a:schemeClr val="accent6"/>
                </a:solidFill>
                <a:latin typeface="Consolas" panose="020B0609020204030204" pitchFamily="49" charset="0"/>
              </a:rPr>
              <a:t>prom_nota_reprobada</a:t>
            </a:r>
            <a:r>
              <a:rPr lang="es-MX" sz="1000" dirty="0">
                <a:solidFill>
                  <a:schemeClr val="accent6"/>
                </a:solidFill>
                <a:latin typeface="Consolas" panose="020B0609020204030204" pitchFamily="49" charset="0"/>
              </a:rPr>
              <a:t> = 0</a:t>
            </a:r>
          </a:p>
          <a:p>
            <a:r>
              <a:rPr lang="es-MX" sz="1000" dirty="0">
                <a:solidFill>
                  <a:schemeClr val="accent6"/>
                </a:solidFill>
                <a:latin typeface="Consolas" panose="020B0609020204030204" pitchFamily="49" charset="0"/>
              </a:rPr>
              <a:t>      Sino</a:t>
            </a:r>
          </a:p>
          <a:p>
            <a:r>
              <a:rPr lang="es-MX" sz="1000" dirty="0">
                <a:solidFill>
                  <a:schemeClr val="accent6"/>
                </a:solidFill>
                <a:latin typeface="Consolas" panose="020B0609020204030204" pitchFamily="49" charset="0"/>
              </a:rPr>
              <a:t>        </a:t>
            </a:r>
            <a:r>
              <a:rPr lang="es-MX" sz="1000" dirty="0" err="1">
                <a:solidFill>
                  <a:schemeClr val="accent6"/>
                </a:solidFill>
                <a:latin typeface="Consolas" panose="020B0609020204030204" pitchFamily="49" charset="0"/>
              </a:rPr>
              <a:t>prom_nota_reprobada</a:t>
            </a:r>
            <a:r>
              <a:rPr lang="es-MX" sz="1000" dirty="0">
                <a:solidFill>
                  <a:schemeClr val="accent6"/>
                </a:solidFill>
                <a:latin typeface="Consolas" panose="020B0609020204030204" pitchFamily="49" charset="0"/>
              </a:rPr>
              <a:t> = </a:t>
            </a:r>
            <a:r>
              <a:rPr lang="es-MX" sz="1000" dirty="0" err="1">
                <a:solidFill>
                  <a:schemeClr val="accent6"/>
                </a:solidFill>
                <a:latin typeface="Consolas" panose="020B0609020204030204" pitchFamily="49" charset="0"/>
              </a:rPr>
              <a:t>suma_reprobadas</a:t>
            </a:r>
            <a:r>
              <a:rPr lang="es-MX" sz="1000" dirty="0">
                <a:solidFill>
                  <a:schemeClr val="accent6"/>
                </a:solidFill>
                <a:latin typeface="Consolas" panose="020B0609020204030204" pitchFamily="49" charset="0"/>
              </a:rPr>
              <a:t>/</a:t>
            </a:r>
            <a:r>
              <a:rPr lang="es-MX" sz="1000" dirty="0" err="1">
                <a:solidFill>
                  <a:schemeClr val="accent6"/>
                </a:solidFill>
                <a:latin typeface="Consolas" panose="020B0609020204030204" pitchFamily="49" charset="0"/>
              </a:rPr>
              <a:t>notas_reprobadas</a:t>
            </a:r>
            <a:endParaRPr lang="es-MX" sz="1000" dirty="0">
              <a:solidFill>
                <a:schemeClr val="accent6"/>
              </a:solidFill>
              <a:latin typeface="Consolas" panose="020B0609020204030204" pitchFamily="49" charset="0"/>
            </a:endParaRPr>
          </a:p>
          <a:p>
            <a:r>
              <a:rPr lang="es-MX" sz="1000" dirty="0">
                <a:solidFill>
                  <a:schemeClr val="accent6"/>
                </a:solidFill>
                <a:latin typeface="Consolas" panose="020B0609020204030204" pitchFamily="49" charset="0"/>
              </a:rPr>
              <a:t>        </a:t>
            </a:r>
            <a:r>
              <a:rPr lang="es-MX" sz="1000" dirty="0" err="1">
                <a:solidFill>
                  <a:schemeClr val="accent6"/>
                </a:solidFill>
                <a:latin typeface="Consolas" panose="020B0609020204030204" pitchFamily="49" charset="0"/>
              </a:rPr>
              <a:t>prom_nota_aprobada</a:t>
            </a:r>
            <a:r>
              <a:rPr lang="es-MX" sz="1000" dirty="0">
                <a:solidFill>
                  <a:schemeClr val="accent6"/>
                </a:solidFill>
                <a:latin typeface="Consolas" panose="020B0609020204030204" pitchFamily="49" charset="0"/>
              </a:rPr>
              <a:t> = </a:t>
            </a:r>
            <a:r>
              <a:rPr lang="es-MX" sz="1000" dirty="0" err="1">
                <a:solidFill>
                  <a:schemeClr val="accent6"/>
                </a:solidFill>
                <a:latin typeface="Consolas" panose="020B0609020204030204" pitchFamily="49" charset="0"/>
              </a:rPr>
              <a:t>suma_aprobadas</a:t>
            </a:r>
            <a:r>
              <a:rPr lang="es-MX" sz="1000" dirty="0">
                <a:solidFill>
                  <a:schemeClr val="accent6"/>
                </a:solidFill>
                <a:latin typeface="Consolas" panose="020B0609020204030204" pitchFamily="49" charset="0"/>
              </a:rPr>
              <a:t>/</a:t>
            </a:r>
            <a:r>
              <a:rPr lang="es-MX" sz="1000" dirty="0" err="1">
                <a:solidFill>
                  <a:schemeClr val="accent6"/>
                </a:solidFill>
                <a:latin typeface="Consolas" panose="020B0609020204030204" pitchFamily="49" charset="0"/>
              </a:rPr>
              <a:t>notas_aprobadas</a:t>
            </a:r>
            <a:endParaRPr lang="es-MX" sz="1000" dirty="0">
              <a:solidFill>
                <a:schemeClr val="accent6"/>
              </a:solidFill>
              <a:latin typeface="Consolas" panose="020B0609020204030204" pitchFamily="49" charset="0"/>
            </a:endParaRPr>
          </a:p>
          <a:p>
            <a:r>
              <a:rPr lang="es-MX" sz="1000" dirty="0">
                <a:solidFill>
                  <a:schemeClr val="accent6"/>
                </a:solidFill>
                <a:latin typeface="Consolas" panose="020B0609020204030204" pitchFamily="49" charset="0"/>
              </a:rPr>
              <a:t>      </a:t>
            </a:r>
            <a:r>
              <a:rPr lang="es-MX" sz="1000" dirty="0" err="1">
                <a:solidFill>
                  <a:schemeClr val="accent6"/>
                </a:solidFill>
                <a:latin typeface="Consolas" panose="020B0609020204030204" pitchFamily="49" charset="0"/>
              </a:rPr>
              <a:t>Fin_Si</a:t>
            </a:r>
            <a:endParaRPr lang="es-MX" sz="1000" dirty="0">
              <a:solidFill>
                <a:schemeClr val="accent6"/>
              </a:solidFill>
              <a:latin typeface="Consolas" panose="020B0609020204030204" pitchFamily="49" charset="0"/>
            </a:endParaRPr>
          </a:p>
          <a:p>
            <a:r>
              <a:rPr lang="es-MX" sz="1000" dirty="0">
                <a:solidFill>
                  <a:schemeClr val="accent6"/>
                </a:solidFill>
                <a:latin typeface="Consolas" panose="020B0609020204030204" pitchFamily="49" charset="0"/>
              </a:rPr>
              <a:t>    </a:t>
            </a:r>
            <a:r>
              <a:rPr lang="es-MX" sz="1000" dirty="0" err="1">
                <a:solidFill>
                  <a:schemeClr val="accent6"/>
                </a:solidFill>
                <a:latin typeface="Consolas" panose="020B0609020204030204" pitchFamily="49" charset="0"/>
              </a:rPr>
              <a:t>Fin_Si</a:t>
            </a:r>
            <a:endParaRPr lang="es-MX" sz="1000" dirty="0">
              <a:solidFill>
                <a:schemeClr val="accent6"/>
              </a:solidFill>
              <a:latin typeface="Consolas" panose="020B0609020204030204" pitchFamily="49" charset="0"/>
            </a:endParaRPr>
          </a:p>
          <a:p>
            <a:r>
              <a:rPr lang="es-MX" sz="1000" dirty="0">
                <a:solidFill>
                  <a:srgbClr val="0070C0"/>
                </a:solidFill>
                <a:latin typeface="Consolas" panose="020B0609020204030204" pitchFamily="49" charset="0"/>
              </a:rPr>
              <a:t>    </a:t>
            </a:r>
            <a:r>
              <a:rPr lang="es-MX" sz="1000" dirty="0" err="1">
                <a:solidFill>
                  <a:srgbClr val="0070C0"/>
                </a:solidFill>
                <a:latin typeface="Consolas" panose="020B0609020204030204" pitchFamily="49" charset="0"/>
              </a:rPr>
              <a:t>prom</a:t>
            </a:r>
            <a:r>
              <a:rPr lang="es-MX" sz="1000" dirty="0">
                <a:solidFill>
                  <a:srgbClr val="0070C0"/>
                </a:solidFill>
                <a:latin typeface="Consolas" panose="020B0609020204030204" pitchFamily="49" charset="0"/>
              </a:rPr>
              <a:t> = </a:t>
            </a:r>
            <a:r>
              <a:rPr lang="es-MX" sz="1000" dirty="0" err="1">
                <a:solidFill>
                  <a:srgbClr val="0070C0"/>
                </a:solidFill>
                <a:latin typeface="Consolas" panose="020B0609020204030204" pitchFamily="49" charset="0"/>
              </a:rPr>
              <a:t>suma_notas</a:t>
            </a:r>
            <a:r>
              <a:rPr lang="es-MX" sz="1000" dirty="0">
                <a:solidFill>
                  <a:srgbClr val="0070C0"/>
                </a:solidFill>
                <a:latin typeface="Consolas" panose="020B0609020204030204" pitchFamily="49" charset="0"/>
              </a:rPr>
              <a:t>/</a:t>
            </a:r>
            <a:r>
              <a:rPr lang="es-MX" sz="1000" dirty="0" err="1">
                <a:solidFill>
                  <a:srgbClr val="0070C0"/>
                </a:solidFill>
                <a:latin typeface="Consolas" panose="020B0609020204030204" pitchFamily="49" charset="0"/>
              </a:rPr>
              <a:t>total_notas</a:t>
            </a:r>
            <a:endParaRPr lang="es-MX" sz="1000" dirty="0">
              <a:solidFill>
                <a:srgbClr val="0070C0"/>
              </a:solidFill>
              <a:latin typeface="Consolas" panose="020B0609020204030204" pitchFamily="49" charset="0"/>
            </a:endParaRPr>
          </a:p>
          <a:p>
            <a:r>
              <a:rPr lang="es-MX" sz="1000" dirty="0">
                <a:solidFill>
                  <a:srgbClr val="0070C0"/>
                </a:solidFill>
                <a:latin typeface="Consolas" panose="020B0609020204030204" pitchFamily="49" charset="0"/>
              </a:rPr>
              <a:t>    Escribir(</a:t>
            </a:r>
            <a:r>
              <a:rPr lang="es-MX" sz="1000" dirty="0" err="1">
                <a:solidFill>
                  <a:srgbClr val="0070C0"/>
                </a:solidFill>
                <a:latin typeface="Consolas" panose="020B0609020204030204" pitchFamily="49" charset="0"/>
              </a:rPr>
              <a:t>p_aprobaron</a:t>
            </a:r>
            <a:r>
              <a:rPr lang="es-MX" sz="1000" dirty="0">
                <a:solidFill>
                  <a:srgbClr val="0070C0"/>
                </a:solidFill>
                <a:latin typeface="Consolas" panose="020B0609020204030204" pitchFamily="49" charset="0"/>
              </a:rPr>
              <a:t>, </a:t>
            </a:r>
            <a:r>
              <a:rPr lang="es-MX" sz="1000" dirty="0" err="1">
                <a:solidFill>
                  <a:srgbClr val="0070C0"/>
                </a:solidFill>
                <a:latin typeface="Consolas" panose="020B0609020204030204" pitchFamily="49" charset="0"/>
              </a:rPr>
              <a:t>p_reprobaron</a:t>
            </a:r>
            <a:r>
              <a:rPr lang="es-MX" sz="1000" dirty="0">
                <a:solidFill>
                  <a:srgbClr val="0070C0"/>
                </a:solidFill>
                <a:latin typeface="Consolas" panose="020B0609020204030204" pitchFamily="49" charset="0"/>
              </a:rPr>
              <a:t>) </a:t>
            </a:r>
          </a:p>
          <a:p>
            <a:r>
              <a:rPr lang="es-MX" sz="1000" dirty="0">
                <a:solidFill>
                  <a:srgbClr val="0070C0"/>
                </a:solidFill>
                <a:latin typeface="Consolas" panose="020B0609020204030204" pitchFamily="49" charset="0"/>
              </a:rPr>
              <a:t>    Escribir(</a:t>
            </a:r>
            <a:r>
              <a:rPr lang="es-MX" sz="1000" dirty="0" err="1">
                <a:solidFill>
                  <a:srgbClr val="0070C0"/>
                </a:solidFill>
                <a:latin typeface="Consolas" panose="020B0609020204030204" pitchFamily="49" charset="0"/>
              </a:rPr>
              <a:t>prom_nota_reprobada</a:t>
            </a:r>
            <a:r>
              <a:rPr lang="es-MX" sz="1000" dirty="0">
                <a:solidFill>
                  <a:srgbClr val="0070C0"/>
                </a:solidFill>
                <a:latin typeface="Consolas" panose="020B0609020204030204" pitchFamily="49" charset="0"/>
              </a:rPr>
              <a:t>, </a:t>
            </a:r>
            <a:r>
              <a:rPr lang="es-MX" sz="1000" dirty="0" err="1">
                <a:solidFill>
                  <a:srgbClr val="0070C0"/>
                </a:solidFill>
                <a:latin typeface="Consolas" panose="020B0609020204030204" pitchFamily="49" charset="0"/>
              </a:rPr>
              <a:t>prom_nota_aprobada</a:t>
            </a:r>
            <a:r>
              <a:rPr lang="es-MX" sz="1000" dirty="0">
                <a:solidFill>
                  <a:srgbClr val="0070C0"/>
                </a:solidFill>
                <a:latin typeface="Consolas" panose="020B0609020204030204" pitchFamily="49" charset="0"/>
              </a:rPr>
              <a:t>)</a:t>
            </a:r>
          </a:p>
          <a:p>
            <a:r>
              <a:rPr lang="es-MX" sz="1000" dirty="0">
                <a:solidFill>
                  <a:srgbClr val="0070C0"/>
                </a:solidFill>
                <a:latin typeface="Consolas" panose="020B0609020204030204" pitchFamily="49" charset="0"/>
              </a:rPr>
              <a:t>    Escribir(</a:t>
            </a:r>
            <a:r>
              <a:rPr lang="es-MX" sz="1000" dirty="0" err="1">
                <a:solidFill>
                  <a:srgbClr val="0070C0"/>
                </a:solidFill>
                <a:latin typeface="Consolas" panose="020B0609020204030204" pitchFamily="49" charset="0"/>
              </a:rPr>
              <a:t>prom</a:t>
            </a:r>
            <a:r>
              <a:rPr lang="es-MX" sz="1000" dirty="0">
                <a:solidFill>
                  <a:srgbClr val="0070C0"/>
                </a:solidFill>
                <a:latin typeface="Consolas" panose="020B0609020204030204" pitchFamily="49" charset="0"/>
              </a:rPr>
              <a:t>) </a:t>
            </a:r>
          </a:p>
          <a:p>
            <a:r>
              <a:rPr lang="es-MX" sz="1000" dirty="0">
                <a:solidFill>
                  <a:srgbClr val="0070C0"/>
                </a:solidFill>
                <a:latin typeface="Consolas" panose="020B0609020204030204" pitchFamily="49" charset="0"/>
              </a:rPr>
              <a:t>  </a:t>
            </a:r>
            <a:r>
              <a:rPr lang="es-MX" sz="1000" dirty="0" err="1">
                <a:solidFill>
                  <a:srgbClr val="0070C0"/>
                </a:solidFill>
                <a:latin typeface="Consolas" panose="020B0609020204030204" pitchFamily="49" charset="0"/>
              </a:rPr>
              <a:t>Fin_Si</a:t>
            </a:r>
            <a:endParaRPr lang="es-MX" sz="1000" dirty="0">
              <a:solidFill>
                <a:srgbClr val="0070C0"/>
              </a:solidFill>
              <a:latin typeface="Consolas" panose="020B0609020204030204" pitchFamily="49" charset="0"/>
            </a:endParaRPr>
          </a:p>
          <a:p>
            <a:r>
              <a:rPr lang="es-MX" sz="1000" dirty="0">
                <a:latin typeface="Consolas" panose="020B0609020204030204" pitchFamily="49" charset="0"/>
              </a:rPr>
              <a:t>Fin</a:t>
            </a:r>
            <a:endParaRPr lang="es-CO" sz="1000" dirty="0">
              <a:solidFill>
                <a:srgbClr val="C00000"/>
              </a:solidFill>
              <a:latin typeface="Consolas" panose="020B0609020204030204" pitchFamily="49" charset="0"/>
            </a:endParaRPr>
          </a:p>
        </p:txBody>
      </p:sp>
      <p:sp>
        <p:nvSpPr>
          <p:cNvPr id="8" name="CuadroTexto 7">
            <a:extLst>
              <a:ext uri="{FF2B5EF4-FFF2-40B4-BE49-F238E27FC236}">
                <a16:creationId xmlns:a16="http://schemas.microsoft.com/office/drawing/2014/main" id="{A3B1CDA2-B29E-4CF4-93D6-45F1FA9F9FD2}"/>
              </a:ext>
            </a:extLst>
          </p:cNvPr>
          <p:cNvSpPr txBox="1"/>
          <p:nvPr/>
        </p:nvSpPr>
        <p:spPr>
          <a:xfrm>
            <a:off x="4788024" y="2831445"/>
            <a:ext cx="4264320" cy="3477875"/>
          </a:xfrm>
          <a:prstGeom prst="rect">
            <a:avLst/>
          </a:prstGeom>
          <a:noFill/>
          <a:ln>
            <a:solidFill>
              <a:schemeClr val="tx1"/>
            </a:solidFill>
          </a:ln>
        </p:spPr>
        <p:txBody>
          <a:bodyPr wrap="square">
            <a:spAutoFit/>
          </a:bodyPr>
          <a:lstStyle/>
          <a:p>
            <a:r>
              <a:rPr lang="es-MX" sz="1000" dirty="0">
                <a:latin typeface="Consolas" panose="020B0609020204030204" pitchFamily="49" charset="0"/>
              </a:rPr>
              <a:t>...</a:t>
            </a:r>
          </a:p>
          <a:p>
            <a:r>
              <a:rPr lang="es-MX" sz="1000" dirty="0" err="1">
                <a:solidFill>
                  <a:srgbClr val="0070C0"/>
                </a:solidFill>
                <a:latin typeface="Consolas" panose="020B0609020204030204" pitchFamily="49" charset="0"/>
              </a:rPr>
              <a:t>if</a:t>
            </a:r>
            <a:r>
              <a:rPr lang="es-MX" sz="1000" dirty="0">
                <a:solidFill>
                  <a:srgbClr val="0070C0"/>
                </a:solidFill>
                <a:latin typeface="Consolas" panose="020B0609020204030204" pitchFamily="49" charset="0"/>
              </a:rPr>
              <a:t> </a:t>
            </a:r>
            <a:r>
              <a:rPr lang="es-MX" sz="1000" dirty="0" err="1">
                <a:solidFill>
                  <a:srgbClr val="0070C0"/>
                </a:solidFill>
                <a:latin typeface="Consolas" panose="020B0609020204030204" pitchFamily="49" charset="0"/>
              </a:rPr>
              <a:t>total_notas</a:t>
            </a:r>
            <a:r>
              <a:rPr lang="es-MX" sz="1000" dirty="0">
                <a:solidFill>
                  <a:srgbClr val="0070C0"/>
                </a:solidFill>
                <a:latin typeface="Consolas" panose="020B0609020204030204" pitchFamily="49" charset="0"/>
              </a:rPr>
              <a:t> == 0:</a:t>
            </a:r>
          </a:p>
          <a:p>
            <a:r>
              <a:rPr lang="es-MX" sz="1000" dirty="0">
                <a:solidFill>
                  <a:srgbClr val="0070C0"/>
                </a:solidFill>
                <a:latin typeface="Consolas" panose="020B0609020204030204" pitchFamily="49" charset="0"/>
              </a:rPr>
              <a:t>  </a:t>
            </a:r>
            <a:r>
              <a:rPr lang="es-MX" sz="1000" dirty="0" err="1">
                <a:solidFill>
                  <a:srgbClr val="0070C0"/>
                </a:solidFill>
                <a:latin typeface="Consolas" panose="020B0609020204030204" pitchFamily="49" charset="0"/>
              </a:rPr>
              <a:t>print</a:t>
            </a:r>
            <a:r>
              <a:rPr lang="es-MX" sz="1000" dirty="0">
                <a:solidFill>
                  <a:srgbClr val="0070C0"/>
                </a:solidFill>
                <a:latin typeface="Consolas" panose="020B0609020204030204" pitchFamily="49" charset="0"/>
              </a:rPr>
              <a:t>("No hay estudiantes")</a:t>
            </a:r>
          </a:p>
          <a:p>
            <a:r>
              <a:rPr lang="es-MX" sz="1000" dirty="0" err="1">
                <a:solidFill>
                  <a:srgbClr val="0070C0"/>
                </a:solidFill>
                <a:latin typeface="Consolas" panose="020B0609020204030204" pitchFamily="49" charset="0"/>
              </a:rPr>
              <a:t>else</a:t>
            </a:r>
            <a:r>
              <a:rPr lang="es-MX" sz="1000" dirty="0">
                <a:solidFill>
                  <a:srgbClr val="0070C0"/>
                </a:solidFill>
                <a:latin typeface="Consolas" panose="020B0609020204030204" pitchFamily="49" charset="0"/>
              </a:rPr>
              <a:t>:</a:t>
            </a:r>
          </a:p>
          <a:p>
            <a:r>
              <a:rPr lang="es-MX" sz="1000" dirty="0">
                <a:solidFill>
                  <a:srgbClr val="0070C0"/>
                </a:solidFill>
                <a:latin typeface="Consolas" panose="020B0609020204030204" pitchFamily="49" charset="0"/>
              </a:rPr>
              <a:t>  </a:t>
            </a:r>
            <a:r>
              <a:rPr lang="es-MX" sz="1000" dirty="0" err="1">
                <a:solidFill>
                  <a:srgbClr val="0070C0"/>
                </a:solidFill>
                <a:latin typeface="Consolas" panose="020B0609020204030204" pitchFamily="49" charset="0"/>
              </a:rPr>
              <a:t>p_aprobaron</a:t>
            </a:r>
            <a:r>
              <a:rPr lang="es-MX" sz="1000" dirty="0">
                <a:solidFill>
                  <a:srgbClr val="0070C0"/>
                </a:solidFill>
                <a:latin typeface="Consolas" panose="020B0609020204030204" pitchFamily="49" charset="0"/>
              </a:rPr>
              <a:t> = (</a:t>
            </a:r>
            <a:r>
              <a:rPr lang="es-MX" sz="1000" dirty="0" err="1">
                <a:solidFill>
                  <a:srgbClr val="0070C0"/>
                </a:solidFill>
                <a:latin typeface="Consolas" panose="020B0609020204030204" pitchFamily="49" charset="0"/>
              </a:rPr>
              <a:t>notas_aprobadas</a:t>
            </a:r>
            <a:r>
              <a:rPr lang="es-MX" sz="1000" dirty="0">
                <a:solidFill>
                  <a:srgbClr val="0070C0"/>
                </a:solidFill>
                <a:latin typeface="Consolas" panose="020B0609020204030204" pitchFamily="49" charset="0"/>
              </a:rPr>
              <a:t>/</a:t>
            </a:r>
            <a:r>
              <a:rPr lang="es-MX" sz="1000" dirty="0" err="1">
                <a:solidFill>
                  <a:srgbClr val="0070C0"/>
                </a:solidFill>
                <a:latin typeface="Consolas" panose="020B0609020204030204" pitchFamily="49" charset="0"/>
              </a:rPr>
              <a:t>total_notas</a:t>
            </a:r>
            <a:r>
              <a:rPr lang="es-MX" sz="1000" dirty="0">
                <a:solidFill>
                  <a:srgbClr val="0070C0"/>
                </a:solidFill>
                <a:latin typeface="Consolas" panose="020B0609020204030204" pitchFamily="49" charset="0"/>
              </a:rPr>
              <a:t>)*100</a:t>
            </a:r>
          </a:p>
          <a:p>
            <a:r>
              <a:rPr lang="es-MX" sz="1000" dirty="0">
                <a:solidFill>
                  <a:srgbClr val="0070C0"/>
                </a:solidFill>
                <a:latin typeface="Consolas" panose="020B0609020204030204" pitchFamily="49" charset="0"/>
              </a:rPr>
              <a:t>  </a:t>
            </a:r>
            <a:r>
              <a:rPr lang="es-MX" sz="1000" dirty="0" err="1">
                <a:solidFill>
                  <a:srgbClr val="0070C0"/>
                </a:solidFill>
                <a:latin typeface="Consolas" panose="020B0609020204030204" pitchFamily="49" charset="0"/>
              </a:rPr>
              <a:t>p_reprobaron</a:t>
            </a:r>
            <a:r>
              <a:rPr lang="es-MX" sz="1000" dirty="0">
                <a:solidFill>
                  <a:srgbClr val="0070C0"/>
                </a:solidFill>
                <a:latin typeface="Consolas" panose="020B0609020204030204" pitchFamily="49" charset="0"/>
              </a:rPr>
              <a:t> = (</a:t>
            </a:r>
            <a:r>
              <a:rPr lang="es-MX" sz="1000" dirty="0" err="1">
                <a:solidFill>
                  <a:srgbClr val="0070C0"/>
                </a:solidFill>
                <a:latin typeface="Consolas" panose="020B0609020204030204" pitchFamily="49" charset="0"/>
              </a:rPr>
              <a:t>notas_reprobadas</a:t>
            </a:r>
            <a:r>
              <a:rPr lang="es-MX" sz="1000" dirty="0">
                <a:solidFill>
                  <a:srgbClr val="0070C0"/>
                </a:solidFill>
                <a:latin typeface="Consolas" panose="020B0609020204030204" pitchFamily="49" charset="0"/>
              </a:rPr>
              <a:t>/</a:t>
            </a:r>
            <a:r>
              <a:rPr lang="es-MX" sz="1000" dirty="0" err="1">
                <a:solidFill>
                  <a:srgbClr val="0070C0"/>
                </a:solidFill>
                <a:latin typeface="Consolas" panose="020B0609020204030204" pitchFamily="49" charset="0"/>
              </a:rPr>
              <a:t>total_notas</a:t>
            </a:r>
            <a:r>
              <a:rPr lang="es-MX" sz="1000" dirty="0">
                <a:solidFill>
                  <a:srgbClr val="0070C0"/>
                </a:solidFill>
                <a:latin typeface="Consolas" panose="020B0609020204030204" pitchFamily="49" charset="0"/>
              </a:rPr>
              <a:t>)*100</a:t>
            </a:r>
          </a:p>
          <a:p>
            <a:r>
              <a:rPr lang="es-MX" sz="1000" dirty="0">
                <a:solidFill>
                  <a:srgbClr val="0070C0"/>
                </a:solidFill>
                <a:latin typeface="Consolas" panose="020B0609020204030204" pitchFamily="49" charset="0"/>
              </a:rPr>
              <a:t>  </a:t>
            </a:r>
            <a:r>
              <a:rPr lang="es-MX" sz="1000" dirty="0" err="1">
                <a:solidFill>
                  <a:schemeClr val="accent6"/>
                </a:solidFill>
                <a:latin typeface="Consolas" panose="020B0609020204030204" pitchFamily="49" charset="0"/>
              </a:rPr>
              <a:t>if</a:t>
            </a:r>
            <a:r>
              <a:rPr lang="es-MX" sz="1000" dirty="0">
                <a:solidFill>
                  <a:schemeClr val="accent6"/>
                </a:solidFill>
                <a:latin typeface="Consolas" panose="020B0609020204030204" pitchFamily="49" charset="0"/>
              </a:rPr>
              <a:t> (</a:t>
            </a:r>
            <a:r>
              <a:rPr lang="es-MX" sz="1000" dirty="0" err="1">
                <a:solidFill>
                  <a:schemeClr val="accent6"/>
                </a:solidFill>
                <a:latin typeface="Consolas" panose="020B0609020204030204" pitchFamily="49" charset="0"/>
              </a:rPr>
              <a:t>notas_aprobadas</a:t>
            </a:r>
            <a:r>
              <a:rPr lang="es-MX" sz="1000" dirty="0">
                <a:solidFill>
                  <a:schemeClr val="accent6"/>
                </a:solidFill>
                <a:latin typeface="Consolas" panose="020B0609020204030204" pitchFamily="49" charset="0"/>
              </a:rPr>
              <a:t> == 0):</a:t>
            </a:r>
          </a:p>
          <a:p>
            <a:r>
              <a:rPr lang="es-MX" sz="1000" dirty="0">
                <a:solidFill>
                  <a:schemeClr val="accent6"/>
                </a:solidFill>
                <a:latin typeface="Consolas" panose="020B0609020204030204" pitchFamily="49" charset="0"/>
              </a:rPr>
              <a:t>    </a:t>
            </a:r>
            <a:r>
              <a:rPr lang="es-MX" sz="1000" dirty="0" err="1">
                <a:solidFill>
                  <a:schemeClr val="accent6"/>
                </a:solidFill>
                <a:latin typeface="Consolas" panose="020B0609020204030204" pitchFamily="49" charset="0"/>
              </a:rPr>
              <a:t>prom_nota_reprobada</a:t>
            </a:r>
            <a:r>
              <a:rPr lang="es-MX" sz="1000" dirty="0">
                <a:solidFill>
                  <a:schemeClr val="accent6"/>
                </a:solidFill>
                <a:latin typeface="Consolas" panose="020B0609020204030204" pitchFamily="49" charset="0"/>
              </a:rPr>
              <a:t> = </a:t>
            </a:r>
            <a:r>
              <a:rPr lang="es-MX" sz="1000" dirty="0" err="1">
                <a:solidFill>
                  <a:schemeClr val="accent6"/>
                </a:solidFill>
                <a:latin typeface="Consolas" panose="020B0609020204030204" pitchFamily="49" charset="0"/>
              </a:rPr>
              <a:t>suma_reprobadas</a:t>
            </a:r>
            <a:r>
              <a:rPr lang="es-MX" sz="1000" dirty="0">
                <a:solidFill>
                  <a:schemeClr val="accent6"/>
                </a:solidFill>
                <a:latin typeface="Consolas" panose="020B0609020204030204" pitchFamily="49" charset="0"/>
              </a:rPr>
              <a:t>/</a:t>
            </a:r>
            <a:r>
              <a:rPr lang="es-MX" sz="1000" dirty="0" err="1">
                <a:solidFill>
                  <a:schemeClr val="accent6"/>
                </a:solidFill>
                <a:latin typeface="Consolas" panose="020B0609020204030204" pitchFamily="49" charset="0"/>
              </a:rPr>
              <a:t>notas_reprobadas</a:t>
            </a:r>
            <a:endParaRPr lang="es-MX" sz="1000" dirty="0">
              <a:solidFill>
                <a:schemeClr val="accent6"/>
              </a:solidFill>
              <a:latin typeface="Consolas" panose="020B0609020204030204" pitchFamily="49" charset="0"/>
            </a:endParaRPr>
          </a:p>
          <a:p>
            <a:r>
              <a:rPr lang="es-MX" sz="1000" dirty="0">
                <a:solidFill>
                  <a:schemeClr val="accent6"/>
                </a:solidFill>
                <a:latin typeface="Consolas" panose="020B0609020204030204" pitchFamily="49" charset="0"/>
              </a:rPr>
              <a:t>    </a:t>
            </a:r>
            <a:r>
              <a:rPr lang="es-MX" sz="1000" dirty="0" err="1">
                <a:solidFill>
                  <a:schemeClr val="accent6"/>
                </a:solidFill>
                <a:latin typeface="Consolas" panose="020B0609020204030204" pitchFamily="49" charset="0"/>
              </a:rPr>
              <a:t>prom_nota_aprobada</a:t>
            </a:r>
            <a:r>
              <a:rPr lang="es-MX" sz="1000" dirty="0">
                <a:solidFill>
                  <a:schemeClr val="accent6"/>
                </a:solidFill>
                <a:latin typeface="Consolas" panose="020B0609020204030204" pitchFamily="49" charset="0"/>
              </a:rPr>
              <a:t> = 0</a:t>
            </a:r>
          </a:p>
          <a:p>
            <a:r>
              <a:rPr lang="es-MX" sz="1000" dirty="0">
                <a:solidFill>
                  <a:schemeClr val="accent6"/>
                </a:solidFill>
                <a:latin typeface="Consolas" panose="020B0609020204030204" pitchFamily="49" charset="0"/>
              </a:rPr>
              <a:t>  </a:t>
            </a:r>
            <a:r>
              <a:rPr lang="es-MX" sz="1000" dirty="0" err="1">
                <a:solidFill>
                  <a:schemeClr val="accent6"/>
                </a:solidFill>
                <a:latin typeface="Consolas" panose="020B0609020204030204" pitchFamily="49" charset="0"/>
              </a:rPr>
              <a:t>elif</a:t>
            </a:r>
            <a:r>
              <a:rPr lang="es-MX" sz="1000" dirty="0">
                <a:solidFill>
                  <a:schemeClr val="accent6"/>
                </a:solidFill>
                <a:latin typeface="Consolas" panose="020B0609020204030204" pitchFamily="49" charset="0"/>
              </a:rPr>
              <a:t> (</a:t>
            </a:r>
            <a:r>
              <a:rPr lang="es-MX" sz="1000" dirty="0" err="1">
                <a:solidFill>
                  <a:schemeClr val="accent6"/>
                </a:solidFill>
                <a:latin typeface="Consolas" panose="020B0609020204030204" pitchFamily="49" charset="0"/>
              </a:rPr>
              <a:t>notas_reprobadas</a:t>
            </a:r>
            <a:r>
              <a:rPr lang="es-MX" sz="1000" dirty="0">
                <a:solidFill>
                  <a:schemeClr val="accent6"/>
                </a:solidFill>
                <a:latin typeface="Consolas" panose="020B0609020204030204" pitchFamily="49" charset="0"/>
              </a:rPr>
              <a:t> == 0):</a:t>
            </a:r>
          </a:p>
          <a:p>
            <a:r>
              <a:rPr lang="es-MX" sz="1000" dirty="0">
                <a:solidFill>
                  <a:schemeClr val="accent6"/>
                </a:solidFill>
                <a:latin typeface="Consolas" panose="020B0609020204030204" pitchFamily="49" charset="0"/>
              </a:rPr>
              <a:t>    </a:t>
            </a:r>
            <a:r>
              <a:rPr lang="es-MX" sz="1000" dirty="0" err="1">
                <a:solidFill>
                  <a:schemeClr val="accent6"/>
                </a:solidFill>
                <a:latin typeface="Consolas" panose="020B0609020204030204" pitchFamily="49" charset="0"/>
              </a:rPr>
              <a:t>prom_nota_aprobada</a:t>
            </a:r>
            <a:r>
              <a:rPr lang="es-MX" sz="1000" dirty="0">
                <a:solidFill>
                  <a:schemeClr val="accent6"/>
                </a:solidFill>
                <a:latin typeface="Consolas" panose="020B0609020204030204" pitchFamily="49" charset="0"/>
              </a:rPr>
              <a:t> = </a:t>
            </a:r>
            <a:r>
              <a:rPr lang="es-MX" sz="1000" dirty="0" err="1">
                <a:solidFill>
                  <a:schemeClr val="accent6"/>
                </a:solidFill>
                <a:latin typeface="Consolas" panose="020B0609020204030204" pitchFamily="49" charset="0"/>
              </a:rPr>
              <a:t>suma_aprobadas</a:t>
            </a:r>
            <a:r>
              <a:rPr lang="es-MX" sz="1000" dirty="0">
                <a:solidFill>
                  <a:schemeClr val="accent6"/>
                </a:solidFill>
                <a:latin typeface="Consolas" panose="020B0609020204030204" pitchFamily="49" charset="0"/>
              </a:rPr>
              <a:t>/</a:t>
            </a:r>
            <a:r>
              <a:rPr lang="es-MX" sz="1000" dirty="0" err="1">
                <a:solidFill>
                  <a:schemeClr val="accent6"/>
                </a:solidFill>
                <a:latin typeface="Consolas" panose="020B0609020204030204" pitchFamily="49" charset="0"/>
              </a:rPr>
              <a:t>notas_aprobadas</a:t>
            </a:r>
            <a:endParaRPr lang="es-MX" sz="1000" dirty="0">
              <a:solidFill>
                <a:schemeClr val="accent6"/>
              </a:solidFill>
              <a:latin typeface="Consolas" panose="020B0609020204030204" pitchFamily="49" charset="0"/>
            </a:endParaRPr>
          </a:p>
          <a:p>
            <a:r>
              <a:rPr lang="es-MX" sz="1000" dirty="0">
                <a:solidFill>
                  <a:schemeClr val="accent6"/>
                </a:solidFill>
                <a:latin typeface="Consolas" panose="020B0609020204030204" pitchFamily="49" charset="0"/>
              </a:rPr>
              <a:t>    </a:t>
            </a:r>
            <a:r>
              <a:rPr lang="es-MX" sz="1000" dirty="0" err="1">
                <a:solidFill>
                  <a:schemeClr val="accent6"/>
                </a:solidFill>
                <a:latin typeface="Consolas" panose="020B0609020204030204" pitchFamily="49" charset="0"/>
              </a:rPr>
              <a:t>prom_nota_reprobada</a:t>
            </a:r>
            <a:r>
              <a:rPr lang="es-MX" sz="1000" dirty="0">
                <a:solidFill>
                  <a:schemeClr val="accent6"/>
                </a:solidFill>
                <a:latin typeface="Consolas" panose="020B0609020204030204" pitchFamily="49" charset="0"/>
              </a:rPr>
              <a:t> = 0</a:t>
            </a:r>
          </a:p>
          <a:p>
            <a:r>
              <a:rPr lang="es-MX" sz="1000" dirty="0">
                <a:solidFill>
                  <a:schemeClr val="accent6"/>
                </a:solidFill>
                <a:latin typeface="Consolas" panose="020B0609020204030204" pitchFamily="49" charset="0"/>
              </a:rPr>
              <a:t>  </a:t>
            </a:r>
            <a:r>
              <a:rPr lang="es-MX" sz="1000" dirty="0" err="1">
                <a:solidFill>
                  <a:schemeClr val="accent6"/>
                </a:solidFill>
                <a:latin typeface="Consolas" panose="020B0609020204030204" pitchFamily="49" charset="0"/>
              </a:rPr>
              <a:t>else</a:t>
            </a:r>
            <a:r>
              <a:rPr lang="es-MX" sz="1000" dirty="0">
                <a:solidFill>
                  <a:schemeClr val="accent6"/>
                </a:solidFill>
                <a:latin typeface="Consolas" panose="020B0609020204030204" pitchFamily="49" charset="0"/>
              </a:rPr>
              <a:t>:</a:t>
            </a:r>
          </a:p>
          <a:p>
            <a:r>
              <a:rPr lang="es-MX" sz="1000" dirty="0">
                <a:solidFill>
                  <a:schemeClr val="accent6"/>
                </a:solidFill>
                <a:latin typeface="Consolas" panose="020B0609020204030204" pitchFamily="49" charset="0"/>
              </a:rPr>
              <a:t>    </a:t>
            </a:r>
            <a:r>
              <a:rPr lang="es-MX" sz="1000" dirty="0" err="1">
                <a:solidFill>
                  <a:schemeClr val="accent6"/>
                </a:solidFill>
                <a:latin typeface="Consolas" panose="020B0609020204030204" pitchFamily="49" charset="0"/>
              </a:rPr>
              <a:t>prom_nota_reprobada</a:t>
            </a:r>
            <a:r>
              <a:rPr lang="es-MX" sz="1000" dirty="0">
                <a:solidFill>
                  <a:schemeClr val="accent6"/>
                </a:solidFill>
                <a:latin typeface="Consolas" panose="020B0609020204030204" pitchFamily="49" charset="0"/>
              </a:rPr>
              <a:t> = </a:t>
            </a:r>
            <a:r>
              <a:rPr lang="es-MX" sz="1000" dirty="0" err="1">
                <a:solidFill>
                  <a:schemeClr val="accent6"/>
                </a:solidFill>
                <a:latin typeface="Consolas" panose="020B0609020204030204" pitchFamily="49" charset="0"/>
              </a:rPr>
              <a:t>suma_reprobadas</a:t>
            </a:r>
            <a:r>
              <a:rPr lang="es-MX" sz="1000" dirty="0">
                <a:solidFill>
                  <a:schemeClr val="accent6"/>
                </a:solidFill>
                <a:latin typeface="Consolas" panose="020B0609020204030204" pitchFamily="49" charset="0"/>
              </a:rPr>
              <a:t>/</a:t>
            </a:r>
            <a:r>
              <a:rPr lang="es-MX" sz="1000" dirty="0" err="1">
                <a:solidFill>
                  <a:schemeClr val="accent6"/>
                </a:solidFill>
                <a:latin typeface="Consolas" panose="020B0609020204030204" pitchFamily="49" charset="0"/>
              </a:rPr>
              <a:t>notas_reprobadas</a:t>
            </a:r>
            <a:endParaRPr lang="es-MX" sz="1000" dirty="0">
              <a:solidFill>
                <a:schemeClr val="accent6"/>
              </a:solidFill>
              <a:latin typeface="Consolas" panose="020B0609020204030204" pitchFamily="49" charset="0"/>
            </a:endParaRPr>
          </a:p>
          <a:p>
            <a:r>
              <a:rPr lang="es-MX" sz="1000" dirty="0">
                <a:solidFill>
                  <a:schemeClr val="accent6"/>
                </a:solidFill>
                <a:latin typeface="Consolas" panose="020B0609020204030204" pitchFamily="49" charset="0"/>
              </a:rPr>
              <a:t>    </a:t>
            </a:r>
            <a:r>
              <a:rPr lang="es-MX" sz="1000" dirty="0" err="1">
                <a:solidFill>
                  <a:schemeClr val="accent6"/>
                </a:solidFill>
                <a:latin typeface="Consolas" panose="020B0609020204030204" pitchFamily="49" charset="0"/>
              </a:rPr>
              <a:t>prom_nota_aprobada</a:t>
            </a:r>
            <a:r>
              <a:rPr lang="es-MX" sz="1000" dirty="0">
                <a:solidFill>
                  <a:schemeClr val="accent6"/>
                </a:solidFill>
                <a:latin typeface="Consolas" panose="020B0609020204030204" pitchFamily="49" charset="0"/>
              </a:rPr>
              <a:t> = </a:t>
            </a:r>
            <a:r>
              <a:rPr lang="es-MX" sz="1000" dirty="0" err="1">
                <a:solidFill>
                  <a:schemeClr val="accent6"/>
                </a:solidFill>
                <a:latin typeface="Consolas" panose="020B0609020204030204" pitchFamily="49" charset="0"/>
              </a:rPr>
              <a:t>suma_aprobadas</a:t>
            </a:r>
            <a:r>
              <a:rPr lang="es-MX" sz="1000" dirty="0">
                <a:solidFill>
                  <a:schemeClr val="accent6"/>
                </a:solidFill>
                <a:latin typeface="Consolas" panose="020B0609020204030204" pitchFamily="49" charset="0"/>
              </a:rPr>
              <a:t>/</a:t>
            </a:r>
            <a:r>
              <a:rPr lang="es-MX" sz="1000" dirty="0" err="1">
                <a:solidFill>
                  <a:schemeClr val="accent6"/>
                </a:solidFill>
                <a:latin typeface="Consolas" panose="020B0609020204030204" pitchFamily="49" charset="0"/>
              </a:rPr>
              <a:t>notas_aprobadas</a:t>
            </a:r>
            <a:endParaRPr lang="es-MX" sz="1000" dirty="0">
              <a:solidFill>
                <a:schemeClr val="accent6"/>
              </a:solidFill>
              <a:latin typeface="Consolas" panose="020B0609020204030204" pitchFamily="49" charset="0"/>
            </a:endParaRPr>
          </a:p>
          <a:p>
            <a:r>
              <a:rPr lang="es-MX" sz="1000" dirty="0">
                <a:solidFill>
                  <a:srgbClr val="0070C0"/>
                </a:solidFill>
                <a:latin typeface="Consolas" panose="020B0609020204030204" pitchFamily="49" charset="0"/>
              </a:rPr>
              <a:t>  </a:t>
            </a:r>
            <a:r>
              <a:rPr lang="es-MX" sz="1000" dirty="0" err="1">
                <a:solidFill>
                  <a:srgbClr val="0070C0"/>
                </a:solidFill>
                <a:latin typeface="Consolas" panose="020B0609020204030204" pitchFamily="49" charset="0"/>
              </a:rPr>
              <a:t>prom</a:t>
            </a:r>
            <a:r>
              <a:rPr lang="es-MX" sz="1000" dirty="0">
                <a:solidFill>
                  <a:srgbClr val="0070C0"/>
                </a:solidFill>
                <a:latin typeface="Consolas" panose="020B0609020204030204" pitchFamily="49" charset="0"/>
              </a:rPr>
              <a:t> = </a:t>
            </a:r>
            <a:r>
              <a:rPr lang="es-MX" sz="1000" dirty="0" err="1">
                <a:solidFill>
                  <a:srgbClr val="0070C0"/>
                </a:solidFill>
                <a:latin typeface="Consolas" panose="020B0609020204030204" pitchFamily="49" charset="0"/>
              </a:rPr>
              <a:t>suma_notas</a:t>
            </a:r>
            <a:r>
              <a:rPr lang="es-MX" sz="1000" dirty="0">
                <a:solidFill>
                  <a:srgbClr val="0070C0"/>
                </a:solidFill>
                <a:latin typeface="Consolas" panose="020B0609020204030204" pitchFamily="49" charset="0"/>
              </a:rPr>
              <a:t>/</a:t>
            </a:r>
            <a:r>
              <a:rPr lang="es-MX" sz="1000" dirty="0" err="1">
                <a:solidFill>
                  <a:srgbClr val="0070C0"/>
                </a:solidFill>
                <a:latin typeface="Consolas" panose="020B0609020204030204" pitchFamily="49" charset="0"/>
              </a:rPr>
              <a:t>total_notas</a:t>
            </a:r>
            <a:endParaRPr lang="es-MX" sz="1000" dirty="0">
              <a:solidFill>
                <a:srgbClr val="0070C0"/>
              </a:solidFill>
              <a:latin typeface="Consolas" panose="020B0609020204030204" pitchFamily="49" charset="0"/>
            </a:endParaRPr>
          </a:p>
          <a:p>
            <a:r>
              <a:rPr lang="es-MX" sz="1000" dirty="0">
                <a:solidFill>
                  <a:srgbClr val="0070C0"/>
                </a:solidFill>
                <a:latin typeface="Consolas" panose="020B0609020204030204" pitchFamily="49" charset="0"/>
              </a:rPr>
              <a:t>  </a:t>
            </a:r>
            <a:r>
              <a:rPr lang="es-MX" sz="1000" dirty="0" err="1">
                <a:solidFill>
                  <a:srgbClr val="0070C0"/>
                </a:solidFill>
                <a:latin typeface="Consolas" panose="020B0609020204030204" pitchFamily="49" charset="0"/>
              </a:rPr>
              <a:t>print</a:t>
            </a:r>
            <a:r>
              <a:rPr lang="es-MX" sz="1000" dirty="0">
                <a:solidFill>
                  <a:srgbClr val="0070C0"/>
                </a:solidFill>
                <a:latin typeface="Consolas" panose="020B0609020204030204" pitchFamily="49" charset="0"/>
              </a:rPr>
              <a:t>(</a:t>
            </a:r>
            <a:r>
              <a:rPr lang="es-MX" sz="1000" dirty="0" err="1">
                <a:solidFill>
                  <a:srgbClr val="0070C0"/>
                </a:solidFill>
                <a:latin typeface="Consolas" panose="020B0609020204030204" pitchFamily="49" charset="0"/>
              </a:rPr>
              <a:t>f"Porcentaje</a:t>
            </a:r>
            <a:r>
              <a:rPr lang="es-MX" sz="1000" dirty="0">
                <a:solidFill>
                  <a:srgbClr val="0070C0"/>
                </a:solidFill>
                <a:latin typeface="Consolas" panose="020B0609020204030204" pitchFamily="49" charset="0"/>
              </a:rPr>
              <a:t> aprobados: {</a:t>
            </a:r>
            <a:r>
              <a:rPr lang="es-MX" sz="1000" dirty="0" err="1">
                <a:solidFill>
                  <a:srgbClr val="0070C0"/>
                </a:solidFill>
                <a:latin typeface="Consolas" panose="020B0609020204030204" pitchFamily="49" charset="0"/>
              </a:rPr>
              <a:t>p_aprobaron</a:t>
            </a:r>
            <a:r>
              <a:rPr lang="es-MX" sz="1000" dirty="0">
                <a:solidFill>
                  <a:srgbClr val="0070C0"/>
                </a:solidFill>
                <a:latin typeface="Consolas" panose="020B0609020204030204" pitchFamily="49" charset="0"/>
              </a:rPr>
              <a:t>}%")</a:t>
            </a:r>
          </a:p>
          <a:p>
            <a:r>
              <a:rPr lang="es-MX" sz="1000" dirty="0">
                <a:solidFill>
                  <a:srgbClr val="0070C0"/>
                </a:solidFill>
                <a:latin typeface="Consolas" panose="020B0609020204030204" pitchFamily="49" charset="0"/>
              </a:rPr>
              <a:t>  </a:t>
            </a:r>
            <a:r>
              <a:rPr lang="es-MX" sz="1000" dirty="0" err="1">
                <a:solidFill>
                  <a:srgbClr val="0070C0"/>
                </a:solidFill>
                <a:latin typeface="Consolas" panose="020B0609020204030204" pitchFamily="49" charset="0"/>
              </a:rPr>
              <a:t>print</a:t>
            </a:r>
            <a:r>
              <a:rPr lang="es-MX" sz="1000" dirty="0">
                <a:solidFill>
                  <a:srgbClr val="0070C0"/>
                </a:solidFill>
                <a:latin typeface="Consolas" panose="020B0609020204030204" pitchFamily="49" charset="0"/>
              </a:rPr>
              <a:t>(</a:t>
            </a:r>
            <a:r>
              <a:rPr lang="es-MX" sz="1000" dirty="0" err="1">
                <a:solidFill>
                  <a:srgbClr val="0070C0"/>
                </a:solidFill>
                <a:latin typeface="Consolas" panose="020B0609020204030204" pitchFamily="49" charset="0"/>
              </a:rPr>
              <a:t>f"Porcentaje</a:t>
            </a:r>
            <a:r>
              <a:rPr lang="es-MX" sz="1000" dirty="0">
                <a:solidFill>
                  <a:srgbClr val="0070C0"/>
                </a:solidFill>
                <a:latin typeface="Consolas" panose="020B0609020204030204" pitchFamily="49" charset="0"/>
              </a:rPr>
              <a:t> reprobados: {</a:t>
            </a:r>
            <a:r>
              <a:rPr lang="es-MX" sz="1000" dirty="0" err="1">
                <a:solidFill>
                  <a:srgbClr val="0070C0"/>
                </a:solidFill>
                <a:latin typeface="Consolas" panose="020B0609020204030204" pitchFamily="49" charset="0"/>
              </a:rPr>
              <a:t>p_reprobaron</a:t>
            </a:r>
            <a:r>
              <a:rPr lang="es-MX" sz="1000" dirty="0">
                <a:solidFill>
                  <a:srgbClr val="0070C0"/>
                </a:solidFill>
                <a:latin typeface="Consolas" panose="020B0609020204030204" pitchFamily="49" charset="0"/>
              </a:rPr>
              <a:t>}%")</a:t>
            </a:r>
          </a:p>
          <a:p>
            <a:r>
              <a:rPr lang="es-MX" sz="1000" dirty="0">
                <a:solidFill>
                  <a:srgbClr val="0070C0"/>
                </a:solidFill>
                <a:latin typeface="Consolas" panose="020B0609020204030204" pitchFamily="49" charset="0"/>
              </a:rPr>
              <a:t>  </a:t>
            </a:r>
            <a:r>
              <a:rPr lang="es-MX" sz="1000" dirty="0" err="1">
                <a:solidFill>
                  <a:srgbClr val="0070C0"/>
                </a:solidFill>
                <a:latin typeface="Consolas" panose="020B0609020204030204" pitchFamily="49" charset="0"/>
              </a:rPr>
              <a:t>print</a:t>
            </a:r>
            <a:r>
              <a:rPr lang="es-MX" sz="1000" dirty="0">
                <a:solidFill>
                  <a:srgbClr val="0070C0"/>
                </a:solidFill>
                <a:latin typeface="Consolas" panose="020B0609020204030204" pitchFamily="49" charset="0"/>
              </a:rPr>
              <a:t>(</a:t>
            </a:r>
            <a:r>
              <a:rPr lang="es-MX" sz="1000" dirty="0" err="1">
                <a:solidFill>
                  <a:srgbClr val="0070C0"/>
                </a:solidFill>
                <a:latin typeface="Consolas" panose="020B0609020204030204" pitchFamily="49" charset="0"/>
              </a:rPr>
              <a:t>f"Promedio</a:t>
            </a:r>
            <a:r>
              <a:rPr lang="es-MX" sz="1000" dirty="0">
                <a:solidFill>
                  <a:srgbClr val="0070C0"/>
                </a:solidFill>
                <a:latin typeface="Consolas" panose="020B0609020204030204" pitchFamily="49" charset="0"/>
              </a:rPr>
              <a:t> reprobados: {</a:t>
            </a:r>
            <a:r>
              <a:rPr lang="es-MX" sz="1000" dirty="0" err="1">
                <a:solidFill>
                  <a:srgbClr val="0070C0"/>
                </a:solidFill>
                <a:latin typeface="Consolas" panose="020B0609020204030204" pitchFamily="49" charset="0"/>
              </a:rPr>
              <a:t>prom_nota_reprobada</a:t>
            </a:r>
            <a:r>
              <a:rPr lang="es-MX" sz="1000" dirty="0">
                <a:solidFill>
                  <a:srgbClr val="0070C0"/>
                </a:solidFill>
                <a:latin typeface="Consolas" panose="020B0609020204030204" pitchFamily="49" charset="0"/>
              </a:rPr>
              <a:t>}")</a:t>
            </a:r>
          </a:p>
          <a:p>
            <a:r>
              <a:rPr lang="es-MX" sz="1000" dirty="0">
                <a:solidFill>
                  <a:srgbClr val="0070C0"/>
                </a:solidFill>
                <a:latin typeface="Consolas" panose="020B0609020204030204" pitchFamily="49" charset="0"/>
              </a:rPr>
              <a:t>  </a:t>
            </a:r>
            <a:r>
              <a:rPr lang="es-MX" sz="1000" dirty="0" err="1">
                <a:solidFill>
                  <a:srgbClr val="0070C0"/>
                </a:solidFill>
                <a:latin typeface="Consolas" panose="020B0609020204030204" pitchFamily="49" charset="0"/>
              </a:rPr>
              <a:t>print</a:t>
            </a:r>
            <a:r>
              <a:rPr lang="es-MX" sz="1000" dirty="0">
                <a:solidFill>
                  <a:srgbClr val="0070C0"/>
                </a:solidFill>
                <a:latin typeface="Consolas" panose="020B0609020204030204" pitchFamily="49" charset="0"/>
              </a:rPr>
              <a:t>(</a:t>
            </a:r>
            <a:r>
              <a:rPr lang="es-MX" sz="1000" dirty="0" err="1">
                <a:solidFill>
                  <a:srgbClr val="0070C0"/>
                </a:solidFill>
                <a:latin typeface="Consolas" panose="020B0609020204030204" pitchFamily="49" charset="0"/>
              </a:rPr>
              <a:t>f"Promedio</a:t>
            </a:r>
            <a:r>
              <a:rPr lang="es-MX" sz="1000" dirty="0">
                <a:solidFill>
                  <a:srgbClr val="0070C0"/>
                </a:solidFill>
                <a:latin typeface="Consolas" panose="020B0609020204030204" pitchFamily="49" charset="0"/>
              </a:rPr>
              <a:t> aprobadas: {</a:t>
            </a:r>
            <a:r>
              <a:rPr lang="es-MX" sz="1000" dirty="0" err="1">
                <a:solidFill>
                  <a:srgbClr val="0070C0"/>
                </a:solidFill>
                <a:latin typeface="Consolas" panose="020B0609020204030204" pitchFamily="49" charset="0"/>
              </a:rPr>
              <a:t>prom_nota_aprobada</a:t>
            </a:r>
            <a:r>
              <a:rPr lang="es-MX" sz="1000" dirty="0">
                <a:solidFill>
                  <a:srgbClr val="0070C0"/>
                </a:solidFill>
                <a:latin typeface="Consolas" panose="020B0609020204030204" pitchFamily="49" charset="0"/>
              </a:rPr>
              <a:t>}")</a:t>
            </a:r>
          </a:p>
          <a:p>
            <a:r>
              <a:rPr lang="es-MX" sz="1000" dirty="0">
                <a:solidFill>
                  <a:srgbClr val="0070C0"/>
                </a:solidFill>
                <a:latin typeface="Consolas" panose="020B0609020204030204" pitchFamily="49" charset="0"/>
              </a:rPr>
              <a:t>  </a:t>
            </a:r>
            <a:r>
              <a:rPr lang="es-MX" sz="1000" dirty="0" err="1">
                <a:solidFill>
                  <a:srgbClr val="0070C0"/>
                </a:solidFill>
                <a:latin typeface="Consolas" panose="020B0609020204030204" pitchFamily="49" charset="0"/>
              </a:rPr>
              <a:t>print</a:t>
            </a:r>
            <a:r>
              <a:rPr lang="es-MX" sz="1000" dirty="0">
                <a:solidFill>
                  <a:srgbClr val="0070C0"/>
                </a:solidFill>
                <a:latin typeface="Consolas" panose="020B0609020204030204" pitchFamily="49" charset="0"/>
              </a:rPr>
              <a:t>(</a:t>
            </a:r>
            <a:r>
              <a:rPr lang="es-MX" sz="1000" dirty="0" err="1">
                <a:solidFill>
                  <a:srgbClr val="0070C0"/>
                </a:solidFill>
                <a:latin typeface="Consolas" panose="020B0609020204030204" pitchFamily="49" charset="0"/>
              </a:rPr>
              <a:t>f"Promedio</a:t>
            </a:r>
            <a:r>
              <a:rPr lang="es-MX" sz="1000" dirty="0">
                <a:solidFill>
                  <a:srgbClr val="0070C0"/>
                </a:solidFill>
                <a:latin typeface="Consolas" panose="020B0609020204030204" pitchFamily="49" charset="0"/>
              </a:rPr>
              <a:t> de notas: {</a:t>
            </a:r>
            <a:r>
              <a:rPr lang="es-MX" sz="1000" dirty="0" err="1">
                <a:solidFill>
                  <a:srgbClr val="0070C0"/>
                </a:solidFill>
                <a:latin typeface="Consolas" panose="020B0609020204030204" pitchFamily="49" charset="0"/>
              </a:rPr>
              <a:t>prom</a:t>
            </a:r>
            <a:r>
              <a:rPr lang="es-MX" sz="1000" dirty="0">
                <a:solidFill>
                  <a:srgbClr val="0070C0"/>
                </a:solidFill>
                <a:latin typeface="Consolas" panose="020B0609020204030204" pitchFamily="49" charset="0"/>
              </a:rPr>
              <a:t>}") </a:t>
            </a:r>
          </a:p>
          <a:p>
            <a:endParaRPr lang="es-CO" sz="1000" dirty="0">
              <a:solidFill>
                <a:srgbClr val="C00000"/>
              </a:solidFill>
              <a:latin typeface="Consolas" panose="020B0609020204030204" pitchFamily="49" charset="0"/>
            </a:endParaRPr>
          </a:p>
        </p:txBody>
      </p:sp>
      <p:sp>
        <p:nvSpPr>
          <p:cNvPr id="11" name="12 Rectángulo">
            <a:extLst>
              <a:ext uri="{FF2B5EF4-FFF2-40B4-BE49-F238E27FC236}">
                <a16:creationId xmlns:a16="http://schemas.microsoft.com/office/drawing/2014/main" id="{0B48AC30-DF11-4003-9A22-BBFAEDAFD9BF}"/>
              </a:ext>
            </a:extLst>
          </p:cNvPr>
          <p:cNvSpPr/>
          <p:nvPr/>
        </p:nvSpPr>
        <p:spPr>
          <a:xfrm>
            <a:off x="200025" y="901169"/>
            <a:ext cx="4804023" cy="1015663"/>
          </a:xfrm>
          <a:prstGeom prst="rect">
            <a:avLst/>
          </a:prstGeom>
        </p:spPr>
        <p:txBody>
          <a:bodyPr wrap="square">
            <a:spAutoFit/>
          </a:bodyPr>
          <a:lstStyle/>
          <a:p>
            <a:pPr rtl="0"/>
            <a:r>
              <a:rPr lang="es-MX" sz="2000" b="1" dirty="0"/>
              <a:t>Implementación de la solución - parte 2</a:t>
            </a:r>
            <a:r>
              <a:rPr lang="es-MX" sz="2000" dirty="0"/>
              <a:t>:</a:t>
            </a:r>
          </a:p>
          <a:p>
            <a:pPr marL="342900" indent="-342900" rtl="0">
              <a:buFont typeface="Arial" panose="020B0604020202020204" pitchFamily="34" charset="0"/>
              <a:buChar char="•"/>
            </a:pPr>
            <a:r>
              <a:rPr lang="es-MX" sz="2000" dirty="0"/>
              <a:t>Calculo de estadísticas definitivas.</a:t>
            </a:r>
          </a:p>
          <a:p>
            <a:pPr marL="342900" indent="-342900" rtl="0">
              <a:buFont typeface="Arial" panose="020B0604020202020204" pitchFamily="34" charset="0"/>
              <a:buChar char="•"/>
            </a:pPr>
            <a:r>
              <a:rPr lang="es-MX" sz="2000" dirty="0"/>
              <a:t>Despliegue de las estadísticas del grupo.</a:t>
            </a:r>
          </a:p>
        </p:txBody>
      </p:sp>
    </p:spTree>
    <p:extLst>
      <p:ext uri="{BB962C8B-B14F-4D97-AF65-F5344CB8AC3E}">
        <p14:creationId xmlns:p14="http://schemas.microsoft.com/office/powerpoint/2010/main" val="38888452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4 Título">
            <a:extLst>
              <a:ext uri="{FF2B5EF4-FFF2-40B4-BE49-F238E27FC236}">
                <a16:creationId xmlns:a16="http://schemas.microsoft.com/office/drawing/2014/main" id="{AE7AE4FE-857D-48EA-8C2E-EFF7E2B785AF}"/>
              </a:ext>
            </a:extLst>
          </p:cNvPr>
          <p:cNvSpPr txBox="1">
            <a:spLocks/>
          </p:cNvSpPr>
          <p:nvPr/>
        </p:nvSpPr>
        <p:spPr>
          <a:xfrm>
            <a:off x="74736" y="44624"/>
            <a:ext cx="6153447" cy="67880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Ciclos – Ejemplo 5</a:t>
            </a:r>
          </a:p>
        </p:txBody>
      </p:sp>
      <p:sp>
        <p:nvSpPr>
          <p:cNvPr id="5" name="5 Rectángulo">
            <a:extLst>
              <a:ext uri="{FF2B5EF4-FFF2-40B4-BE49-F238E27FC236}">
                <a16:creationId xmlns:a16="http://schemas.microsoft.com/office/drawing/2014/main" id="{06D6ADF4-009E-42C9-93D7-ACCDE5E5538F}"/>
              </a:ext>
            </a:extLst>
          </p:cNvPr>
          <p:cNvSpPr/>
          <p:nvPr/>
        </p:nvSpPr>
        <p:spPr>
          <a:xfrm>
            <a:off x="179512" y="748147"/>
            <a:ext cx="2497094" cy="400110"/>
          </a:xfrm>
          <a:prstGeom prst="rect">
            <a:avLst/>
          </a:prstGeom>
        </p:spPr>
        <p:txBody>
          <a:bodyPr wrap="none">
            <a:spAutoFit/>
          </a:bodyPr>
          <a:lstStyle/>
          <a:p>
            <a:r>
              <a:rPr lang="es-CO" sz="2000" b="1" dirty="0"/>
              <a:t>Resultados esperados</a:t>
            </a:r>
            <a:endParaRPr lang="es-CO" sz="2000" dirty="0"/>
          </a:p>
        </p:txBody>
      </p:sp>
      <p:graphicFrame>
        <p:nvGraphicFramePr>
          <p:cNvPr id="6" name="Tabla 9">
            <a:extLst>
              <a:ext uri="{FF2B5EF4-FFF2-40B4-BE49-F238E27FC236}">
                <a16:creationId xmlns:a16="http://schemas.microsoft.com/office/drawing/2014/main" id="{A18D4279-D5A7-44DF-B5D1-7CB09A895120}"/>
              </a:ext>
            </a:extLst>
          </p:cNvPr>
          <p:cNvGraphicFramePr>
            <a:graphicFrameLocks noGrp="1"/>
          </p:cNvGraphicFramePr>
          <p:nvPr>
            <p:extLst>
              <p:ext uri="{D42A27DB-BD31-4B8C-83A1-F6EECF244321}">
                <p14:modId xmlns:p14="http://schemas.microsoft.com/office/powerpoint/2010/main" val="2560615811"/>
              </p:ext>
            </p:extLst>
          </p:nvPr>
        </p:nvGraphicFramePr>
        <p:xfrm>
          <a:off x="271297" y="1181003"/>
          <a:ext cx="3821060" cy="2468000"/>
        </p:xfrm>
        <a:graphic>
          <a:graphicData uri="http://schemas.openxmlformats.org/drawingml/2006/table">
            <a:tbl>
              <a:tblPr firstRow="1" bandRow="1">
                <a:tableStyleId>{5940675A-B579-460E-94D1-54222C63F5DA}</a:tableStyleId>
              </a:tblPr>
              <a:tblGrid>
                <a:gridCol w="2092867">
                  <a:extLst>
                    <a:ext uri="{9D8B030D-6E8A-4147-A177-3AD203B41FA5}">
                      <a16:colId xmlns:a16="http://schemas.microsoft.com/office/drawing/2014/main" val="1520359308"/>
                    </a:ext>
                  </a:extLst>
                </a:gridCol>
                <a:gridCol w="1728193">
                  <a:extLst>
                    <a:ext uri="{9D8B030D-6E8A-4147-A177-3AD203B41FA5}">
                      <a16:colId xmlns:a16="http://schemas.microsoft.com/office/drawing/2014/main" val="4218542073"/>
                    </a:ext>
                  </a:extLst>
                </a:gridCol>
              </a:tblGrid>
              <a:tr h="306900">
                <a:tc>
                  <a:txBody>
                    <a:bodyPr/>
                    <a:lstStyle/>
                    <a:p>
                      <a:r>
                        <a:rPr lang="es-CO" sz="1400" b="1" dirty="0">
                          <a:solidFill>
                            <a:schemeClr val="bg1"/>
                          </a:solidFill>
                          <a:latin typeface="+mn-lt"/>
                        </a:rPr>
                        <a:t>Numero de estudiantes</a:t>
                      </a:r>
                    </a:p>
                  </a:txBody>
                  <a:tcPr>
                    <a:solidFill>
                      <a:schemeClr val="tx1"/>
                    </a:solidFill>
                  </a:tcPr>
                </a:tc>
                <a:tc>
                  <a:txBody>
                    <a:bodyPr/>
                    <a:lstStyle/>
                    <a:p>
                      <a:r>
                        <a:rPr lang="es-CO" sz="1400" dirty="0">
                          <a:latin typeface="+mn-lt"/>
                        </a:rPr>
                        <a:t>5</a:t>
                      </a:r>
                    </a:p>
                  </a:txBody>
                  <a:tcPr/>
                </a:tc>
                <a:extLst>
                  <a:ext uri="{0D108BD9-81ED-4DB2-BD59-A6C34878D82A}">
                    <a16:rowId xmlns:a16="http://schemas.microsoft.com/office/drawing/2014/main" val="32264777"/>
                  </a:ext>
                </a:extLst>
              </a:tr>
              <a:tr h="306900">
                <a:tc>
                  <a:txBody>
                    <a:bodyPr/>
                    <a:lstStyle/>
                    <a:p>
                      <a:r>
                        <a:rPr lang="es-MX" sz="1400" b="1" dirty="0">
                          <a:solidFill>
                            <a:schemeClr val="bg1"/>
                          </a:solidFill>
                          <a:latin typeface="+mn-lt"/>
                        </a:rPr>
                        <a:t>Notas</a:t>
                      </a:r>
                      <a:endParaRPr lang="es-CO" sz="1400" b="1" dirty="0">
                        <a:solidFill>
                          <a:schemeClr val="bg1"/>
                        </a:solidFill>
                        <a:latin typeface="+mn-lt"/>
                      </a:endParaRPr>
                    </a:p>
                  </a:txBody>
                  <a:tcPr>
                    <a:solidFill>
                      <a:schemeClr val="tx1"/>
                    </a:solidFill>
                  </a:tcPr>
                </a:tc>
                <a:tc>
                  <a:txBody>
                    <a:bodyPr/>
                    <a:lstStyle/>
                    <a:p>
                      <a:r>
                        <a:rPr lang="es-CO" sz="1400" dirty="0"/>
                        <a:t>4.0, 2.5, 3.0, 1.5, 4.8</a:t>
                      </a:r>
                      <a:endParaRPr lang="es-CO" sz="1400" dirty="0">
                        <a:latin typeface="+mn-lt"/>
                      </a:endParaRPr>
                    </a:p>
                  </a:txBody>
                  <a:tcPr/>
                </a:tc>
                <a:extLst>
                  <a:ext uri="{0D108BD9-81ED-4DB2-BD59-A6C34878D82A}">
                    <a16:rowId xmlns:a16="http://schemas.microsoft.com/office/drawing/2014/main" val="1949968076"/>
                  </a:ext>
                </a:extLst>
              </a:tr>
              <a:tr h="370840">
                <a:tc>
                  <a:txBody>
                    <a:bodyPr/>
                    <a:lstStyle/>
                    <a:p>
                      <a:r>
                        <a:rPr lang="es-MX" sz="1400" b="1" dirty="0">
                          <a:solidFill>
                            <a:schemeClr val="bg1"/>
                          </a:solidFill>
                          <a:latin typeface="+mn-lt"/>
                        </a:rPr>
                        <a:t>Aprobaron</a:t>
                      </a:r>
                      <a:endParaRPr lang="es-CO" sz="1400" b="1" dirty="0">
                        <a:solidFill>
                          <a:schemeClr val="bg1"/>
                        </a:solidFill>
                        <a:latin typeface="+mn-lt"/>
                      </a:endParaRPr>
                    </a:p>
                  </a:txBody>
                  <a:tcPr>
                    <a:solidFill>
                      <a:schemeClr val="tx1"/>
                    </a:solidFill>
                  </a:tcPr>
                </a:tc>
                <a:tc>
                  <a:txBody>
                    <a:bodyPr/>
                    <a:lstStyle/>
                    <a:p>
                      <a:r>
                        <a:rPr lang="es-CO" sz="1400" dirty="0">
                          <a:latin typeface="+mn-lt"/>
                        </a:rPr>
                        <a:t>(3) 60%</a:t>
                      </a:r>
                    </a:p>
                  </a:txBody>
                  <a:tcPr/>
                </a:tc>
                <a:extLst>
                  <a:ext uri="{0D108BD9-81ED-4DB2-BD59-A6C34878D82A}">
                    <a16:rowId xmlns:a16="http://schemas.microsoft.com/office/drawing/2014/main" val="2422557555"/>
                  </a:ext>
                </a:extLst>
              </a:tr>
              <a:tr h="370840">
                <a:tc>
                  <a:txBody>
                    <a:bodyPr/>
                    <a:lstStyle/>
                    <a:p>
                      <a:r>
                        <a:rPr lang="es-MX" sz="1400" b="1" dirty="0">
                          <a:solidFill>
                            <a:schemeClr val="bg1"/>
                          </a:solidFill>
                          <a:latin typeface="+mn-lt"/>
                        </a:rPr>
                        <a:t>Reprobaron</a:t>
                      </a:r>
                      <a:endParaRPr lang="es-CO" sz="1400" b="1" dirty="0">
                        <a:solidFill>
                          <a:schemeClr val="bg1"/>
                        </a:solidFill>
                        <a:latin typeface="+mn-lt"/>
                      </a:endParaRPr>
                    </a:p>
                  </a:txBody>
                  <a:tcPr>
                    <a:solidFill>
                      <a:schemeClr val="tx1"/>
                    </a:solidFill>
                  </a:tcPr>
                </a:tc>
                <a:tc>
                  <a:txBody>
                    <a:bodyPr/>
                    <a:lstStyle/>
                    <a:p>
                      <a:r>
                        <a:rPr lang="es-MX" sz="1400" dirty="0">
                          <a:latin typeface="+mn-lt"/>
                        </a:rPr>
                        <a:t>(2) 40%</a:t>
                      </a:r>
                      <a:endParaRPr lang="es-CO" sz="1400" dirty="0">
                        <a:latin typeface="+mn-lt"/>
                      </a:endParaRPr>
                    </a:p>
                  </a:txBody>
                  <a:tcPr/>
                </a:tc>
                <a:extLst>
                  <a:ext uri="{0D108BD9-81ED-4DB2-BD59-A6C34878D82A}">
                    <a16:rowId xmlns:a16="http://schemas.microsoft.com/office/drawing/2014/main" val="3537023589"/>
                  </a:ext>
                </a:extLst>
              </a:tr>
              <a:tr h="370840">
                <a:tc>
                  <a:txBody>
                    <a:bodyPr/>
                    <a:lstStyle/>
                    <a:p>
                      <a:r>
                        <a:rPr lang="es-MX" sz="1400" b="1" dirty="0">
                          <a:solidFill>
                            <a:schemeClr val="bg1"/>
                          </a:solidFill>
                          <a:latin typeface="+mn-lt"/>
                        </a:rPr>
                        <a:t>Promedio nota aprobada</a:t>
                      </a:r>
                      <a:endParaRPr lang="es-CO" sz="1400" b="1" dirty="0">
                        <a:solidFill>
                          <a:schemeClr val="bg1"/>
                        </a:solidFill>
                        <a:latin typeface="+mn-lt"/>
                      </a:endParaRPr>
                    </a:p>
                  </a:txBody>
                  <a:tcPr>
                    <a:solidFill>
                      <a:schemeClr val="tx1"/>
                    </a:solidFill>
                  </a:tcPr>
                </a:tc>
                <a:tc>
                  <a:txBody>
                    <a:bodyPr/>
                    <a:lstStyle/>
                    <a:p>
                      <a:r>
                        <a:rPr lang="es-CO" sz="1400" dirty="0"/>
                        <a:t>3.93</a:t>
                      </a:r>
                      <a:endParaRPr lang="es-CO" sz="1400" dirty="0">
                        <a:latin typeface="+mn-lt"/>
                      </a:endParaRPr>
                    </a:p>
                  </a:txBody>
                  <a:tcPr/>
                </a:tc>
                <a:extLst>
                  <a:ext uri="{0D108BD9-81ED-4DB2-BD59-A6C34878D82A}">
                    <a16:rowId xmlns:a16="http://schemas.microsoft.com/office/drawing/2014/main" val="13356756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400" b="1" dirty="0">
                          <a:solidFill>
                            <a:schemeClr val="bg1"/>
                          </a:solidFill>
                          <a:latin typeface="+mn-lt"/>
                        </a:rPr>
                        <a:t>Promedio nota reprobada</a:t>
                      </a:r>
                      <a:endParaRPr lang="es-CO" sz="1400" b="1" dirty="0">
                        <a:solidFill>
                          <a:schemeClr val="bg1"/>
                        </a:solidFill>
                        <a:latin typeface="+mn-lt"/>
                      </a:endParaRPr>
                    </a:p>
                  </a:txBody>
                  <a:tcPr>
                    <a:solidFill>
                      <a:schemeClr val="tx1"/>
                    </a:solidFill>
                  </a:tcPr>
                </a:tc>
                <a:tc>
                  <a:txBody>
                    <a:bodyPr/>
                    <a:lstStyle/>
                    <a:p>
                      <a:r>
                        <a:rPr lang="es-CO" sz="1400" dirty="0">
                          <a:latin typeface="+mn-lt"/>
                        </a:rPr>
                        <a:t>2.0</a:t>
                      </a:r>
                    </a:p>
                  </a:txBody>
                  <a:tcPr/>
                </a:tc>
                <a:extLst>
                  <a:ext uri="{0D108BD9-81ED-4DB2-BD59-A6C34878D82A}">
                    <a16:rowId xmlns:a16="http://schemas.microsoft.com/office/drawing/2014/main" val="1295638068"/>
                  </a:ext>
                </a:extLst>
              </a:tr>
              <a:tr h="370840">
                <a:tc>
                  <a:txBody>
                    <a:bodyPr/>
                    <a:lstStyle/>
                    <a:p>
                      <a:r>
                        <a:rPr lang="es-MX" sz="1400" b="1" dirty="0">
                          <a:solidFill>
                            <a:schemeClr val="bg1"/>
                          </a:solidFill>
                          <a:latin typeface="+mn-lt"/>
                        </a:rPr>
                        <a:t>Promedio general</a:t>
                      </a:r>
                      <a:endParaRPr lang="es-CO" sz="1400" b="1" dirty="0">
                        <a:solidFill>
                          <a:schemeClr val="bg1"/>
                        </a:solidFill>
                        <a:latin typeface="+mn-lt"/>
                      </a:endParaRPr>
                    </a:p>
                  </a:txBody>
                  <a:tcPr>
                    <a:solidFill>
                      <a:schemeClr val="tx1"/>
                    </a:solidFill>
                  </a:tcPr>
                </a:tc>
                <a:tc>
                  <a:txBody>
                    <a:bodyPr/>
                    <a:lstStyle/>
                    <a:p>
                      <a:r>
                        <a:rPr lang="es-CO" sz="1400" dirty="0"/>
                        <a:t>3.16</a:t>
                      </a:r>
                      <a:endParaRPr lang="es-CO" sz="1400" dirty="0">
                        <a:latin typeface="+mn-lt"/>
                      </a:endParaRPr>
                    </a:p>
                  </a:txBody>
                  <a:tcPr/>
                </a:tc>
                <a:extLst>
                  <a:ext uri="{0D108BD9-81ED-4DB2-BD59-A6C34878D82A}">
                    <a16:rowId xmlns:a16="http://schemas.microsoft.com/office/drawing/2014/main" val="2260238023"/>
                  </a:ext>
                </a:extLst>
              </a:tr>
            </a:tbl>
          </a:graphicData>
        </a:graphic>
      </p:graphicFrame>
      <p:sp>
        <p:nvSpPr>
          <p:cNvPr id="7" name="5 Rectángulo">
            <a:extLst>
              <a:ext uri="{FF2B5EF4-FFF2-40B4-BE49-F238E27FC236}">
                <a16:creationId xmlns:a16="http://schemas.microsoft.com/office/drawing/2014/main" id="{00F0CF2A-B262-41B0-B4E9-5B653595AB12}"/>
              </a:ext>
            </a:extLst>
          </p:cNvPr>
          <p:cNvSpPr/>
          <p:nvPr/>
        </p:nvSpPr>
        <p:spPr>
          <a:xfrm>
            <a:off x="179512" y="3820978"/>
            <a:ext cx="2865514" cy="400110"/>
          </a:xfrm>
          <a:prstGeom prst="rect">
            <a:avLst/>
          </a:prstGeom>
        </p:spPr>
        <p:txBody>
          <a:bodyPr wrap="square">
            <a:spAutoFit/>
          </a:bodyPr>
          <a:lstStyle/>
          <a:p>
            <a:r>
              <a:rPr lang="es-CO" sz="2000" b="1" dirty="0"/>
              <a:t>Prueba de escritorio</a:t>
            </a:r>
            <a:endParaRPr lang="es-CO" sz="2000" dirty="0"/>
          </a:p>
        </p:txBody>
      </p:sp>
      <p:sp>
        <p:nvSpPr>
          <p:cNvPr id="8" name="5 Rectángulo">
            <a:extLst>
              <a:ext uri="{FF2B5EF4-FFF2-40B4-BE49-F238E27FC236}">
                <a16:creationId xmlns:a16="http://schemas.microsoft.com/office/drawing/2014/main" id="{A1F958CD-90B1-4FD7-82AD-E6BF1E364483}"/>
              </a:ext>
            </a:extLst>
          </p:cNvPr>
          <p:cNvSpPr/>
          <p:nvPr/>
        </p:nvSpPr>
        <p:spPr>
          <a:xfrm>
            <a:off x="179512" y="4221088"/>
            <a:ext cx="3912845" cy="523220"/>
          </a:xfrm>
          <a:prstGeom prst="rect">
            <a:avLst/>
          </a:prstGeom>
        </p:spPr>
        <p:txBody>
          <a:bodyPr wrap="square">
            <a:spAutoFit/>
          </a:bodyPr>
          <a:lstStyle/>
          <a:p>
            <a:r>
              <a:rPr lang="es-CO" sz="1400" dirty="0"/>
              <a:t>Realizar la prueba de escritorio para verificar que el algoritmo este bien planteado</a:t>
            </a:r>
          </a:p>
        </p:txBody>
      </p:sp>
      <p:sp>
        <p:nvSpPr>
          <p:cNvPr id="11" name="5 Rectángulo">
            <a:extLst>
              <a:ext uri="{FF2B5EF4-FFF2-40B4-BE49-F238E27FC236}">
                <a16:creationId xmlns:a16="http://schemas.microsoft.com/office/drawing/2014/main" id="{2F52C242-D544-42FF-85EB-E5833E015487}"/>
              </a:ext>
            </a:extLst>
          </p:cNvPr>
          <p:cNvSpPr/>
          <p:nvPr/>
        </p:nvSpPr>
        <p:spPr>
          <a:xfrm>
            <a:off x="179512" y="5054783"/>
            <a:ext cx="3912845" cy="523220"/>
          </a:xfrm>
          <a:prstGeom prst="rect">
            <a:avLst/>
          </a:prstGeom>
          <a:solidFill>
            <a:schemeClr val="accent6">
              <a:lumMod val="20000"/>
              <a:lumOff val="80000"/>
            </a:schemeClr>
          </a:solidFill>
        </p:spPr>
        <p:txBody>
          <a:bodyPr wrap="square">
            <a:spAutoFit/>
          </a:bodyPr>
          <a:lstStyle/>
          <a:p>
            <a:r>
              <a:rPr lang="es-CO" sz="1400" b="1" dirty="0"/>
              <a:t>Nota</a:t>
            </a:r>
            <a:r>
              <a:rPr lang="es-CO" sz="1400" dirty="0"/>
              <a:t>: Este programa así como esta planeado tiene aun un bug grave. Encuéntrelo y corríjalo.</a:t>
            </a:r>
          </a:p>
        </p:txBody>
      </p:sp>
      <p:sp>
        <p:nvSpPr>
          <p:cNvPr id="12" name="CuadroTexto 11">
            <a:extLst>
              <a:ext uri="{FF2B5EF4-FFF2-40B4-BE49-F238E27FC236}">
                <a16:creationId xmlns:a16="http://schemas.microsoft.com/office/drawing/2014/main" id="{B078200F-C20A-48A2-859B-D0169CD03165}"/>
              </a:ext>
            </a:extLst>
          </p:cNvPr>
          <p:cNvSpPr txBox="1"/>
          <p:nvPr/>
        </p:nvSpPr>
        <p:spPr>
          <a:xfrm>
            <a:off x="4258639" y="332656"/>
            <a:ext cx="4777857" cy="6186309"/>
          </a:xfrm>
          <a:prstGeom prst="rect">
            <a:avLst/>
          </a:prstGeom>
          <a:noFill/>
          <a:ln>
            <a:solidFill>
              <a:schemeClr val="tx1"/>
            </a:solidFill>
          </a:ln>
        </p:spPr>
        <p:txBody>
          <a:bodyPr wrap="square">
            <a:spAutoFit/>
          </a:bodyPr>
          <a:lstStyle/>
          <a:p>
            <a:r>
              <a:rPr lang="es-MX" sz="1100" dirty="0">
                <a:latin typeface="Consolas" panose="020B0609020204030204" pitchFamily="49" charset="0"/>
              </a:rPr>
              <a:t>NOTA_MINIMA = 3.0</a:t>
            </a:r>
          </a:p>
          <a:p>
            <a:r>
              <a:rPr lang="es-MX" sz="1100" dirty="0" err="1">
                <a:latin typeface="Consolas" panose="020B0609020204030204" pitchFamily="49" charset="0"/>
              </a:rPr>
              <a:t>notas_reprobadas</a:t>
            </a:r>
            <a:r>
              <a:rPr lang="es-MX" sz="1100" dirty="0">
                <a:latin typeface="Consolas" panose="020B0609020204030204" pitchFamily="49" charset="0"/>
              </a:rPr>
              <a:t> = 0</a:t>
            </a:r>
          </a:p>
          <a:p>
            <a:r>
              <a:rPr lang="es-MX" sz="1100" dirty="0" err="1">
                <a:latin typeface="Consolas" panose="020B0609020204030204" pitchFamily="49" charset="0"/>
              </a:rPr>
              <a:t>notas_aprobadas</a:t>
            </a:r>
            <a:r>
              <a:rPr lang="es-MX" sz="1100" dirty="0">
                <a:latin typeface="Consolas" panose="020B0609020204030204" pitchFamily="49" charset="0"/>
              </a:rPr>
              <a:t> = 0</a:t>
            </a:r>
          </a:p>
          <a:p>
            <a:r>
              <a:rPr lang="es-MX" sz="1100" dirty="0" err="1">
                <a:latin typeface="Consolas" panose="020B0609020204030204" pitchFamily="49" charset="0"/>
              </a:rPr>
              <a:t>suma_reprobadas</a:t>
            </a:r>
            <a:r>
              <a:rPr lang="es-MX" sz="1100" dirty="0">
                <a:latin typeface="Consolas" panose="020B0609020204030204" pitchFamily="49" charset="0"/>
              </a:rPr>
              <a:t> = 0</a:t>
            </a:r>
          </a:p>
          <a:p>
            <a:r>
              <a:rPr lang="es-MX" sz="1100" dirty="0" err="1">
                <a:latin typeface="Consolas" panose="020B0609020204030204" pitchFamily="49" charset="0"/>
              </a:rPr>
              <a:t>suma_aprobadas</a:t>
            </a:r>
            <a:r>
              <a:rPr lang="es-MX" sz="1100" dirty="0">
                <a:latin typeface="Consolas" panose="020B0609020204030204" pitchFamily="49" charset="0"/>
              </a:rPr>
              <a:t> = 0</a:t>
            </a:r>
          </a:p>
          <a:p>
            <a:r>
              <a:rPr lang="es-MX" sz="1100" b="0" dirty="0">
                <a:effectLst/>
                <a:latin typeface="Consolas" panose="020B0609020204030204" pitchFamily="49" charset="0"/>
              </a:rPr>
              <a:t>N = </a:t>
            </a:r>
            <a:r>
              <a:rPr lang="es-MX" sz="1100" b="0" dirty="0" err="1">
                <a:effectLst/>
                <a:latin typeface="Consolas" panose="020B0609020204030204" pitchFamily="49" charset="0"/>
              </a:rPr>
              <a:t>int</a:t>
            </a:r>
            <a:r>
              <a:rPr lang="es-MX" sz="1100" b="0" dirty="0">
                <a:effectLst/>
                <a:latin typeface="Consolas" panose="020B0609020204030204" pitchFamily="49" charset="0"/>
              </a:rPr>
              <a:t>(input('Ingrese el número de estudiantes: '))</a:t>
            </a:r>
          </a:p>
          <a:p>
            <a:r>
              <a:rPr lang="es-MX" sz="1100" dirty="0">
                <a:solidFill>
                  <a:srgbClr val="C00000"/>
                </a:solidFill>
                <a:latin typeface="Consolas" panose="020B0609020204030204" pitchFamily="49" charset="0"/>
              </a:rPr>
              <a:t>for i in range(N):</a:t>
            </a:r>
          </a:p>
          <a:p>
            <a:r>
              <a:rPr lang="es-MX" sz="1100" dirty="0">
                <a:solidFill>
                  <a:srgbClr val="C00000"/>
                </a:solidFill>
                <a:latin typeface="Consolas" panose="020B0609020204030204" pitchFamily="49" charset="0"/>
              </a:rPr>
              <a:t>  nota = </a:t>
            </a:r>
            <a:r>
              <a:rPr lang="es-MX" sz="1100" dirty="0" err="1">
                <a:solidFill>
                  <a:srgbClr val="C00000"/>
                </a:solidFill>
                <a:latin typeface="Consolas" panose="020B0609020204030204" pitchFamily="49" charset="0"/>
              </a:rPr>
              <a:t>float</a:t>
            </a:r>
            <a:r>
              <a:rPr lang="es-MX" sz="1100" dirty="0">
                <a:solidFill>
                  <a:srgbClr val="C00000"/>
                </a:solidFill>
                <a:latin typeface="Consolas" panose="020B0609020204030204" pitchFamily="49" charset="0"/>
              </a:rPr>
              <a:t>(input('Ingrese la nota: '))</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if</a:t>
            </a:r>
            <a:r>
              <a:rPr lang="es-MX" sz="1100" dirty="0">
                <a:solidFill>
                  <a:srgbClr val="00B050"/>
                </a:solidFill>
                <a:latin typeface="Consolas" panose="020B0609020204030204" pitchFamily="49" charset="0"/>
              </a:rPr>
              <a:t> nota &gt;= NOTA_MINIMA:</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notas_aprobadas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notas_aprobadas</a:t>
            </a:r>
            <a:r>
              <a:rPr lang="es-MX" sz="1100" dirty="0">
                <a:solidFill>
                  <a:srgbClr val="00B050"/>
                </a:solidFill>
                <a:latin typeface="Consolas" panose="020B0609020204030204" pitchFamily="49" charset="0"/>
              </a:rPr>
              <a:t> + 1</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suma_aprobadas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suma_aprobadas</a:t>
            </a:r>
            <a:r>
              <a:rPr lang="es-MX" sz="1100" dirty="0">
                <a:solidFill>
                  <a:srgbClr val="00B050"/>
                </a:solidFill>
                <a:latin typeface="Consolas" panose="020B0609020204030204" pitchFamily="49" charset="0"/>
              </a:rPr>
              <a:t> + nota</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else</a:t>
            </a:r>
            <a:r>
              <a:rPr lang="es-MX" sz="1100" dirty="0">
                <a:solidFill>
                  <a:srgbClr val="00B050"/>
                </a:solidFill>
                <a:latin typeface="Consolas" panose="020B0609020204030204" pitchFamily="49" charset="0"/>
              </a:rPr>
              <a:t>:</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notas_reprobadas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notas_reprobadas</a:t>
            </a:r>
            <a:r>
              <a:rPr lang="es-MX" sz="1100" dirty="0">
                <a:solidFill>
                  <a:srgbClr val="00B050"/>
                </a:solidFill>
                <a:latin typeface="Consolas" panose="020B0609020204030204" pitchFamily="49" charset="0"/>
              </a:rPr>
              <a:t> + 1</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suma_reprobadas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suma_reprobadas</a:t>
            </a:r>
            <a:r>
              <a:rPr lang="es-MX" sz="1100" dirty="0">
                <a:solidFill>
                  <a:srgbClr val="00B050"/>
                </a:solidFill>
                <a:latin typeface="Consolas" panose="020B0609020204030204" pitchFamily="49" charset="0"/>
              </a:rPr>
              <a:t> + nota</a:t>
            </a:r>
          </a:p>
          <a:p>
            <a:r>
              <a:rPr lang="es-MX" sz="1100" dirty="0">
                <a:latin typeface="Consolas" panose="020B0609020204030204" pitchFamily="49" charset="0"/>
              </a:rPr>
              <a:t>  </a:t>
            </a:r>
            <a:r>
              <a:rPr lang="es-MX" sz="1100" dirty="0" err="1">
                <a:latin typeface="Consolas" panose="020B0609020204030204" pitchFamily="49" charset="0"/>
              </a:rPr>
              <a:t>suma_notas</a:t>
            </a:r>
            <a:r>
              <a:rPr lang="es-MX" sz="1100" dirty="0">
                <a:latin typeface="Consolas" panose="020B0609020204030204" pitchFamily="49" charset="0"/>
              </a:rPr>
              <a:t> = </a:t>
            </a:r>
            <a:r>
              <a:rPr lang="es-MX" sz="1100" dirty="0" err="1">
                <a:latin typeface="Consolas" panose="020B0609020204030204" pitchFamily="49" charset="0"/>
              </a:rPr>
              <a:t>suma_reprobadas</a:t>
            </a:r>
            <a:r>
              <a:rPr lang="es-MX" sz="1100" dirty="0">
                <a:latin typeface="Consolas" panose="020B0609020204030204" pitchFamily="49" charset="0"/>
              </a:rPr>
              <a:t> + </a:t>
            </a:r>
            <a:r>
              <a:rPr lang="es-MX" sz="1100" dirty="0" err="1">
                <a:latin typeface="Consolas" panose="020B0609020204030204" pitchFamily="49" charset="0"/>
              </a:rPr>
              <a:t>suma_aprobadas</a:t>
            </a:r>
            <a:endParaRPr lang="es-MX" sz="1100" dirty="0">
              <a:latin typeface="Consolas" panose="020B0609020204030204" pitchFamily="49" charset="0"/>
            </a:endParaRPr>
          </a:p>
          <a:p>
            <a:r>
              <a:rPr lang="es-MX" sz="1100" dirty="0">
                <a:latin typeface="Consolas" panose="020B0609020204030204" pitchFamily="49" charset="0"/>
              </a:rPr>
              <a:t>  </a:t>
            </a:r>
            <a:r>
              <a:rPr lang="es-MX" sz="1100" dirty="0" err="1">
                <a:latin typeface="Consolas" panose="020B0609020204030204" pitchFamily="49" charset="0"/>
              </a:rPr>
              <a:t>total_notas</a:t>
            </a:r>
            <a:r>
              <a:rPr lang="es-MX" sz="1100" dirty="0">
                <a:latin typeface="Consolas" panose="020B0609020204030204" pitchFamily="49" charset="0"/>
              </a:rPr>
              <a:t> = </a:t>
            </a:r>
            <a:r>
              <a:rPr lang="es-MX" sz="1100" dirty="0" err="1">
                <a:latin typeface="Consolas" panose="020B0609020204030204" pitchFamily="49" charset="0"/>
              </a:rPr>
              <a:t>notas_aprobadas</a:t>
            </a:r>
            <a:r>
              <a:rPr lang="es-MX" sz="1100" dirty="0">
                <a:latin typeface="Consolas" panose="020B0609020204030204" pitchFamily="49" charset="0"/>
              </a:rPr>
              <a:t> + </a:t>
            </a:r>
            <a:r>
              <a:rPr lang="es-MX" sz="1100" dirty="0" err="1">
                <a:latin typeface="Consolas" panose="020B0609020204030204" pitchFamily="49" charset="0"/>
              </a:rPr>
              <a:t>notas_reprobadas</a:t>
            </a:r>
            <a:endParaRPr lang="es-MX" sz="1100" dirty="0">
              <a:latin typeface="Consolas" panose="020B0609020204030204" pitchFamily="49" charset="0"/>
            </a:endParaRPr>
          </a:p>
          <a:p>
            <a:r>
              <a:rPr lang="es-MX" sz="1100" dirty="0">
                <a:latin typeface="Consolas" panose="020B0609020204030204" pitchFamily="49" charset="0"/>
              </a:rPr>
              <a:t>  </a:t>
            </a:r>
            <a:r>
              <a:rPr lang="es-MX" sz="1100" dirty="0" err="1">
                <a:solidFill>
                  <a:srgbClr val="0070C0"/>
                </a:solidFill>
                <a:latin typeface="Consolas" panose="020B0609020204030204" pitchFamily="49" charset="0"/>
              </a:rPr>
              <a:t>if</a:t>
            </a:r>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total_notas</a:t>
            </a:r>
            <a:r>
              <a:rPr lang="es-MX" sz="1100" dirty="0">
                <a:solidFill>
                  <a:srgbClr val="0070C0"/>
                </a:solidFill>
                <a:latin typeface="Consolas" panose="020B0609020204030204" pitchFamily="49" charset="0"/>
              </a:rPr>
              <a:t> == 0:</a:t>
            </a: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print</a:t>
            </a:r>
            <a:r>
              <a:rPr lang="es-MX" sz="1100" dirty="0">
                <a:solidFill>
                  <a:srgbClr val="0070C0"/>
                </a:solidFill>
                <a:latin typeface="Consolas" panose="020B0609020204030204" pitchFamily="49" charset="0"/>
              </a:rPr>
              <a:t>("No hay estudiantes")</a:t>
            </a:r>
          </a:p>
          <a:p>
            <a:r>
              <a:rPr lang="es-MX" sz="1100" dirty="0" err="1">
                <a:solidFill>
                  <a:srgbClr val="0070C0"/>
                </a:solidFill>
                <a:latin typeface="Consolas" panose="020B0609020204030204" pitchFamily="49" charset="0"/>
              </a:rPr>
              <a:t>else</a:t>
            </a:r>
            <a:r>
              <a:rPr lang="es-MX" sz="1100" dirty="0">
                <a:solidFill>
                  <a:srgbClr val="0070C0"/>
                </a:solidFill>
                <a:latin typeface="Consolas" panose="020B0609020204030204" pitchFamily="49" charset="0"/>
              </a:rPr>
              <a:t>:</a:t>
            </a: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p_aprobaron</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notas_aprobadas</a:t>
            </a:r>
            <a:r>
              <a:rPr lang="es-MX" sz="1100" dirty="0">
                <a:solidFill>
                  <a:srgbClr val="0070C0"/>
                </a:solidFill>
                <a:latin typeface="Consolas" panose="020B0609020204030204" pitchFamily="49" charset="0"/>
              </a:rPr>
              <a:t>/</a:t>
            </a:r>
            <a:r>
              <a:rPr lang="es-MX" sz="1100" dirty="0" err="1">
                <a:solidFill>
                  <a:srgbClr val="0070C0"/>
                </a:solidFill>
                <a:latin typeface="Consolas" panose="020B0609020204030204" pitchFamily="49" charset="0"/>
              </a:rPr>
              <a:t>total_notas</a:t>
            </a:r>
            <a:r>
              <a:rPr lang="es-MX" sz="1100" dirty="0">
                <a:solidFill>
                  <a:srgbClr val="0070C0"/>
                </a:solidFill>
                <a:latin typeface="Consolas" panose="020B0609020204030204" pitchFamily="49" charset="0"/>
              </a:rPr>
              <a:t>)*100</a:t>
            </a: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p_reprobaron</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notas_reprobadas</a:t>
            </a:r>
            <a:r>
              <a:rPr lang="es-MX" sz="1100" dirty="0">
                <a:solidFill>
                  <a:srgbClr val="0070C0"/>
                </a:solidFill>
                <a:latin typeface="Consolas" panose="020B0609020204030204" pitchFamily="49" charset="0"/>
              </a:rPr>
              <a:t>/</a:t>
            </a:r>
            <a:r>
              <a:rPr lang="es-MX" sz="1100" dirty="0" err="1">
                <a:solidFill>
                  <a:srgbClr val="0070C0"/>
                </a:solidFill>
                <a:latin typeface="Consolas" panose="020B0609020204030204" pitchFamily="49" charset="0"/>
              </a:rPr>
              <a:t>total_notas</a:t>
            </a:r>
            <a:r>
              <a:rPr lang="es-MX" sz="1100" dirty="0">
                <a:solidFill>
                  <a:srgbClr val="0070C0"/>
                </a:solidFill>
                <a:latin typeface="Consolas" panose="020B0609020204030204" pitchFamily="49" charset="0"/>
              </a:rPr>
              <a:t>)*100</a:t>
            </a:r>
          </a:p>
          <a:p>
            <a:r>
              <a:rPr lang="es-MX" sz="1100" dirty="0">
                <a:solidFill>
                  <a:srgbClr val="0070C0"/>
                </a:solidFill>
                <a:latin typeface="Consolas" panose="020B0609020204030204" pitchFamily="49" charset="0"/>
              </a:rPr>
              <a:t>  </a:t>
            </a:r>
            <a:r>
              <a:rPr lang="es-MX" sz="1100" dirty="0" err="1">
                <a:solidFill>
                  <a:schemeClr val="accent6"/>
                </a:solidFill>
                <a:latin typeface="Consolas" panose="020B0609020204030204" pitchFamily="49" charset="0"/>
              </a:rPr>
              <a:t>if</a:t>
            </a:r>
            <a:r>
              <a:rPr lang="es-MX" sz="1100" dirty="0">
                <a:solidFill>
                  <a:schemeClr val="accent6"/>
                </a:solidFill>
                <a:latin typeface="Consolas" panose="020B0609020204030204" pitchFamily="49" charset="0"/>
              </a:rPr>
              <a:t> (</a:t>
            </a:r>
            <a:r>
              <a:rPr lang="es-MX" sz="1100" dirty="0" err="1">
                <a:solidFill>
                  <a:schemeClr val="accent6"/>
                </a:solidFill>
                <a:latin typeface="Consolas" panose="020B0609020204030204" pitchFamily="49" charset="0"/>
              </a:rPr>
              <a:t>notas_aprobadas</a:t>
            </a:r>
            <a:r>
              <a:rPr lang="es-MX" sz="1100" dirty="0">
                <a:solidFill>
                  <a:schemeClr val="accent6"/>
                </a:solidFill>
                <a:latin typeface="Consolas" panose="020B0609020204030204" pitchFamily="49" charset="0"/>
              </a:rPr>
              <a:t> == 0):</a:t>
            </a:r>
          </a:p>
          <a:p>
            <a:r>
              <a:rPr lang="es-MX" sz="1100" dirty="0">
                <a:solidFill>
                  <a:schemeClr val="accent6"/>
                </a:solidFill>
                <a:latin typeface="Consolas" panose="020B0609020204030204" pitchFamily="49" charset="0"/>
              </a:rPr>
              <a:t>    </a:t>
            </a:r>
            <a:r>
              <a:rPr lang="es-MX" sz="1100" dirty="0" err="1">
                <a:solidFill>
                  <a:schemeClr val="accent6"/>
                </a:solidFill>
                <a:latin typeface="Consolas" panose="020B0609020204030204" pitchFamily="49" charset="0"/>
              </a:rPr>
              <a:t>prom_nota_reprobada</a:t>
            </a:r>
            <a:r>
              <a:rPr lang="es-MX" sz="1100" dirty="0">
                <a:solidFill>
                  <a:schemeClr val="accent6"/>
                </a:solidFill>
                <a:latin typeface="Consolas" panose="020B0609020204030204" pitchFamily="49" charset="0"/>
              </a:rPr>
              <a:t> = </a:t>
            </a:r>
            <a:r>
              <a:rPr lang="es-MX" sz="1100" dirty="0" err="1">
                <a:solidFill>
                  <a:schemeClr val="accent6"/>
                </a:solidFill>
                <a:latin typeface="Consolas" panose="020B0609020204030204" pitchFamily="49" charset="0"/>
              </a:rPr>
              <a:t>suma_reprobadas</a:t>
            </a:r>
            <a:r>
              <a:rPr lang="es-MX" sz="1100" dirty="0">
                <a:solidFill>
                  <a:schemeClr val="accent6"/>
                </a:solidFill>
                <a:latin typeface="Consolas" panose="020B0609020204030204" pitchFamily="49" charset="0"/>
              </a:rPr>
              <a:t>/</a:t>
            </a:r>
            <a:r>
              <a:rPr lang="es-MX" sz="1100" dirty="0" err="1">
                <a:solidFill>
                  <a:schemeClr val="accent6"/>
                </a:solidFill>
                <a:latin typeface="Consolas" panose="020B0609020204030204" pitchFamily="49" charset="0"/>
              </a:rPr>
              <a:t>notas_reprobadas</a:t>
            </a:r>
            <a:endParaRPr lang="es-MX" sz="1100" dirty="0">
              <a:solidFill>
                <a:schemeClr val="accent6"/>
              </a:solidFill>
              <a:latin typeface="Consolas" panose="020B0609020204030204" pitchFamily="49" charset="0"/>
            </a:endParaRPr>
          </a:p>
          <a:p>
            <a:r>
              <a:rPr lang="es-MX" sz="1100" dirty="0">
                <a:solidFill>
                  <a:schemeClr val="accent6"/>
                </a:solidFill>
                <a:latin typeface="Consolas" panose="020B0609020204030204" pitchFamily="49" charset="0"/>
              </a:rPr>
              <a:t>    </a:t>
            </a:r>
            <a:r>
              <a:rPr lang="es-MX" sz="1100" dirty="0" err="1">
                <a:solidFill>
                  <a:schemeClr val="accent6"/>
                </a:solidFill>
                <a:latin typeface="Consolas" panose="020B0609020204030204" pitchFamily="49" charset="0"/>
              </a:rPr>
              <a:t>prom_nota_aprobada</a:t>
            </a:r>
            <a:r>
              <a:rPr lang="es-MX" sz="1100" dirty="0">
                <a:solidFill>
                  <a:schemeClr val="accent6"/>
                </a:solidFill>
                <a:latin typeface="Consolas" panose="020B0609020204030204" pitchFamily="49" charset="0"/>
              </a:rPr>
              <a:t> = 0</a:t>
            </a:r>
          </a:p>
          <a:p>
            <a:r>
              <a:rPr lang="es-MX" sz="1100" dirty="0">
                <a:solidFill>
                  <a:schemeClr val="accent6"/>
                </a:solidFill>
                <a:latin typeface="Consolas" panose="020B0609020204030204" pitchFamily="49" charset="0"/>
              </a:rPr>
              <a:t>  </a:t>
            </a:r>
            <a:r>
              <a:rPr lang="es-MX" sz="1100" dirty="0" err="1">
                <a:solidFill>
                  <a:schemeClr val="accent6"/>
                </a:solidFill>
                <a:latin typeface="Consolas" panose="020B0609020204030204" pitchFamily="49" charset="0"/>
              </a:rPr>
              <a:t>elif</a:t>
            </a:r>
            <a:r>
              <a:rPr lang="es-MX" sz="1100" dirty="0">
                <a:solidFill>
                  <a:schemeClr val="accent6"/>
                </a:solidFill>
                <a:latin typeface="Consolas" panose="020B0609020204030204" pitchFamily="49" charset="0"/>
              </a:rPr>
              <a:t> (</a:t>
            </a:r>
            <a:r>
              <a:rPr lang="es-MX" sz="1100" dirty="0" err="1">
                <a:solidFill>
                  <a:schemeClr val="accent6"/>
                </a:solidFill>
                <a:latin typeface="Consolas" panose="020B0609020204030204" pitchFamily="49" charset="0"/>
              </a:rPr>
              <a:t>notas_reprobadas</a:t>
            </a:r>
            <a:r>
              <a:rPr lang="es-MX" sz="1100" dirty="0">
                <a:solidFill>
                  <a:schemeClr val="accent6"/>
                </a:solidFill>
                <a:latin typeface="Consolas" panose="020B0609020204030204" pitchFamily="49" charset="0"/>
              </a:rPr>
              <a:t> == 0):</a:t>
            </a:r>
          </a:p>
          <a:p>
            <a:r>
              <a:rPr lang="es-MX" sz="1100" dirty="0">
                <a:solidFill>
                  <a:schemeClr val="accent6"/>
                </a:solidFill>
                <a:latin typeface="Consolas" panose="020B0609020204030204" pitchFamily="49" charset="0"/>
              </a:rPr>
              <a:t>    </a:t>
            </a:r>
            <a:r>
              <a:rPr lang="es-MX" sz="1100" dirty="0" err="1">
                <a:solidFill>
                  <a:schemeClr val="accent6"/>
                </a:solidFill>
                <a:latin typeface="Consolas" panose="020B0609020204030204" pitchFamily="49" charset="0"/>
              </a:rPr>
              <a:t>prom_nota_aprobada</a:t>
            </a:r>
            <a:r>
              <a:rPr lang="es-MX" sz="1100" dirty="0">
                <a:solidFill>
                  <a:schemeClr val="accent6"/>
                </a:solidFill>
                <a:latin typeface="Consolas" panose="020B0609020204030204" pitchFamily="49" charset="0"/>
              </a:rPr>
              <a:t> = </a:t>
            </a:r>
            <a:r>
              <a:rPr lang="es-MX" sz="1100" dirty="0" err="1">
                <a:solidFill>
                  <a:schemeClr val="accent6"/>
                </a:solidFill>
                <a:latin typeface="Consolas" panose="020B0609020204030204" pitchFamily="49" charset="0"/>
              </a:rPr>
              <a:t>suma_aprobadas</a:t>
            </a:r>
            <a:r>
              <a:rPr lang="es-MX" sz="1100" dirty="0">
                <a:solidFill>
                  <a:schemeClr val="accent6"/>
                </a:solidFill>
                <a:latin typeface="Consolas" panose="020B0609020204030204" pitchFamily="49" charset="0"/>
              </a:rPr>
              <a:t>/</a:t>
            </a:r>
            <a:r>
              <a:rPr lang="es-MX" sz="1100" dirty="0" err="1">
                <a:solidFill>
                  <a:schemeClr val="accent6"/>
                </a:solidFill>
                <a:latin typeface="Consolas" panose="020B0609020204030204" pitchFamily="49" charset="0"/>
              </a:rPr>
              <a:t>notas_aprobadas</a:t>
            </a:r>
            <a:endParaRPr lang="es-MX" sz="1100" dirty="0">
              <a:solidFill>
                <a:schemeClr val="accent6"/>
              </a:solidFill>
              <a:latin typeface="Consolas" panose="020B0609020204030204" pitchFamily="49" charset="0"/>
            </a:endParaRPr>
          </a:p>
          <a:p>
            <a:r>
              <a:rPr lang="es-MX" sz="1100" dirty="0">
                <a:solidFill>
                  <a:schemeClr val="accent6"/>
                </a:solidFill>
                <a:latin typeface="Consolas" panose="020B0609020204030204" pitchFamily="49" charset="0"/>
              </a:rPr>
              <a:t>    </a:t>
            </a:r>
            <a:r>
              <a:rPr lang="es-MX" sz="1100" dirty="0" err="1">
                <a:solidFill>
                  <a:schemeClr val="accent6"/>
                </a:solidFill>
                <a:latin typeface="Consolas" panose="020B0609020204030204" pitchFamily="49" charset="0"/>
              </a:rPr>
              <a:t>prom_nota_reprobada</a:t>
            </a:r>
            <a:r>
              <a:rPr lang="es-MX" sz="1100" dirty="0">
                <a:solidFill>
                  <a:schemeClr val="accent6"/>
                </a:solidFill>
                <a:latin typeface="Consolas" panose="020B0609020204030204" pitchFamily="49" charset="0"/>
              </a:rPr>
              <a:t> = 0</a:t>
            </a:r>
          </a:p>
          <a:p>
            <a:r>
              <a:rPr lang="es-MX" sz="1100" dirty="0">
                <a:solidFill>
                  <a:schemeClr val="accent6"/>
                </a:solidFill>
                <a:latin typeface="Consolas" panose="020B0609020204030204" pitchFamily="49" charset="0"/>
              </a:rPr>
              <a:t>  </a:t>
            </a:r>
            <a:r>
              <a:rPr lang="es-MX" sz="1100" dirty="0" err="1">
                <a:solidFill>
                  <a:schemeClr val="accent6"/>
                </a:solidFill>
                <a:latin typeface="Consolas" panose="020B0609020204030204" pitchFamily="49" charset="0"/>
              </a:rPr>
              <a:t>else</a:t>
            </a:r>
            <a:r>
              <a:rPr lang="es-MX" sz="1100" dirty="0">
                <a:solidFill>
                  <a:schemeClr val="accent6"/>
                </a:solidFill>
                <a:latin typeface="Consolas" panose="020B0609020204030204" pitchFamily="49" charset="0"/>
              </a:rPr>
              <a:t>:</a:t>
            </a:r>
          </a:p>
          <a:p>
            <a:r>
              <a:rPr lang="es-MX" sz="1100" dirty="0">
                <a:solidFill>
                  <a:schemeClr val="accent6"/>
                </a:solidFill>
                <a:latin typeface="Consolas" panose="020B0609020204030204" pitchFamily="49" charset="0"/>
              </a:rPr>
              <a:t>    </a:t>
            </a:r>
            <a:r>
              <a:rPr lang="es-MX" sz="1100" dirty="0" err="1">
                <a:solidFill>
                  <a:schemeClr val="accent6"/>
                </a:solidFill>
                <a:latin typeface="Consolas" panose="020B0609020204030204" pitchFamily="49" charset="0"/>
              </a:rPr>
              <a:t>prom_nota_reprobada</a:t>
            </a:r>
            <a:r>
              <a:rPr lang="es-MX" sz="1100" dirty="0">
                <a:solidFill>
                  <a:schemeClr val="accent6"/>
                </a:solidFill>
                <a:latin typeface="Consolas" panose="020B0609020204030204" pitchFamily="49" charset="0"/>
              </a:rPr>
              <a:t> = </a:t>
            </a:r>
            <a:r>
              <a:rPr lang="es-MX" sz="1100" dirty="0" err="1">
                <a:solidFill>
                  <a:schemeClr val="accent6"/>
                </a:solidFill>
                <a:latin typeface="Consolas" panose="020B0609020204030204" pitchFamily="49" charset="0"/>
              </a:rPr>
              <a:t>suma_reprobadas</a:t>
            </a:r>
            <a:r>
              <a:rPr lang="es-MX" sz="1100" dirty="0">
                <a:solidFill>
                  <a:schemeClr val="accent6"/>
                </a:solidFill>
                <a:latin typeface="Consolas" panose="020B0609020204030204" pitchFamily="49" charset="0"/>
              </a:rPr>
              <a:t>/</a:t>
            </a:r>
            <a:r>
              <a:rPr lang="es-MX" sz="1100" dirty="0" err="1">
                <a:solidFill>
                  <a:schemeClr val="accent6"/>
                </a:solidFill>
                <a:latin typeface="Consolas" panose="020B0609020204030204" pitchFamily="49" charset="0"/>
              </a:rPr>
              <a:t>notas_reprobadas</a:t>
            </a:r>
            <a:endParaRPr lang="es-MX" sz="1100" dirty="0">
              <a:solidFill>
                <a:schemeClr val="accent6"/>
              </a:solidFill>
              <a:latin typeface="Consolas" panose="020B0609020204030204" pitchFamily="49" charset="0"/>
            </a:endParaRPr>
          </a:p>
          <a:p>
            <a:r>
              <a:rPr lang="es-MX" sz="1100" dirty="0">
                <a:solidFill>
                  <a:schemeClr val="accent6"/>
                </a:solidFill>
                <a:latin typeface="Consolas" panose="020B0609020204030204" pitchFamily="49" charset="0"/>
              </a:rPr>
              <a:t>    </a:t>
            </a:r>
            <a:r>
              <a:rPr lang="es-MX" sz="1100" dirty="0" err="1">
                <a:solidFill>
                  <a:schemeClr val="accent6"/>
                </a:solidFill>
                <a:latin typeface="Consolas" panose="020B0609020204030204" pitchFamily="49" charset="0"/>
              </a:rPr>
              <a:t>prom_nota_aprobada</a:t>
            </a:r>
            <a:r>
              <a:rPr lang="es-MX" sz="1100" dirty="0">
                <a:solidFill>
                  <a:schemeClr val="accent6"/>
                </a:solidFill>
                <a:latin typeface="Consolas" panose="020B0609020204030204" pitchFamily="49" charset="0"/>
              </a:rPr>
              <a:t> = </a:t>
            </a:r>
            <a:r>
              <a:rPr lang="es-MX" sz="1100" dirty="0" err="1">
                <a:solidFill>
                  <a:schemeClr val="accent6"/>
                </a:solidFill>
                <a:latin typeface="Consolas" panose="020B0609020204030204" pitchFamily="49" charset="0"/>
              </a:rPr>
              <a:t>suma_aprobadas</a:t>
            </a:r>
            <a:r>
              <a:rPr lang="es-MX" sz="1100" dirty="0">
                <a:solidFill>
                  <a:schemeClr val="accent6"/>
                </a:solidFill>
                <a:latin typeface="Consolas" panose="020B0609020204030204" pitchFamily="49" charset="0"/>
              </a:rPr>
              <a:t>/</a:t>
            </a:r>
            <a:r>
              <a:rPr lang="es-MX" sz="1100" dirty="0" err="1">
                <a:solidFill>
                  <a:schemeClr val="accent6"/>
                </a:solidFill>
                <a:latin typeface="Consolas" panose="020B0609020204030204" pitchFamily="49" charset="0"/>
              </a:rPr>
              <a:t>notas_aprobadas</a:t>
            </a:r>
            <a:endParaRPr lang="es-MX" sz="1100" dirty="0">
              <a:solidFill>
                <a:schemeClr val="accent6"/>
              </a:solidFill>
              <a:latin typeface="Consolas" panose="020B0609020204030204" pitchFamily="49" charset="0"/>
            </a:endParaRP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prom</a:t>
            </a:r>
            <a:r>
              <a:rPr lang="es-MX" sz="1100" dirty="0">
                <a:solidFill>
                  <a:srgbClr val="0070C0"/>
                </a:solidFill>
                <a:latin typeface="Consolas" panose="020B0609020204030204" pitchFamily="49" charset="0"/>
              </a:rPr>
              <a:t> = </a:t>
            </a:r>
            <a:r>
              <a:rPr lang="es-MX" sz="1100" dirty="0" err="1">
                <a:solidFill>
                  <a:srgbClr val="0070C0"/>
                </a:solidFill>
                <a:latin typeface="Consolas" panose="020B0609020204030204" pitchFamily="49" charset="0"/>
              </a:rPr>
              <a:t>suma_notas</a:t>
            </a:r>
            <a:r>
              <a:rPr lang="es-MX" sz="1100" dirty="0">
                <a:solidFill>
                  <a:srgbClr val="0070C0"/>
                </a:solidFill>
                <a:latin typeface="Consolas" panose="020B0609020204030204" pitchFamily="49" charset="0"/>
              </a:rPr>
              <a:t>/</a:t>
            </a:r>
            <a:r>
              <a:rPr lang="es-MX" sz="1100" dirty="0" err="1">
                <a:solidFill>
                  <a:srgbClr val="0070C0"/>
                </a:solidFill>
                <a:latin typeface="Consolas" panose="020B0609020204030204" pitchFamily="49" charset="0"/>
              </a:rPr>
              <a:t>total_notas</a:t>
            </a:r>
            <a:endParaRPr lang="es-MX" sz="1100" dirty="0">
              <a:solidFill>
                <a:srgbClr val="0070C0"/>
              </a:solidFill>
              <a:latin typeface="Consolas" panose="020B0609020204030204" pitchFamily="49" charset="0"/>
            </a:endParaRP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print</a:t>
            </a:r>
            <a:r>
              <a:rPr lang="es-MX" sz="1100" dirty="0">
                <a:solidFill>
                  <a:srgbClr val="0070C0"/>
                </a:solidFill>
                <a:latin typeface="Consolas" panose="020B0609020204030204" pitchFamily="49" charset="0"/>
              </a:rPr>
              <a:t>(</a:t>
            </a:r>
            <a:r>
              <a:rPr lang="es-MX" sz="1100" dirty="0" err="1">
                <a:solidFill>
                  <a:srgbClr val="0070C0"/>
                </a:solidFill>
                <a:latin typeface="Consolas" panose="020B0609020204030204" pitchFamily="49" charset="0"/>
              </a:rPr>
              <a:t>f"Porcentaje</a:t>
            </a:r>
            <a:r>
              <a:rPr lang="es-MX" sz="1100" dirty="0">
                <a:solidFill>
                  <a:srgbClr val="0070C0"/>
                </a:solidFill>
                <a:latin typeface="Consolas" panose="020B0609020204030204" pitchFamily="49" charset="0"/>
              </a:rPr>
              <a:t> aprobados: {</a:t>
            </a:r>
            <a:r>
              <a:rPr lang="es-MX" sz="1100" dirty="0" err="1">
                <a:solidFill>
                  <a:srgbClr val="0070C0"/>
                </a:solidFill>
                <a:latin typeface="Consolas" panose="020B0609020204030204" pitchFamily="49" charset="0"/>
              </a:rPr>
              <a:t>p_aprobaron</a:t>
            </a:r>
            <a:r>
              <a:rPr lang="es-MX" sz="1100" dirty="0">
                <a:solidFill>
                  <a:srgbClr val="0070C0"/>
                </a:solidFill>
                <a:latin typeface="Consolas" panose="020B0609020204030204" pitchFamily="49" charset="0"/>
              </a:rPr>
              <a:t>}%")</a:t>
            </a: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print</a:t>
            </a:r>
            <a:r>
              <a:rPr lang="es-MX" sz="1100" dirty="0">
                <a:solidFill>
                  <a:srgbClr val="0070C0"/>
                </a:solidFill>
                <a:latin typeface="Consolas" panose="020B0609020204030204" pitchFamily="49" charset="0"/>
              </a:rPr>
              <a:t>(</a:t>
            </a:r>
            <a:r>
              <a:rPr lang="es-MX" sz="1100" dirty="0" err="1">
                <a:solidFill>
                  <a:srgbClr val="0070C0"/>
                </a:solidFill>
                <a:latin typeface="Consolas" panose="020B0609020204030204" pitchFamily="49" charset="0"/>
              </a:rPr>
              <a:t>f"Porcentaje</a:t>
            </a:r>
            <a:r>
              <a:rPr lang="es-MX" sz="1100" dirty="0">
                <a:solidFill>
                  <a:srgbClr val="0070C0"/>
                </a:solidFill>
                <a:latin typeface="Consolas" panose="020B0609020204030204" pitchFamily="49" charset="0"/>
              </a:rPr>
              <a:t> reprobados: {</a:t>
            </a:r>
            <a:r>
              <a:rPr lang="es-MX" sz="1100" dirty="0" err="1">
                <a:solidFill>
                  <a:srgbClr val="0070C0"/>
                </a:solidFill>
                <a:latin typeface="Consolas" panose="020B0609020204030204" pitchFamily="49" charset="0"/>
              </a:rPr>
              <a:t>p_reprobaron</a:t>
            </a:r>
            <a:r>
              <a:rPr lang="es-MX" sz="1100" dirty="0">
                <a:solidFill>
                  <a:srgbClr val="0070C0"/>
                </a:solidFill>
                <a:latin typeface="Consolas" panose="020B0609020204030204" pitchFamily="49" charset="0"/>
              </a:rPr>
              <a:t>}%")</a:t>
            </a: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print</a:t>
            </a:r>
            <a:r>
              <a:rPr lang="es-MX" sz="1100" dirty="0">
                <a:solidFill>
                  <a:srgbClr val="0070C0"/>
                </a:solidFill>
                <a:latin typeface="Consolas" panose="020B0609020204030204" pitchFamily="49" charset="0"/>
              </a:rPr>
              <a:t>(</a:t>
            </a:r>
            <a:r>
              <a:rPr lang="es-MX" sz="1100" dirty="0" err="1">
                <a:solidFill>
                  <a:srgbClr val="0070C0"/>
                </a:solidFill>
                <a:latin typeface="Consolas" panose="020B0609020204030204" pitchFamily="49" charset="0"/>
              </a:rPr>
              <a:t>f"Promedio</a:t>
            </a:r>
            <a:r>
              <a:rPr lang="es-MX" sz="1100" dirty="0">
                <a:solidFill>
                  <a:srgbClr val="0070C0"/>
                </a:solidFill>
                <a:latin typeface="Consolas" panose="020B0609020204030204" pitchFamily="49" charset="0"/>
              </a:rPr>
              <a:t> reprobados: {</a:t>
            </a:r>
            <a:r>
              <a:rPr lang="es-MX" sz="1100" dirty="0" err="1">
                <a:solidFill>
                  <a:srgbClr val="0070C0"/>
                </a:solidFill>
                <a:latin typeface="Consolas" panose="020B0609020204030204" pitchFamily="49" charset="0"/>
              </a:rPr>
              <a:t>prom_nota_reprobada</a:t>
            </a:r>
            <a:r>
              <a:rPr lang="es-MX" sz="1100" dirty="0">
                <a:solidFill>
                  <a:srgbClr val="0070C0"/>
                </a:solidFill>
                <a:latin typeface="Consolas" panose="020B0609020204030204" pitchFamily="49" charset="0"/>
              </a:rPr>
              <a:t>}")</a:t>
            </a: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print</a:t>
            </a:r>
            <a:r>
              <a:rPr lang="es-MX" sz="1100" dirty="0">
                <a:solidFill>
                  <a:srgbClr val="0070C0"/>
                </a:solidFill>
                <a:latin typeface="Consolas" panose="020B0609020204030204" pitchFamily="49" charset="0"/>
              </a:rPr>
              <a:t>(</a:t>
            </a:r>
            <a:r>
              <a:rPr lang="es-MX" sz="1100" dirty="0" err="1">
                <a:solidFill>
                  <a:srgbClr val="0070C0"/>
                </a:solidFill>
                <a:latin typeface="Consolas" panose="020B0609020204030204" pitchFamily="49" charset="0"/>
              </a:rPr>
              <a:t>f"Promedio</a:t>
            </a:r>
            <a:r>
              <a:rPr lang="es-MX" sz="1100" dirty="0">
                <a:solidFill>
                  <a:srgbClr val="0070C0"/>
                </a:solidFill>
                <a:latin typeface="Consolas" panose="020B0609020204030204" pitchFamily="49" charset="0"/>
              </a:rPr>
              <a:t> aprobadas: {</a:t>
            </a:r>
            <a:r>
              <a:rPr lang="es-MX" sz="1100" dirty="0" err="1">
                <a:solidFill>
                  <a:srgbClr val="0070C0"/>
                </a:solidFill>
                <a:latin typeface="Consolas" panose="020B0609020204030204" pitchFamily="49" charset="0"/>
              </a:rPr>
              <a:t>prom_nota_aprobada</a:t>
            </a:r>
            <a:r>
              <a:rPr lang="es-MX" sz="1100" dirty="0">
                <a:solidFill>
                  <a:srgbClr val="0070C0"/>
                </a:solidFill>
                <a:latin typeface="Consolas" panose="020B0609020204030204" pitchFamily="49" charset="0"/>
              </a:rPr>
              <a:t>}")</a:t>
            </a:r>
          </a:p>
          <a:p>
            <a:r>
              <a:rPr lang="es-MX" sz="1100" dirty="0">
                <a:solidFill>
                  <a:srgbClr val="0070C0"/>
                </a:solidFill>
                <a:latin typeface="Consolas" panose="020B0609020204030204" pitchFamily="49" charset="0"/>
              </a:rPr>
              <a:t>  </a:t>
            </a:r>
            <a:r>
              <a:rPr lang="es-MX" sz="1100" dirty="0" err="1">
                <a:solidFill>
                  <a:srgbClr val="0070C0"/>
                </a:solidFill>
                <a:latin typeface="Consolas" panose="020B0609020204030204" pitchFamily="49" charset="0"/>
              </a:rPr>
              <a:t>print</a:t>
            </a:r>
            <a:r>
              <a:rPr lang="es-MX" sz="1100" dirty="0">
                <a:solidFill>
                  <a:srgbClr val="0070C0"/>
                </a:solidFill>
                <a:latin typeface="Consolas" panose="020B0609020204030204" pitchFamily="49" charset="0"/>
              </a:rPr>
              <a:t>(</a:t>
            </a:r>
            <a:r>
              <a:rPr lang="es-MX" sz="1100" dirty="0" err="1">
                <a:solidFill>
                  <a:srgbClr val="0070C0"/>
                </a:solidFill>
                <a:latin typeface="Consolas" panose="020B0609020204030204" pitchFamily="49" charset="0"/>
              </a:rPr>
              <a:t>f"Promedio</a:t>
            </a:r>
            <a:r>
              <a:rPr lang="es-MX" sz="1100" dirty="0">
                <a:solidFill>
                  <a:srgbClr val="0070C0"/>
                </a:solidFill>
                <a:latin typeface="Consolas" panose="020B0609020204030204" pitchFamily="49" charset="0"/>
              </a:rPr>
              <a:t> de notas: {</a:t>
            </a:r>
            <a:r>
              <a:rPr lang="es-MX" sz="1100" dirty="0" err="1">
                <a:solidFill>
                  <a:srgbClr val="0070C0"/>
                </a:solidFill>
                <a:latin typeface="Consolas" panose="020B0609020204030204" pitchFamily="49" charset="0"/>
              </a:rPr>
              <a:t>prom</a:t>
            </a:r>
            <a:r>
              <a:rPr lang="es-MX" sz="1100" dirty="0">
                <a:solidFill>
                  <a:srgbClr val="0070C0"/>
                </a:solidFill>
                <a:latin typeface="Consolas" panose="020B0609020204030204" pitchFamily="49" charset="0"/>
              </a:rPr>
              <a:t>}") </a:t>
            </a:r>
          </a:p>
        </p:txBody>
      </p:sp>
    </p:spTree>
    <p:extLst>
      <p:ext uri="{BB962C8B-B14F-4D97-AF65-F5344CB8AC3E}">
        <p14:creationId xmlns:p14="http://schemas.microsoft.com/office/powerpoint/2010/main" val="19779877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4 Título">
            <a:extLst>
              <a:ext uri="{FF2B5EF4-FFF2-40B4-BE49-F238E27FC236}">
                <a16:creationId xmlns:a16="http://schemas.microsoft.com/office/drawing/2014/main" id="{AE7AE4FE-857D-48EA-8C2E-EFF7E2B785AF}"/>
              </a:ext>
            </a:extLst>
          </p:cNvPr>
          <p:cNvSpPr txBox="1">
            <a:spLocks/>
          </p:cNvSpPr>
          <p:nvPr/>
        </p:nvSpPr>
        <p:spPr>
          <a:xfrm>
            <a:off x="74736" y="85895"/>
            <a:ext cx="6153447" cy="67880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Ciclos – Ejemplo 5</a:t>
            </a:r>
          </a:p>
        </p:txBody>
      </p:sp>
      <p:sp>
        <p:nvSpPr>
          <p:cNvPr id="5" name="5 Rectángulo">
            <a:extLst>
              <a:ext uri="{FF2B5EF4-FFF2-40B4-BE49-F238E27FC236}">
                <a16:creationId xmlns:a16="http://schemas.microsoft.com/office/drawing/2014/main" id="{06D6ADF4-009E-42C9-93D7-ACCDE5E5538F}"/>
              </a:ext>
            </a:extLst>
          </p:cNvPr>
          <p:cNvSpPr/>
          <p:nvPr/>
        </p:nvSpPr>
        <p:spPr>
          <a:xfrm>
            <a:off x="307555" y="1081632"/>
            <a:ext cx="2497094" cy="400110"/>
          </a:xfrm>
          <a:prstGeom prst="rect">
            <a:avLst/>
          </a:prstGeom>
        </p:spPr>
        <p:txBody>
          <a:bodyPr wrap="none">
            <a:spAutoFit/>
          </a:bodyPr>
          <a:lstStyle/>
          <a:p>
            <a:r>
              <a:rPr lang="es-CO" sz="2000" b="1" dirty="0"/>
              <a:t>Resultados esperados</a:t>
            </a:r>
            <a:endParaRPr lang="es-CO" sz="2000" dirty="0"/>
          </a:p>
        </p:txBody>
      </p:sp>
      <p:graphicFrame>
        <p:nvGraphicFramePr>
          <p:cNvPr id="6" name="Tabla 9">
            <a:extLst>
              <a:ext uri="{FF2B5EF4-FFF2-40B4-BE49-F238E27FC236}">
                <a16:creationId xmlns:a16="http://schemas.microsoft.com/office/drawing/2014/main" id="{A18D4279-D5A7-44DF-B5D1-7CB09A895120}"/>
              </a:ext>
            </a:extLst>
          </p:cNvPr>
          <p:cNvGraphicFramePr>
            <a:graphicFrameLocks noGrp="1"/>
          </p:cNvGraphicFramePr>
          <p:nvPr>
            <p:extLst>
              <p:ext uri="{D42A27DB-BD31-4B8C-83A1-F6EECF244321}">
                <p14:modId xmlns:p14="http://schemas.microsoft.com/office/powerpoint/2010/main" val="162801974"/>
              </p:ext>
            </p:extLst>
          </p:nvPr>
        </p:nvGraphicFramePr>
        <p:xfrm>
          <a:off x="307555" y="1617347"/>
          <a:ext cx="3821060" cy="2468000"/>
        </p:xfrm>
        <a:graphic>
          <a:graphicData uri="http://schemas.openxmlformats.org/drawingml/2006/table">
            <a:tbl>
              <a:tblPr firstRow="1" bandRow="1">
                <a:tableStyleId>{5940675A-B579-460E-94D1-54222C63F5DA}</a:tableStyleId>
              </a:tblPr>
              <a:tblGrid>
                <a:gridCol w="2092867">
                  <a:extLst>
                    <a:ext uri="{9D8B030D-6E8A-4147-A177-3AD203B41FA5}">
                      <a16:colId xmlns:a16="http://schemas.microsoft.com/office/drawing/2014/main" val="1520359308"/>
                    </a:ext>
                  </a:extLst>
                </a:gridCol>
                <a:gridCol w="1728193">
                  <a:extLst>
                    <a:ext uri="{9D8B030D-6E8A-4147-A177-3AD203B41FA5}">
                      <a16:colId xmlns:a16="http://schemas.microsoft.com/office/drawing/2014/main" val="4218542073"/>
                    </a:ext>
                  </a:extLst>
                </a:gridCol>
              </a:tblGrid>
              <a:tr h="306900">
                <a:tc>
                  <a:txBody>
                    <a:bodyPr/>
                    <a:lstStyle/>
                    <a:p>
                      <a:r>
                        <a:rPr lang="es-CO" sz="1400" b="1" dirty="0">
                          <a:solidFill>
                            <a:schemeClr val="bg1"/>
                          </a:solidFill>
                          <a:latin typeface="+mn-lt"/>
                        </a:rPr>
                        <a:t>Numero de estudiantes</a:t>
                      </a:r>
                    </a:p>
                  </a:txBody>
                  <a:tcPr>
                    <a:solidFill>
                      <a:schemeClr val="tx1"/>
                    </a:solidFill>
                  </a:tcPr>
                </a:tc>
                <a:tc>
                  <a:txBody>
                    <a:bodyPr/>
                    <a:lstStyle/>
                    <a:p>
                      <a:r>
                        <a:rPr lang="es-CO" sz="1400" dirty="0">
                          <a:latin typeface="+mn-lt"/>
                        </a:rPr>
                        <a:t>5</a:t>
                      </a:r>
                    </a:p>
                  </a:txBody>
                  <a:tcPr/>
                </a:tc>
                <a:extLst>
                  <a:ext uri="{0D108BD9-81ED-4DB2-BD59-A6C34878D82A}">
                    <a16:rowId xmlns:a16="http://schemas.microsoft.com/office/drawing/2014/main" val="32264777"/>
                  </a:ext>
                </a:extLst>
              </a:tr>
              <a:tr h="306900">
                <a:tc>
                  <a:txBody>
                    <a:bodyPr/>
                    <a:lstStyle/>
                    <a:p>
                      <a:r>
                        <a:rPr lang="es-MX" sz="1400" b="1" dirty="0">
                          <a:solidFill>
                            <a:schemeClr val="bg1"/>
                          </a:solidFill>
                          <a:latin typeface="+mn-lt"/>
                        </a:rPr>
                        <a:t>Notas</a:t>
                      </a:r>
                      <a:endParaRPr lang="es-CO" sz="1400" b="1" dirty="0">
                        <a:solidFill>
                          <a:schemeClr val="bg1"/>
                        </a:solidFill>
                        <a:latin typeface="+mn-lt"/>
                      </a:endParaRPr>
                    </a:p>
                  </a:txBody>
                  <a:tcPr>
                    <a:solidFill>
                      <a:schemeClr val="tx1"/>
                    </a:solidFill>
                  </a:tcPr>
                </a:tc>
                <a:tc>
                  <a:txBody>
                    <a:bodyPr/>
                    <a:lstStyle/>
                    <a:p>
                      <a:r>
                        <a:rPr lang="es-CO" sz="1400" dirty="0"/>
                        <a:t>4.0, 2.5, 3.0, 1.5, 4.8</a:t>
                      </a:r>
                      <a:endParaRPr lang="es-CO" sz="1400" dirty="0">
                        <a:latin typeface="+mn-lt"/>
                      </a:endParaRPr>
                    </a:p>
                  </a:txBody>
                  <a:tcPr/>
                </a:tc>
                <a:extLst>
                  <a:ext uri="{0D108BD9-81ED-4DB2-BD59-A6C34878D82A}">
                    <a16:rowId xmlns:a16="http://schemas.microsoft.com/office/drawing/2014/main" val="1949968076"/>
                  </a:ext>
                </a:extLst>
              </a:tr>
              <a:tr h="370840">
                <a:tc>
                  <a:txBody>
                    <a:bodyPr/>
                    <a:lstStyle/>
                    <a:p>
                      <a:r>
                        <a:rPr lang="es-MX" sz="1400" b="1" dirty="0">
                          <a:solidFill>
                            <a:schemeClr val="bg1"/>
                          </a:solidFill>
                          <a:latin typeface="+mn-lt"/>
                        </a:rPr>
                        <a:t>Aprobaron</a:t>
                      </a:r>
                      <a:endParaRPr lang="es-CO" sz="1400" b="1" dirty="0">
                        <a:solidFill>
                          <a:schemeClr val="bg1"/>
                        </a:solidFill>
                        <a:latin typeface="+mn-lt"/>
                      </a:endParaRPr>
                    </a:p>
                  </a:txBody>
                  <a:tcPr>
                    <a:solidFill>
                      <a:schemeClr val="tx1"/>
                    </a:solidFill>
                  </a:tcPr>
                </a:tc>
                <a:tc>
                  <a:txBody>
                    <a:bodyPr/>
                    <a:lstStyle/>
                    <a:p>
                      <a:r>
                        <a:rPr lang="es-CO" sz="1400" dirty="0">
                          <a:latin typeface="+mn-lt"/>
                        </a:rPr>
                        <a:t>(3) 60%</a:t>
                      </a:r>
                    </a:p>
                  </a:txBody>
                  <a:tcPr/>
                </a:tc>
                <a:extLst>
                  <a:ext uri="{0D108BD9-81ED-4DB2-BD59-A6C34878D82A}">
                    <a16:rowId xmlns:a16="http://schemas.microsoft.com/office/drawing/2014/main" val="2422557555"/>
                  </a:ext>
                </a:extLst>
              </a:tr>
              <a:tr h="370840">
                <a:tc>
                  <a:txBody>
                    <a:bodyPr/>
                    <a:lstStyle/>
                    <a:p>
                      <a:r>
                        <a:rPr lang="es-MX" sz="1400" b="1" dirty="0">
                          <a:solidFill>
                            <a:schemeClr val="bg1"/>
                          </a:solidFill>
                          <a:latin typeface="+mn-lt"/>
                        </a:rPr>
                        <a:t>Reprobaron</a:t>
                      </a:r>
                      <a:endParaRPr lang="es-CO" sz="1400" b="1" dirty="0">
                        <a:solidFill>
                          <a:schemeClr val="bg1"/>
                        </a:solidFill>
                        <a:latin typeface="+mn-lt"/>
                      </a:endParaRPr>
                    </a:p>
                  </a:txBody>
                  <a:tcPr>
                    <a:solidFill>
                      <a:schemeClr val="tx1"/>
                    </a:solidFill>
                  </a:tcPr>
                </a:tc>
                <a:tc>
                  <a:txBody>
                    <a:bodyPr/>
                    <a:lstStyle/>
                    <a:p>
                      <a:r>
                        <a:rPr lang="es-MX" sz="1400" dirty="0">
                          <a:latin typeface="+mn-lt"/>
                        </a:rPr>
                        <a:t>(2) 40%</a:t>
                      </a:r>
                      <a:endParaRPr lang="es-CO" sz="1400" dirty="0">
                        <a:latin typeface="+mn-lt"/>
                      </a:endParaRPr>
                    </a:p>
                  </a:txBody>
                  <a:tcPr/>
                </a:tc>
                <a:extLst>
                  <a:ext uri="{0D108BD9-81ED-4DB2-BD59-A6C34878D82A}">
                    <a16:rowId xmlns:a16="http://schemas.microsoft.com/office/drawing/2014/main" val="3537023589"/>
                  </a:ext>
                </a:extLst>
              </a:tr>
              <a:tr h="370840">
                <a:tc>
                  <a:txBody>
                    <a:bodyPr/>
                    <a:lstStyle/>
                    <a:p>
                      <a:r>
                        <a:rPr lang="es-MX" sz="1400" b="1" dirty="0">
                          <a:solidFill>
                            <a:schemeClr val="bg1"/>
                          </a:solidFill>
                          <a:latin typeface="+mn-lt"/>
                        </a:rPr>
                        <a:t>Promedio nota aprobada</a:t>
                      </a:r>
                      <a:endParaRPr lang="es-CO" sz="1400" b="1" dirty="0">
                        <a:solidFill>
                          <a:schemeClr val="bg1"/>
                        </a:solidFill>
                        <a:latin typeface="+mn-lt"/>
                      </a:endParaRPr>
                    </a:p>
                  </a:txBody>
                  <a:tcPr>
                    <a:solidFill>
                      <a:schemeClr val="tx1"/>
                    </a:solidFill>
                  </a:tcPr>
                </a:tc>
                <a:tc>
                  <a:txBody>
                    <a:bodyPr/>
                    <a:lstStyle/>
                    <a:p>
                      <a:r>
                        <a:rPr lang="es-CO" sz="1400" dirty="0"/>
                        <a:t>3.93</a:t>
                      </a:r>
                      <a:endParaRPr lang="es-CO" sz="1400" dirty="0">
                        <a:latin typeface="+mn-lt"/>
                      </a:endParaRPr>
                    </a:p>
                  </a:txBody>
                  <a:tcPr/>
                </a:tc>
                <a:extLst>
                  <a:ext uri="{0D108BD9-81ED-4DB2-BD59-A6C34878D82A}">
                    <a16:rowId xmlns:a16="http://schemas.microsoft.com/office/drawing/2014/main" val="13356756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400" b="1" dirty="0">
                          <a:solidFill>
                            <a:schemeClr val="bg1"/>
                          </a:solidFill>
                          <a:latin typeface="+mn-lt"/>
                        </a:rPr>
                        <a:t>Promedio nota reprobada</a:t>
                      </a:r>
                      <a:endParaRPr lang="es-CO" sz="1400" b="1" dirty="0">
                        <a:solidFill>
                          <a:schemeClr val="bg1"/>
                        </a:solidFill>
                        <a:latin typeface="+mn-lt"/>
                      </a:endParaRPr>
                    </a:p>
                  </a:txBody>
                  <a:tcPr>
                    <a:solidFill>
                      <a:schemeClr val="tx1"/>
                    </a:solidFill>
                  </a:tcPr>
                </a:tc>
                <a:tc>
                  <a:txBody>
                    <a:bodyPr/>
                    <a:lstStyle/>
                    <a:p>
                      <a:r>
                        <a:rPr lang="es-CO" sz="1400" dirty="0">
                          <a:latin typeface="+mn-lt"/>
                        </a:rPr>
                        <a:t>2.0</a:t>
                      </a:r>
                    </a:p>
                  </a:txBody>
                  <a:tcPr/>
                </a:tc>
                <a:extLst>
                  <a:ext uri="{0D108BD9-81ED-4DB2-BD59-A6C34878D82A}">
                    <a16:rowId xmlns:a16="http://schemas.microsoft.com/office/drawing/2014/main" val="1295638068"/>
                  </a:ext>
                </a:extLst>
              </a:tr>
              <a:tr h="370840">
                <a:tc>
                  <a:txBody>
                    <a:bodyPr/>
                    <a:lstStyle/>
                    <a:p>
                      <a:r>
                        <a:rPr lang="es-MX" sz="1400" b="1" dirty="0">
                          <a:solidFill>
                            <a:schemeClr val="bg1"/>
                          </a:solidFill>
                          <a:latin typeface="+mn-lt"/>
                        </a:rPr>
                        <a:t>Promedio general</a:t>
                      </a:r>
                      <a:endParaRPr lang="es-CO" sz="1400" b="1" dirty="0">
                        <a:solidFill>
                          <a:schemeClr val="bg1"/>
                        </a:solidFill>
                        <a:latin typeface="+mn-lt"/>
                      </a:endParaRPr>
                    </a:p>
                  </a:txBody>
                  <a:tcPr>
                    <a:solidFill>
                      <a:schemeClr val="tx1"/>
                    </a:solidFill>
                  </a:tcPr>
                </a:tc>
                <a:tc>
                  <a:txBody>
                    <a:bodyPr/>
                    <a:lstStyle/>
                    <a:p>
                      <a:r>
                        <a:rPr lang="es-CO" sz="1400" dirty="0"/>
                        <a:t>3.16</a:t>
                      </a:r>
                      <a:endParaRPr lang="es-CO" sz="1400" dirty="0">
                        <a:latin typeface="+mn-lt"/>
                      </a:endParaRPr>
                    </a:p>
                  </a:txBody>
                  <a:tcPr/>
                </a:tc>
                <a:extLst>
                  <a:ext uri="{0D108BD9-81ED-4DB2-BD59-A6C34878D82A}">
                    <a16:rowId xmlns:a16="http://schemas.microsoft.com/office/drawing/2014/main" val="2260238023"/>
                  </a:ext>
                </a:extLst>
              </a:tr>
            </a:tbl>
          </a:graphicData>
        </a:graphic>
      </p:graphicFrame>
      <p:sp>
        <p:nvSpPr>
          <p:cNvPr id="7" name="5 Rectángulo">
            <a:extLst>
              <a:ext uri="{FF2B5EF4-FFF2-40B4-BE49-F238E27FC236}">
                <a16:creationId xmlns:a16="http://schemas.microsoft.com/office/drawing/2014/main" id="{00F0CF2A-B262-41B0-B4E9-5B653595AB12}"/>
              </a:ext>
            </a:extLst>
          </p:cNvPr>
          <p:cNvSpPr/>
          <p:nvPr/>
        </p:nvSpPr>
        <p:spPr>
          <a:xfrm>
            <a:off x="4427984" y="764704"/>
            <a:ext cx="2865514" cy="400110"/>
          </a:xfrm>
          <a:prstGeom prst="rect">
            <a:avLst/>
          </a:prstGeom>
        </p:spPr>
        <p:txBody>
          <a:bodyPr wrap="square">
            <a:spAutoFit/>
          </a:bodyPr>
          <a:lstStyle/>
          <a:p>
            <a:r>
              <a:rPr lang="es-CO" sz="2000" b="1" dirty="0"/>
              <a:t>Forma</a:t>
            </a:r>
            <a:endParaRPr lang="es-CO" sz="2000" dirty="0"/>
          </a:p>
        </p:txBody>
      </p:sp>
      <p:sp>
        <p:nvSpPr>
          <p:cNvPr id="12" name="CuadroTexto 11">
            <a:extLst>
              <a:ext uri="{FF2B5EF4-FFF2-40B4-BE49-F238E27FC236}">
                <a16:creationId xmlns:a16="http://schemas.microsoft.com/office/drawing/2014/main" id="{3619622E-7114-4B42-A618-FF70DCF16A05}"/>
              </a:ext>
            </a:extLst>
          </p:cNvPr>
          <p:cNvSpPr txBox="1"/>
          <p:nvPr/>
        </p:nvSpPr>
        <p:spPr>
          <a:xfrm>
            <a:off x="4441126" y="1281687"/>
            <a:ext cx="2412776" cy="1384995"/>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 = 0 </a:t>
            </a:r>
          </a:p>
          <a:p>
            <a:r>
              <a:rPr lang="es-MX" sz="1200" dirty="0">
                <a:latin typeface="Consolas" panose="020B0609020204030204" pitchFamily="49" charset="0"/>
              </a:rPr>
              <a:t>... </a:t>
            </a:r>
          </a:p>
          <a:p>
            <a:r>
              <a:rPr lang="es-MX" sz="1200" dirty="0">
                <a:latin typeface="Consolas" panose="020B0609020204030204" pitchFamily="49" charset="0"/>
              </a:rPr>
              <a:t>Para (</a:t>
            </a:r>
            <a:r>
              <a:rPr lang="es-MX" sz="1200" dirty="0">
                <a:solidFill>
                  <a:srgbClr val="C00000"/>
                </a:solidFill>
                <a:latin typeface="Consolas" panose="020B0609020204030204" pitchFamily="49" charset="0"/>
              </a:rPr>
              <a:t>i = 0,N,1</a:t>
            </a:r>
            <a:r>
              <a:rPr lang="es-MX" sz="1200" dirty="0">
                <a:latin typeface="Consolas" panose="020B0609020204030204" pitchFamily="49" charset="0"/>
              </a:rPr>
              <a:t>) Haga </a:t>
            </a:r>
          </a:p>
          <a:p>
            <a:r>
              <a:rPr lang="es-MX" sz="1200" dirty="0">
                <a:latin typeface="Consolas" panose="020B0609020204030204" pitchFamily="49" charset="0"/>
              </a:rPr>
              <a:t>  Leer(nota) </a:t>
            </a:r>
          </a:p>
          <a:p>
            <a:r>
              <a:rPr lang="es-MX" sz="1200" dirty="0">
                <a:latin typeface="Consolas" panose="020B0609020204030204" pitchFamily="49" charset="0"/>
              </a:rPr>
              <a:t>  ...</a:t>
            </a:r>
          </a:p>
          <a:p>
            <a:r>
              <a:rPr lang="es-MX" sz="1200" dirty="0" err="1">
                <a:latin typeface="Consolas" panose="020B0609020204030204" pitchFamily="49" charset="0"/>
              </a:rPr>
              <a:t>Fin_Para</a:t>
            </a:r>
            <a:endParaRPr lang="es-MX" sz="1200" dirty="0">
              <a:latin typeface="Consolas" panose="020B0609020204030204" pitchFamily="49" charset="0"/>
            </a:endParaRPr>
          </a:p>
          <a:p>
            <a:r>
              <a:rPr lang="es-MX" sz="1200" dirty="0">
                <a:latin typeface="Consolas" panose="020B0609020204030204" pitchFamily="49" charset="0"/>
              </a:rPr>
              <a:t>...</a:t>
            </a:r>
          </a:p>
        </p:txBody>
      </p:sp>
      <p:sp>
        <p:nvSpPr>
          <p:cNvPr id="13" name="5 Rectángulo">
            <a:extLst>
              <a:ext uri="{FF2B5EF4-FFF2-40B4-BE49-F238E27FC236}">
                <a16:creationId xmlns:a16="http://schemas.microsoft.com/office/drawing/2014/main" id="{C11AB076-103C-40DC-A51B-C7937C998661}"/>
              </a:ext>
            </a:extLst>
          </p:cNvPr>
          <p:cNvSpPr/>
          <p:nvPr/>
        </p:nvSpPr>
        <p:spPr>
          <a:xfrm>
            <a:off x="4427984" y="3073197"/>
            <a:ext cx="2865514" cy="400110"/>
          </a:xfrm>
          <a:prstGeom prst="rect">
            <a:avLst/>
          </a:prstGeom>
        </p:spPr>
        <p:txBody>
          <a:bodyPr wrap="square">
            <a:spAutoFit/>
          </a:bodyPr>
          <a:lstStyle/>
          <a:p>
            <a:r>
              <a:rPr lang="es-CO" sz="2000" b="1" dirty="0"/>
              <a:t>Resultado de ejecución</a:t>
            </a:r>
            <a:endParaRPr lang="es-CO" sz="2000" dirty="0"/>
          </a:p>
        </p:txBody>
      </p:sp>
      <p:sp>
        <p:nvSpPr>
          <p:cNvPr id="14" name="CuadroTexto 13">
            <a:extLst>
              <a:ext uri="{FF2B5EF4-FFF2-40B4-BE49-F238E27FC236}">
                <a16:creationId xmlns:a16="http://schemas.microsoft.com/office/drawing/2014/main" id="{956D764A-A759-4830-8E6D-370A2063C3D7}"/>
              </a:ext>
            </a:extLst>
          </p:cNvPr>
          <p:cNvSpPr txBox="1"/>
          <p:nvPr/>
        </p:nvSpPr>
        <p:spPr>
          <a:xfrm>
            <a:off x="4427984" y="3677296"/>
            <a:ext cx="4283077" cy="2123658"/>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Ingrese el número de estudiantes: 5</a:t>
            </a:r>
          </a:p>
          <a:p>
            <a:r>
              <a:rPr lang="es-MX" sz="1200" dirty="0">
                <a:latin typeface="Consolas" panose="020B0609020204030204" pitchFamily="49" charset="0"/>
              </a:rPr>
              <a:t>Ingrese la nota del estudiante 1: 4</a:t>
            </a:r>
          </a:p>
          <a:p>
            <a:r>
              <a:rPr lang="es-MX" sz="1200" dirty="0">
                <a:latin typeface="Consolas" panose="020B0609020204030204" pitchFamily="49" charset="0"/>
              </a:rPr>
              <a:t>Ingrese la nota del estudiante 2: 2.5</a:t>
            </a:r>
          </a:p>
          <a:p>
            <a:r>
              <a:rPr lang="es-MX" sz="1200" dirty="0">
                <a:latin typeface="Consolas" panose="020B0609020204030204" pitchFamily="49" charset="0"/>
              </a:rPr>
              <a:t>Ingrese la nota del estudiante 3: 3.0</a:t>
            </a:r>
          </a:p>
          <a:p>
            <a:r>
              <a:rPr lang="es-MX" sz="1200" dirty="0">
                <a:latin typeface="Consolas" panose="020B0609020204030204" pitchFamily="49" charset="0"/>
              </a:rPr>
              <a:t>Ingrese la nota del estudiante 4: 1.5</a:t>
            </a:r>
          </a:p>
          <a:p>
            <a:r>
              <a:rPr lang="es-MX" sz="1200" dirty="0">
                <a:latin typeface="Consolas" panose="020B0609020204030204" pitchFamily="49" charset="0"/>
              </a:rPr>
              <a:t>Ingrese la nota del estudiante 5: 4.8</a:t>
            </a:r>
          </a:p>
          <a:p>
            <a:r>
              <a:rPr lang="es-MX" sz="1200" dirty="0">
                <a:latin typeface="Consolas" panose="020B0609020204030204" pitchFamily="49" charset="0"/>
              </a:rPr>
              <a:t>Porcentaje de estudiantes que aprobaron: 60.0%</a:t>
            </a:r>
          </a:p>
          <a:p>
            <a:r>
              <a:rPr lang="es-MX" sz="1200" dirty="0">
                <a:latin typeface="Consolas" panose="020B0609020204030204" pitchFamily="49" charset="0"/>
              </a:rPr>
              <a:t>Porcentaje de estudiantes que reprobaron: 40.0%</a:t>
            </a:r>
          </a:p>
          <a:p>
            <a:r>
              <a:rPr lang="es-MX" sz="1200" dirty="0">
                <a:latin typeface="Consolas" panose="020B0609020204030204" pitchFamily="49" charset="0"/>
              </a:rPr>
              <a:t>Promedio de notas reprobadas: 2.0</a:t>
            </a:r>
          </a:p>
          <a:p>
            <a:r>
              <a:rPr lang="es-MX" sz="1200" dirty="0">
                <a:latin typeface="Consolas" panose="020B0609020204030204" pitchFamily="49" charset="0"/>
              </a:rPr>
              <a:t>Promedio de notas aprobadas: 3.9333333333333336</a:t>
            </a:r>
          </a:p>
          <a:p>
            <a:r>
              <a:rPr lang="es-MX" sz="1200" dirty="0">
                <a:latin typeface="Consolas" panose="020B0609020204030204" pitchFamily="49" charset="0"/>
              </a:rPr>
              <a:t>Promedio general de notas: 3.16</a:t>
            </a:r>
          </a:p>
        </p:txBody>
      </p:sp>
    </p:spTree>
    <p:extLst>
      <p:ext uri="{BB962C8B-B14F-4D97-AF65-F5344CB8AC3E}">
        <p14:creationId xmlns:p14="http://schemas.microsoft.com/office/powerpoint/2010/main" val="32674874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6658934" cy="710952"/>
          </a:xfrm>
        </p:spPr>
        <p:txBody>
          <a:bodyPr>
            <a:normAutofit/>
          </a:bodyPr>
          <a:lstStyle/>
          <a:p>
            <a:r>
              <a:rPr lang="es-CO" dirty="0"/>
              <a:t>Ciclos – Ejemplo 6</a:t>
            </a:r>
          </a:p>
        </p:txBody>
      </p:sp>
      <p:sp>
        <p:nvSpPr>
          <p:cNvPr id="13" name="12 Rectángulo"/>
          <p:cNvSpPr/>
          <p:nvPr/>
        </p:nvSpPr>
        <p:spPr>
          <a:xfrm>
            <a:off x="145314" y="846114"/>
            <a:ext cx="8747165" cy="923330"/>
          </a:xfrm>
          <a:prstGeom prst="rect">
            <a:avLst/>
          </a:prstGeom>
        </p:spPr>
        <p:txBody>
          <a:bodyPr wrap="square">
            <a:spAutoFit/>
          </a:bodyPr>
          <a:lstStyle/>
          <a:p>
            <a:pPr algn="l"/>
            <a:r>
              <a:rPr lang="es-MX" sz="1800" b="0" i="0" u="none" strike="noStrike" baseline="0" dirty="0"/>
              <a:t>Realizar un programa que muestre cada uno </a:t>
            </a:r>
            <a:r>
              <a:rPr lang="es-MX" dirty="0"/>
              <a:t>de los</a:t>
            </a:r>
            <a:r>
              <a:rPr lang="es-MX" sz="1800" b="0" i="0" u="none" strike="noStrike" baseline="0" dirty="0"/>
              <a:t> divisores de un numero positivo ingresado por teclado. Al final, el programa también deberá mostrar la cantidad total de divisores asociados al numero.</a:t>
            </a:r>
            <a:endParaRPr lang="es-MX" sz="2000" dirty="0"/>
          </a:p>
        </p:txBody>
      </p:sp>
      <p:grpSp>
        <p:nvGrpSpPr>
          <p:cNvPr id="6" name="5 Grupo">
            <a:extLst>
              <a:ext uri="{FF2B5EF4-FFF2-40B4-BE49-F238E27FC236}">
                <a16:creationId xmlns:a16="http://schemas.microsoft.com/office/drawing/2014/main" id="{A1D2312A-E5AA-430D-95E3-073CE4C461A1}"/>
              </a:ext>
            </a:extLst>
          </p:cNvPr>
          <p:cNvGrpSpPr/>
          <p:nvPr/>
        </p:nvGrpSpPr>
        <p:grpSpPr>
          <a:xfrm>
            <a:off x="388239" y="1844824"/>
            <a:ext cx="8202163" cy="783771"/>
            <a:chOff x="518399" y="1739458"/>
            <a:chExt cx="8202163" cy="783771"/>
          </a:xfrm>
        </p:grpSpPr>
        <p:sp>
          <p:nvSpPr>
            <p:cNvPr id="8" name="10 Rectángulo">
              <a:extLst>
                <a:ext uri="{FF2B5EF4-FFF2-40B4-BE49-F238E27FC236}">
                  <a16:creationId xmlns:a16="http://schemas.microsoft.com/office/drawing/2014/main" id="{FCF15015-BA83-4B06-99A6-08AE20C7F278}"/>
                </a:ext>
              </a:extLst>
            </p:cNvPr>
            <p:cNvSpPr/>
            <p:nvPr/>
          </p:nvSpPr>
          <p:spPr>
            <a:xfrm>
              <a:off x="518399" y="1879706"/>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Inputs</a:t>
              </a:r>
            </a:p>
          </p:txBody>
        </p:sp>
        <p:sp>
          <p:nvSpPr>
            <p:cNvPr id="9" name="11 Rectángulo">
              <a:extLst>
                <a:ext uri="{FF2B5EF4-FFF2-40B4-BE49-F238E27FC236}">
                  <a16:creationId xmlns:a16="http://schemas.microsoft.com/office/drawing/2014/main" id="{24D2346B-45C4-4EB1-AC4E-9F86B024ABB3}"/>
                </a:ext>
              </a:extLst>
            </p:cNvPr>
            <p:cNvSpPr/>
            <p:nvPr/>
          </p:nvSpPr>
          <p:spPr>
            <a:xfrm>
              <a:off x="3563888" y="1739458"/>
              <a:ext cx="2104858" cy="7837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t>Process</a:t>
              </a:r>
            </a:p>
          </p:txBody>
        </p:sp>
        <p:sp>
          <p:nvSpPr>
            <p:cNvPr id="10" name="13 Rectángulo">
              <a:extLst>
                <a:ext uri="{FF2B5EF4-FFF2-40B4-BE49-F238E27FC236}">
                  <a16:creationId xmlns:a16="http://schemas.microsoft.com/office/drawing/2014/main" id="{8EB5C9FB-4010-499A-9DE2-CD6FFED74C8D}"/>
                </a:ext>
              </a:extLst>
            </p:cNvPr>
            <p:cNvSpPr/>
            <p:nvPr/>
          </p:nvSpPr>
          <p:spPr>
            <a:xfrm>
              <a:off x="7374799" y="1884602"/>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Outputs</a:t>
              </a:r>
            </a:p>
          </p:txBody>
        </p:sp>
        <p:sp>
          <p:nvSpPr>
            <p:cNvPr id="11" name="14 Flecha derecha">
              <a:extLst>
                <a:ext uri="{FF2B5EF4-FFF2-40B4-BE49-F238E27FC236}">
                  <a16:creationId xmlns:a16="http://schemas.microsoft.com/office/drawing/2014/main" id="{EFF73E3B-F9D7-440C-BF68-778BEE1CD315}"/>
                </a:ext>
              </a:extLst>
            </p:cNvPr>
            <p:cNvSpPr/>
            <p:nvPr/>
          </p:nvSpPr>
          <p:spPr>
            <a:xfrm>
              <a:off x="1851561" y="2038875"/>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21 Flecha derecha">
              <a:extLst>
                <a:ext uri="{FF2B5EF4-FFF2-40B4-BE49-F238E27FC236}">
                  <a16:creationId xmlns:a16="http://schemas.microsoft.com/office/drawing/2014/main" id="{F9345061-BCAA-40FE-9F6C-3E8876DC5571}"/>
                </a:ext>
              </a:extLst>
            </p:cNvPr>
            <p:cNvSpPr/>
            <p:nvPr/>
          </p:nvSpPr>
          <p:spPr>
            <a:xfrm>
              <a:off x="5676075" y="2031618"/>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22" name="5 CuadroTexto">
            <a:extLst>
              <a:ext uri="{FF2B5EF4-FFF2-40B4-BE49-F238E27FC236}">
                <a16:creationId xmlns:a16="http://schemas.microsoft.com/office/drawing/2014/main" id="{773597FB-1C24-4F3E-875F-AB061FF4E198}"/>
              </a:ext>
            </a:extLst>
          </p:cNvPr>
          <p:cNvSpPr txBox="1"/>
          <p:nvPr/>
        </p:nvSpPr>
        <p:spPr>
          <a:xfrm>
            <a:off x="251520" y="3949313"/>
            <a:ext cx="4016228" cy="1846659"/>
          </a:xfrm>
          <a:prstGeom prst="rect">
            <a:avLst/>
          </a:prstGeom>
          <a:noFill/>
        </p:spPr>
        <p:txBody>
          <a:bodyPr wrap="square" rtlCol="0">
            <a:spAutoFit/>
          </a:bodyPr>
          <a:lstStyle/>
          <a:p>
            <a:r>
              <a:rPr lang="es-CO" sz="1400" b="1" dirty="0"/>
              <a:t>Datos de entrada: </a:t>
            </a:r>
          </a:p>
          <a:p>
            <a:pPr marL="285750" indent="-285750">
              <a:buFont typeface="Arial" panose="020B0604020202020204" pitchFamily="34" charset="0"/>
              <a:buChar char="•"/>
            </a:pPr>
            <a:r>
              <a:rPr lang="es-CO" sz="1200" b="1" dirty="0"/>
              <a:t>Numero</a:t>
            </a:r>
            <a:endParaRPr lang="es-CO" sz="1200" dirty="0"/>
          </a:p>
          <a:p>
            <a:r>
              <a:rPr lang="es-CO" sz="1400" b="1" dirty="0"/>
              <a:t>Datos de salida: </a:t>
            </a:r>
          </a:p>
          <a:p>
            <a:pPr marL="285750" indent="-285750">
              <a:buFont typeface="Arial" panose="020B0604020202020204" pitchFamily="34" charset="0"/>
              <a:buChar char="•"/>
            </a:pPr>
            <a:r>
              <a:rPr lang="es-CO" sz="1200" b="1" dirty="0"/>
              <a:t>Divisores del numero</a:t>
            </a:r>
          </a:p>
          <a:p>
            <a:r>
              <a:rPr lang="es-CO" sz="1400" b="1" dirty="0"/>
              <a:t>Definición de variables:</a:t>
            </a:r>
          </a:p>
          <a:p>
            <a:pPr marL="342900" indent="-342900">
              <a:buFont typeface="Arial" pitchFamily="34" charset="0"/>
              <a:buChar char="•"/>
            </a:pPr>
            <a:r>
              <a:rPr lang="es-CO" sz="1200" b="1" dirty="0" err="1">
                <a:latin typeface="Consolas" panose="020B0609020204030204" pitchFamily="49" charset="0"/>
              </a:rPr>
              <a:t>num</a:t>
            </a:r>
            <a:r>
              <a:rPr lang="es-CO" sz="1200" b="1" dirty="0"/>
              <a:t>:</a:t>
            </a:r>
            <a:r>
              <a:rPr lang="es-CO" sz="1200" dirty="0"/>
              <a:t> Numero ingresado por el usuario.</a:t>
            </a:r>
          </a:p>
          <a:p>
            <a:pPr marL="342900" indent="-342900">
              <a:buFont typeface="Arial" pitchFamily="34" charset="0"/>
              <a:buChar char="•"/>
            </a:pPr>
            <a:r>
              <a:rPr lang="es-CO" sz="1200" b="1" dirty="0">
                <a:latin typeface="Consolas" panose="020B0609020204030204" pitchFamily="49" charset="0"/>
              </a:rPr>
              <a:t>i</a:t>
            </a:r>
            <a:r>
              <a:rPr lang="es-CO" sz="1200" b="1" dirty="0"/>
              <a:t>:</a:t>
            </a:r>
            <a:r>
              <a:rPr lang="es-CO" sz="1200" dirty="0"/>
              <a:t> Divisor i-</a:t>
            </a:r>
            <a:r>
              <a:rPr lang="es-CO" sz="1200" dirty="0" err="1"/>
              <a:t>esimo</a:t>
            </a:r>
            <a:r>
              <a:rPr lang="es-CO" sz="1200" dirty="0"/>
              <a:t>.</a:t>
            </a:r>
          </a:p>
          <a:p>
            <a:pPr marL="342900" indent="-342900">
              <a:buFont typeface="Arial" pitchFamily="34" charset="0"/>
              <a:buChar char="•"/>
            </a:pPr>
            <a:r>
              <a:rPr lang="es-CO" sz="1200" b="1" dirty="0" err="1">
                <a:latin typeface="Consolas" panose="020B0609020204030204" pitchFamily="49" charset="0"/>
              </a:rPr>
              <a:t>num_divisores</a:t>
            </a:r>
            <a:r>
              <a:rPr lang="es-CO" sz="1200" b="1" dirty="0"/>
              <a:t>: </a:t>
            </a:r>
            <a:r>
              <a:rPr lang="es-CO" sz="1200" dirty="0"/>
              <a:t>Cantidad de divisores del numero.</a:t>
            </a:r>
          </a:p>
          <a:p>
            <a:pPr marL="342900" indent="-342900">
              <a:buFont typeface="Arial" pitchFamily="34" charset="0"/>
              <a:buChar char="•"/>
            </a:pPr>
            <a:endParaRPr lang="es-CO" sz="1200" dirty="0"/>
          </a:p>
        </p:txBody>
      </p:sp>
      <p:sp>
        <p:nvSpPr>
          <p:cNvPr id="24" name="1 Rectángulo">
            <a:extLst>
              <a:ext uri="{FF2B5EF4-FFF2-40B4-BE49-F238E27FC236}">
                <a16:creationId xmlns:a16="http://schemas.microsoft.com/office/drawing/2014/main" id="{EEA87DAC-2F33-425F-B080-2509054A4309}"/>
              </a:ext>
            </a:extLst>
          </p:cNvPr>
          <p:cNvSpPr/>
          <p:nvPr/>
        </p:nvSpPr>
        <p:spPr>
          <a:xfrm>
            <a:off x="740816" y="2480396"/>
            <a:ext cx="640607"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num</a:t>
            </a:r>
          </a:p>
        </p:txBody>
      </p:sp>
      <p:sp>
        <p:nvSpPr>
          <p:cNvPr id="28" name="1 Rectángulo">
            <a:extLst>
              <a:ext uri="{FF2B5EF4-FFF2-40B4-BE49-F238E27FC236}">
                <a16:creationId xmlns:a16="http://schemas.microsoft.com/office/drawing/2014/main" id="{88650764-EF09-4F5A-95DB-F222A5C9FA27}"/>
              </a:ext>
            </a:extLst>
          </p:cNvPr>
          <p:cNvSpPr/>
          <p:nvPr/>
        </p:nvSpPr>
        <p:spPr>
          <a:xfrm>
            <a:off x="7447962" y="2432256"/>
            <a:ext cx="1444517"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num_divisores</a:t>
            </a:r>
          </a:p>
        </p:txBody>
      </p:sp>
      <p:sp>
        <p:nvSpPr>
          <p:cNvPr id="29" name="1 Rectángulo">
            <a:extLst>
              <a:ext uri="{FF2B5EF4-FFF2-40B4-BE49-F238E27FC236}">
                <a16:creationId xmlns:a16="http://schemas.microsoft.com/office/drawing/2014/main" id="{6E044B12-E8DE-4EE6-8CC7-6B0DC89CABA1}"/>
              </a:ext>
            </a:extLst>
          </p:cNvPr>
          <p:cNvSpPr/>
          <p:nvPr/>
        </p:nvSpPr>
        <p:spPr>
          <a:xfrm>
            <a:off x="3519571" y="2770187"/>
            <a:ext cx="980421"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i</a:t>
            </a:r>
          </a:p>
        </p:txBody>
      </p:sp>
      <p:sp>
        <p:nvSpPr>
          <p:cNvPr id="17" name="1 Rectángulo">
            <a:extLst>
              <a:ext uri="{FF2B5EF4-FFF2-40B4-BE49-F238E27FC236}">
                <a16:creationId xmlns:a16="http://schemas.microsoft.com/office/drawing/2014/main" id="{FC382F55-1F8F-4F5B-BEE4-50B5D2B88E6A}"/>
              </a:ext>
            </a:extLst>
          </p:cNvPr>
          <p:cNvSpPr/>
          <p:nvPr/>
        </p:nvSpPr>
        <p:spPr>
          <a:xfrm>
            <a:off x="7447962" y="2709255"/>
            <a:ext cx="980421"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i</a:t>
            </a:r>
          </a:p>
        </p:txBody>
      </p:sp>
    </p:spTree>
    <p:extLst>
      <p:ext uri="{BB962C8B-B14F-4D97-AF65-F5344CB8AC3E}">
        <p14:creationId xmlns:p14="http://schemas.microsoft.com/office/powerpoint/2010/main" val="4705103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6658934" cy="710952"/>
          </a:xfrm>
        </p:spPr>
        <p:txBody>
          <a:bodyPr>
            <a:normAutofit/>
          </a:bodyPr>
          <a:lstStyle/>
          <a:p>
            <a:r>
              <a:rPr lang="es-CO" dirty="0"/>
              <a:t>Ciclos – Ejemplo 6</a:t>
            </a:r>
          </a:p>
        </p:txBody>
      </p:sp>
      <p:sp>
        <p:nvSpPr>
          <p:cNvPr id="15" name="CuadroTexto 14">
            <a:extLst>
              <a:ext uri="{FF2B5EF4-FFF2-40B4-BE49-F238E27FC236}">
                <a16:creationId xmlns:a16="http://schemas.microsoft.com/office/drawing/2014/main" id="{C8D7FD91-6A4E-42E2-9BC9-1E7DAF947E36}"/>
              </a:ext>
            </a:extLst>
          </p:cNvPr>
          <p:cNvSpPr txBox="1"/>
          <p:nvPr/>
        </p:nvSpPr>
        <p:spPr>
          <a:xfrm>
            <a:off x="191042" y="1362248"/>
            <a:ext cx="4520657" cy="2123658"/>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Inicio</a:t>
            </a:r>
          </a:p>
          <a:p>
            <a:r>
              <a:rPr lang="es-MX" sz="1200" dirty="0">
                <a:latin typeface="Consolas" panose="020B0609020204030204" pitchFamily="49" charset="0"/>
              </a:rPr>
              <a:t>  </a:t>
            </a:r>
            <a:r>
              <a:rPr lang="es-MX" sz="1200" dirty="0" err="1">
                <a:latin typeface="Consolas" panose="020B0609020204030204" pitchFamily="49" charset="0"/>
              </a:rPr>
              <a:t>num_divisores</a:t>
            </a:r>
            <a:r>
              <a:rPr lang="es-MX" sz="1200" dirty="0">
                <a:latin typeface="Consolas" panose="020B0609020204030204" pitchFamily="49" charset="0"/>
              </a:rPr>
              <a:t> = 0</a:t>
            </a:r>
          </a:p>
          <a:p>
            <a:r>
              <a:rPr lang="es-MX" sz="1200" dirty="0">
                <a:latin typeface="Consolas" panose="020B0609020204030204" pitchFamily="49" charset="0"/>
              </a:rPr>
              <a:t>  Leer(</a:t>
            </a:r>
            <a:r>
              <a:rPr lang="es-MX" sz="1200" dirty="0" err="1">
                <a:latin typeface="Consolas" panose="020B0609020204030204" pitchFamily="49" charset="0"/>
              </a:rPr>
              <a:t>num</a:t>
            </a:r>
            <a:r>
              <a:rPr lang="es-MX" sz="1200" dirty="0">
                <a:latin typeface="Consolas" panose="020B0609020204030204" pitchFamily="49" charset="0"/>
              </a:rPr>
              <a:t>)</a:t>
            </a:r>
          </a:p>
          <a:p>
            <a:r>
              <a:rPr lang="es-MX" sz="1200" dirty="0">
                <a:solidFill>
                  <a:srgbClr val="C00000"/>
                </a:solidFill>
                <a:latin typeface="Consolas" panose="020B0609020204030204" pitchFamily="49" charset="0"/>
              </a:rPr>
              <a:t>  Para (i = 1,</a:t>
            </a:r>
            <a:r>
              <a:rPr lang="es-MX" sz="1200" dirty="0">
                <a:solidFill>
                  <a:srgbClr val="C00000"/>
                </a:solidFill>
                <a:highlight>
                  <a:srgbClr val="FFFF00"/>
                </a:highlight>
                <a:latin typeface="Consolas" panose="020B0609020204030204" pitchFamily="49" charset="0"/>
              </a:rPr>
              <a:t>num//2</a:t>
            </a:r>
            <a:r>
              <a:rPr lang="es-MX" sz="1200" dirty="0">
                <a:solidFill>
                  <a:srgbClr val="C00000"/>
                </a:solidFill>
                <a:latin typeface="Consolas" panose="020B0609020204030204" pitchFamily="49" charset="0"/>
              </a:rPr>
              <a:t>,1) Haga    </a:t>
            </a:r>
          </a:p>
          <a:p>
            <a:r>
              <a:rPr lang="es-MX" sz="1200" dirty="0">
                <a:solidFill>
                  <a:srgbClr val="00B050"/>
                </a:solidFill>
                <a:latin typeface="Consolas" panose="020B0609020204030204" pitchFamily="49" charset="0"/>
              </a:rPr>
              <a:t>     Si (</a:t>
            </a:r>
            <a:r>
              <a:rPr lang="es-MX" sz="1200" dirty="0" err="1">
                <a:solidFill>
                  <a:srgbClr val="00B050"/>
                </a:solidFill>
                <a:latin typeface="Consolas" panose="020B0609020204030204" pitchFamily="49" charset="0"/>
              </a:rPr>
              <a:t>num%i</a:t>
            </a:r>
            <a:r>
              <a:rPr lang="es-MX" sz="1200" dirty="0">
                <a:solidFill>
                  <a:srgbClr val="00B050"/>
                </a:solidFill>
                <a:latin typeface="Consolas" panose="020B0609020204030204" pitchFamily="49" charset="0"/>
              </a:rPr>
              <a:t> == 0) Entonces</a:t>
            </a:r>
          </a:p>
          <a:p>
            <a:r>
              <a:rPr lang="es-MX" sz="1200" dirty="0">
                <a:solidFill>
                  <a:srgbClr val="00B050"/>
                </a:solidFill>
                <a:latin typeface="Consolas" panose="020B0609020204030204" pitchFamily="49" charset="0"/>
              </a:rPr>
              <a:t>       </a:t>
            </a:r>
            <a:r>
              <a:rPr lang="es-MX" sz="1200" dirty="0" err="1">
                <a:solidFill>
                  <a:srgbClr val="00B050"/>
                </a:solidFill>
                <a:latin typeface="Consolas" panose="020B0609020204030204" pitchFamily="49" charset="0"/>
              </a:rPr>
              <a:t>num_divisores</a:t>
            </a:r>
            <a:r>
              <a:rPr lang="es-MX" sz="1200" dirty="0">
                <a:solidFill>
                  <a:srgbClr val="00B050"/>
                </a:solidFill>
                <a:latin typeface="Consolas" panose="020B0609020204030204" pitchFamily="49" charset="0"/>
              </a:rPr>
              <a:t> = </a:t>
            </a:r>
            <a:r>
              <a:rPr lang="es-MX" sz="1200" dirty="0" err="1">
                <a:solidFill>
                  <a:srgbClr val="00B050"/>
                </a:solidFill>
                <a:latin typeface="Consolas" panose="020B0609020204030204" pitchFamily="49" charset="0"/>
              </a:rPr>
              <a:t>num_divisores</a:t>
            </a:r>
            <a:r>
              <a:rPr lang="es-MX" sz="1200" dirty="0">
                <a:solidFill>
                  <a:srgbClr val="00B050"/>
                </a:solidFill>
                <a:latin typeface="Consolas" panose="020B0609020204030204" pitchFamily="49" charset="0"/>
              </a:rPr>
              <a:t> + 1</a:t>
            </a:r>
          </a:p>
          <a:p>
            <a:r>
              <a:rPr lang="es-MX" sz="1200" dirty="0">
                <a:solidFill>
                  <a:srgbClr val="00B050"/>
                </a:solidFill>
                <a:latin typeface="Consolas" panose="020B0609020204030204" pitchFamily="49" charset="0"/>
              </a:rPr>
              <a:t>       Escribir(i)</a:t>
            </a:r>
          </a:p>
          <a:p>
            <a:r>
              <a:rPr lang="es-MX" sz="1200" dirty="0">
                <a:solidFill>
                  <a:srgbClr val="00B050"/>
                </a:solidFill>
                <a:latin typeface="Consolas" panose="020B0609020204030204" pitchFamily="49" charset="0"/>
              </a:rPr>
              <a:t>     </a:t>
            </a:r>
            <a:r>
              <a:rPr lang="es-MX" sz="1200" dirty="0" err="1">
                <a:solidFill>
                  <a:srgbClr val="00B050"/>
                </a:solidFill>
                <a:latin typeface="Consolas" panose="020B0609020204030204" pitchFamily="49" charset="0"/>
              </a:rPr>
              <a:t>Fin_Si</a:t>
            </a:r>
            <a:endParaRPr lang="es-MX" sz="1200" dirty="0">
              <a:solidFill>
                <a:srgbClr val="00B050"/>
              </a:solidFill>
              <a:latin typeface="Consolas" panose="020B0609020204030204" pitchFamily="49" charset="0"/>
            </a:endParaRPr>
          </a:p>
          <a:p>
            <a:r>
              <a:rPr lang="es-MX" sz="1200" dirty="0">
                <a:solidFill>
                  <a:srgbClr val="C00000"/>
                </a:solidFill>
                <a:latin typeface="Consolas" panose="020B0609020204030204" pitchFamily="49" charset="0"/>
              </a:rPr>
              <a:t>  </a:t>
            </a:r>
            <a:r>
              <a:rPr lang="es-MX" sz="1200" dirty="0" err="1">
                <a:solidFill>
                  <a:srgbClr val="C00000"/>
                </a:solidFill>
                <a:latin typeface="Consolas" panose="020B0609020204030204" pitchFamily="49" charset="0"/>
              </a:rPr>
              <a:t>Fin_Para</a:t>
            </a:r>
            <a:endParaRPr lang="es-MX" sz="1200" dirty="0">
              <a:solidFill>
                <a:srgbClr val="C00000"/>
              </a:solidFill>
              <a:latin typeface="Consolas" panose="020B0609020204030204" pitchFamily="49" charset="0"/>
            </a:endParaRPr>
          </a:p>
          <a:p>
            <a:r>
              <a:rPr lang="es-MX" sz="1200" dirty="0">
                <a:latin typeface="Consolas" panose="020B0609020204030204" pitchFamily="49" charset="0"/>
              </a:rPr>
              <a:t>  Escribir(</a:t>
            </a:r>
            <a:r>
              <a:rPr lang="es-MX" sz="1200" dirty="0" err="1">
                <a:latin typeface="Consolas" panose="020B0609020204030204" pitchFamily="49" charset="0"/>
              </a:rPr>
              <a:t>num_divisores</a:t>
            </a:r>
            <a:r>
              <a:rPr lang="es-MX" sz="1200" dirty="0">
                <a:latin typeface="Consolas" panose="020B0609020204030204" pitchFamily="49" charset="0"/>
              </a:rPr>
              <a:t>)</a:t>
            </a:r>
          </a:p>
          <a:p>
            <a:r>
              <a:rPr lang="es-MX" sz="1200" dirty="0">
                <a:latin typeface="Consolas" panose="020B0609020204030204" pitchFamily="49" charset="0"/>
              </a:rPr>
              <a:t>Fin</a:t>
            </a:r>
            <a:endParaRPr lang="es-CO" sz="1200" dirty="0">
              <a:latin typeface="Consolas" panose="020B0609020204030204" pitchFamily="49" charset="0"/>
            </a:endParaRPr>
          </a:p>
        </p:txBody>
      </p:sp>
      <p:sp>
        <p:nvSpPr>
          <p:cNvPr id="16" name="CuadroTexto 15">
            <a:extLst>
              <a:ext uri="{FF2B5EF4-FFF2-40B4-BE49-F238E27FC236}">
                <a16:creationId xmlns:a16="http://schemas.microsoft.com/office/drawing/2014/main" id="{38B8693D-AA2E-44DE-88F9-84A5D401B09D}"/>
              </a:ext>
            </a:extLst>
          </p:cNvPr>
          <p:cNvSpPr txBox="1"/>
          <p:nvPr/>
        </p:nvSpPr>
        <p:spPr>
          <a:xfrm>
            <a:off x="1794474" y="5500479"/>
            <a:ext cx="1545785" cy="276999"/>
          </a:xfrm>
          <a:prstGeom prst="rect">
            <a:avLst/>
          </a:prstGeom>
          <a:noFill/>
        </p:spPr>
        <p:txBody>
          <a:bodyPr wrap="square" rtlCol="0">
            <a:spAutoFit/>
          </a:bodyPr>
          <a:lstStyle/>
          <a:p>
            <a:pPr algn="ctr"/>
            <a:r>
              <a:rPr lang="es-MX" sz="1200" dirty="0">
                <a:hlinkClick r:id="rId2"/>
              </a:rPr>
              <a:t>Link de ejecución</a:t>
            </a:r>
            <a:endParaRPr lang="es-CO" sz="1200" dirty="0"/>
          </a:p>
        </p:txBody>
      </p:sp>
      <p:sp>
        <p:nvSpPr>
          <p:cNvPr id="19" name="CuadroTexto 18">
            <a:extLst>
              <a:ext uri="{FF2B5EF4-FFF2-40B4-BE49-F238E27FC236}">
                <a16:creationId xmlns:a16="http://schemas.microsoft.com/office/drawing/2014/main" id="{FE685613-A7C0-4FFC-9227-3C7A8FAF52F1}"/>
              </a:ext>
            </a:extLst>
          </p:cNvPr>
          <p:cNvSpPr txBox="1"/>
          <p:nvPr/>
        </p:nvSpPr>
        <p:spPr>
          <a:xfrm>
            <a:off x="160593" y="4090016"/>
            <a:ext cx="4579086" cy="1384995"/>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 = 0</a:t>
            </a:r>
          </a:p>
          <a:p>
            <a:r>
              <a:rPr lang="es-MX" sz="1200" dirty="0">
                <a:latin typeface="Consolas" panose="020B0609020204030204" pitchFamily="49" charset="0"/>
              </a:rPr>
              <a:t>N = </a:t>
            </a:r>
            <a:r>
              <a:rPr lang="es-MX" sz="1200" dirty="0" err="1">
                <a:latin typeface="Consolas" panose="020B0609020204030204" pitchFamily="49" charset="0"/>
              </a:rPr>
              <a:t>int</a:t>
            </a:r>
            <a:r>
              <a:rPr lang="es-MX" sz="1200" dirty="0">
                <a:latin typeface="Consolas" panose="020B0609020204030204" pitchFamily="49" charset="0"/>
              </a:rPr>
              <a:t>(input('Digite un numero entero positivo: '))</a:t>
            </a:r>
          </a:p>
          <a:p>
            <a:r>
              <a:rPr lang="es-MX" sz="1200" dirty="0">
                <a:solidFill>
                  <a:schemeClr val="accent5"/>
                </a:solidFill>
                <a:latin typeface="Consolas" panose="020B0609020204030204" pitchFamily="49" charset="0"/>
              </a:rPr>
              <a:t>for</a:t>
            </a:r>
            <a:r>
              <a:rPr lang="es-MX" sz="1200" dirty="0">
                <a:latin typeface="Consolas" panose="020B0609020204030204" pitchFamily="49" charset="0"/>
              </a:rPr>
              <a:t> i in range(1,</a:t>
            </a:r>
            <a:r>
              <a:rPr lang="es-MX" sz="1200" dirty="0">
                <a:highlight>
                  <a:srgbClr val="FFFF00"/>
                </a:highlight>
                <a:latin typeface="Consolas" panose="020B0609020204030204" pitchFamily="49" charset="0"/>
              </a:rPr>
              <a:t>num//2 + 1</a:t>
            </a:r>
            <a:r>
              <a:rPr lang="es-MX" sz="1200" dirty="0">
                <a:latin typeface="Consolas" panose="020B0609020204030204" pitchFamily="49" charset="0"/>
              </a:rPr>
              <a:t>):</a:t>
            </a:r>
          </a:p>
          <a:p>
            <a:r>
              <a:rPr lang="es-MX" sz="1200" dirty="0">
                <a:solidFill>
                  <a:srgbClr val="00B050"/>
                </a:solidFill>
                <a:latin typeface="Consolas" panose="020B0609020204030204" pitchFamily="49" charset="0"/>
              </a:rPr>
              <a:t> </a:t>
            </a:r>
            <a:r>
              <a:rPr lang="pt-BR" sz="1200" dirty="0">
                <a:solidFill>
                  <a:srgbClr val="00B050"/>
                </a:solidFill>
                <a:latin typeface="Consolas" panose="020B0609020204030204" pitchFamily="49" charset="0"/>
              </a:rPr>
              <a:t> </a:t>
            </a:r>
            <a:r>
              <a:rPr lang="pt-BR" sz="1200" dirty="0" err="1">
                <a:solidFill>
                  <a:srgbClr val="00B050"/>
                </a:solidFill>
                <a:latin typeface="Consolas" panose="020B0609020204030204" pitchFamily="49" charset="0"/>
              </a:rPr>
              <a:t>if</a:t>
            </a:r>
            <a:r>
              <a:rPr lang="pt-BR" sz="1200" dirty="0">
                <a:solidFill>
                  <a:srgbClr val="00B050"/>
                </a:solidFill>
                <a:latin typeface="Consolas" panose="020B0609020204030204" pitchFamily="49" charset="0"/>
              </a:rPr>
              <a:t> num % i == 0:</a:t>
            </a:r>
          </a:p>
          <a:p>
            <a:r>
              <a:rPr lang="pt-BR" sz="1200" dirty="0">
                <a:solidFill>
                  <a:srgbClr val="00B050"/>
                </a:solidFill>
                <a:latin typeface="Consolas" panose="020B0609020204030204" pitchFamily="49" charset="0"/>
              </a:rPr>
              <a:t>    </a:t>
            </a:r>
            <a:r>
              <a:rPr lang="pt-BR" sz="1200" dirty="0" err="1">
                <a:solidFill>
                  <a:srgbClr val="00B050"/>
                </a:solidFill>
                <a:latin typeface="Consolas" panose="020B0609020204030204" pitchFamily="49" charset="0"/>
              </a:rPr>
              <a:t>num_divisores</a:t>
            </a:r>
            <a:r>
              <a:rPr lang="pt-BR" sz="1200" dirty="0">
                <a:solidFill>
                  <a:srgbClr val="00B050"/>
                </a:solidFill>
                <a:latin typeface="Consolas" panose="020B0609020204030204" pitchFamily="49" charset="0"/>
              </a:rPr>
              <a:t> += 1</a:t>
            </a:r>
          </a:p>
          <a:p>
            <a:r>
              <a:rPr lang="pt-BR" sz="1200" dirty="0">
                <a:solidFill>
                  <a:srgbClr val="00B050"/>
                </a:solidFill>
                <a:latin typeface="Consolas" panose="020B0609020204030204" pitchFamily="49" charset="0"/>
              </a:rPr>
              <a:t>    print(f"{i} es divisor de {num}")</a:t>
            </a:r>
          </a:p>
          <a:p>
            <a:r>
              <a:rPr lang="es-MX" sz="1200" dirty="0" err="1">
                <a:latin typeface="Consolas" panose="020B0609020204030204" pitchFamily="49" charset="0"/>
              </a:rPr>
              <a:t>print</a:t>
            </a:r>
            <a:r>
              <a:rPr lang="es-MX" sz="1200" dirty="0">
                <a:latin typeface="Consolas" panose="020B0609020204030204" pitchFamily="49" charset="0"/>
              </a:rPr>
              <a:t>(f"{</a:t>
            </a:r>
            <a:r>
              <a:rPr lang="es-MX" sz="1200" dirty="0" err="1">
                <a:latin typeface="Consolas" panose="020B0609020204030204" pitchFamily="49" charset="0"/>
              </a:rPr>
              <a:t>num</a:t>
            </a:r>
            <a:r>
              <a:rPr lang="es-MX" sz="1200" dirty="0">
                <a:latin typeface="Consolas" panose="020B0609020204030204" pitchFamily="49" charset="0"/>
              </a:rPr>
              <a:t>} tiene {</a:t>
            </a:r>
            <a:r>
              <a:rPr lang="es-MX" sz="1200" dirty="0" err="1">
                <a:latin typeface="Consolas" panose="020B0609020204030204" pitchFamily="49" charset="0"/>
              </a:rPr>
              <a:t>num_divisores</a:t>
            </a:r>
            <a:r>
              <a:rPr lang="es-MX" sz="1200" dirty="0">
                <a:latin typeface="Consolas" panose="020B0609020204030204" pitchFamily="49" charset="0"/>
              </a:rPr>
              <a:t>} divisores")</a:t>
            </a:r>
          </a:p>
        </p:txBody>
      </p:sp>
      <p:sp>
        <p:nvSpPr>
          <p:cNvPr id="20" name="CuadroTexto 19">
            <a:extLst>
              <a:ext uri="{FF2B5EF4-FFF2-40B4-BE49-F238E27FC236}">
                <a16:creationId xmlns:a16="http://schemas.microsoft.com/office/drawing/2014/main" id="{D590EDD7-8106-4324-9C3E-AEA635B0E29A}"/>
              </a:ext>
            </a:extLst>
          </p:cNvPr>
          <p:cNvSpPr txBox="1"/>
          <p:nvPr/>
        </p:nvSpPr>
        <p:spPr>
          <a:xfrm>
            <a:off x="205617" y="904126"/>
            <a:ext cx="3354440" cy="400110"/>
          </a:xfrm>
          <a:prstGeom prst="rect">
            <a:avLst/>
          </a:prstGeom>
          <a:noFill/>
        </p:spPr>
        <p:txBody>
          <a:bodyPr wrap="square" rtlCol="0">
            <a:spAutoFit/>
          </a:bodyPr>
          <a:lstStyle/>
          <a:p>
            <a:r>
              <a:rPr lang="es-CO" sz="2000" b="1" dirty="0"/>
              <a:t>Pseudocódigo</a:t>
            </a:r>
          </a:p>
        </p:txBody>
      </p:sp>
      <p:sp>
        <p:nvSpPr>
          <p:cNvPr id="21" name="CuadroTexto 20">
            <a:extLst>
              <a:ext uri="{FF2B5EF4-FFF2-40B4-BE49-F238E27FC236}">
                <a16:creationId xmlns:a16="http://schemas.microsoft.com/office/drawing/2014/main" id="{4D167869-DC13-42A4-88C8-4962E68597B5}"/>
              </a:ext>
            </a:extLst>
          </p:cNvPr>
          <p:cNvSpPr txBox="1"/>
          <p:nvPr/>
        </p:nvSpPr>
        <p:spPr>
          <a:xfrm>
            <a:off x="143206" y="3631894"/>
            <a:ext cx="2424161" cy="400110"/>
          </a:xfrm>
          <a:prstGeom prst="rect">
            <a:avLst/>
          </a:prstGeom>
          <a:noFill/>
        </p:spPr>
        <p:txBody>
          <a:bodyPr wrap="square" rtlCol="0">
            <a:spAutoFit/>
          </a:bodyPr>
          <a:lstStyle/>
          <a:p>
            <a:r>
              <a:rPr lang="es-CO" sz="2000" b="1" dirty="0"/>
              <a:t>Python</a:t>
            </a:r>
          </a:p>
        </p:txBody>
      </p:sp>
      <p:pic>
        <p:nvPicPr>
          <p:cNvPr id="3" name="Imagen 2">
            <a:extLst>
              <a:ext uri="{FF2B5EF4-FFF2-40B4-BE49-F238E27FC236}">
                <a16:creationId xmlns:a16="http://schemas.microsoft.com/office/drawing/2014/main" id="{95D8051D-D22B-4AC0-A5A2-461FD281FB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06264" y="548681"/>
            <a:ext cx="4337735" cy="5472608"/>
          </a:xfrm>
          <a:prstGeom prst="rect">
            <a:avLst/>
          </a:prstGeom>
        </p:spPr>
      </p:pic>
    </p:spTree>
    <p:extLst>
      <p:ext uri="{BB962C8B-B14F-4D97-AF65-F5344CB8AC3E}">
        <p14:creationId xmlns:p14="http://schemas.microsoft.com/office/powerpoint/2010/main" val="42385540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6658934" cy="710952"/>
          </a:xfrm>
        </p:spPr>
        <p:txBody>
          <a:bodyPr>
            <a:normAutofit/>
          </a:bodyPr>
          <a:lstStyle/>
          <a:p>
            <a:r>
              <a:rPr lang="es-CO" dirty="0"/>
              <a:t>Ciclos – Ejemplo 7</a:t>
            </a:r>
          </a:p>
        </p:txBody>
      </p:sp>
      <p:sp>
        <p:nvSpPr>
          <p:cNvPr id="13" name="12 Rectángulo"/>
          <p:cNvSpPr/>
          <p:nvPr/>
        </p:nvSpPr>
        <p:spPr>
          <a:xfrm>
            <a:off x="145314" y="846114"/>
            <a:ext cx="8747165" cy="369332"/>
          </a:xfrm>
          <a:prstGeom prst="rect">
            <a:avLst/>
          </a:prstGeom>
        </p:spPr>
        <p:txBody>
          <a:bodyPr wrap="square">
            <a:spAutoFit/>
          </a:bodyPr>
          <a:lstStyle/>
          <a:p>
            <a:pPr algn="l"/>
            <a:r>
              <a:rPr lang="es-MX" sz="1800" b="0" i="0" u="none" strike="noStrike" baseline="0" dirty="0"/>
              <a:t>Realizar un programa que indique si un numero ingresado por el usuario es o no es  primo.</a:t>
            </a:r>
            <a:endParaRPr lang="es-MX" sz="2000" dirty="0"/>
          </a:p>
        </p:txBody>
      </p:sp>
      <p:sp>
        <p:nvSpPr>
          <p:cNvPr id="22" name="5 CuadroTexto">
            <a:extLst>
              <a:ext uri="{FF2B5EF4-FFF2-40B4-BE49-F238E27FC236}">
                <a16:creationId xmlns:a16="http://schemas.microsoft.com/office/drawing/2014/main" id="{773597FB-1C24-4F3E-875F-AB061FF4E198}"/>
              </a:ext>
            </a:extLst>
          </p:cNvPr>
          <p:cNvSpPr txBox="1"/>
          <p:nvPr/>
        </p:nvSpPr>
        <p:spPr>
          <a:xfrm>
            <a:off x="251520" y="3949313"/>
            <a:ext cx="4016228" cy="1846659"/>
          </a:xfrm>
          <a:prstGeom prst="rect">
            <a:avLst/>
          </a:prstGeom>
          <a:noFill/>
        </p:spPr>
        <p:txBody>
          <a:bodyPr wrap="square" rtlCol="0">
            <a:spAutoFit/>
          </a:bodyPr>
          <a:lstStyle/>
          <a:p>
            <a:r>
              <a:rPr lang="es-CO" sz="1400" b="1" dirty="0"/>
              <a:t>Datos de entrada: </a:t>
            </a:r>
          </a:p>
          <a:p>
            <a:pPr marL="285750" indent="-285750">
              <a:buFont typeface="Arial" panose="020B0604020202020204" pitchFamily="34" charset="0"/>
              <a:buChar char="•"/>
            </a:pPr>
            <a:r>
              <a:rPr lang="es-CO" sz="1200" b="1" dirty="0"/>
              <a:t>Numero</a:t>
            </a:r>
            <a:endParaRPr lang="es-CO" sz="1200" dirty="0"/>
          </a:p>
          <a:p>
            <a:r>
              <a:rPr lang="es-CO" sz="1400" b="1" dirty="0"/>
              <a:t>Datos de salida: </a:t>
            </a:r>
          </a:p>
          <a:p>
            <a:pPr marL="285750" indent="-285750">
              <a:buFont typeface="Arial" panose="020B0604020202020204" pitchFamily="34" charset="0"/>
              <a:buChar char="•"/>
            </a:pPr>
            <a:r>
              <a:rPr lang="es-CO" sz="1200" b="1" dirty="0"/>
              <a:t>Indicación si es o no es primo</a:t>
            </a:r>
          </a:p>
          <a:p>
            <a:r>
              <a:rPr lang="es-CO" sz="1400" b="1" dirty="0"/>
              <a:t>Definición de variables:</a:t>
            </a:r>
          </a:p>
          <a:p>
            <a:pPr marL="342900" indent="-342900">
              <a:buFont typeface="Arial" pitchFamily="34" charset="0"/>
              <a:buChar char="•"/>
            </a:pPr>
            <a:r>
              <a:rPr lang="es-CO" sz="1200" b="1" dirty="0" err="1">
                <a:latin typeface="Consolas" panose="020B0609020204030204" pitchFamily="49" charset="0"/>
              </a:rPr>
              <a:t>num</a:t>
            </a:r>
            <a:r>
              <a:rPr lang="es-CO" sz="1200" b="1" dirty="0"/>
              <a:t>:</a:t>
            </a:r>
            <a:r>
              <a:rPr lang="es-CO" sz="1200" dirty="0"/>
              <a:t> Numero ingresado por el usuario.</a:t>
            </a:r>
          </a:p>
          <a:p>
            <a:pPr marL="342900" indent="-342900">
              <a:buFont typeface="Arial" pitchFamily="34" charset="0"/>
              <a:buChar char="•"/>
            </a:pPr>
            <a:r>
              <a:rPr lang="es-CO" sz="1200" b="1" dirty="0">
                <a:latin typeface="Consolas" panose="020B0609020204030204" pitchFamily="49" charset="0"/>
              </a:rPr>
              <a:t>i</a:t>
            </a:r>
            <a:r>
              <a:rPr lang="es-CO" sz="1200" b="1" dirty="0"/>
              <a:t>:</a:t>
            </a:r>
            <a:r>
              <a:rPr lang="es-CO" sz="1200" dirty="0"/>
              <a:t> Divisor i-</a:t>
            </a:r>
            <a:r>
              <a:rPr lang="es-CO" sz="1200" dirty="0" err="1"/>
              <a:t>esimo</a:t>
            </a:r>
            <a:r>
              <a:rPr lang="es-CO" sz="1200" dirty="0"/>
              <a:t>.</a:t>
            </a:r>
          </a:p>
          <a:p>
            <a:pPr marL="342900" indent="-342900">
              <a:buFont typeface="Arial" pitchFamily="34" charset="0"/>
              <a:buChar char="•"/>
            </a:pPr>
            <a:r>
              <a:rPr lang="es-CO" sz="1200" b="1" dirty="0" err="1">
                <a:latin typeface="Consolas" panose="020B0609020204030204" pitchFamily="49" charset="0"/>
              </a:rPr>
              <a:t>num_divisores</a:t>
            </a:r>
            <a:r>
              <a:rPr lang="es-CO" sz="1200" b="1" dirty="0"/>
              <a:t>: </a:t>
            </a:r>
            <a:r>
              <a:rPr lang="es-CO" sz="1200" dirty="0"/>
              <a:t>Cantidad de divisores del numero.</a:t>
            </a:r>
          </a:p>
          <a:p>
            <a:pPr marL="342900" indent="-342900">
              <a:buFont typeface="Arial" pitchFamily="34" charset="0"/>
              <a:buChar char="•"/>
            </a:pPr>
            <a:endParaRPr lang="es-CO" sz="1200" dirty="0"/>
          </a:p>
        </p:txBody>
      </p:sp>
      <p:grpSp>
        <p:nvGrpSpPr>
          <p:cNvPr id="2" name="Grupo 1">
            <a:extLst>
              <a:ext uri="{FF2B5EF4-FFF2-40B4-BE49-F238E27FC236}">
                <a16:creationId xmlns:a16="http://schemas.microsoft.com/office/drawing/2014/main" id="{F965C0F5-40B5-4384-B623-ED3226ECA91B}"/>
              </a:ext>
            </a:extLst>
          </p:cNvPr>
          <p:cNvGrpSpPr/>
          <p:nvPr/>
        </p:nvGrpSpPr>
        <p:grpSpPr>
          <a:xfrm>
            <a:off x="388239" y="1986930"/>
            <a:ext cx="8202163" cy="1442070"/>
            <a:chOff x="388239" y="1578566"/>
            <a:chExt cx="8202163" cy="1442070"/>
          </a:xfrm>
        </p:grpSpPr>
        <p:grpSp>
          <p:nvGrpSpPr>
            <p:cNvPr id="6" name="5 Grupo">
              <a:extLst>
                <a:ext uri="{FF2B5EF4-FFF2-40B4-BE49-F238E27FC236}">
                  <a16:creationId xmlns:a16="http://schemas.microsoft.com/office/drawing/2014/main" id="{A1D2312A-E5AA-430D-95E3-073CE4C461A1}"/>
                </a:ext>
              </a:extLst>
            </p:cNvPr>
            <p:cNvGrpSpPr/>
            <p:nvPr/>
          </p:nvGrpSpPr>
          <p:grpSpPr>
            <a:xfrm>
              <a:off x="388239" y="1578566"/>
              <a:ext cx="8202163" cy="783771"/>
              <a:chOff x="518399" y="1739458"/>
              <a:chExt cx="8202163" cy="783771"/>
            </a:xfrm>
          </p:grpSpPr>
          <p:sp>
            <p:nvSpPr>
              <p:cNvPr id="8" name="10 Rectángulo">
                <a:extLst>
                  <a:ext uri="{FF2B5EF4-FFF2-40B4-BE49-F238E27FC236}">
                    <a16:creationId xmlns:a16="http://schemas.microsoft.com/office/drawing/2014/main" id="{FCF15015-BA83-4B06-99A6-08AE20C7F278}"/>
                  </a:ext>
                </a:extLst>
              </p:cNvPr>
              <p:cNvSpPr/>
              <p:nvPr/>
            </p:nvSpPr>
            <p:spPr>
              <a:xfrm>
                <a:off x="518399" y="1879706"/>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Inputs</a:t>
                </a:r>
              </a:p>
            </p:txBody>
          </p:sp>
          <p:sp>
            <p:nvSpPr>
              <p:cNvPr id="9" name="11 Rectángulo">
                <a:extLst>
                  <a:ext uri="{FF2B5EF4-FFF2-40B4-BE49-F238E27FC236}">
                    <a16:creationId xmlns:a16="http://schemas.microsoft.com/office/drawing/2014/main" id="{24D2346B-45C4-4EB1-AC4E-9F86B024ABB3}"/>
                  </a:ext>
                </a:extLst>
              </p:cNvPr>
              <p:cNvSpPr/>
              <p:nvPr/>
            </p:nvSpPr>
            <p:spPr>
              <a:xfrm>
                <a:off x="3563888" y="1739458"/>
                <a:ext cx="2104858" cy="7837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t>Process</a:t>
                </a:r>
              </a:p>
            </p:txBody>
          </p:sp>
          <p:sp>
            <p:nvSpPr>
              <p:cNvPr id="10" name="13 Rectángulo">
                <a:extLst>
                  <a:ext uri="{FF2B5EF4-FFF2-40B4-BE49-F238E27FC236}">
                    <a16:creationId xmlns:a16="http://schemas.microsoft.com/office/drawing/2014/main" id="{8EB5C9FB-4010-499A-9DE2-CD6FFED74C8D}"/>
                  </a:ext>
                </a:extLst>
              </p:cNvPr>
              <p:cNvSpPr/>
              <p:nvPr/>
            </p:nvSpPr>
            <p:spPr>
              <a:xfrm>
                <a:off x="7374799" y="1884602"/>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Outputs</a:t>
                </a:r>
              </a:p>
            </p:txBody>
          </p:sp>
          <p:sp>
            <p:nvSpPr>
              <p:cNvPr id="11" name="14 Flecha derecha">
                <a:extLst>
                  <a:ext uri="{FF2B5EF4-FFF2-40B4-BE49-F238E27FC236}">
                    <a16:creationId xmlns:a16="http://schemas.microsoft.com/office/drawing/2014/main" id="{EFF73E3B-F9D7-440C-BF68-778BEE1CD315}"/>
                  </a:ext>
                </a:extLst>
              </p:cNvPr>
              <p:cNvSpPr/>
              <p:nvPr/>
            </p:nvSpPr>
            <p:spPr>
              <a:xfrm>
                <a:off x="1851561" y="2038875"/>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21 Flecha derecha">
                <a:extLst>
                  <a:ext uri="{FF2B5EF4-FFF2-40B4-BE49-F238E27FC236}">
                    <a16:creationId xmlns:a16="http://schemas.microsoft.com/office/drawing/2014/main" id="{F9345061-BCAA-40FE-9F6C-3E8876DC5571}"/>
                  </a:ext>
                </a:extLst>
              </p:cNvPr>
              <p:cNvSpPr/>
              <p:nvPr/>
            </p:nvSpPr>
            <p:spPr>
              <a:xfrm>
                <a:off x="5676075" y="2031618"/>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24" name="1 Rectángulo">
              <a:extLst>
                <a:ext uri="{FF2B5EF4-FFF2-40B4-BE49-F238E27FC236}">
                  <a16:creationId xmlns:a16="http://schemas.microsoft.com/office/drawing/2014/main" id="{EEA87DAC-2F33-425F-B080-2509054A4309}"/>
                </a:ext>
              </a:extLst>
            </p:cNvPr>
            <p:cNvSpPr/>
            <p:nvPr/>
          </p:nvSpPr>
          <p:spPr>
            <a:xfrm>
              <a:off x="740816" y="2214138"/>
              <a:ext cx="640607"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num</a:t>
              </a:r>
            </a:p>
          </p:txBody>
        </p:sp>
        <p:sp>
          <p:nvSpPr>
            <p:cNvPr id="28" name="1 Rectángulo">
              <a:extLst>
                <a:ext uri="{FF2B5EF4-FFF2-40B4-BE49-F238E27FC236}">
                  <a16:creationId xmlns:a16="http://schemas.microsoft.com/office/drawing/2014/main" id="{88650764-EF09-4F5A-95DB-F222A5C9FA27}"/>
                </a:ext>
              </a:extLst>
            </p:cNvPr>
            <p:cNvSpPr/>
            <p:nvPr/>
          </p:nvSpPr>
          <p:spPr>
            <a:xfrm>
              <a:off x="3559531" y="2743637"/>
              <a:ext cx="1444517"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num_divisores</a:t>
              </a:r>
            </a:p>
          </p:txBody>
        </p:sp>
        <p:sp>
          <p:nvSpPr>
            <p:cNvPr id="29" name="1 Rectángulo">
              <a:extLst>
                <a:ext uri="{FF2B5EF4-FFF2-40B4-BE49-F238E27FC236}">
                  <a16:creationId xmlns:a16="http://schemas.microsoft.com/office/drawing/2014/main" id="{6E044B12-E8DE-4EE6-8CC7-6B0DC89CABA1}"/>
                </a:ext>
              </a:extLst>
            </p:cNvPr>
            <p:cNvSpPr/>
            <p:nvPr/>
          </p:nvSpPr>
          <p:spPr>
            <a:xfrm>
              <a:off x="3519571" y="2503929"/>
              <a:ext cx="980421"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i</a:t>
              </a:r>
            </a:p>
          </p:txBody>
        </p:sp>
      </p:grpSp>
    </p:spTree>
    <p:extLst>
      <p:ext uri="{BB962C8B-B14F-4D97-AF65-F5344CB8AC3E}">
        <p14:creationId xmlns:p14="http://schemas.microsoft.com/office/powerpoint/2010/main" val="7940520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6658934" cy="710952"/>
          </a:xfrm>
        </p:spPr>
        <p:txBody>
          <a:bodyPr>
            <a:normAutofit/>
          </a:bodyPr>
          <a:lstStyle/>
          <a:p>
            <a:r>
              <a:rPr lang="es-CO" dirty="0"/>
              <a:t>Ciclos – Ejemplo 7</a:t>
            </a:r>
          </a:p>
        </p:txBody>
      </p:sp>
      <p:sp>
        <p:nvSpPr>
          <p:cNvPr id="15" name="CuadroTexto 14">
            <a:extLst>
              <a:ext uri="{FF2B5EF4-FFF2-40B4-BE49-F238E27FC236}">
                <a16:creationId xmlns:a16="http://schemas.microsoft.com/office/drawing/2014/main" id="{C8D7FD91-6A4E-42E2-9BC9-1E7DAF947E36}"/>
              </a:ext>
            </a:extLst>
          </p:cNvPr>
          <p:cNvSpPr txBox="1"/>
          <p:nvPr/>
        </p:nvSpPr>
        <p:spPr>
          <a:xfrm>
            <a:off x="191042" y="1268760"/>
            <a:ext cx="4520657" cy="2862322"/>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Inicio</a:t>
            </a:r>
          </a:p>
          <a:p>
            <a:r>
              <a:rPr lang="es-MX" sz="1200" dirty="0">
                <a:latin typeface="Consolas" panose="020B0609020204030204" pitchFamily="49" charset="0"/>
              </a:rPr>
              <a:t>  </a:t>
            </a:r>
            <a:r>
              <a:rPr lang="es-MX" sz="1200" dirty="0" err="1">
                <a:latin typeface="Consolas" panose="020B0609020204030204" pitchFamily="49" charset="0"/>
              </a:rPr>
              <a:t>num_divisores</a:t>
            </a:r>
            <a:r>
              <a:rPr lang="es-MX" sz="1200" dirty="0">
                <a:latin typeface="Consolas" panose="020B0609020204030204" pitchFamily="49" charset="0"/>
              </a:rPr>
              <a:t> = 0</a:t>
            </a:r>
          </a:p>
          <a:p>
            <a:r>
              <a:rPr lang="es-MX" sz="1200" dirty="0">
                <a:latin typeface="Consolas" panose="020B0609020204030204" pitchFamily="49" charset="0"/>
              </a:rPr>
              <a:t>  Leer(</a:t>
            </a:r>
            <a:r>
              <a:rPr lang="es-MX" sz="1200" dirty="0" err="1">
                <a:latin typeface="Consolas" panose="020B0609020204030204" pitchFamily="49" charset="0"/>
              </a:rPr>
              <a:t>num</a:t>
            </a:r>
            <a:r>
              <a:rPr lang="es-MX" sz="1200" dirty="0">
                <a:latin typeface="Consolas" panose="020B0609020204030204" pitchFamily="49" charset="0"/>
              </a:rPr>
              <a:t>)</a:t>
            </a:r>
          </a:p>
          <a:p>
            <a:r>
              <a:rPr lang="es-MX" sz="1200" dirty="0">
                <a:solidFill>
                  <a:srgbClr val="C00000"/>
                </a:solidFill>
                <a:latin typeface="Consolas" panose="020B0609020204030204" pitchFamily="49" charset="0"/>
              </a:rPr>
              <a:t>  Para (i = 1,</a:t>
            </a:r>
            <a:r>
              <a:rPr lang="es-MX" sz="1200" dirty="0">
                <a:solidFill>
                  <a:srgbClr val="C00000"/>
                </a:solidFill>
                <a:highlight>
                  <a:srgbClr val="FFFF00"/>
                </a:highlight>
                <a:latin typeface="Consolas" panose="020B0609020204030204" pitchFamily="49" charset="0"/>
              </a:rPr>
              <a:t>num//2</a:t>
            </a:r>
            <a:r>
              <a:rPr lang="es-MX" sz="1200" dirty="0">
                <a:solidFill>
                  <a:srgbClr val="C00000"/>
                </a:solidFill>
                <a:latin typeface="Consolas" panose="020B0609020204030204" pitchFamily="49" charset="0"/>
              </a:rPr>
              <a:t>,1) Haga    </a:t>
            </a:r>
          </a:p>
          <a:p>
            <a:r>
              <a:rPr lang="es-MX" sz="1200" dirty="0">
                <a:solidFill>
                  <a:srgbClr val="00B050"/>
                </a:solidFill>
                <a:latin typeface="Consolas" panose="020B0609020204030204" pitchFamily="49" charset="0"/>
              </a:rPr>
              <a:t>    Si (</a:t>
            </a:r>
            <a:r>
              <a:rPr lang="es-MX" sz="1200" dirty="0" err="1">
                <a:solidFill>
                  <a:srgbClr val="00B050"/>
                </a:solidFill>
                <a:latin typeface="Consolas" panose="020B0609020204030204" pitchFamily="49" charset="0"/>
              </a:rPr>
              <a:t>num%i</a:t>
            </a:r>
            <a:r>
              <a:rPr lang="es-MX" sz="1200" dirty="0">
                <a:solidFill>
                  <a:srgbClr val="00B050"/>
                </a:solidFill>
                <a:latin typeface="Consolas" panose="020B0609020204030204" pitchFamily="49" charset="0"/>
              </a:rPr>
              <a:t> == 0) Entonces</a:t>
            </a:r>
          </a:p>
          <a:p>
            <a:r>
              <a:rPr lang="es-MX" sz="1200" dirty="0">
                <a:solidFill>
                  <a:srgbClr val="00B050"/>
                </a:solidFill>
                <a:latin typeface="Consolas" panose="020B0609020204030204" pitchFamily="49" charset="0"/>
              </a:rPr>
              <a:t>      </a:t>
            </a:r>
            <a:r>
              <a:rPr lang="es-MX" sz="1200" dirty="0" err="1">
                <a:solidFill>
                  <a:srgbClr val="00B050"/>
                </a:solidFill>
                <a:latin typeface="Consolas" panose="020B0609020204030204" pitchFamily="49" charset="0"/>
              </a:rPr>
              <a:t>num_divisores</a:t>
            </a:r>
            <a:r>
              <a:rPr lang="es-MX" sz="1200" dirty="0">
                <a:solidFill>
                  <a:srgbClr val="00B050"/>
                </a:solidFill>
                <a:latin typeface="Consolas" panose="020B0609020204030204" pitchFamily="49" charset="0"/>
              </a:rPr>
              <a:t> = </a:t>
            </a:r>
            <a:r>
              <a:rPr lang="es-MX" sz="1200" dirty="0" err="1">
                <a:solidFill>
                  <a:srgbClr val="00B050"/>
                </a:solidFill>
                <a:latin typeface="Consolas" panose="020B0609020204030204" pitchFamily="49" charset="0"/>
              </a:rPr>
              <a:t>num_divisores</a:t>
            </a:r>
            <a:r>
              <a:rPr lang="es-MX" sz="1200" dirty="0">
                <a:solidFill>
                  <a:srgbClr val="00B050"/>
                </a:solidFill>
                <a:latin typeface="Consolas" panose="020B0609020204030204" pitchFamily="49" charset="0"/>
              </a:rPr>
              <a:t> + 1</a:t>
            </a:r>
          </a:p>
          <a:p>
            <a:r>
              <a:rPr lang="es-MX" sz="1200" dirty="0">
                <a:solidFill>
                  <a:srgbClr val="00B050"/>
                </a:solidFill>
                <a:latin typeface="Consolas" panose="020B0609020204030204" pitchFamily="49" charset="0"/>
              </a:rPr>
              <a:t>    </a:t>
            </a:r>
            <a:r>
              <a:rPr lang="es-MX" sz="1200" dirty="0" err="1">
                <a:solidFill>
                  <a:srgbClr val="00B050"/>
                </a:solidFill>
                <a:latin typeface="Consolas" panose="020B0609020204030204" pitchFamily="49" charset="0"/>
              </a:rPr>
              <a:t>Fin_Si</a:t>
            </a:r>
            <a:endParaRPr lang="es-MX" sz="1200" dirty="0">
              <a:solidFill>
                <a:srgbClr val="00B050"/>
              </a:solidFill>
              <a:latin typeface="Consolas" panose="020B0609020204030204" pitchFamily="49" charset="0"/>
            </a:endParaRPr>
          </a:p>
          <a:p>
            <a:r>
              <a:rPr lang="es-MX" sz="1200" dirty="0">
                <a:solidFill>
                  <a:srgbClr val="C00000"/>
                </a:solidFill>
                <a:latin typeface="Consolas" panose="020B0609020204030204" pitchFamily="49" charset="0"/>
              </a:rPr>
              <a:t>  </a:t>
            </a:r>
            <a:r>
              <a:rPr lang="es-MX" sz="1200" dirty="0" err="1">
                <a:solidFill>
                  <a:srgbClr val="C00000"/>
                </a:solidFill>
                <a:latin typeface="Consolas" panose="020B0609020204030204" pitchFamily="49" charset="0"/>
              </a:rPr>
              <a:t>Fin_Para</a:t>
            </a:r>
            <a:endParaRPr lang="es-MX" sz="1200" dirty="0">
              <a:solidFill>
                <a:srgbClr val="C00000"/>
              </a:solidFill>
              <a:latin typeface="Consolas" panose="020B0609020204030204" pitchFamily="49" charset="0"/>
            </a:endParaRPr>
          </a:p>
          <a:p>
            <a:r>
              <a:rPr lang="es-MX" sz="1200" dirty="0">
                <a:latin typeface="Consolas" panose="020B0609020204030204" pitchFamily="49" charset="0"/>
              </a:rPr>
              <a:t>  Si(</a:t>
            </a:r>
            <a:r>
              <a:rPr lang="es-MX" sz="1200" dirty="0" err="1">
                <a:latin typeface="Consolas" panose="020B0609020204030204" pitchFamily="49" charset="0"/>
              </a:rPr>
              <a:t>num_divisores</a:t>
            </a:r>
            <a:r>
              <a:rPr lang="es-MX" sz="1200" dirty="0">
                <a:latin typeface="Consolas" panose="020B0609020204030204" pitchFamily="49" charset="0"/>
              </a:rPr>
              <a:t> &gt; 2) Entonces</a:t>
            </a:r>
          </a:p>
          <a:p>
            <a:r>
              <a:rPr lang="es-MX" sz="1200" dirty="0">
                <a:latin typeface="Consolas" panose="020B0609020204030204" pitchFamily="49" charset="0"/>
              </a:rPr>
              <a:t>    Escribir(</a:t>
            </a:r>
            <a:r>
              <a:rPr lang="es-MX" sz="1200" dirty="0" err="1">
                <a:latin typeface="Consolas" panose="020B0609020204030204" pitchFamily="49" charset="0"/>
              </a:rPr>
              <a:t>num</a:t>
            </a:r>
            <a:r>
              <a:rPr lang="es-MX" sz="1200" dirty="0">
                <a:latin typeface="Consolas" panose="020B0609020204030204" pitchFamily="49" charset="0"/>
              </a:rPr>
              <a:t>, " no es primo")</a:t>
            </a:r>
          </a:p>
          <a:p>
            <a:r>
              <a:rPr lang="es-MX" sz="1200" dirty="0">
                <a:latin typeface="Consolas" panose="020B0609020204030204" pitchFamily="49" charset="0"/>
              </a:rPr>
              <a:t>  Sino </a:t>
            </a:r>
          </a:p>
          <a:p>
            <a:r>
              <a:rPr lang="es-MX" sz="1200" dirty="0">
                <a:latin typeface="Consolas" panose="020B0609020204030204" pitchFamily="49" charset="0"/>
              </a:rPr>
              <a:t>    Escribir(</a:t>
            </a:r>
            <a:r>
              <a:rPr lang="es-MX" sz="1200" dirty="0" err="1">
                <a:latin typeface="Consolas" panose="020B0609020204030204" pitchFamily="49" charset="0"/>
              </a:rPr>
              <a:t>num</a:t>
            </a:r>
            <a:r>
              <a:rPr lang="es-MX" sz="1200" dirty="0">
                <a:latin typeface="Consolas" panose="020B0609020204030204" pitchFamily="49" charset="0"/>
              </a:rPr>
              <a:t>, " es primo")</a:t>
            </a:r>
          </a:p>
          <a:p>
            <a:r>
              <a:rPr lang="es-MX" sz="1200" dirty="0">
                <a:latin typeface="Consolas" panose="020B0609020204030204" pitchFamily="49" charset="0"/>
              </a:rPr>
              <a:t>  </a:t>
            </a:r>
            <a:r>
              <a:rPr lang="es-MX" sz="1200" dirty="0" err="1">
                <a:latin typeface="Consolas" panose="020B0609020204030204" pitchFamily="49" charset="0"/>
              </a:rPr>
              <a:t>Fin_Si</a:t>
            </a:r>
            <a:endParaRPr lang="es-MX" sz="1200" dirty="0">
              <a:latin typeface="Consolas" panose="020B0609020204030204" pitchFamily="49" charset="0"/>
            </a:endParaRPr>
          </a:p>
          <a:p>
            <a:r>
              <a:rPr lang="es-MX" sz="1200" dirty="0">
                <a:latin typeface="Consolas" panose="020B0609020204030204" pitchFamily="49" charset="0"/>
              </a:rPr>
              <a:t>  Escribir(</a:t>
            </a:r>
            <a:r>
              <a:rPr lang="es-MX" sz="1200" dirty="0" err="1">
                <a:latin typeface="Consolas" panose="020B0609020204030204" pitchFamily="49" charset="0"/>
              </a:rPr>
              <a:t>num_divisores</a:t>
            </a:r>
            <a:r>
              <a:rPr lang="es-MX" sz="1200" dirty="0">
                <a:latin typeface="Consolas" panose="020B0609020204030204" pitchFamily="49" charset="0"/>
              </a:rPr>
              <a:t>)</a:t>
            </a:r>
          </a:p>
          <a:p>
            <a:r>
              <a:rPr lang="es-MX" sz="1200" dirty="0">
                <a:latin typeface="Consolas" panose="020B0609020204030204" pitchFamily="49" charset="0"/>
              </a:rPr>
              <a:t>Fin</a:t>
            </a:r>
            <a:endParaRPr lang="es-CO" sz="1200" dirty="0">
              <a:latin typeface="Consolas" panose="020B0609020204030204" pitchFamily="49" charset="0"/>
            </a:endParaRPr>
          </a:p>
        </p:txBody>
      </p:sp>
      <p:sp>
        <p:nvSpPr>
          <p:cNvPr id="16" name="CuadroTexto 15">
            <a:extLst>
              <a:ext uri="{FF2B5EF4-FFF2-40B4-BE49-F238E27FC236}">
                <a16:creationId xmlns:a16="http://schemas.microsoft.com/office/drawing/2014/main" id="{38B8693D-AA2E-44DE-88F9-84A5D401B09D}"/>
              </a:ext>
            </a:extLst>
          </p:cNvPr>
          <p:cNvSpPr txBox="1"/>
          <p:nvPr/>
        </p:nvSpPr>
        <p:spPr>
          <a:xfrm>
            <a:off x="1794473" y="6387447"/>
            <a:ext cx="1545785" cy="276999"/>
          </a:xfrm>
          <a:prstGeom prst="rect">
            <a:avLst/>
          </a:prstGeom>
          <a:noFill/>
        </p:spPr>
        <p:txBody>
          <a:bodyPr wrap="square" rtlCol="0">
            <a:spAutoFit/>
          </a:bodyPr>
          <a:lstStyle/>
          <a:p>
            <a:pPr algn="ctr"/>
            <a:r>
              <a:rPr lang="es-MX" sz="1200" dirty="0">
                <a:hlinkClick r:id="rId2"/>
              </a:rPr>
              <a:t>Link de ejecución</a:t>
            </a:r>
            <a:endParaRPr lang="es-CO" sz="1200" dirty="0"/>
          </a:p>
        </p:txBody>
      </p:sp>
      <p:sp>
        <p:nvSpPr>
          <p:cNvPr id="19" name="CuadroTexto 18">
            <a:extLst>
              <a:ext uri="{FF2B5EF4-FFF2-40B4-BE49-F238E27FC236}">
                <a16:creationId xmlns:a16="http://schemas.microsoft.com/office/drawing/2014/main" id="{FE685613-A7C0-4FFC-9227-3C7A8FAF52F1}"/>
              </a:ext>
            </a:extLst>
          </p:cNvPr>
          <p:cNvSpPr txBox="1"/>
          <p:nvPr/>
        </p:nvSpPr>
        <p:spPr>
          <a:xfrm>
            <a:off x="181170" y="4581128"/>
            <a:ext cx="4579086" cy="1754326"/>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 = 0</a:t>
            </a:r>
          </a:p>
          <a:p>
            <a:r>
              <a:rPr lang="es-MX" sz="1200" dirty="0">
                <a:latin typeface="Consolas" panose="020B0609020204030204" pitchFamily="49" charset="0"/>
              </a:rPr>
              <a:t>N = </a:t>
            </a:r>
            <a:r>
              <a:rPr lang="es-MX" sz="1200" dirty="0" err="1">
                <a:latin typeface="Consolas" panose="020B0609020204030204" pitchFamily="49" charset="0"/>
              </a:rPr>
              <a:t>int</a:t>
            </a:r>
            <a:r>
              <a:rPr lang="es-MX" sz="1200" dirty="0">
                <a:latin typeface="Consolas" panose="020B0609020204030204" pitchFamily="49" charset="0"/>
              </a:rPr>
              <a:t>(input('Digite un numero entero positivo: '))</a:t>
            </a:r>
          </a:p>
          <a:p>
            <a:r>
              <a:rPr lang="es-MX" sz="1200" dirty="0">
                <a:solidFill>
                  <a:schemeClr val="accent5"/>
                </a:solidFill>
                <a:latin typeface="Consolas" panose="020B0609020204030204" pitchFamily="49" charset="0"/>
              </a:rPr>
              <a:t>for</a:t>
            </a:r>
            <a:r>
              <a:rPr lang="es-MX" sz="1200" dirty="0">
                <a:latin typeface="Consolas" panose="020B0609020204030204" pitchFamily="49" charset="0"/>
              </a:rPr>
              <a:t> i in range(1,</a:t>
            </a:r>
            <a:r>
              <a:rPr lang="es-MX" sz="1200" dirty="0">
                <a:highlight>
                  <a:srgbClr val="FFFF00"/>
                </a:highlight>
                <a:latin typeface="Consolas" panose="020B0609020204030204" pitchFamily="49" charset="0"/>
              </a:rPr>
              <a:t>num//2 + 1</a:t>
            </a:r>
            <a:r>
              <a:rPr lang="es-MX" sz="1200" dirty="0">
                <a:latin typeface="Consolas" panose="020B0609020204030204" pitchFamily="49" charset="0"/>
              </a:rPr>
              <a:t>):</a:t>
            </a:r>
          </a:p>
          <a:p>
            <a:r>
              <a:rPr lang="es-MX" sz="1200" dirty="0">
                <a:solidFill>
                  <a:srgbClr val="00B050"/>
                </a:solidFill>
                <a:latin typeface="Consolas" panose="020B0609020204030204" pitchFamily="49" charset="0"/>
              </a:rPr>
              <a:t> </a:t>
            </a:r>
            <a:r>
              <a:rPr lang="pt-BR" sz="1200" dirty="0">
                <a:solidFill>
                  <a:srgbClr val="00B050"/>
                </a:solidFill>
                <a:latin typeface="Consolas" panose="020B0609020204030204" pitchFamily="49" charset="0"/>
              </a:rPr>
              <a:t> </a:t>
            </a:r>
            <a:r>
              <a:rPr lang="pt-BR" sz="1200" dirty="0" err="1">
                <a:solidFill>
                  <a:srgbClr val="00B050"/>
                </a:solidFill>
                <a:latin typeface="Consolas" panose="020B0609020204030204" pitchFamily="49" charset="0"/>
              </a:rPr>
              <a:t>if</a:t>
            </a:r>
            <a:r>
              <a:rPr lang="pt-BR" sz="1200" dirty="0">
                <a:solidFill>
                  <a:srgbClr val="00B050"/>
                </a:solidFill>
                <a:latin typeface="Consolas" panose="020B0609020204030204" pitchFamily="49" charset="0"/>
              </a:rPr>
              <a:t> num % i == 0:</a:t>
            </a:r>
          </a:p>
          <a:p>
            <a:r>
              <a:rPr lang="pt-BR" sz="1200" dirty="0">
                <a:solidFill>
                  <a:srgbClr val="00B050"/>
                </a:solidFill>
                <a:latin typeface="Consolas" panose="020B0609020204030204" pitchFamily="49" charset="0"/>
              </a:rPr>
              <a:t>    </a:t>
            </a:r>
            <a:r>
              <a:rPr lang="pt-BR" sz="1200" dirty="0" err="1">
                <a:solidFill>
                  <a:srgbClr val="00B050"/>
                </a:solidFill>
                <a:latin typeface="Consolas" panose="020B0609020204030204" pitchFamily="49" charset="0"/>
              </a:rPr>
              <a:t>num_divisores</a:t>
            </a:r>
            <a:r>
              <a:rPr lang="pt-BR" sz="1200" dirty="0">
                <a:solidFill>
                  <a:srgbClr val="00B050"/>
                </a:solidFill>
                <a:latin typeface="Consolas" panose="020B0609020204030204" pitchFamily="49" charset="0"/>
              </a:rPr>
              <a:t> += 1</a:t>
            </a:r>
          </a:p>
          <a:p>
            <a:r>
              <a:rPr lang="es-MX" sz="1200" dirty="0" err="1">
                <a:latin typeface="Consolas" panose="020B0609020204030204" pitchFamily="49" charset="0"/>
              </a:rPr>
              <a:t>if</a:t>
            </a:r>
            <a:r>
              <a:rPr lang="es-MX" sz="1200" dirty="0">
                <a:latin typeface="Consolas" panose="020B0609020204030204" pitchFamily="49" charset="0"/>
              </a:rPr>
              <a:t> (</a:t>
            </a:r>
            <a:r>
              <a:rPr lang="es-MX" sz="1200" dirty="0" err="1">
                <a:latin typeface="Consolas" panose="020B0609020204030204" pitchFamily="49" charset="0"/>
              </a:rPr>
              <a:t>num_divisores</a:t>
            </a:r>
            <a:r>
              <a:rPr lang="es-MX" sz="1200" dirty="0">
                <a:latin typeface="Consolas" panose="020B0609020204030204" pitchFamily="49" charset="0"/>
              </a:rPr>
              <a:t> &gt; 2):</a:t>
            </a:r>
          </a:p>
          <a:p>
            <a:r>
              <a:rPr lang="es-MX" sz="1200" dirty="0">
                <a:latin typeface="Consolas" panose="020B0609020204030204" pitchFamily="49" charset="0"/>
              </a:rPr>
              <a:t>  </a:t>
            </a:r>
            <a:r>
              <a:rPr lang="es-MX" sz="1200" dirty="0" err="1">
                <a:latin typeface="Consolas" panose="020B0609020204030204" pitchFamily="49" charset="0"/>
              </a:rPr>
              <a:t>print</a:t>
            </a:r>
            <a:r>
              <a:rPr lang="es-MX" sz="1200" dirty="0">
                <a:latin typeface="Consolas" panose="020B0609020204030204" pitchFamily="49" charset="0"/>
              </a:rPr>
              <a:t>(</a:t>
            </a:r>
            <a:r>
              <a:rPr lang="es-MX" sz="1200" dirty="0" err="1">
                <a:latin typeface="Consolas" panose="020B0609020204030204" pitchFamily="49" charset="0"/>
              </a:rPr>
              <a:t>num</a:t>
            </a:r>
            <a:r>
              <a:rPr lang="es-MX" sz="1200" dirty="0">
                <a:latin typeface="Consolas" panose="020B0609020204030204" pitchFamily="49" charset="0"/>
              </a:rPr>
              <a:t>, " no es primo")</a:t>
            </a:r>
          </a:p>
          <a:p>
            <a:r>
              <a:rPr lang="es-MX" sz="1200" dirty="0" err="1">
                <a:latin typeface="Consolas" panose="020B0609020204030204" pitchFamily="49" charset="0"/>
              </a:rPr>
              <a:t>else</a:t>
            </a:r>
            <a:r>
              <a:rPr lang="es-MX" sz="1200" dirty="0">
                <a:latin typeface="Consolas" panose="020B0609020204030204" pitchFamily="49" charset="0"/>
              </a:rPr>
              <a:t>:</a:t>
            </a:r>
          </a:p>
          <a:p>
            <a:r>
              <a:rPr lang="es-MX" sz="1200" dirty="0">
                <a:latin typeface="Consolas" panose="020B0609020204030204" pitchFamily="49" charset="0"/>
              </a:rPr>
              <a:t>  </a:t>
            </a:r>
            <a:r>
              <a:rPr lang="es-MX" sz="1200" dirty="0" err="1">
                <a:latin typeface="Consolas" panose="020B0609020204030204" pitchFamily="49" charset="0"/>
              </a:rPr>
              <a:t>print</a:t>
            </a:r>
            <a:r>
              <a:rPr lang="es-MX" sz="1200" dirty="0">
                <a:latin typeface="Consolas" panose="020B0609020204030204" pitchFamily="49" charset="0"/>
              </a:rPr>
              <a:t>(</a:t>
            </a:r>
            <a:r>
              <a:rPr lang="es-MX" sz="1200" dirty="0" err="1">
                <a:latin typeface="Consolas" panose="020B0609020204030204" pitchFamily="49" charset="0"/>
              </a:rPr>
              <a:t>num</a:t>
            </a:r>
            <a:r>
              <a:rPr lang="es-MX" sz="1200" dirty="0">
                <a:latin typeface="Consolas" panose="020B0609020204030204" pitchFamily="49" charset="0"/>
              </a:rPr>
              <a:t>, " es primo")</a:t>
            </a:r>
          </a:p>
        </p:txBody>
      </p:sp>
      <p:sp>
        <p:nvSpPr>
          <p:cNvPr id="20" name="CuadroTexto 19">
            <a:extLst>
              <a:ext uri="{FF2B5EF4-FFF2-40B4-BE49-F238E27FC236}">
                <a16:creationId xmlns:a16="http://schemas.microsoft.com/office/drawing/2014/main" id="{D590EDD7-8106-4324-9C3E-AEA635B0E29A}"/>
              </a:ext>
            </a:extLst>
          </p:cNvPr>
          <p:cNvSpPr txBox="1"/>
          <p:nvPr/>
        </p:nvSpPr>
        <p:spPr>
          <a:xfrm>
            <a:off x="205617" y="904126"/>
            <a:ext cx="3354440" cy="400110"/>
          </a:xfrm>
          <a:prstGeom prst="rect">
            <a:avLst/>
          </a:prstGeom>
          <a:noFill/>
        </p:spPr>
        <p:txBody>
          <a:bodyPr wrap="square" rtlCol="0">
            <a:spAutoFit/>
          </a:bodyPr>
          <a:lstStyle/>
          <a:p>
            <a:r>
              <a:rPr lang="es-CO" sz="2000" b="1" dirty="0"/>
              <a:t>Pseudocódigo</a:t>
            </a:r>
          </a:p>
        </p:txBody>
      </p:sp>
      <p:sp>
        <p:nvSpPr>
          <p:cNvPr id="21" name="CuadroTexto 20">
            <a:extLst>
              <a:ext uri="{FF2B5EF4-FFF2-40B4-BE49-F238E27FC236}">
                <a16:creationId xmlns:a16="http://schemas.microsoft.com/office/drawing/2014/main" id="{4D167869-DC13-42A4-88C8-4962E68597B5}"/>
              </a:ext>
            </a:extLst>
          </p:cNvPr>
          <p:cNvSpPr txBox="1"/>
          <p:nvPr/>
        </p:nvSpPr>
        <p:spPr>
          <a:xfrm>
            <a:off x="143205" y="4197089"/>
            <a:ext cx="2424161" cy="400110"/>
          </a:xfrm>
          <a:prstGeom prst="rect">
            <a:avLst/>
          </a:prstGeom>
          <a:noFill/>
        </p:spPr>
        <p:txBody>
          <a:bodyPr wrap="square" rtlCol="0">
            <a:spAutoFit/>
          </a:bodyPr>
          <a:lstStyle/>
          <a:p>
            <a:r>
              <a:rPr lang="es-CO" sz="2000" b="1" dirty="0"/>
              <a:t>Python</a:t>
            </a:r>
          </a:p>
        </p:txBody>
      </p:sp>
      <p:pic>
        <p:nvPicPr>
          <p:cNvPr id="4" name="Imagen 3">
            <a:extLst>
              <a:ext uri="{FF2B5EF4-FFF2-40B4-BE49-F238E27FC236}">
                <a16:creationId xmlns:a16="http://schemas.microsoft.com/office/drawing/2014/main" id="{3C00E1E5-D93B-48E3-A3BD-ECBB353C90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8043" y="1052736"/>
            <a:ext cx="4158414" cy="4899446"/>
          </a:xfrm>
          <a:prstGeom prst="rect">
            <a:avLst/>
          </a:prstGeom>
        </p:spPr>
      </p:pic>
    </p:spTree>
    <p:extLst>
      <p:ext uri="{BB962C8B-B14F-4D97-AF65-F5344CB8AC3E}">
        <p14:creationId xmlns:p14="http://schemas.microsoft.com/office/powerpoint/2010/main" val="32825761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6802950" cy="710952"/>
          </a:xfrm>
        </p:spPr>
        <p:txBody>
          <a:bodyPr>
            <a:normAutofit fontScale="90000"/>
          </a:bodyPr>
          <a:lstStyle/>
          <a:p>
            <a:r>
              <a:rPr lang="es-CO" dirty="0"/>
              <a:t>Ciclos – Ejemplo 7 (Otra forma)</a:t>
            </a:r>
          </a:p>
        </p:txBody>
      </p:sp>
      <p:sp>
        <p:nvSpPr>
          <p:cNvPr id="13" name="12 Rectángulo"/>
          <p:cNvSpPr/>
          <p:nvPr/>
        </p:nvSpPr>
        <p:spPr>
          <a:xfrm>
            <a:off x="145314" y="846114"/>
            <a:ext cx="8747165" cy="3016210"/>
          </a:xfrm>
          <a:prstGeom prst="rect">
            <a:avLst/>
          </a:prstGeom>
        </p:spPr>
        <p:txBody>
          <a:bodyPr wrap="square">
            <a:spAutoFit/>
          </a:bodyPr>
          <a:lstStyle/>
          <a:p>
            <a:pPr algn="l"/>
            <a:r>
              <a:rPr lang="es-MX" sz="1800" b="0" i="0" u="none" strike="noStrike" baseline="0" dirty="0"/>
              <a:t>Realizar un programa que indique si un numero ingresado por el usuario es o no es  primo.</a:t>
            </a:r>
          </a:p>
          <a:p>
            <a:pPr algn="l"/>
            <a:endParaRPr lang="es-MX" dirty="0"/>
          </a:p>
          <a:p>
            <a:pPr algn="l"/>
            <a:endParaRPr lang="es-MX" sz="2000" dirty="0"/>
          </a:p>
          <a:p>
            <a:pPr algn="l"/>
            <a:endParaRPr lang="es-MX" sz="2000" dirty="0"/>
          </a:p>
          <a:p>
            <a:pPr algn="l"/>
            <a:endParaRPr lang="es-MX" sz="2000" dirty="0"/>
          </a:p>
          <a:p>
            <a:pPr algn="l"/>
            <a:endParaRPr lang="es-MX" sz="2000" dirty="0"/>
          </a:p>
          <a:p>
            <a:pPr algn="l"/>
            <a:endParaRPr lang="es-MX" sz="2000" dirty="0"/>
          </a:p>
          <a:p>
            <a:pPr algn="l"/>
            <a:endParaRPr lang="es-MX" dirty="0"/>
          </a:p>
          <a:p>
            <a:pPr algn="l"/>
            <a:r>
              <a:rPr lang="es-MX" dirty="0"/>
              <a:t>En este caso se uso una bandera (</a:t>
            </a:r>
            <a:r>
              <a:rPr lang="es-MX" sz="1600" b="1" dirty="0" err="1">
                <a:latin typeface="Consolas" panose="020B0609020204030204" pitchFamily="49" charset="0"/>
              </a:rPr>
              <a:t>es_primo</a:t>
            </a:r>
            <a:r>
              <a:rPr lang="es-MX" dirty="0"/>
              <a:t>) y ruptura de ciclos para hacer mas eficiente el programa.</a:t>
            </a:r>
          </a:p>
        </p:txBody>
      </p:sp>
      <p:grpSp>
        <p:nvGrpSpPr>
          <p:cNvPr id="6" name="5 Grupo">
            <a:extLst>
              <a:ext uri="{FF2B5EF4-FFF2-40B4-BE49-F238E27FC236}">
                <a16:creationId xmlns:a16="http://schemas.microsoft.com/office/drawing/2014/main" id="{A1D2312A-E5AA-430D-95E3-073CE4C461A1}"/>
              </a:ext>
            </a:extLst>
          </p:cNvPr>
          <p:cNvGrpSpPr/>
          <p:nvPr/>
        </p:nvGrpSpPr>
        <p:grpSpPr>
          <a:xfrm>
            <a:off x="388239" y="1578566"/>
            <a:ext cx="8202163" cy="783771"/>
            <a:chOff x="518399" y="1739458"/>
            <a:chExt cx="8202163" cy="783771"/>
          </a:xfrm>
        </p:grpSpPr>
        <p:sp>
          <p:nvSpPr>
            <p:cNvPr id="8" name="10 Rectángulo">
              <a:extLst>
                <a:ext uri="{FF2B5EF4-FFF2-40B4-BE49-F238E27FC236}">
                  <a16:creationId xmlns:a16="http://schemas.microsoft.com/office/drawing/2014/main" id="{FCF15015-BA83-4B06-99A6-08AE20C7F278}"/>
                </a:ext>
              </a:extLst>
            </p:cNvPr>
            <p:cNvSpPr/>
            <p:nvPr/>
          </p:nvSpPr>
          <p:spPr>
            <a:xfrm>
              <a:off x="518399" y="1879706"/>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Inputs</a:t>
              </a:r>
            </a:p>
          </p:txBody>
        </p:sp>
        <p:sp>
          <p:nvSpPr>
            <p:cNvPr id="9" name="11 Rectángulo">
              <a:extLst>
                <a:ext uri="{FF2B5EF4-FFF2-40B4-BE49-F238E27FC236}">
                  <a16:creationId xmlns:a16="http://schemas.microsoft.com/office/drawing/2014/main" id="{24D2346B-45C4-4EB1-AC4E-9F86B024ABB3}"/>
                </a:ext>
              </a:extLst>
            </p:cNvPr>
            <p:cNvSpPr/>
            <p:nvPr/>
          </p:nvSpPr>
          <p:spPr>
            <a:xfrm>
              <a:off x="3563888" y="1739458"/>
              <a:ext cx="2104858" cy="7837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t>Process</a:t>
              </a:r>
            </a:p>
          </p:txBody>
        </p:sp>
        <p:sp>
          <p:nvSpPr>
            <p:cNvPr id="10" name="13 Rectángulo">
              <a:extLst>
                <a:ext uri="{FF2B5EF4-FFF2-40B4-BE49-F238E27FC236}">
                  <a16:creationId xmlns:a16="http://schemas.microsoft.com/office/drawing/2014/main" id="{8EB5C9FB-4010-499A-9DE2-CD6FFED74C8D}"/>
                </a:ext>
              </a:extLst>
            </p:cNvPr>
            <p:cNvSpPr/>
            <p:nvPr/>
          </p:nvSpPr>
          <p:spPr>
            <a:xfrm>
              <a:off x="7374799" y="1884602"/>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Outputs</a:t>
              </a:r>
            </a:p>
          </p:txBody>
        </p:sp>
        <p:sp>
          <p:nvSpPr>
            <p:cNvPr id="11" name="14 Flecha derecha">
              <a:extLst>
                <a:ext uri="{FF2B5EF4-FFF2-40B4-BE49-F238E27FC236}">
                  <a16:creationId xmlns:a16="http://schemas.microsoft.com/office/drawing/2014/main" id="{EFF73E3B-F9D7-440C-BF68-778BEE1CD315}"/>
                </a:ext>
              </a:extLst>
            </p:cNvPr>
            <p:cNvSpPr/>
            <p:nvPr/>
          </p:nvSpPr>
          <p:spPr>
            <a:xfrm>
              <a:off x="1851561" y="2038875"/>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21 Flecha derecha">
              <a:extLst>
                <a:ext uri="{FF2B5EF4-FFF2-40B4-BE49-F238E27FC236}">
                  <a16:creationId xmlns:a16="http://schemas.microsoft.com/office/drawing/2014/main" id="{F9345061-BCAA-40FE-9F6C-3E8876DC5571}"/>
                </a:ext>
              </a:extLst>
            </p:cNvPr>
            <p:cNvSpPr/>
            <p:nvPr/>
          </p:nvSpPr>
          <p:spPr>
            <a:xfrm>
              <a:off x="5676075" y="2031618"/>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22" name="5 CuadroTexto">
            <a:extLst>
              <a:ext uri="{FF2B5EF4-FFF2-40B4-BE49-F238E27FC236}">
                <a16:creationId xmlns:a16="http://schemas.microsoft.com/office/drawing/2014/main" id="{773597FB-1C24-4F3E-875F-AB061FF4E198}"/>
              </a:ext>
            </a:extLst>
          </p:cNvPr>
          <p:cNvSpPr txBox="1"/>
          <p:nvPr/>
        </p:nvSpPr>
        <p:spPr>
          <a:xfrm>
            <a:off x="251520" y="3949313"/>
            <a:ext cx="4016228" cy="2031325"/>
          </a:xfrm>
          <a:prstGeom prst="rect">
            <a:avLst/>
          </a:prstGeom>
          <a:noFill/>
        </p:spPr>
        <p:txBody>
          <a:bodyPr wrap="square" rtlCol="0">
            <a:spAutoFit/>
          </a:bodyPr>
          <a:lstStyle/>
          <a:p>
            <a:r>
              <a:rPr lang="es-CO" sz="1400" b="1" dirty="0"/>
              <a:t>Datos de entrada: </a:t>
            </a:r>
          </a:p>
          <a:p>
            <a:pPr marL="285750" indent="-285750">
              <a:buFont typeface="Arial" panose="020B0604020202020204" pitchFamily="34" charset="0"/>
              <a:buChar char="•"/>
            </a:pPr>
            <a:r>
              <a:rPr lang="es-CO" sz="1200" b="1" dirty="0"/>
              <a:t>Numero</a:t>
            </a:r>
            <a:endParaRPr lang="es-CO" sz="1200" dirty="0"/>
          </a:p>
          <a:p>
            <a:r>
              <a:rPr lang="es-CO" sz="1400" b="1" dirty="0"/>
              <a:t>Datos de salida: </a:t>
            </a:r>
          </a:p>
          <a:p>
            <a:pPr marL="285750" indent="-285750">
              <a:buFont typeface="Arial" panose="020B0604020202020204" pitchFamily="34" charset="0"/>
              <a:buChar char="•"/>
            </a:pPr>
            <a:r>
              <a:rPr lang="es-CO" sz="1200" b="1" dirty="0"/>
              <a:t>Indicación si es o no es primo</a:t>
            </a:r>
          </a:p>
          <a:p>
            <a:r>
              <a:rPr lang="es-CO" sz="1400" b="1" dirty="0"/>
              <a:t>Definición de variables:</a:t>
            </a:r>
          </a:p>
          <a:p>
            <a:pPr marL="342900" indent="-342900">
              <a:buFont typeface="Arial" pitchFamily="34" charset="0"/>
              <a:buChar char="•"/>
            </a:pPr>
            <a:r>
              <a:rPr lang="es-CO" sz="1200" b="1" dirty="0" err="1">
                <a:latin typeface="Consolas" panose="020B0609020204030204" pitchFamily="49" charset="0"/>
              </a:rPr>
              <a:t>num</a:t>
            </a:r>
            <a:r>
              <a:rPr lang="es-CO" sz="1200" b="1" dirty="0"/>
              <a:t>:</a:t>
            </a:r>
            <a:r>
              <a:rPr lang="es-CO" sz="1200" dirty="0"/>
              <a:t> Numero ingresado por el usuario.</a:t>
            </a:r>
          </a:p>
          <a:p>
            <a:pPr marL="342900" indent="-342900">
              <a:buFont typeface="Arial" pitchFamily="34" charset="0"/>
              <a:buChar char="•"/>
            </a:pPr>
            <a:r>
              <a:rPr lang="es-CO" sz="1200" b="1" dirty="0">
                <a:latin typeface="Consolas" panose="020B0609020204030204" pitchFamily="49" charset="0"/>
              </a:rPr>
              <a:t>i</a:t>
            </a:r>
            <a:r>
              <a:rPr lang="es-CO" sz="1200" b="1" dirty="0"/>
              <a:t>:</a:t>
            </a:r>
            <a:r>
              <a:rPr lang="es-CO" sz="1200" dirty="0"/>
              <a:t> Divisor-</a:t>
            </a:r>
            <a:r>
              <a:rPr lang="es-CO" sz="1200" dirty="0" err="1"/>
              <a:t>iesimo</a:t>
            </a:r>
            <a:r>
              <a:rPr lang="es-CO" sz="1200" dirty="0"/>
              <a:t> asociado al numero.</a:t>
            </a:r>
          </a:p>
          <a:p>
            <a:pPr marL="342900" indent="-342900">
              <a:buFont typeface="Arial" pitchFamily="34" charset="0"/>
              <a:buChar char="•"/>
            </a:pPr>
            <a:r>
              <a:rPr lang="es-CO" sz="1200" b="1" dirty="0" err="1">
                <a:latin typeface="Consolas" panose="020B0609020204030204" pitchFamily="49" charset="0"/>
              </a:rPr>
              <a:t>es_primo</a:t>
            </a:r>
            <a:r>
              <a:rPr lang="es-CO" sz="1200" b="1" dirty="0"/>
              <a:t>: </a:t>
            </a:r>
            <a:r>
              <a:rPr lang="es-CO" sz="1200" dirty="0"/>
              <a:t>Bandera que indica si el numero es o no primo.</a:t>
            </a:r>
          </a:p>
          <a:p>
            <a:pPr marL="342900" indent="-342900">
              <a:buFont typeface="Arial" pitchFamily="34" charset="0"/>
              <a:buChar char="•"/>
            </a:pPr>
            <a:endParaRPr lang="es-CO" sz="1200" dirty="0"/>
          </a:p>
        </p:txBody>
      </p:sp>
      <p:sp>
        <p:nvSpPr>
          <p:cNvPr id="24" name="1 Rectángulo">
            <a:extLst>
              <a:ext uri="{FF2B5EF4-FFF2-40B4-BE49-F238E27FC236}">
                <a16:creationId xmlns:a16="http://schemas.microsoft.com/office/drawing/2014/main" id="{EEA87DAC-2F33-425F-B080-2509054A4309}"/>
              </a:ext>
            </a:extLst>
          </p:cNvPr>
          <p:cNvSpPr/>
          <p:nvPr/>
        </p:nvSpPr>
        <p:spPr>
          <a:xfrm>
            <a:off x="740816" y="2214138"/>
            <a:ext cx="640607"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num</a:t>
            </a:r>
          </a:p>
        </p:txBody>
      </p:sp>
      <p:sp>
        <p:nvSpPr>
          <p:cNvPr id="28" name="1 Rectángulo">
            <a:extLst>
              <a:ext uri="{FF2B5EF4-FFF2-40B4-BE49-F238E27FC236}">
                <a16:creationId xmlns:a16="http://schemas.microsoft.com/office/drawing/2014/main" id="{88650764-EF09-4F5A-95DB-F222A5C9FA27}"/>
              </a:ext>
            </a:extLst>
          </p:cNvPr>
          <p:cNvSpPr/>
          <p:nvPr/>
        </p:nvSpPr>
        <p:spPr>
          <a:xfrm>
            <a:off x="7447962" y="2127468"/>
            <a:ext cx="1444517" cy="276999"/>
          </a:xfrm>
          <a:prstGeom prst="rect">
            <a:avLst/>
          </a:prstGeom>
        </p:spPr>
        <p:txBody>
          <a:bodyPr wrap="square">
            <a:spAutoFit/>
          </a:bodyPr>
          <a:lstStyle/>
          <a:p>
            <a:r>
              <a:rPr lang="es-CO" sz="1200" dirty="0" err="1">
                <a:latin typeface="Consolas" panose="020B0609020204030204" pitchFamily="49" charset="0"/>
                <a:cs typeface="Consolas" panose="020B0609020204030204" pitchFamily="49" charset="0"/>
              </a:rPr>
              <a:t>es_primo</a:t>
            </a:r>
            <a:endParaRPr lang="es-CO" sz="1200" dirty="0">
              <a:latin typeface="Consolas" panose="020B0609020204030204" pitchFamily="49" charset="0"/>
              <a:cs typeface="Consolas" panose="020B0609020204030204" pitchFamily="49" charset="0"/>
            </a:endParaRPr>
          </a:p>
        </p:txBody>
      </p:sp>
      <p:sp>
        <p:nvSpPr>
          <p:cNvPr id="29" name="1 Rectángulo">
            <a:extLst>
              <a:ext uri="{FF2B5EF4-FFF2-40B4-BE49-F238E27FC236}">
                <a16:creationId xmlns:a16="http://schemas.microsoft.com/office/drawing/2014/main" id="{6E044B12-E8DE-4EE6-8CC7-6B0DC89CABA1}"/>
              </a:ext>
            </a:extLst>
          </p:cNvPr>
          <p:cNvSpPr/>
          <p:nvPr/>
        </p:nvSpPr>
        <p:spPr>
          <a:xfrm>
            <a:off x="3519571" y="2503929"/>
            <a:ext cx="980421"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i</a:t>
            </a:r>
          </a:p>
        </p:txBody>
      </p:sp>
    </p:spTree>
    <p:extLst>
      <p:ext uri="{BB962C8B-B14F-4D97-AF65-F5344CB8AC3E}">
        <p14:creationId xmlns:p14="http://schemas.microsoft.com/office/powerpoint/2010/main" val="35408426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6874958" cy="710952"/>
          </a:xfrm>
        </p:spPr>
        <p:txBody>
          <a:bodyPr>
            <a:normAutofit fontScale="90000"/>
          </a:bodyPr>
          <a:lstStyle/>
          <a:p>
            <a:r>
              <a:rPr lang="es-CO" dirty="0"/>
              <a:t>Ciclos – Ejemplo 7 (Otra forma)</a:t>
            </a:r>
          </a:p>
        </p:txBody>
      </p:sp>
      <p:sp>
        <p:nvSpPr>
          <p:cNvPr id="15" name="CuadroTexto 14">
            <a:extLst>
              <a:ext uri="{FF2B5EF4-FFF2-40B4-BE49-F238E27FC236}">
                <a16:creationId xmlns:a16="http://schemas.microsoft.com/office/drawing/2014/main" id="{C8D7FD91-6A4E-42E2-9BC9-1E7DAF947E36}"/>
              </a:ext>
            </a:extLst>
          </p:cNvPr>
          <p:cNvSpPr txBox="1"/>
          <p:nvPr/>
        </p:nvSpPr>
        <p:spPr>
          <a:xfrm>
            <a:off x="191042" y="1052736"/>
            <a:ext cx="4520657" cy="3046988"/>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Inicio</a:t>
            </a:r>
          </a:p>
          <a:p>
            <a:r>
              <a:rPr lang="es-MX" sz="1200" dirty="0">
                <a:latin typeface="Consolas" panose="020B0609020204030204" pitchFamily="49" charset="0"/>
              </a:rPr>
              <a:t>  </a:t>
            </a:r>
            <a:r>
              <a:rPr lang="es-MX" sz="1200" dirty="0" err="1">
                <a:latin typeface="Consolas" panose="020B0609020204030204" pitchFamily="49" charset="0"/>
              </a:rPr>
              <a:t>es_primo</a:t>
            </a:r>
            <a:r>
              <a:rPr lang="es-MX" sz="1200" dirty="0">
                <a:latin typeface="Consolas" panose="020B0609020204030204" pitchFamily="49" charset="0"/>
              </a:rPr>
              <a:t> = True</a:t>
            </a:r>
          </a:p>
          <a:p>
            <a:r>
              <a:rPr lang="es-MX" sz="1200" dirty="0">
                <a:latin typeface="Consolas" panose="020B0609020204030204" pitchFamily="49" charset="0"/>
              </a:rPr>
              <a:t>  Leer(</a:t>
            </a:r>
            <a:r>
              <a:rPr lang="es-MX" sz="1200" dirty="0" err="1">
                <a:latin typeface="Consolas" panose="020B0609020204030204" pitchFamily="49" charset="0"/>
              </a:rPr>
              <a:t>num</a:t>
            </a:r>
            <a:r>
              <a:rPr lang="es-MX" sz="1200" dirty="0">
                <a:latin typeface="Consolas" panose="020B0609020204030204" pitchFamily="49" charset="0"/>
              </a:rPr>
              <a:t>)</a:t>
            </a:r>
          </a:p>
          <a:p>
            <a:r>
              <a:rPr lang="es-MX" sz="1200" dirty="0">
                <a:solidFill>
                  <a:srgbClr val="C00000"/>
                </a:solidFill>
                <a:latin typeface="Consolas" panose="020B0609020204030204" pitchFamily="49" charset="0"/>
              </a:rPr>
              <a:t>  Para (i = 2,</a:t>
            </a:r>
            <a:r>
              <a:rPr lang="es-MX" sz="1200" dirty="0">
                <a:solidFill>
                  <a:srgbClr val="C00000"/>
                </a:solidFill>
                <a:highlight>
                  <a:srgbClr val="FFFF00"/>
                </a:highlight>
                <a:latin typeface="Consolas" panose="020B0609020204030204" pitchFamily="49" charset="0"/>
              </a:rPr>
              <a:t>num//2</a:t>
            </a:r>
            <a:r>
              <a:rPr lang="es-MX" sz="1200" dirty="0">
                <a:solidFill>
                  <a:srgbClr val="C00000"/>
                </a:solidFill>
                <a:latin typeface="Consolas" panose="020B0609020204030204" pitchFamily="49" charset="0"/>
              </a:rPr>
              <a:t>,1) Haga    </a:t>
            </a:r>
          </a:p>
          <a:p>
            <a:r>
              <a:rPr lang="es-MX" sz="1200" dirty="0">
                <a:solidFill>
                  <a:srgbClr val="00B050"/>
                </a:solidFill>
                <a:latin typeface="Consolas" panose="020B0609020204030204" pitchFamily="49" charset="0"/>
              </a:rPr>
              <a:t>    Si (</a:t>
            </a:r>
            <a:r>
              <a:rPr lang="es-MX" sz="1200" dirty="0" err="1">
                <a:solidFill>
                  <a:srgbClr val="00B050"/>
                </a:solidFill>
                <a:latin typeface="Consolas" panose="020B0609020204030204" pitchFamily="49" charset="0"/>
              </a:rPr>
              <a:t>num%i</a:t>
            </a:r>
            <a:r>
              <a:rPr lang="es-MX" sz="1200" dirty="0">
                <a:solidFill>
                  <a:srgbClr val="00B050"/>
                </a:solidFill>
                <a:latin typeface="Consolas" panose="020B0609020204030204" pitchFamily="49" charset="0"/>
              </a:rPr>
              <a:t> == 0) Entonces</a:t>
            </a:r>
          </a:p>
          <a:p>
            <a:r>
              <a:rPr lang="es-MX" sz="1200" dirty="0">
                <a:solidFill>
                  <a:srgbClr val="00B050"/>
                </a:solidFill>
                <a:latin typeface="Consolas" panose="020B0609020204030204" pitchFamily="49" charset="0"/>
              </a:rPr>
              <a:t>      </a:t>
            </a:r>
            <a:r>
              <a:rPr lang="es-MX" sz="1200" dirty="0" err="1">
                <a:solidFill>
                  <a:srgbClr val="00B050"/>
                </a:solidFill>
                <a:latin typeface="Consolas" panose="020B0609020204030204" pitchFamily="49" charset="0"/>
              </a:rPr>
              <a:t>es_primo</a:t>
            </a:r>
            <a:r>
              <a:rPr lang="es-MX" sz="1200" dirty="0">
                <a:solidFill>
                  <a:srgbClr val="00B050"/>
                </a:solidFill>
                <a:latin typeface="Consolas" panose="020B0609020204030204" pitchFamily="49" charset="0"/>
              </a:rPr>
              <a:t> = False</a:t>
            </a:r>
          </a:p>
          <a:p>
            <a:r>
              <a:rPr lang="es-MX" sz="1200" dirty="0">
                <a:solidFill>
                  <a:srgbClr val="00B050"/>
                </a:solidFill>
                <a:latin typeface="Consolas" panose="020B0609020204030204" pitchFamily="49" charset="0"/>
              </a:rPr>
              <a:t>      Romper</a:t>
            </a:r>
          </a:p>
          <a:p>
            <a:r>
              <a:rPr lang="es-MX" sz="1200" dirty="0">
                <a:solidFill>
                  <a:srgbClr val="00B050"/>
                </a:solidFill>
                <a:latin typeface="Consolas" panose="020B0609020204030204" pitchFamily="49" charset="0"/>
              </a:rPr>
              <a:t>    </a:t>
            </a:r>
            <a:r>
              <a:rPr lang="es-MX" sz="1200" dirty="0" err="1">
                <a:solidFill>
                  <a:srgbClr val="00B050"/>
                </a:solidFill>
                <a:latin typeface="Consolas" panose="020B0609020204030204" pitchFamily="49" charset="0"/>
              </a:rPr>
              <a:t>Fin_Si</a:t>
            </a:r>
            <a:endParaRPr lang="es-MX" sz="1200" dirty="0">
              <a:solidFill>
                <a:srgbClr val="00B050"/>
              </a:solidFill>
              <a:latin typeface="Consolas" panose="020B0609020204030204" pitchFamily="49" charset="0"/>
            </a:endParaRPr>
          </a:p>
          <a:p>
            <a:r>
              <a:rPr lang="es-MX" sz="1200" dirty="0">
                <a:solidFill>
                  <a:srgbClr val="C00000"/>
                </a:solidFill>
                <a:latin typeface="Consolas" panose="020B0609020204030204" pitchFamily="49" charset="0"/>
              </a:rPr>
              <a:t>  </a:t>
            </a:r>
            <a:r>
              <a:rPr lang="es-MX" sz="1200" dirty="0" err="1">
                <a:solidFill>
                  <a:srgbClr val="C00000"/>
                </a:solidFill>
                <a:latin typeface="Consolas" panose="020B0609020204030204" pitchFamily="49" charset="0"/>
              </a:rPr>
              <a:t>Fin_Para</a:t>
            </a:r>
            <a:endParaRPr lang="es-MX" sz="1200" dirty="0">
              <a:solidFill>
                <a:srgbClr val="C00000"/>
              </a:solidFill>
              <a:latin typeface="Consolas" panose="020B0609020204030204" pitchFamily="49" charset="0"/>
            </a:endParaRPr>
          </a:p>
          <a:p>
            <a:r>
              <a:rPr lang="es-MX" sz="1200" dirty="0">
                <a:latin typeface="Consolas" panose="020B0609020204030204" pitchFamily="49" charset="0"/>
              </a:rPr>
              <a:t>  Si(</a:t>
            </a:r>
            <a:r>
              <a:rPr lang="es-MX" sz="1200" dirty="0" err="1">
                <a:latin typeface="Consolas" panose="020B0609020204030204" pitchFamily="49" charset="0"/>
              </a:rPr>
              <a:t>es_primo</a:t>
            </a:r>
            <a:r>
              <a:rPr lang="es-MX" sz="1200" dirty="0">
                <a:latin typeface="Consolas" panose="020B0609020204030204" pitchFamily="49" charset="0"/>
              </a:rPr>
              <a:t> == True) Entonces</a:t>
            </a:r>
          </a:p>
          <a:p>
            <a:r>
              <a:rPr lang="es-MX" sz="1200" dirty="0">
                <a:latin typeface="Consolas" panose="020B0609020204030204" pitchFamily="49" charset="0"/>
              </a:rPr>
              <a:t>    Escribir(</a:t>
            </a:r>
            <a:r>
              <a:rPr lang="es-MX" sz="1200" dirty="0" err="1">
                <a:latin typeface="Consolas" panose="020B0609020204030204" pitchFamily="49" charset="0"/>
              </a:rPr>
              <a:t>num</a:t>
            </a:r>
            <a:r>
              <a:rPr lang="es-MX" sz="1200" dirty="0">
                <a:latin typeface="Consolas" panose="020B0609020204030204" pitchFamily="49" charset="0"/>
              </a:rPr>
              <a:t>, " es primo")</a:t>
            </a:r>
          </a:p>
          <a:p>
            <a:r>
              <a:rPr lang="es-MX" sz="1200" dirty="0">
                <a:latin typeface="Consolas" panose="020B0609020204030204" pitchFamily="49" charset="0"/>
              </a:rPr>
              <a:t>  Sino </a:t>
            </a:r>
          </a:p>
          <a:p>
            <a:r>
              <a:rPr lang="es-MX" sz="1200" dirty="0">
                <a:latin typeface="Consolas" panose="020B0609020204030204" pitchFamily="49" charset="0"/>
              </a:rPr>
              <a:t>    Escribir(</a:t>
            </a:r>
            <a:r>
              <a:rPr lang="es-MX" sz="1200" dirty="0" err="1">
                <a:latin typeface="Consolas" panose="020B0609020204030204" pitchFamily="49" charset="0"/>
              </a:rPr>
              <a:t>num</a:t>
            </a:r>
            <a:r>
              <a:rPr lang="es-MX" sz="1200" dirty="0">
                <a:latin typeface="Consolas" panose="020B0609020204030204" pitchFamily="49" charset="0"/>
              </a:rPr>
              <a:t>, " no es primo")</a:t>
            </a:r>
          </a:p>
          <a:p>
            <a:r>
              <a:rPr lang="es-MX" sz="1200" dirty="0">
                <a:latin typeface="Consolas" panose="020B0609020204030204" pitchFamily="49" charset="0"/>
              </a:rPr>
              <a:t>  </a:t>
            </a:r>
            <a:r>
              <a:rPr lang="es-MX" sz="1200" dirty="0" err="1">
                <a:latin typeface="Consolas" panose="020B0609020204030204" pitchFamily="49" charset="0"/>
              </a:rPr>
              <a:t>Fin_Si</a:t>
            </a:r>
            <a:endParaRPr lang="es-MX" sz="1200" dirty="0">
              <a:latin typeface="Consolas" panose="020B0609020204030204" pitchFamily="49" charset="0"/>
            </a:endParaRPr>
          </a:p>
          <a:p>
            <a:r>
              <a:rPr lang="es-MX" sz="1200" dirty="0">
                <a:latin typeface="Consolas" panose="020B0609020204030204" pitchFamily="49" charset="0"/>
              </a:rPr>
              <a:t>  Escribir(</a:t>
            </a:r>
            <a:r>
              <a:rPr lang="es-MX" sz="1200" dirty="0" err="1">
                <a:latin typeface="Consolas" panose="020B0609020204030204" pitchFamily="49" charset="0"/>
              </a:rPr>
              <a:t>num_divisores</a:t>
            </a:r>
            <a:r>
              <a:rPr lang="es-MX" sz="1200" dirty="0">
                <a:latin typeface="Consolas" panose="020B0609020204030204" pitchFamily="49" charset="0"/>
              </a:rPr>
              <a:t>)</a:t>
            </a:r>
          </a:p>
          <a:p>
            <a:r>
              <a:rPr lang="es-MX" sz="1200" dirty="0">
                <a:latin typeface="Consolas" panose="020B0609020204030204" pitchFamily="49" charset="0"/>
              </a:rPr>
              <a:t>Fin</a:t>
            </a:r>
            <a:endParaRPr lang="es-CO" sz="1200" dirty="0">
              <a:latin typeface="Consolas" panose="020B0609020204030204" pitchFamily="49" charset="0"/>
            </a:endParaRPr>
          </a:p>
        </p:txBody>
      </p:sp>
      <p:sp>
        <p:nvSpPr>
          <p:cNvPr id="16" name="CuadroTexto 15">
            <a:extLst>
              <a:ext uri="{FF2B5EF4-FFF2-40B4-BE49-F238E27FC236}">
                <a16:creationId xmlns:a16="http://schemas.microsoft.com/office/drawing/2014/main" id="{38B8693D-AA2E-44DE-88F9-84A5D401B09D}"/>
              </a:ext>
            </a:extLst>
          </p:cNvPr>
          <p:cNvSpPr txBox="1"/>
          <p:nvPr/>
        </p:nvSpPr>
        <p:spPr>
          <a:xfrm>
            <a:off x="1678477" y="6520120"/>
            <a:ext cx="1545785" cy="276999"/>
          </a:xfrm>
          <a:prstGeom prst="rect">
            <a:avLst/>
          </a:prstGeom>
          <a:noFill/>
        </p:spPr>
        <p:txBody>
          <a:bodyPr wrap="square" rtlCol="0">
            <a:spAutoFit/>
          </a:bodyPr>
          <a:lstStyle/>
          <a:p>
            <a:pPr algn="ctr"/>
            <a:r>
              <a:rPr lang="es-MX" sz="1200" dirty="0">
                <a:hlinkClick r:id="rId2"/>
              </a:rPr>
              <a:t>Link de ejecución</a:t>
            </a:r>
            <a:endParaRPr lang="es-CO" sz="1200" dirty="0"/>
          </a:p>
        </p:txBody>
      </p:sp>
      <p:sp>
        <p:nvSpPr>
          <p:cNvPr id="19" name="CuadroTexto 18">
            <a:extLst>
              <a:ext uri="{FF2B5EF4-FFF2-40B4-BE49-F238E27FC236}">
                <a16:creationId xmlns:a16="http://schemas.microsoft.com/office/drawing/2014/main" id="{FE685613-A7C0-4FFC-9227-3C7A8FAF52F1}"/>
              </a:ext>
            </a:extLst>
          </p:cNvPr>
          <p:cNvSpPr txBox="1"/>
          <p:nvPr/>
        </p:nvSpPr>
        <p:spPr>
          <a:xfrm>
            <a:off x="181170" y="4581128"/>
            <a:ext cx="4579086" cy="1938992"/>
          </a:xfrm>
          <a:prstGeom prst="rect">
            <a:avLst/>
          </a:prstGeom>
          <a:noFill/>
          <a:ln>
            <a:solidFill>
              <a:schemeClr val="tx1"/>
            </a:solidFill>
          </a:ln>
        </p:spPr>
        <p:txBody>
          <a:bodyPr wrap="square" rtlCol="0">
            <a:spAutoFit/>
          </a:bodyPr>
          <a:lstStyle/>
          <a:p>
            <a:r>
              <a:rPr lang="es-MX" sz="1200" dirty="0" err="1">
                <a:latin typeface="Consolas" panose="020B0609020204030204" pitchFamily="49" charset="0"/>
              </a:rPr>
              <a:t>es_primo</a:t>
            </a:r>
            <a:r>
              <a:rPr lang="es-MX" sz="1200" dirty="0">
                <a:latin typeface="Consolas" panose="020B0609020204030204" pitchFamily="49" charset="0"/>
              </a:rPr>
              <a:t> = True </a:t>
            </a:r>
          </a:p>
          <a:p>
            <a:r>
              <a:rPr lang="es-MX" sz="1200" dirty="0">
                <a:latin typeface="Consolas" panose="020B0609020204030204" pitchFamily="49" charset="0"/>
              </a:rPr>
              <a:t>N = </a:t>
            </a:r>
            <a:r>
              <a:rPr lang="es-MX" sz="1200" dirty="0" err="1">
                <a:latin typeface="Consolas" panose="020B0609020204030204" pitchFamily="49" charset="0"/>
              </a:rPr>
              <a:t>int</a:t>
            </a:r>
            <a:r>
              <a:rPr lang="es-MX" sz="1200" dirty="0">
                <a:latin typeface="Consolas" panose="020B0609020204030204" pitchFamily="49" charset="0"/>
              </a:rPr>
              <a:t>(input('Digite un numero entero positivo: '))</a:t>
            </a:r>
          </a:p>
          <a:p>
            <a:r>
              <a:rPr lang="es-MX" sz="1200" dirty="0">
                <a:solidFill>
                  <a:schemeClr val="accent5"/>
                </a:solidFill>
                <a:latin typeface="Consolas" panose="020B0609020204030204" pitchFamily="49" charset="0"/>
              </a:rPr>
              <a:t>for</a:t>
            </a:r>
            <a:r>
              <a:rPr lang="es-MX" sz="1200" dirty="0">
                <a:latin typeface="Consolas" panose="020B0609020204030204" pitchFamily="49" charset="0"/>
              </a:rPr>
              <a:t> i in range(2,</a:t>
            </a:r>
            <a:r>
              <a:rPr lang="es-MX" sz="1200" dirty="0">
                <a:highlight>
                  <a:srgbClr val="FFFF00"/>
                </a:highlight>
                <a:latin typeface="Consolas" panose="020B0609020204030204" pitchFamily="49" charset="0"/>
              </a:rPr>
              <a:t>num//2 + 1</a:t>
            </a:r>
            <a:r>
              <a:rPr lang="es-MX" sz="1200" dirty="0">
                <a:latin typeface="Consolas" panose="020B0609020204030204" pitchFamily="49" charset="0"/>
              </a:rPr>
              <a:t>):</a:t>
            </a:r>
          </a:p>
          <a:p>
            <a:r>
              <a:rPr lang="es-MX" sz="1200" dirty="0">
                <a:solidFill>
                  <a:srgbClr val="00B050"/>
                </a:solidFill>
                <a:latin typeface="Consolas" panose="020B0609020204030204" pitchFamily="49" charset="0"/>
              </a:rPr>
              <a:t> </a:t>
            </a:r>
            <a:r>
              <a:rPr lang="pt-BR" sz="1200" dirty="0">
                <a:solidFill>
                  <a:srgbClr val="00B050"/>
                </a:solidFill>
                <a:latin typeface="Consolas" panose="020B0609020204030204" pitchFamily="49" charset="0"/>
              </a:rPr>
              <a:t> </a:t>
            </a:r>
            <a:r>
              <a:rPr lang="pt-BR" sz="1200" dirty="0" err="1">
                <a:solidFill>
                  <a:srgbClr val="00B050"/>
                </a:solidFill>
                <a:latin typeface="Consolas" panose="020B0609020204030204" pitchFamily="49" charset="0"/>
              </a:rPr>
              <a:t>if</a:t>
            </a:r>
            <a:r>
              <a:rPr lang="pt-BR" sz="1200" dirty="0">
                <a:solidFill>
                  <a:srgbClr val="00B050"/>
                </a:solidFill>
                <a:latin typeface="Consolas" panose="020B0609020204030204" pitchFamily="49" charset="0"/>
              </a:rPr>
              <a:t> num % i == 0:</a:t>
            </a:r>
          </a:p>
          <a:p>
            <a:r>
              <a:rPr lang="pt-BR" sz="1200" dirty="0">
                <a:solidFill>
                  <a:srgbClr val="00B050"/>
                </a:solidFill>
                <a:latin typeface="Consolas" panose="020B0609020204030204" pitchFamily="49" charset="0"/>
              </a:rPr>
              <a:t>    </a:t>
            </a:r>
            <a:r>
              <a:rPr lang="pt-BR" sz="1200" dirty="0" err="1">
                <a:solidFill>
                  <a:srgbClr val="00B050"/>
                </a:solidFill>
                <a:latin typeface="Consolas" panose="020B0609020204030204" pitchFamily="49" charset="0"/>
              </a:rPr>
              <a:t>es_primo</a:t>
            </a:r>
            <a:r>
              <a:rPr lang="pt-BR" sz="1200" dirty="0">
                <a:solidFill>
                  <a:srgbClr val="00B050"/>
                </a:solidFill>
                <a:latin typeface="Consolas" panose="020B0609020204030204" pitchFamily="49" charset="0"/>
              </a:rPr>
              <a:t> = False</a:t>
            </a:r>
          </a:p>
          <a:p>
            <a:r>
              <a:rPr lang="pt-BR" sz="1200" dirty="0">
                <a:solidFill>
                  <a:srgbClr val="00B050"/>
                </a:solidFill>
                <a:latin typeface="Consolas" panose="020B0609020204030204" pitchFamily="49" charset="0"/>
              </a:rPr>
              <a:t>    </a:t>
            </a:r>
            <a:r>
              <a:rPr lang="pt-BR" sz="1200" dirty="0">
                <a:solidFill>
                  <a:schemeClr val="accent4"/>
                </a:solidFill>
                <a:latin typeface="Consolas" panose="020B0609020204030204" pitchFamily="49" charset="0"/>
              </a:rPr>
              <a:t>break</a:t>
            </a:r>
          </a:p>
          <a:p>
            <a:r>
              <a:rPr lang="es-MX" sz="1200" dirty="0" err="1">
                <a:latin typeface="Consolas" panose="020B0609020204030204" pitchFamily="49" charset="0"/>
              </a:rPr>
              <a:t>if</a:t>
            </a:r>
            <a:r>
              <a:rPr lang="es-MX" sz="1200" dirty="0">
                <a:latin typeface="Consolas" panose="020B0609020204030204" pitchFamily="49" charset="0"/>
              </a:rPr>
              <a:t> (</a:t>
            </a:r>
            <a:r>
              <a:rPr lang="es-MX" sz="1200" dirty="0" err="1">
                <a:latin typeface="Consolas" panose="020B0609020204030204" pitchFamily="49" charset="0"/>
              </a:rPr>
              <a:t>es_primo</a:t>
            </a:r>
            <a:r>
              <a:rPr lang="es-MX" sz="1200" dirty="0">
                <a:latin typeface="Consolas" panose="020B0609020204030204" pitchFamily="49" charset="0"/>
              </a:rPr>
              <a:t>):</a:t>
            </a:r>
          </a:p>
          <a:p>
            <a:r>
              <a:rPr lang="es-MX" sz="1200" dirty="0">
                <a:latin typeface="Consolas" panose="020B0609020204030204" pitchFamily="49" charset="0"/>
              </a:rPr>
              <a:t>  </a:t>
            </a:r>
            <a:r>
              <a:rPr lang="es-MX" sz="1200" dirty="0" err="1">
                <a:latin typeface="Consolas" panose="020B0609020204030204" pitchFamily="49" charset="0"/>
              </a:rPr>
              <a:t>print</a:t>
            </a:r>
            <a:r>
              <a:rPr lang="es-MX" sz="1200" dirty="0">
                <a:latin typeface="Consolas" panose="020B0609020204030204" pitchFamily="49" charset="0"/>
              </a:rPr>
              <a:t>(</a:t>
            </a:r>
            <a:r>
              <a:rPr lang="es-MX" sz="1200" dirty="0" err="1">
                <a:latin typeface="Consolas" panose="020B0609020204030204" pitchFamily="49" charset="0"/>
              </a:rPr>
              <a:t>num</a:t>
            </a:r>
            <a:r>
              <a:rPr lang="es-MX" sz="1200" dirty="0">
                <a:latin typeface="Consolas" panose="020B0609020204030204" pitchFamily="49" charset="0"/>
              </a:rPr>
              <a:t>, " es primo")</a:t>
            </a:r>
          </a:p>
          <a:p>
            <a:r>
              <a:rPr lang="es-MX" sz="1200" dirty="0" err="1">
                <a:latin typeface="Consolas" panose="020B0609020204030204" pitchFamily="49" charset="0"/>
              </a:rPr>
              <a:t>else</a:t>
            </a:r>
            <a:r>
              <a:rPr lang="es-MX" sz="1200" dirty="0">
                <a:latin typeface="Consolas" panose="020B0609020204030204" pitchFamily="49" charset="0"/>
              </a:rPr>
              <a:t>:</a:t>
            </a:r>
          </a:p>
          <a:p>
            <a:r>
              <a:rPr lang="es-MX" sz="1200" dirty="0">
                <a:latin typeface="Consolas" panose="020B0609020204030204" pitchFamily="49" charset="0"/>
              </a:rPr>
              <a:t>  </a:t>
            </a:r>
            <a:r>
              <a:rPr lang="es-MX" sz="1200" dirty="0" err="1">
                <a:latin typeface="Consolas" panose="020B0609020204030204" pitchFamily="49" charset="0"/>
              </a:rPr>
              <a:t>print</a:t>
            </a:r>
            <a:r>
              <a:rPr lang="es-MX" sz="1200" dirty="0">
                <a:latin typeface="Consolas" panose="020B0609020204030204" pitchFamily="49" charset="0"/>
              </a:rPr>
              <a:t>(</a:t>
            </a:r>
            <a:r>
              <a:rPr lang="es-MX" sz="1200" dirty="0" err="1">
                <a:latin typeface="Consolas" panose="020B0609020204030204" pitchFamily="49" charset="0"/>
              </a:rPr>
              <a:t>num</a:t>
            </a:r>
            <a:r>
              <a:rPr lang="es-MX" sz="1200" dirty="0">
                <a:latin typeface="Consolas" panose="020B0609020204030204" pitchFamily="49" charset="0"/>
              </a:rPr>
              <a:t>, " no es primo")</a:t>
            </a:r>
          </a:p>
        </p:txBody>
      </p:sp>
      <p:sp>
        <p:nvSpPr>
          <p:cNvPr id="20" name="CuadroTexto 19">
            <a:extLst>
              <a:ext uri="{FF2B5EF4-FFF2-40B4-BE49-F238E27FC236}">
                <a16:creationId xmlns:a16="http://schemas.microsoft.com/office/drawing/2014/main" id="{D590EDD7-8106-4324-9C3E-AEA635B0E29A}"/>
              </a:ext>
            </a:extLst>
          </p:cNvPr>
          <p:cNvSpPr txBox="1"/>
          <p:nvPr/>
        </p:nvSpPr>
        <p:spPr>
          <a:xfrm>
            <a:off x="205617" y="692696"/>
            <a:ext cx="3354440" cy="400110"/>
          </a:xfrm>
          <a:prstGeom prst="rect">
            <a:avLst/>
          </a:prstGeom>
          <a:noFill/>
        </p:spPr>
        <p:txBody>
          <a:bodyPr wrap="square" rtlCol="0">
            <a:spAutoFit/>
          </a:bodyPr>
          <a:lstStyle/>
          <a:p>
            <a:r>
              <a:rPr lang="es-CO" sz="2000" b="1" dirty="0"/>
              <a:t>Pseudocódigo</a:t>
            </a:r>
          </a:p>
        </p:txBody>
      </p:sp>
      <p:sp>
        <p:nvSpPr>
          <p:cNvPr id="21" name="CuadroTexto 20">
            <a:extLst>
              <a:ext uri="{FF2B5EF4-FFF2-40B4-BE49-F238E27FC236}">
                <a16:creationId xmlns:a16="http://schemas.microsoft.com/office/drawing/2014/main" id="{4D167869-DC13-42A4-88C8-4962E68597B5}"/>
              </a:ext>
            </a:extLst>
          </p:cNvPr>
          <p:cNvSpPr txBox="1"/>
          <p:nvPr/>
        </p:nvSpPr>
        <p:spPr>
          <a:xfrm>
            <a:off x="143205" y="4197089"/>
            <a:ext cx="2424161" cy="400110"/>
          </a:xfrm>
          <a:prstGeom prst="rect">
            <a:avLst/>
          </a:prstGeom>
          <a:noFill/>
        </p:spPr>
        <p:txBody>
          <a:bodyPr wrap="square" rtlCol="0">
            <a:spAutoFit/>
          </a:bodyPr>
          <a:lstStyle/>
          <a:p>
            <a:r>
              <a:rPr lang="es-CO" sz="2000" b="1" dirty="0"/>
              <a:t>Python</a:t>
            </a:r>
          </a:p>
        </p:txBody>
      </p:sp>
      <p:pic>
        <p:nvPicPr>
          <p:cNvPr id="7" name="Imagen 6">
            <a:extLst>
              <a:ext uri="{FF2B5EF4-FFF2-40B4-BE49-F238E27FC236}">
                <a16:creationId xmlns:a16="http://schemas.microsoft.com/office/drawing/2014/main" id="{EB0F4693-313C-4665-9169-04CD1B950C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8081" y="1265857"/>
            <a:ext cx="4158415" cy="4899447"/>
          </a:xfrm>
          <a:prstGeom prst="rect">
            <a:avLst/>
          </a:prstGeom>
        </p:spPr>
      </p:pic>
    </p:spTree>
    <p:extLst>
      <p:ext uri="{BB962C8B-B14F-4D97-AF65-F5344CB8AC3E}">
        <p14:creationId xmlns:p14="http://schemas.microsoft.com/office/powerpoint/2010/main" val="41148395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6802950" cy="710952"/>
          </a:xfrm>
        </p:spPr>
        <p:txBody>
          <a:bodyPr>
            <a:normAutofit/>
          </a:bodyPr>
          <a:lstStyle/>
          <a:p>
            <a:r>
              <a:rPr lang="es-CO" dirty="0"/>
              <a:t>Ciclos – Ejemplo 8</a:t>
            </a:r>
          </a:p>
        </p:txBody>
      </p:sp>
      <mc:AlternateContent xmlns:mc="http://schemas.openxmlformats.org/markup-compatibility/2006" xmlns:a14="http://schemas.microsoft.com/office/drawing/2010/main">
        <mc:Choice Requires="a14">
          <p:sp>
            <p:nvSpPr>
              <p:cNvPr id="13" name="12 Rectángulo"/>
              <p:cNvSpPr/>
              <p:nvPr/>
            </p:nvSpPr>
            <p:spPr>
              <a:xfrm>
                <a:off x="145314" y="846114"/>
                <a:ext cx="8747165" cy="2585323"/>
              </a:xfrm>
              <a:prstGeom prst="rect">
                <a:avLst/>
              </a:prstGeom>
            </p:spPr>
            <p:txBody>
              <a:bodyPr wrap="square">
                <a:spAutoFit/>
              </a:bodyPr>
              <a:lstStyle/>
              <a:p>
                <a:pPr algn="l"/>
                <a:r>
                  <a:rPr lang="es-MX" dirty="0"/>
                  <a:t>La sucesión de Fibonacci es una secuencia de números en la que cada término se obtiene sumando los dos términos anteriores:</a:t>
                </a:r>
              </a:p>
              <a:p>
                <a:pPr algn="l"/>
                <a:endParaRPr lang="es-MX" dirty="0"/>
              </a:p>
              <a:p>
                <a:pPr algn="ctr"/>
                <a14:m>
                  <m:oMath xmlns:m="http://schemas.openxmlformats.org/officeDocument/2006/math">
                    <m:sSub>
                      <m:sSubPr>
                        <m:ctrlPr>
                          <a:rPr lang="es-MX" sz="1800" b="0" i="1" u="none" strike="noStrike" baseline="0" smtClean="0">
                            <a:latin typeface="Cambria Math" panose="02040503050406030204" pitchFamily="18" charset="0"/>
                          </a:rPr>
                        </m:ctrlPr>
                      </m:sSubPr>
                      <m:e>
                        <m:r>
                          <a:rPr lang="es-MX" sz="1800" b="0" i="1" u="none" strike="noStrike" baseline="0" smtClean="0">
                            <a:latin typeface="Cambria Math" panose="02040503050406030204" pitchFamily="18" charset="0"/>
                          </a:rPr>
                          <m:t>𝑓</m:t>
                        </m:r>
                      </m:e>
                      <m:sub>
                        <m:r>
                          <a:rPr lang="es-MX" sz="1800" b="0" i="1" u="none" strike="noStrike" baseline="0" smtClean="0">
                            <a:latin typeface="Cambria Math" panose="02040503050406030204" pitchFamily="18" charset="0"/>
                          </a:rPr>
                          <m:t>𝑛</m:t>
                        </m:r>
                      </m:sub>
                    </m:sSub>
                    <m:r>
                      <a:rPr lang="es-MX" sz="1800" b="0" i="1" u="none" strike="noStrike" baseline="0" smtClean="0">
                        <a:latin typeface="Cambria Math" panose="02040503050406030204" pitchFamily="18" charset="0"/>
                      </a:rPr>
                      <m:t>=</m:t>
                    </m:r>
                    <m:sSub>
                      <m:sSubPr>
                        <m:ctrlPr>
                          <a:rPr lang="es-MX" sz="1800" b="0" i="1" u="none" strike="noStrike" baseline="0" smtClean="0">
                            <a:latin typeface="Cambria Math" panose="02040503050406030204" pitchFamily="18" charset="0"/>
                          </a:rPr>
                        </m:ctrlPr>
                      </m:sSubPr>
                      <m:e>
                        <m:r>
                          <a:rPr lang="es-MX" sz="1800" b="0" i="1" u="none" strike="noStrike" baseline="0" smtClean="0">
                            <a:latin typeface="Cambria Math" panose="02040503050406030204" pitchFamily="18" charset="0"/>
                          </a:rPr>
                          <m:t>𝑓</m:t>
                        </m:r>
                      </m:e>
                      <m:sub>
                        <m:r>
                          <a:rPr lang="es-MX" sz="1800" b="0" i="1" u="none" strike="noStrike" baseline="0" smtClean="0">
                            <a:latin typeface="Cambria Math" panose="02040503050406030204" pitchFamily="18" charset="0"/>
                          </a:rPr>
                          <m:t>𝑛</m:t>
                        </m:r>
                        <m:r>
                          <a:rPr lang="es-MX" sz="1800" b="0" i="1" u="none" strike="noStrike" baseline="0" smtClean="0">
                            <a:latin typeface="Cambria Math" panose="02040503050406030204" pitchFamily="18" charset="0"/>
                          </a:rPr>
                          <m:t>−1</m:t>
                        </m:r>
                      </m:sub>
                    </m:sSub>
                    <m:r>
                      <a:rPr lang="es-MX" sz="1800" b="0" i="1" u="none" strike="noStrike" baseline="0" smtClean="0">
                        <a:latin typeface="Cambria Math" panose="02040503050406030204" pitchFamily="18" charset="0"/>
                      </a:rPr>
                      <m:t>+</m:t>
                    </m:r>
                    <m:sSub>
                      <m:sSubPr>
                        <m:ctrlPr>
                          <a:rPr lang="es-MX" sz="1800" b="0" i="1" u="none" strike="noStrike" baseline="0" smtClean="0">
                            <a:latin typeface="Cambria Math" panose="02040503050406030204" pitchFamily="18" charset="0"/>
                          </a:rPr>
                        </m:ctrlPr>
                      </m:sSubPr>
                      <m:e>
                        <m:r>
                          <a:rPr lang="es-MX" sz="1800" b="0" i="1" u="none" strike="noStrike" baseline="0" smtClean="0">
                            <a:latin typeface="Cambria Math" panose="02040503050406030204" pitchFamily="18" charset="0"/>
                          </a:rPr>
                          <m:t>𝑓</m:t>
                        </m:r>
                      </m:e>
                      <m:sub>
                        <m:r>
                          <a:rPr lang="es-MX" sz="1800" b="0" i="1" u="none" strike="noStrike" baseline="0" smtClean="0">
                            <a:latin typeface="Cambria Math" panose="02040503050406030204" pitchFamily="18" charset="0"/>
                          </a:rPr>
                          <m:t>𝑛</m:t>
                        </m:r>
                        <m:r>
                          <a:rPr lang="es-MX" sz="1800" b="0" i="1" u="none" strike="noStrike" baseline="0" smtClean="0">
                            <a:latin typeface="Cambria Math" panose="02040503050406030204" pitchFamily="18" charset="0"/>
                          </a:rPr>
                          <m:t>−2</m:t>
                        </m:r>
                      </m:sub>
                    </m:sSub>
                  </m:oMath>
                </a14:m>
                <a:r>
                  <a:rPr lang="es-MX" sz="1800" b="0" i="0" u="none" strike="noStrike" baseline="0" dirty="0"/>
                  <a:t>  </a:t>
                </a:r>
              </a:p>
              <a:p>
                <a:pPr algn="l"/>
                <a:endParaRPr lang="es-MX" dirty="0"/>
              </a:p>
              <a:p>
                <a:r>
                  <a:rPr lang="es-CO" dirty="0"/>
                  <a:t>Con los valores iniciales</a:t>
                </a:r>
                <a:r>
                  <a:rPr lang="es-MX" dirty="0"/>
                  <a:t> </a:t>
                </a:r>
                <a14:m>
                  <m:oMath xmlns:m="http://schemas.openxmlformats.org/officeDocument/2006/math">
                    <m:sSub>
                      <m:sSubPr>
                        <m:ctrlPr>
                          <a:rPr lang="es-MX" sz="1800" b="0" i="1" u="none" strike="noStrike" baseline="0" smtClean="0">
                            <a:latin typeface="Cambria Math" panose="02040503050406030204" pitchFamily="18" charset="0"/>
                          </a:rPr>
                        </m:ctrlPr>
                      </m:sSubPr>
                      <m:e>
                        <m:r>
                          <a:rPr lang="es-MX" sz="1800" b="0" i="1" u="none" strike="noStrike" baseline="0" smtClean="0">
                            <a:latin typeface="Cambria Math" panose="02040503050406030204" pitchFamily="18" charset="0"/>
                          </a:rPr>
                          <m:t>𝑓</m:t>
                        </m:r>
                      </m:e>
                      <m:sub>
                        <m:r>
                          <a:rPr lang="es-MX" sz="1800" b="0" i="1" u="none" strike="noStrike" baseline="0" smtClean="0">
                            <a:latin typeface="Cambria Math" panose="02040503050406030204" pitchFamily="18" charset="0"/>
                          </a:rPr>
                          <m:t>0</m:t>
                        </m:r>
                      </m:sub>
                    </m:sSub>
                    <m:r>
                      <a:rPr lang="es-MX" sz="1800" b="0" i="1" u="none" strike="noStrike" baseline="0" smtClean="0">
                        <a:latin typeface="Cambria Math" panose="02040503050406030204" pitchFamily="18" charset="0"/>
                      </a:rPr>
                      <m:t>=0</m:t>
                    </m:r>
                  </m:oMath>
                </a14:m>
                <a:r>
                  <a:rPr lang="es-MX" dirty="0"/>
                  <a:t> y </a:t>
                </a:r>
                <a14:m>
                  <m:oMath xmlns:m="http://schemas.openxmlformats.org/officeDocument/2006/math">
                    <m:sSub>
                      <m:sSubPr>
                        <m:ctrlPr>
                          <a:rPr lang="es-MX" i="1">
                            <a:latin typeface="Cambria Math" panose="02040503050406030204" pitchFamily="18" charset="0"/>
                          </a:rPr>
                        </m:ctrlPr>
                      </m:sSubPr>
                      <m:e>
                        <m:r>
                          <a:rPr lang="es-MX" i="1">
                            <a:latin typeface="Cambria Math" panose="02040503050406030204" pitchFamily="18" charset="0"/>
                          </a:rPr>
                          <m:t>𝑓</m:t>
                        </m:r>
                      </m:e>
                      <m:sub>
                        <m:r>
                          <a:rPr lang="es-MX" b="0" i="1" smtClean="0">
                            <a:latin typeface="Cambria Math" panose="02040503050406030204" pitchFamily="18" charset="0"/>
                          </a:rPr>
                          <m:t>1</m:t>
                        </m:r>
                      </m:sub>
                    </m:sSub>
                    <m:r>
                      <a:rPr lang="es-MX" b="0" i="1" smtClean="0">
                        <a:latin typeface="Cambria Math" panose="02040503050406030204" pitchFamily="18" charset="0"/>
                      </a:rPr>
                      <m:t>=1</m:t>
                    </m:r>
                  </m:oMath>
                </a14:m>
                <a:r>
                  <a:rPr lang="es-MX" dirty="0"/>
                  <a:t>. </a:t>
                </a:r>
              </a:p>
              <a:p>
                <a:endParaRPr lang="es-MX" dirty="0"/>
              </a:p>
              <a:p>
                <a:r>
                  <a:rPr lang="es-MX" dirty="0"/>
                  <a:t>Hacer un programa que reciba un número entero positivo </a:t>
                </a:r>
                <a:r>
                  <a:rPr lang="es-MX" b="1" dirty="0"/>
                  <a:t>n</a:t>
                </a:r>
                <a:r>
                  <a:rPr lang="es-MX" dirty="0"/>
                  <a:t> y muestre los primeros </a:t>
                </a:r>
                <a:r>
                  <a:rPr lang="es-MX" b="1" dirty="0"/>
                  <a:t>n</a:t>
                </a:r>
                <a:r>
                  <a:rPr lang="es-MX" dirty="0"/>
                  <a:t> términos de la sucesión de Fibonacci.</a:t>
                </a:r>
                <a:endParaRPr lang="es-MX" sz="2000" dirty="0"/>
              </a:p>
            </p:txBody>
          </p:sp>
        </mc:Choice>
        <mc:Fallback xmlns="">
          <p:sp>
            <p:nvSpPr>
              <p:cNvPr id="13" name="12 Rectángulo"/>
              <p:cNvSpPr>
                <a:spLocks noRot="1" noChangeAspect="1" noMove="1" noResize="1" noEditPoints="1" noAdjustHandles="1" noChangeArrowheads="1" noChangeShapeType="1" noTextEdit="1"/>
              </p:cNvSpPr>
              <p:nvPr/>
            </p:nvSpPr>
            <p:spPr>
              <a:xfrm>
                <a:off x="145314" y="846114"/>
                <a:ext cx="8747165" cy="2585323"/>
              </a:xfrm>
              <a:prstGeom prst="rect">
                <a:avLst/>
              </a:prstGeom>
              <a:blipFill>
                <a:blip r:embed="rId2"/>
                <a:stretch>
                  <a:fillRect l="-627" t="-1415" b="-2830"/>
                </a:stretch>
              </a:blipFill>
            </p:spPr>
            <p:txBody>
              <a:bodyPr/>
              <a:lstStyle/>
              <a:p>
                <a:r>
                  <a:rPr lang="es-CO">
                    <a:noFill/>
                  </a:rPr>
                  <a:t> </a:t>
                </a:r>
              </a:p>
            </p:txBody>
          </p:sp>
        </mc:Fallback>
      </mc:AlternateContent>
      <p:grpSp>
        <p:nvGrpSpPr>
          <p:cNvPr id="6" name="5 Grupo">
            <a:extLst>
              <a:ext uri="{FF2B5EF4-FFF2-40B4-BE49-F238E27FC236}">
                <a16:creationId xmlns:a16="http://schemas.microsoft.com/office/drawing/2014/main" id="{A1D2312A-E5AA-430D-95E3-073CE4C461A1}"/>
              </a:ext>
            </a:extLst>
          </p:cNvPr>
          <p:cNvGrpSpPr/>
          <p:nvPr/>
        </p:nvGrpSpPr>
        <p:grpSpPr>
          <a:xfrm>
            <a:off x="388239" y="3573016"/>
            <a:ext cx="8202163" cy="783771"/>
            <a:chOff x="518399" y="1739458"/>
            <a:chExt cx="8202163" cy="783771"/>
          </a:xfrm>
        </p:grpSpPr>
        <p:sp>
          <p:nvSpPr>
            <p:cNvPr id="8" name="10 Rectángulo">
              <a:extLst>
                <a:ext uri="{FF2B5EF4-FFF2-40B4-BE49-F238E27FC236}">
                  <a16:creationId xmlns:a16="http://schemas.microsoft.com/office/drawing/2014/main" id="{FCF15015-BA83-4B06-99A6-08AE20C7F278}"/>
                </a:ext>
              </a:extLst>
            </p:cNvPr>
            <p:cNvSpPr/>
            <p:nvPr/>
          </p:nvSpPr>
          <p:spPr>
            <a:xfrm>
              <a:off x="518399" y="1879706"/>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Inputs</a:t>
              </a:r>
            </a:p>
          </p:txBody>
        </p:sp>
        <p:sp>
          <p:nvSpPr>
            <p:cNvPr id="9" name="11 Rectángulo">
              <a:extLst>
                <a:ext uri="{FF2B5EF4-FFF2-40B4-BE49-F238E27FC236}">
                  <a16:creationId xmlns:a16="http://schemas.microsoft.com/office/drawing/2014/main" id="{24D2346B-45C4-4EB1-AC4E-9F86B024ABB3}"/>
                </a:ext>
              </a:extLst>
            </p:cNvPr>
            <p:cNvSpPr/>
            <p:nvPr/>
          </p:nvSpPr>
          <p:spPr>
            <a:xfrm>
              <a:off x="3563888" y="1739458"/>
              <a:ext cx="2104858" cy="78377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t>Process</a:t>
              </a:r>
            </a:p>
          </p:txBody>
        </p:sp>
        <p:sp>
          <p:nvSpPr>
            <p:cNvPr id="10" name="13 Rectángulo">
              <a:extLst>
                <a:ext uri="{FF2B5EF4-FFF2-40B4-BE49-F238E27FC236}">
                  <a16:creationId xmlns:a16="http://schemas.microsoft.com/office/drawing/2014/main" id="{8EB5C9FB-4010-499A-9DE2-CD6FFED74C8D}"/>
                </a:ext>
              </a:extLst>
            </p:cNvPr>
            <p:cNvSpPr/>
            <p:nvPr/>
          </p:nvSpPr>
          <p:spPr>
            <a:xfrm>
              <a:off x="7374799" y="1884602"/>
              <a:ext cx="1345763" cy="498763"/>
            </a:xfrm>
            <a:prstGeom prst="rect">
              <a:avLst/>
            </a:prstGeom>
            <a:no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rPr>
                <a:t>Outputs</a:t>
              </a:r>
            </a:p>
          </p:txBody>
        </p:sp>
        <p:sp>
          <p:nvSpPr>
            <p:cNvPr id="11" name="14 Flecha derecha">
              <a:extLst>
                <a:ext uri="{FF2B5EF4-FFF2-40B4-BE49-F238E27FC236}">
                  <a16:creationId xmlns:a16="http://schemas.microsoft.com/office/drawing/2014/main" id="{EFF73E3B-F9D7-440C-BF68-778BEE1CD315}"/>
                </a:ext>
              </a:extLst>
            </p:cNvPr>
            <p:cNvSpPr/>
            <p:nvPr/>
          </p:nvSpPr>
          <p:spPr>
            <a:xfrm>
              <a:off x="1851561" y="2038875"/>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21 Flecha derecha">
              <a:extLst>
                <a:ext uri="{FF2B5EF4-FFF2-40B4-BE49-F238E27FC236}">
                  <a16:creationId xmlns:a16="http://schemas.microsoft.com/office/drawing/2014/main" id="{F9345061-BCAA-40FE-9F6C-3E8876DC5571}"/>
                </a:ext>
              </a:extLst>
            </p:cNvPr>
            <p:cNvSpPr/>
            <p:nvPr/>
          </p:nvSpPr>
          <p:spPr>
            <a:xfrm>
              <a:off x="5676075" y="2031618"/>
              <a:ext cx="1717589" cy="213756"/>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22" name="5 CuadroTexto">
            <a:extLst>
              <a:ext uri="{FF2B5EF4-FFF2-40B4-BE49-F238E27FC236}">
                <a16:creationId xmlns:a16="http://schemas.microsoft.com/office/drawing/2014/main" id="{773597FB-1C24-4F3E-875F-AB061FF4E198}"/>
              </a:ext>
            </a:extLst>
          </p:cNvPr>
          <p:cNvSpPr txBox="1"/>
          <p:nvPr/>
        </p:nvSpPr>
        <p:spPr>
          <a:xfrm>
            <a:off x="165530" y="4691513"/>
            <a:ext cx="4016228" cy="2031325"/>
          </a:xfrm>
          <a:prstGeom prst="rect">
            <a:avLst/>
          </a:prstGeom>
          <a:noFill/>
        </p:spPr>
        <p:txBody>
          <a:bodyPr wrap="square" rtlCol="0">
            <a:spAutoFit/>
          </a:bodyPr>
          <a:lstStyle/>
          <a:p>
            <a:r>
              <a:rPr lang="es-CO" sz="1400" b="1" dirty="0"/>
              <a:t>Datos de entrada: </a:t>
            </a:r>
          </a:p>
          <a:p>
            <a:pPr marL="285750" indent="-285750">
              <a:buFont typeface="Arial" panose="020B0604020202020204" pitchFamily="34" charset="0"/>
              <a:buChar char="•"/>
            </a:pPr>
            <a:r>
              <a:rPr lang="es-CO" sz="1200" b="1" dirty="0"/>
              <a:t>Numero</a:t>
            </a:r>
            <a:endParaRPr lang="es-CO" sz="1200" dirty="0"/>
          </a:p>
          <a:p>
            <a:r>
              <a:rPr lang="es-CO" sz="1400" b="1" dirty="0"/>
              <a:t>Datos de salida: </a:t>
            </a:r>
          </a:p>
          <a:p>
            <a:pPr marL="285750" indent="-285750">
              <a:buFont typeface="Arial" panose="020B0604020202020204" pitchFamily="34" charset="0"/>
              <a:buChar char="•"/>
            </a:pPr>
            <a:r>
              <a:rPr lang="es-CO" sz="1200" b="1" dirty="0"/>
              <a:t>Indicación si es o no es primo</a:t>
            </a:r>
          </a:p>
          <a:p>
            <a:r>
              <a:rPr lang="es-CO" sz="1400" b="1" dirty="0"/>
              <a:t>Definición de variables:</a:t>
            </a:r>
          </a:p>
          <a:p>
            <a:pPr marL="342900" indent="-342900">
              <a:buFont typeface="Arial" pitchFamily="34" charset="0"/>
              <a:buChar char="•"/>
            </a:pPr>
            <a:r>
              <a:rPr lang="es-CO" sz="1200" b="1" dirty="0" err="1">
                <a:latin typeface="Consolas" panose="020B0609020204030204" pitchFamily="49" charset="0"/>
              </a:rPr>
              <a:t>num</a:t>
            </a:r>
            <a:r>
              <a:rPr lang="es-CO" sz="1200" b="1" dirty="0"/>
              <a:t>:</a:t>
            </a:r>
            <a:r>
              <a:rPr lang="es-CO" sz="1200" dirty="0"/>
              <a:t> Numero ingresado por el usuario.</a:t>
            </a:r>
          </a:p>
          <a:p>
            <a:pPr marL="342900" indent="-342900">
              <a:buFont typeface="Arial" pitchFamily="34" charset="0"/>
              <a:buChar char="•"/>
            </a:pPr>
            <a:r>
              <a:rPr lang="es-CO" sz="1200" b="1" dirty="0">
                <a:latin typeface="Consolas" panose="020B0609020204030204" pitchFamily="49" charset="0"/>
              </a:rPr>
              <a:t>i</a:t>
            </a:r>
            <a:r>
              <a:rPr lang="es-CO" sz="1200" b="1" dirty="0"/>
              <a:t>:</a:t>
            </a:r>
            <a:r>
              <a:rPr lang="es-CO" sz="1200" dirty="0"/>
              <a:t> Divisor i-</a:t>
            </a:r>
            <a:r>
              <a:rPr lang="es-CO" sz="1200" dirty="0" err="1"/>
              <a:t>esimo</a:t>
            </a:r>
            <a:endParaRPr lang="es-CO" sz="1200" dirty="0"/>
          </a:p>
          <a:p>
            <a:pPr marL="342900" indent="-342900">
              <a:buFont typeface="Arial" pitchFamily="34" charset="0"/>
              <a:buChar char="•"/>
            </a:pPr>
            <a:r>
              <a:rPr lang="es-CO" sz="1200" b="1" dirty="0" err="1">
                <a:latin typeface="Consolas" panose="020B0609020204030204" pitchFamily="49" charset="0"/>
              </a:rPr>
              <a:t>es_primo</a:t>
            </a:r>
            <a:r>
              <a:rPr lang="es-CO" sz="1200" b="1" dirty="0"/>
              <a:t>: </a:t>
            </a:r>
            <a:r>
              <a:rPr lang="es-CO" sz="1200" dirty="0"/>
              <a:t>Bandera que indica si el numero es o no primo.</a:t>
            </a:r>
          </a:p>
          <a:p>
            <a:pPr marL="342900" indent="-342900">
              <a:buFont typeface="Arial" pitchFamily="34" charset="0"/>
              <a:buChar char="•"/>
            </a:pPr>
            <a:endParaRPr lang="es-CO" sz="1200" dirty="0"/>
          </a:p>
        </p:txBody>
      </p:sp>
      <p:sp>
        <p:nvSpPr>
          <p:cNvPr id="24" name="1 Rectángulo">
            <a:extLst>
              <a:ext uri="{FF2B5EF4-FFF2-40B4-BE49-F238E27FC236}">
                <a16:creationId xmlns:a16="http://schemas.microsoft.com/office/drawing/2014/main" id="{EEA87DAC-2F33-425F-B080-2509054A4309}"/>
              </a:ext>
            </a:extLst>
          </p:cNvPr>
          <p:cNvSpPr/>
          <p:nvPr/>
        </p:nvSpPr>
        <p:spPr>
          <a:xfrm>
            <a:off x="740816" y="4208588"/>
            <a:ext cx="640607"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num</a:t>
            </a:r>
          </a:p>
        </p:txBody>
      </p:sp>
      <p:sp>
        <p:nvSpPr>
          <p:cNvPr id="28" name="1 Rectángulo">
            <a:extLst>
              <a:ext uri="{FF2B5EF4-FFF2-40B4-BE49-F238E27FC236}">
                <a16:creationId xmlns:a16="http://schemas.microsoft.com/office/drawing/2014/main" id="{88650764-EF09-4F5A-95DB-F222A5C9FA27}"/>
              </a:ext>
            </a:extLst>
          </p:cNvPr>
          <p:cNvSpPr/>
          <p:nvPr/>
        </p:nvSpPr>
        <p:spPr>
          <a:xfrm>
            <a:off x="7447962" y="4121918"/>
            <a:ext cx="1444517" cy="276999"/>
          </a:xfrm>
          <a:prstGeom prst="rect">
            <a:avLst/>
          </a:prstGeom>
        </p:spPr>
        <p:txBody>
          <a:bodyPr wrap="square">
            <a:spAutoFit/>
          </a:bodyPr>
          <a:lstStyle/>
          <a:p>
            <a:r>
              <a:rPr lang="es-CO" sz="1200" dirty="0" err="1">
                <a:latin typeface="Consolas" panose="020B0609020204030204" pitchFamily="49" charset="0"/>
                <a:cs typeface="Consolas" panose="020B0609020204030204" pitchFamily="49" charset="0"/>
              </a:rPr>
              <a:t>es_primo</a:t>
            </a:r>
            <a:endParaRPr lang="es-CO" sz="1200" dirty="0">
              <a:latin typeface="Consolas" panose="020B0609020204030204" pitchFamily="49" charset="0"/>
              <a:cs typeface="Consolas" panose="020B0609020204030204" pitchFamily="49" charset="0"/>
            </a:endParaRPr>
          </a:p>
        </p:txBody>
      </p:sp>
      <p:sp>
        <p:nvSpPr>
          <p:cNvPr id="29" name="1 Rectángulo">
            <a:extLst>
              <a:ext uri="{FF2B5EF4-FFF2-40B4-BE49-F238E27FC236}">
                <a16:creationId xmlns:a16="http://schemas.microsoft.com/office/drawing/2014/main" id="{6E044B12-E8DE-4EE6-8CC7-6B0DC89CABA1}"/>
              </a:ext>
            </a:extLst>
          </p:cNvPr>
          <p:cNvSpPr/>
          <p:nvPr/>
        </p:nvSpPr>
        <p:spPr>
          <a:xfrm>
            <a:off x="3519571" y="4498379"/>
            <a:ext cx="980421" cy="276999"/>
          </a:xfrm>
          <a:prstGeom prst="rect">
            <a:avLst/>
          </a:prstGeom>
        </p:spPr>
        <p:txBody>
          <a:bodyPr wrap="square">
            <a:spAutoFit/>
          </a:bodyPr>
          <a:lstStyle/>
          <a:p>
            <a:r>
              <a:rPr lang="es-CO" sz="1200" dirty="0">
                <a:latin typeface="Consolas" panose="020B0609020204030204" pitchFamily="49" charset="0"/>
                <a:cs typeface="Consolas" panose="020B0609020204030204" pitchFamily="49" charset="0"/>
              </a:rPr>
              <a:t>i</a:t>
            </a:r>
          </a:p>
        </p:txBody>
      </p:sp>
    </p:spTree>
    <p:extLst>
      <p:ext uri="{BB962C8B-B14F-4D97-AF65-F5344CB8AC3E}">
        <p14:creationId xmlns:p14="http://schemas.microsoft.com/office/powerpoint/2010/main" val="17435733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6874958" cy="710952"/>
          </a:xfrm>
        </p:spPr>
        <p:txBody>
          <a:bodyPr>
            <a:normAutofit/>
          </a:bodyPr>
          <a:lstStyle/>
          <a:p>
            <a:r>
              <a:rPr lang="es-CO" dirty="0"/>
              <a:t>Ciclos – Ejemplo 8</a:t>
            </a:r>
          </a:p>
        </p:txBody>
      </p:sp>
      <p:sp>
        <p:nvSpPr>
          <p:cNvPr id="15" name="CuadroTexto 14">
            <a:extLst>
              <a:ext uri="{FF2B5EF4-FFF2-40B4-BE49-F238E27FC236}">
                <a16:creationId xmlns:a16="http://schemas.microsoft.com/office/drawing/2014/main" id="{C8D7FD91-6A4E-42E2-9BC9-1E7DAF947E36}"/>
              </a:ext>
            </a:extLst>
          </p:cNvPr>
          <p:cNvSpPr txBox="1"/>
          <p:nvPr/>
        </p:nvSpPr>
        <p:spPr>
          <a:xfrm>
            <a:off x="249193" y="1640989"/>
            <a:ext cx="3602727" cy="4524315"/>
          </a:xfrm>
          <a:prstGeom prst="rect">
            <a:avLst/>
          </a:prstGeom>
          <a:noFill/>
          <a:ln>
            <a:solidFill>
              <a:schemeClr val="tx1"/>
            </a:solidFill>
          </a:ln>
        </p:spPr>
        <p:txBody>
          <a:bodyPr wrap="square" rtlCol="0">
            <a:spAutoFit/>
          </a:bodyPr>
          <a:lstStyle/>
          <a:p>
            <a:r>
              <a:rPr lang="es-MX" sz="1200" dirty="0">
                <a:latin typeface="Consolas" panose="020B0609020204030204" pitchFamily="49" charset="0"/>
              </a:rPr>
              <a:t>Inicio</a:t>
            </a:r>
          </a:p>
          <a:p>
            <a:r>
              <a:rPr lang="es-MX" sz="1200" dirty="0">
                <a:latin typeface="Consolas" panose="020B0609020204030204" pitchFamily="49" charset="0"/>
              </a:rPr>
              <a:t>  n0 = 0</a:t>
            </a:r>
          </a:p>
          <a:p>
            <a:r>
              <a:rPr lang="es-MX" sz="1200" dirty="0">
                <a:latin typeface="Consolas" panose="020B0609020204030204" pitchFamily="49" charset="0"/>
              </a:rPr>
              <a:t>  n1 = 1</a:t>
            </a:r>
          </a:p>
          <a:p>
            <a:r>
              <a:rPr lang="es-MX" sz="1200" dirty="0">
                <a:latin typeface="Consolas" panose="020B0609020204030204" pitchFamily="49" charset="0"/>
              </a:rPr>
              <a:t>  Leer(N)</a:t>
            </a:r>
          </a:p>
          <a:p>
            <a:r>
              <a:rPr lang="es-MX" sz="1200" dirty="0">
                <a:latin typeface="Consolas" panose="020B0609020204030204" pitchFamily="49" charset="0"/>
              </a:rPr>
              <a:t>  </a:t>
            </a:r>
            <a:r>
              <a:rPr lang="es-MX" sz="1200" dirty="0">
                <a:solidFill>
                  <a:schemeClr val="accent4"/>
                </a:solidFill>
                <a:latin typeface="Consolas" panose="020B0609020204030204" pitchFamily="49" charset="0"/>
              </a:rPr>
              <a:t>Si N &lt;= 0 Entonces</a:t>
            </a:r>
          </a:p>
          <a:p>
            <a:r>
              <a:rPr lang="es-MX" sz="1200" dirty="0">
                <a:solidFill>
                  <a:schemeClr val="accent4"/>
                </a:solidFill>
                <a:latin typeface="Consolas" panose="020B0609020204030204" pitchFamily="49" charset="0"/>
              </a:rPr>
              <a:t>    Escribir("ERROR")</a:t>
            </a:r>
          </a:p>
          <a:p>
            <a:r>
              <a:rPr lang="es-MX" sz="1200" dirty="0">
                <a:solidFill>
                  <a:schemeClr val="accent4"/>
                </a:solidFill>
                <a:latin typeface="Consolas" panose="020B0609020204030204" pitchFamily="49" charset="0"/>
              </a:rPr>
              <a:t>  Sino</a:t>
            </a:r>
          </a:p>
          <a:p>
            <a:r>
              <a:rPr lang="es-MX" sz="1200" dirty="0">
                <a:solidFill>
                  <a:schemeClr val="accent4"/>
                </a:solidFill>
                <a:latin typeface="Consolas" panose="020B0609020204030204" pitchFamily="49" charset="0"/>
              </a:rPr>
              <a:t>    Si N == 1 Entonces</a:t>
            </a:r>
          </a:p>
          <a:p>
            <a:r>
              <a:rPr lang="es-MX" sz="1200" dirty="0">
                <a:solidFill>
                  <a:schemeClr val="accent4"/>
                </a:solidFill>
                <a:latin typeface="Consolas" panose="020B0609020204030204" pitchFamily="49" charset="0"/>
              </a:rPr>
              <a:t>      Escribir(n0)</a:t>
            </a:r>
          </a:p>
          <a:p>
            <a:r>
              <a:rPr lang="es-MX" sz="1200" dirty="0">
                <a:solidFill>
                  <a:schemeClr val="accent4"/>
                </a:solidFill>
                <a:latin typeface="Consolas" panose="020B0609020204030204" pitchFamily="49" charset="0"/>
              </a:rPr>
              <a:t>    Sino</a:t>
            </a:r>
          </a:p>
          <a:p>
            <a:r>
              <a:rPr lang="es-MX" sz="1200" dirty="0">
                <a:solidFill>
                  <a:schemeClr val="accent4"/>
                </a:solidFill>
                <a:latin typeface="Consolas" panose="020B0609020204030204" pitchFamily="49" charset="0"/>
              </a:rPr>
              <a:t>      Si N &lt;= 2 Entonces</a:t>
            </a:r>
          </a:p>
          <a:p>
            <a:r>
              <a:rPr lang="es-MX" sz="1200" dirty="0">
                <a:solidFill>
                  <a:schemeClr val="accent4"/>
                </a:solidFill>
                <a:latin typeface="Consolas" panose="020B0609020204030204" pitchFamily="49" charset="0"/>
              </a:rPr>
              <a:t>        Escribir(n0, n1)</a:t>
            </a:r>
          </a:p>
          <a:p>
            <a:r>
              <a:rPr lang="es-MX" sz="1200" dirty="0">
                <a:solidFill>
                  <a:schemeClr val="accent4"/>
                </a:solidFill>
                <a:latin typeface="Consolas" panose="020B0609020204030204" pitchFamily="49" charset="0"/>
              </a:rPr>
              <a:t>      Sino</a:t>
            </a:r>
          </a:p>
          <a:p>
            <a:r>
              <a:rPr lang="es-MX" sz="1200" dirty="0">
                <a:solidFill>
                  <a:schemeClr val="accent4"/>
                </a:solidFill>
                <a:latin typeface="Consolas" panose="020B0609020204030204" pitchFamily="49" charset="0"/>
              </a:rPr>
              <a:t>        Escribir(n0, n1)</a:t>
            </a:r>
          </a:p>
          <a:p>
            <a:r>
              <a:rPr lang="es-MX" sz="1200" dirty="0">
                <a:solidFill>
                  <a:schemeClr val="accent4"/>
                </a:solidFill>
                <a:latin typeface="Consolas" panose="020B0609020204030204" pitchFamily="49" charset="0"/>
              </a:rPr>
              <a:t>        </a:t>
            </a:r>
            <a:r>
              <a:rPr lang="es-MX" sz="1200" dirty="0">
                <a:solidFill>
                  <a:srgbClr val="C00000"/>
                </a:solidFill>
                <a:latin typeface="Consolas" panose="020B0609020204030204" pitchFamily="49" charset="0"/>
              </a:rPr>
              <a:t>Para (i = 3,N,1) Haga</a:t>
            </a:r>
          </a:p>
          <a:p>
            <a:r>
              <a:rPr lang="es-MX" sz="1200" dirty="0">
                <a:solidFill>
                  <a:srgbClr val="C00000"/>
                </a:solidFill>
                <a:latin typeface="Consolas" panose="020B0609020204030204" pitchFamily="49" charset="0"/>
              </a:rPr>
              <a:t>          n2 = n1 + n0</a:t>
            </a:r>
          </a:p>
          <a:p>
            <a:r>
              <a:rPr lang="es-MX" sz="1200" dirty="0">
                <a:solidFill>
                  <a:srgbClr val="C00000"/>
                </a:solidFill>
                <a:latin typeface="Consolas" panose="020B0609020204030204" pitchFamily="49" charset="0"/>
              </a:rPr>
              <a:t>          Escribir(n2)</a:t>
            </a:r>
          </a:p>
          <a:p>
            <a:r>
              <a:rPr lang="es-MX" sz="1200" dirty="0">
                <a:solidFill>
                  <a:srgbClr val="C00000"/>
                </a:solidFill>
                <a:latin typeface="Consolas" panose="020B0609020204030204" pitchFamily="49" charset="0"/>
              </a:rPr>
              <a:t>          n0 = n1</a:t>
            </a:r>
          </a:p>
          <a:p>
            <a:r>
              <a:rPr lang="es-MX" sz="1200" dirty="0">
                <a:solidFill>
                  <a:srgbClr val="C00000"/>
                </a:solidFill>
                <a:latin typeface="Consolas" panose="020B0609020204030204" pitchFamily="49" charset="0"/>
              </a:rPr>
              <a:t>          n1 = n2</a:t>
            </a:r>
          </a:p>
          <a:p>
            <a:r>
              <a:rPr lang="es-MX" sz="1200" dirty="0">
                <a:solidFill>
                  <a:srgbClr val="C00000"/>
                </a:solidFill>
                <a:latin typeface="Consolas" panose="020B0609020204030204" pitchFamily="49" charset="0"/>
              </a:rPr>
              <a:t>        </a:t>
            </a:r>
            <a:r>
              <a:rPr lang="es-MX" sz="1200" dirty="0" err="1">
                <a:solidFill>
                  <a:srgbClr val="C00000"/>
                </a:solidFill>
                <a:latin typeface="Consolas" panose="020B0609020204030204" pitchFamily="49" charset="0"/>
              </a:rPr>
              <a:t>Fin_Para</a:t>
            </a:r>
            <a:endParaRPr lang="es-MX" sz="1200" dirty="0">
              <a:solidFill>
                <a:srgbClr val="C00000"/>
              </a:solidFill>
              <a:latin typeface="Consolas" panose="020B0609020204030204" pitchFamily="49" charset="0"/>
            </a:endParaRPr>
          </a:p>
          <a:p>
            <a:r>
              <a:rPr lang="es-MX" sz="1200" dirty="0">
                <a:solidFill>
                  <a:schemeClr val="accent4"/>
                </a:solidFill>
                <a:latin typeface="Consolas" panose="020B0609020204030204" pitchFamily="49" charset="0"/>
              </a:rPr>
              <a:t>      </a:t>
            </a:r>
            <a:r>
              <a:rPr lang="es-MX" sz="1200" dirty="0" err="1">
                <a:solidFill>
                  <a:schemeClr val="accent4"/>
                </a:solidFill>
                <a:latin typeface="Consolas" panose="020B0609020204030204" pitchFamily="49" charset="0"/>
              </a:rPr>
              <a:t>Fin_Si</a:t>
            </a:r>
            <a:endParaRPr lang="es-MX" sz="1200" dirty="0">
              <a:solidFill>
                <a:schemeClr val="accent4"/>
              </a:solidFill>
              <a:latin typeface="Consolas" panose="020B0609020204030204" pitchFamily="49" charset="0"/>
            </a:endParaRPr>
          </a:p>
          <a:p>
            <a:r>
              <a:rPr lang="es-MX" sz="1200" dirty="0">
                <a:solidFill>
                  <a:schemeClr val="accent4"/>
                </a:solidFill>
                <a:latin typeface="Consolas" panose="020B0609020204030204" pitchFamily="49" charset="0"/>
              </a:rPr>
              <a:t>    </a:t>
            </a:r>
            <a:r>
              <a:rPr lang="es-MX" sz="1200" dirty="0" err="1">
                <a:solidFill>
                  <a:schemeClr val="accent4"/>
                </a:solidFill>
                <a:latin typeface="Consolas" panose="020B0609020204030204" pitchFamily="49" charset="0"/>
              </a:rPr>
              <a:t>Fin_Si</a:t>
            </a:r>
            <a:endParaRPr lang="es-MX" sz="1200" dirty="0">
              <a:solidFill>
                <a:schemeClr val="accent4"/>
              </a:solidFill>
              <a:latin typeface="Consolas" panose="020B0609020204030204" pitchFamily="49" charset="0"/>
            </a:endParaRPr>
          </a:p>
          <a:p>
            <a:r>
              <a:rPr lang="es-MX" sz="1200" dirty="0">
                <a:solidFill>
                  <a:schemeClr val="accent4"/>
                </a:solidFill>
                <a:latin typeface="Consolas" panose="020B0609020204030204" pitchFamily="49" charset="0"/>
              </a:rPr>
              <a:t>  </a:t>
            </a:r>
            <a:r>
              <a:rPr lang="es-MX" sz="1200" dirty="0" err="1">
                <a:solidFill>
                  <a:schemeClr val="accent4"/>
                </a:solidFill>
                <a:latin typeface="Consolas" panose="020B0609020204030204" pitchFamily="49" charset="0"/>
              </a:rPr>
              <a:t>Fin_Si</a:t>
            </a:r>
            <a:endParaRPr lang="es-MX" sz="1200" dirty="0">
              <a:solidFill>
                <a:schemeClr val="accent4"/>
              </a:solidFill>
              <a:latin typeface="Consolas" panose="020B0609020204030204" pitchFamily="49" charset="0"/>
            </a:endParaRPr>
          </a:p>
          <a:p>
            <a:r>
              <a:rPr lang="es-MX" sz="1200" dirty="0">
                <a:latin typeface="Consolas" panose="020B0609020204030204" pitchFamily="49" charset="0"/>
              </a:rPr>
              <a:t>Fin</a:t>
            </a:r>
            <a:endParaRPr lang="es-CO" sz="1200" dirty="0">
              <a:latin typeface="Consolas" panose="020B0609020204030204" pitchFamily="49" charset="0"/>
            </a:endParaRPr>
          </a:p>
        </p:txBody>
      </p:sp>
      <p:sp>
        <p:nvSpPr>
          <p:cNvPr id="20" name="CuadroTexto 19">
            <a:extLst>
              <a:ext uri="{FF2B5EF4-FFF2-40B4-BE49-F238E27FC236}">
                <a16:creationId xmlns:a16="http://schemas.microsoft.com/office/drawing/2014/main" id="{D590EDD7-8106-4324-9C3E-AEA635B0E29A}"/>
              </a:ext>
            </a:extLst>
          </p:cNvPr>
          <p:cNvSpPr txBox="1"/>
          <p:nvPr/>
        </p:nvSpPr>
        <p:spPr>
          <a:xfrm>
            <a:off x="179512" y="1084674"/>
            <a:ext cx="3354440" cy="400110"/>
          </a:xfrm>
          <a:prstGeom prst="rect">
            <a:avLst/>
          </a:prstGeom>
          <a:noFill/>
        </p:spPr>
        <p:txBody>
          <a:bodyPr wrap="square" rtlCol="0">
            <a:spAutoFit/>
          </a:bodyPr>
          <a:lstStyle/>
          <a:p>
            <a:r>
              <a:rPr lang="es-CO" sz="2000" b="1" dirty="0"/>
              <a:t>Pseudocódigo</a:t>
            </a:r>
          </a:p>
        </p:txBody>
      </p:sp>
      <p:pic>
        <p:nvPicPr>
          <p:cNvPr id="6" name="Imagen 5">
            <a:extLst>
              <a:ext uri="{FF2B5EF4-FFF2-40B4-BE49-F238E27FC236}">
                <a16:creationId xmlns:a16="http://schemas.microsoft.com/office/drawing/2014/main" id="{523B2B5A-2B78-4829-A8BC-670D4D50E1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5936" y="1287938"/>
            <a:ext cx="5040569" cy="5434900"/>
          </a:xfrm>
          <a:prstGeom prst="rect">
            <a:avLst/>
          </a:prstGeom>
        </p:spPr>
      </p:pic>
    </p:spTree>
    <p:extLst>
      <p:ext uri="{BB962C8B-B14F-4D97-AF65-F5344CB8AC3E}">
        <p14:creationId xmlns:p14="http://schemas.microsoft.com/office/powerpoint/2010/main" val="41844585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6874958" cy="710952"/>
          </a:xfrm>
        </p:spPr>
        <p:txBody>
          <a:bodyPr>
            <a:normAutofit/>
          </a:bodyPr>
          <a:lstStyle/>
          <a:p>
            <a:r>
              <a:rPr lang="es-CO" dirty="0"/>
              <a:t>Ciclos – Ejemplo 8</a:t>
            </a:r>
          </a:p>
        </p:txBody>
      </p:sp>
      <p:sp>
        <p:nvSpPr>
          <p:cNvPr id="16" name="CuadroTexto 15">
            <a:extLst>
              <a:ext uri="{FF2B5EF4-FFF2-40B4-BE49-F238E27FC236}">
                <a16:creationId xmlns:a16="http://schemas.microsoft.com/office/drawing/2014/main" id="{38B8693D-AA2E-44DE-88F9-84A5D401B09D}"/>
              </a:ext>
            </a:extLst>
          </p:cNvPr>
          <p:cNvSpPr txBox="1"/>
          <p:nvPr/>
        </p:nvSpPr>
        <p:spPr>
          <a:xfrm>
            <a:off x="911895" y="5200456"/>
            <a:ext cx="1545785" cy="276999"/>
          </a:xfrm>
          <a:prstGeom prst="rect">
            <a:avLst/>
          </a:prstGeom>
          <a:noFill/>
        </p:spPr>
        <p:txBody>
          <a:bodyPr wrap="square" rtlCol="0">
            <a:spAutoFit/>
          </a:bodyPr>
          <a:lstStyle/>
          <a:p>
            <a:pPr algn="ctr"/>
            <a:r>
              <a:rPr lang="es-MX" sz="1200" dirty="0">
                <a:hlinkClick r:id="rId2"/>
              </a:rPr>
              <a:t>Link de ejecución</a:t>
            </a:r>
            <a:endParaRPr lang="es-CO" sz="1200" dirty="0"/>
          </a:p>
        </p:txBody>
      </p:sp>
      <p:sp>
        <p:nvSpPr>
          <p:cNvPr id="19" name="CuadroTexto 18">
            <a:extLst>
              <a:ext uri="{FF2B5EF4-FFF2-40B4-BE49-F238E27FC236}">
                <a16:creationId xmlns:a16="http://schemas.microsoft.com/office/drawing/2014/main" id="{FE685613-A7C0-4FFC-9227-3C7A8FAF52F1}"/>
              </a:ext>
            </a:extLst>
          </p:cNvPr>
          <p:cNvSpPr txBox="1"/>
          <p:nvPr/>
        </p:nvSpPr>
        <p:spPr>
          <a:xfrm>
            <a:off x="145314" y="2121530"/>
            <a:ext cx="3078948" cy="3046988"/>
          </a:xfrm>
          <a:prstGeom prst="rect">
            <a:avLst/>
          </a:prstGeom>
          <a:noFill/>
          <a:ln>
            <a:solidFill>
              <a:schemeClr val="tx1"/>
            </a:solidFill>
          </a:ln>
        </p:spPr>
        <p:txBody>
          <a:bodyPr wrap="square" rtlCol="0">
            <a:spAutoFit/>
          </a:bodyPr>
          <a:lstStyle/>
          <a:p>
            <a:r>
              <a:rPr lang="pt-BR" sz="1200" dirty="0">
                <a:latin typeface="Consolas" panose="020B0609020204030204" pitchFamily="49" charset="0"/>
              </a:rPr>
              <a:t>n0 = 0</a:t>
            </a:r>
          </a:p>
          <a:p>
            <a:r>
              <a:rPr lang="pt-BR" sz="1200" dirty="0">
                <a:latin typeface="Consolas" panose="020B0609020204030204" pitchFamily="49" charset="0"/>
              </a:rPr>
              <a:t>n1 = 1</a:t>
            </a:r>
          </a:p>
          <a:p>
            <a:r>
              <a:rPr lang="pt-BR" sz="1200" dirty="0">
                <a:latin typeface="Consolas" panose="020B0609020204030204" pitchFamily="49" charset="0"/>
              </a:rPr>
              <a:t>N = </a:t>
            </a:r>
            <a:r>
              <a:rPr lang="pt-BR" sz="1200" dirty="0" err="1">
                <a:latin typeface="Consolas" panose="020B0609020204030204" pitchFamily="49" charset="0"/>
              </a:rPr>
              <a:t>int</a:t>
            </a:r>
            <a:r>
              <a:rPr lang="pt-BR" sz="1200" dirty="0">
                <a:latin typeface="Consolas" panose="020B0609020204030204" pitchFamily="49" charset="0"/>
              </a:rPr>
              <a:t>(input('</a:t>
            </a:r>
            <a:r>
              <a:rPr lang="pt-BR" sz="1200" dirty="0" err="1">
                <a:latin typeface="Consolas" panose="020B0609020204030204" pitchFamily="49" charset="0"/>
              </a:rPr>
              <a:t>Ingrese</a:t>
            </a:r>
            <a:r>
              <a:rPr lang="pt-BR" sz="1200" dirty="0">
                <a:latin typeface="Consolas" panose="020B0609020204030204" pitchFamily="49" charset="0"/>
              </a:rPr>
              <a:t> N: '))</a:t>
            </a:r>
          </a:p>
          <a:p>
            <a:r>
              <a:rPr lang="pt-BR" sz="1200" dirty="0" err="1">
                <a:solidFill>
                  <a:srgbClr val="0070C0"/>
                </a:solidFill>
                <a:latin typeface="Consolas" panose="020B0609020204030204" pitchFamily="49" charset="0"/>
              </a:rPr>
              <a:t>if</a:t>
            </a:r>
            <a:r>
              <a:rPr lang="pt-BR" sz="1200" dirty="0">
                <a:solidFill>
                  <a:srgbClr val="0070C0"/>
                </a:solidFill>
                <a:latin typeface="Consolas" panose="020B0609020204030204" pitchFamily="49" charset="0"/>
              </a:rPr>
              <a:t> N &lt;= 0:</a:t>
            </a:r>
          </a:p>
          <a:p>
            <a:r>
              <a:rPr lang="pt-BR" sz="1200" dirty="0">
                <a:solidFill>
                  <a:srgbClr val="0070C0"/>
                </a:solidFill>
                <a:latin typeface="Consolas" panose="020B0609020204030204" pitchFamily="49" charset="0"/>
              </a:rPr>
              <a:t>    print("ERROR")</a:t>
            </a:r>
          </a:p>
          <a:p>
            <a:r>
              <a:rPr lang="pt-BR" sz="1200" dirty="0" err="1">
                <a:solidFill>
                  <a:srgbClr val="0070C0"/>
                </a:solidFill>
                <a:latin typeface="Consolas" panose="020B0609020204030204" pitchFamily="49" charset="0"/>
              </a:rPr>
              <a:t>elif</a:t>
            </a:r>
            <a:r>
              <a:rPr lang="pt-BR" sz="1200" dirty="0">
                <a:solidFill>
                  <a:srgbClr val="0070C0"/>
                </a:solidFill>
                <a:latin typeface="Consolas" panose="020B0609020204030204" pitchFamily="49" charset="0"/>
              </a:rPr>
              <a:t> N == 1:</a:t>
            </a:r>
          </a:p>
          <a:p>
            <a:r>
              <a:rPr lang="pt-BR" sz="1200" dirty="0">
                <a:solidFill>
                  <a:srgbClr val="0070C0"/>
                </a:solidFill>
                <a:latin typeface="Consolas" panose="020B0609020204030204" pitchFamily="49" charset="0"/>
              </a:rPr>
              <a:t>    print(n0)</a:t>
            </a:r>
          </a:p>
          <a:p>
            <a:r>
              <a:rPr lang="pt-BR" sz="1200" dirty="0" err="1">
                <a:solidFill>
                  <a:srgbClr val="0070C0"/>
                </a:solidFill>
                <a:latin typeface="Consolas" panose="020B0609020204030204" pitchFamily="49" charset="0"/>
              </a:rPr>
              <a:t>elif</a:t>
            </a:r>
            <a:r>
              <a:rPr lang="pt-BR" sz="1200" dirty="0">
                <a:solidFill>
                  <a:srgbClr val="0070C0"/>
                </a:solidFill>
                <a:latin typeface="Consolas" panose="020B0609020204030204" pitchFamily="49" charset="0"/>
              </a:rPr>
              <a:t> N &lt;= 2:</a:t>
            </a:r>
          </a:p>
          <a:p>
            <a:r>
              <a:rPr lang="pt-BR" sz="1200" dirty="0">
                <a:solidFill>
                  <a:srgbClr val="0070C0"/>
                </a:solidFill>
                <a:latin typeface="Consolas" panose="020B0609020204030204" pitchFamily="49" charset="0"/>
              </a:rPr>
              <a:t>    print(n0, n1)</a:t>
            </a:r>
          </a:p>
          <a:p>
            <a:r>
              <a:rPr lang="pt-BR" sz="1200" dirty="0" err="1">
                <a:solidFill>
                  <a:srgbClr val="0070C0"/>
                </a:solidFill>
                <a:latin typeface="Consolas" panose="020B0609020204030204" pitchFamily="49" charset="0"/>
              </a:rPr>
              <a:t>else</a:t>
            </a:r>
            <a:r>
              <a:rPr lang="pt-BR" sz="1200" dirty="0">
                <a:solidFill>
                  <a:srgbClr val="0070C0"/>
                </a:solidFill>
                <a:latin typeface="Consolas" panose="020B0609020204030204" pitchFamily="49" charset="0"/>
              </a:rPr>
              <a:t>:</a:t>
            </a:r>
          </a:p>
          <a:p>
            <a:r>
              <a:rPr lang="pt-BR" sz="1200" dirty="0">
                <a:solidFill>
                  <a:srgbClr val="0070C0"/>
                </a:solidFill>
                <a:latin typeface="Consolas" panose="020B0609020204030204" pitchFamily="49" charset="0"/>
              </a:rPr>
              <a:t>    print(n0, n1)</a:t>
            </a:r>
          </a:p>
          <a:p>
            <a:r>
              <a:rPr lang="pt-BR" sz="1200" dirty="0">
                <a:solidFill>
                  <a:srgbClr val="0070C0"/>
                </a:solidFill>
                <a:latin typeface="Consolas" panose="020B0609020204030204" pitchFamily="49" charset="0"/>
              </a:rPr>
              <a:t>    </a:t>
            </a:r>
            <a:r>
              <a:rPr lang="pt-BR" sz="1200" dirty="0">
                <a:solidFill>
                  <a:srgbClr val="C00000"/>
                </a:solidFill>
                <a:latin typeface="Consolas" panose="020B0609020204030204" pitchFamily="49" charset="0"/>
              </a:rPr>
              <a:t>for i in range(3, N + 1):</a:t>
            </a:r>
          </a:p>
          <a:p>
            <a:r>
              <a:rPr lang="pt-BR" sz="1200" dirty="0">
                <a:solidFill>
                  <a:srgbClr val="C00000"/>
                </a:solidFill>
                <a:latin typeface="Consolas" panose="020B0609020204030204" pitchFamily="49" charset="0"/>
              </a:rPr>
              <a:t>        n2 = n1 + n0</a:t>
            </a:r>
          </a:p>
          <a:p>
            <a:r>
              <a:rPr lang="pt-BR" sz="1200" dirty="0">
                <a:solidFill>
                  <a:srgbClr val="C00000"/>
                </a:solidFill>
                <a:latin typeface="Consolas" panose="020B0609020204030204" pitchFamily="49" charset="0"/>
              </a:rPr>
              <a:t>        print(n2)</a:t>
            </a:r>
          </a:p>
          <a:p>
            <a:r>
              <a:rPr lang="pt-BR" sz="1200" dirty="0">
                <a:solidFill>
                  <a:srgbClr val="C00000"/>
                </a:solidFill>
                <a:latin typeface="Consolas" panose="020B0609020204030204" pitchFamily="49" charset="0"/>
              </a:rPr>
              <a:t>        n0 = n1</a:t>
            </a:r>
          </a:p>
          <a:p>
            <a:r>
              <a:rPr lang="pt-BR" sz="1200" dirty="0">
                <a:solidFill>
                  <a:srgbClr val="C00000"/>
                </a:solidFill>
                <a:latin typeface="Consolas" panose="020B0609020204030204" pitchFamily="49" charset="0"/>
              </a:rPr>
              <a:t>        n1 = n2</a:t>
            </a:r>
            <a:endParaRPr lang="es-MX" sz="1200" dirty="0">
              <a:solidFill>
                <a:srgbClr val="C00000"/>
              </a:solidFill>
              <a:latin typeface="Consolas" panose="020B0609020204030204" pitchFamily="49" charset="0"/>
            </a:endParaRPr>
          </a:p>
        </p:txBody>
      </p:sp>
      <p:sp>
        <p:nvSpPr>
          <p:cNvPr id="21" name="CuadroTexto 20">
            <a:extLst>
              <a:ext uri="{FF2B5EF4-FFF2-40B4-BE49-F238E27FC236}">
                <a16:creationId xmlns:a16="http://schemas.microsoft.com/office/drawing/2014/main" id="{4D167869-DC13-42A4-88C8-4962E68597B5}"/>
              </a:ext>
            </a:extLst>
          </p:cNvPr>
          <p:cNvSpPr txBox="1"/>
          <p:nvPr/>
        </p:nvSpPr>
        <p:spPr>
          <a:xfrm>
            <a:off x="54076" y="1689482"/>
            <a:ext cx="2424161" cy="400110"/>
          </a:xfrm>
          <a:prstGeom prst="rect">
            <a:avLst/>
          </a:prstGeom>
          <a:noFill/>
        </p:spPr>
        <p:txBody>
          <a:bodyPr wrap="square" rtlCol="0">
            <a:spAutoFit/>
          </a:bodyPr>
          <a:lstStyle/>
          <a:p>
            <a:r>
              <a:rPr lang="es-CO" sz="2000" b="1" dirty="0"/>
              <a:t>Python</a:t>
            </a:r>
          </a:p>
        </p:txBody>
      </p:sp>
      <p:pic>
        <p:nvPicPr>
          <p:cNvPr id="6" name="Imagen 5">
            <a:extLst>
              <a:ext uri="{FF2B5EF4-FFF2-40B4-BE49-F238E27FC236}">
                <a16:creationId xmlns:a16="http://schemas.microsoft.com/office/drawing/2014/main" id="{523B2B5A-2B78-4829-A8BC-670D4D50E1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35896" y="941296"/>
            <a:ext cx="5379246" cy="5800072"/>
          </a:xfrm>
          <a:prstGeom prst="rect">
            <a:avLst/>
          </a:prstGeom>
        </p:spPr>
      </p:pic>
    </p:spTree>
    <p:extLst>
      <p:ext uri="{BB962C8B-B14F-4D97-AF65-F5344CB8AC3E}">
        <p14:creationId xmlns:p14="http://schemas.microsoft.com/office/powerpoint/2010/main" val="35440075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8243110" cy="710952"/>
          </a:xfrm>
        </p:spPr>
        <p:txBody>
          <a:bodyPr>
            <a:normAutofit/>
          </a:bodyPr>
          <a:lstStyle/>
          <a:p>
            <a:r>
              <a:rPr lang="es-CO" dirty="0"/>
              <a:t>Ciclos: algunos patrones analizados</a:t>
            </a:r>
          </a:p>
        </p:txBody>
      </p:sp>
      <p:sp>
        <p:nvSpPr>
          <p:cNvPr id="13" name="12 Rectángulo"/>
          <p:cNvSpPr/>
          <p:nvPr/>
        </p:nvSpPr>
        <p:spPr>
          <a:xfrm>
            <a:off x="145314" y="846114"/>
            <a:ext cx="8747165" cy="5632311"/>
          </a:xfrm>
          <a:prstGeom prst="rect">
            <a:avLst/>
          </a:prstGeom>
        </p:spPr>
        <p:txBody>
          <a:bodyPr wrap="square">
            <a:spAutoFit/>
          </a:bodyPr>
          <a:lstStyle/>
          <a:p>
            <a:pPr marL="342900" indent="-342900" rtl="0">
              <a:buFont typeface="Arial" panose="020B0604020202020204" pitchFamily="34" charset="0"/>
              <a:buChar char="•"/>
            </a:pPr>
            <a:r>
              <a:rPr lang="es-MX" sz="2000" dirty="0"/>
              <a:t>Hasta el momento, en lo que respecta al uso de estructuras repetitivas (ciclo) hemos visto dos tipos:</a:t>
            </a:r>
          </a:p>
          <a:p>
            <a:pPr marL="800100" lvl="1" indent="-342900">
              <a:buFont typeface="Arial" panose="020B0604020202020204" pitchFamily="34" charset="0"/>
              <a:buChar char="•"/>
            </a:pPr>
            <a:r>
              <a:rPr lang="es-MX" sz="2000" b="1" dirty="0"/>
              <a:t>Ciclo Mientras</a:t>
            </a:r>
            <a:r>
              <a:rPr lang="es-MX" sz="2000" dirty="0"/>
              <a:t>: útil en problemas de iteración desconocida (terminación por bandera o centinela) y de iteración conocida (empleo de contadores).</a:t>
            </a:r>
          </a:p>
          <a:p>
            <a:pPr marL="800100" lvl="1" indent="-342900">
              <a:buFont typeface="Arial" panose="020B0604020202020204" pitchFamily="34" charset="0"/>
              <a:buChar char="•"/>
            </a:pPr>
            <a:r>
              <a:rPr lang="es-MX" sz="2000" b="1" dirty="0"/>
              <a:t>Ciclo Para</a:t>
            </a:r>
            <a:r>
              <a:rPr lang="es-MX" sz="2000" dirty="0"/>
              <a:t>: útil para ciclos con un número conocido de iteraciones.</a:t>
            </a:r>
          </a:p>
          <a:p>
            <a:pPr marL="342900" indent="-342900" rtl="0">
              <a:buFont typeface="Arial" panose="020B0604020202020204" pitchFamily="34" charset="0"/>
              <a:buChar char="•"/>
            </a:pPr>
            <a:r>
              <a:rPr lang="es-MX" sz="2000" dirty="0"/>
              <a:t>Sobre esta base construimos una serie de ejemplos que fueron mostrando distintos patrones de uso de un ciclo (en ambos tipos), no solo su sintaxis. Más exactamente, en esta clase usamos el ciclo Para para resolver problemas de iteración conocida:</a:t>
            </a:r>
          </a:p>
          <a:p>
            <a:pPr marL="342900" indent="-342900" rtl="0">
              <a:buFont typeface="Arial" panose="020B0604020202020204" pitchFamily="34" charset="0"/>
              <a:buChar char="•"/>
            </a:pPr>
            <a:r>
              <a:rPr lang="es-MX" sz="2000" dirty="0"/>
              <a:t>El Ejemplo 2 introdujo el acumulador de suma.</a:t>
            </a:r>
          </a:p>
          <a:p>
            <a:pPr marL="342900" indent="-342900" rtl="0">
              <a:buFont typeface="Arial" panose="020B0604020202020204" pitchFamily="34" charset="0"/>
              <a:buChar char="•"/>
            </a:pPr>
            <a:r>
              <a:rPr lang="es-MX" sz="2000" dirty="0"/>
              <a:t>El Ejemplo 5 (notas de estudiantes) introdujo el acumulador condicional: contar y sumar por separado según se cumpla o no una condición (aprobada/reprobada).</a:t>
            </a:r>
          </a:p>
          <a:p>
            <a:pPr marL="342900" indent="-342900" rtl="0">
              <a:buFont typeface="Arial" panose="020B0604020202020204" pitchFamily="34" charset="0"/>
              <a:buChar char="•"/>
            </a:pPr>
            <a:r>
              <a:rPr lang="es-MX" sz="2000" dirty="0"/>
              <a:t>Los Ejemplos 6 y 7 (divisores, primalidad) trabajaron con conteo condicional; la variante "Ejemplo 7 (Otra forma)" combinó una bandera con ruptura del ciclo (break) para hacerlo más eficiente.</a:t>
            </a:r>
          </a:p>
          <a:p>
            <a:pPr marL="342900" indent="-342900" rtl="0">
              <a:buFont typeface="Arial" panose="020B0604020202020204" pitchFamily="34" charset="0"/>
              <a:buChar char="•"/>
            </a:pPr>
            <a:r>
              <a:rPr lang="es-MX" sz="2000" dirty="0"/>
              <a:t>Fibonacci introdujo el manejo de dos variables de estado simultáneas y la variable temporal.</a:t>
            </a:r>
          </a:p>
        </p:txBody>
      </p:sp>
    </p:spTree>
    <p:extLst>
      <p:ext uri="{BB962C8B-B14F-4D97-AF65-F5344CB8AC3E}">
        <p14:creationId xmlns:p14="http://schemas.microsoft.com/office/powerpoint/2010/main" val="18447261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4450226" cy="710952"/>
          </a:xfrm>
        </p:spPr>
        <p:txBody>
          <a:bodyPr>
            <a:normAutofit/>
          </a:bodyPr>
          <a:lstStyle/>
          <a:p>
            <a:r>
              <a:rPr lang="es-CO" dirty="0"/>
              <a:t>Ciclos – Ejemplo 9</a:t>
            </a:r>
          </a:p>
        </p:txBody>
      </p:sp>
      <p:sp>
        <p:nvSpPr>
          <p:cNvPr id="13" name="12 Rectángulo"/>
          <p:cNvSpPr/>
          <p:nvPr/>
        </p:nvSpPr>
        <p:spPr>
          <a:xfrm>
            <a:off x="145314" y="846114"/>
            <a:ext cx="8747165" cy="5324535"/>
          </a:xfrm>
          <a:prstGeom prst="rect">
            <a:avLst/>
          </a:prstGeom>
        </p:spPr>
        <p:txBody>
          <a:bodyPr wrap="square">
            <a:spAutoFit/>
          </a:bodyPr>
          <a:lstStyle/>
          <a:p>
            <a:pPr rtl="0"/>
            <a:r>
              <a:rPr lang="es-MX" sz="2000" dirty="0"/>
              <a:t>Hacer un programa que lea primero el número de estudiantes de un curso (</a:t>
            </a:r>
            <a:r>
              <a:rPr lang="es-MX" sz="2000" b="1" dirty="0"/>
              <a:t>N</a:t>
            </a:r>
            <a:r>
              <a:rPr lang="es-MX" sz="2000" dirty="0"/>
              <a:t>), y luego lea las </a:t>
            </a:r>
            <a:r>
              <a:rPr lang="es-MX" sz="2000" b="1" dirty="0"/>
              <a:t>N</a:t>
            </a:r>
            <a:r>
              <a:rPr lang="es-MX" sz="2000" dirty="0"/>
              <a:t> notas correspondientes (valores decimales entre 0.0 y 5.0), una a una.</a:t>
            </a:r>
          </a:p>
          <a:p>
            <a:pPr rtl="0"/>
            <a:endParaRPr lang="es-MX" sz="2000" dirty="0"/>
          </a:p>
          <a:p>
            <a:pPr rtl="0"/>
            <a:r>
              <a:rPr lang="es-MX" sz="2000" dirty="0"/>
              <a:t>Considere que la nota mínima aprobatoria es 3.0: una nota es aprobada si es mayor o igual a 3.0, y reprobada si es menor a 3.0.</a:t>
            </a:r>
          </a:p>
          <a:p>
            <a:pPr rtl="0"/>
            <a:endParaRPr lang="es-MX" sz="2000" dirty="0"/>
          </a:p>
          <a:p>
            <a:pPr rtl="0"/>
            <a:r>
              <a:rPr lang="es-MX" sz="2000" dirty="0"/>
              <a:t>Al finalizar la lectura, el programa deberá entregar:</a:t>
            </a:r>
          </a:p>
          <a:p>
            <a:pPr marL="342900" indent="-342900" rtl="0">
              <a:buFont typeface="Arial" panose="020B0604020202020204" pitchFamily="34" charset="0"/>
              <a:buChar char="•"/>
            </a:pPr>
            <a:r>
              <a:rPr lang="es-MX" sz="2000" dirty="0"/>
              <a:t>El porcentaje de estudiantes aprobados.</a:t>
            </a:r>
          </a:p>
          <a:p>
            <a:pPr marL="342900" indent="-342900" rtl="0">
              <a:buFont typeface="Arial" panose="020B0604020202020204" pitchFamily="34" charset="0"/>
              <a:buChar char="•"/>
            </a:pPr>
            <a:r>
              <a:rPr lang="es-MX" sz="2000" dirty="0"/>
              <a:t>El porcentaje de estudiantes reprobados.</a:t>
            </a:r>
          </a:p>
          <a:p>
            <a:pPr marL="342900" indent="-342900" rtl="0">
              <a:buFont typeface="Arial" panose="020B0604020202020204" pitchFamily="34" charset="0"/>
              <a:buChar char="•"/>
            </a:pPr>
            <a:r>
              <a:rPr lang="es-MX" sz="2000" dirty="0"/>
              <a:t>El promedio de las notas aprobadas.</a:t>
            </a:r>
          </a:p>
          <a:p>
            <a:pPr marL="342900" indent="-342900" rtl="0">
              <a:buFont typeface="Arial" panose="020B0604020202020204" pitchFamily="34" charset="0"/>
              <a:buChar char="•"/>
            </a:pPr>
            <a:r>
              <a:rPr lang="es-MX" sz="2000" dirty="0"/>
              <a:t>El promedio de las notas reprobadas.</a:t>
            </a:r>
          </a:p>
          <a:p>
            <a:pPr marL="342900" indent="-342900" rtl="0">
              <a:buFont typeface="Arial" panose="020B0604020202020204" pitchFamily="34" charset="0"/>
              <a:buChar char="•"/>
            </a:pPr>
            <a:r>
              <a:rPr lang="es-MX" sz="2000" dirty="0"/>
              <a:t>El promedio de las notas del curso.</a:t>
            </a:r>
          </a:p>
          <a:p>
            <a:pPr marL="342900" indent="-342900" rtl="0">
              <a:buFont typeface="Arial" panose="020B0604020202020204" pitchFamily="34" charset="0"/>
              <a:buChar char="•"/>
            </a:pPr>
            <a:r>
              <a:rPr lang="es-MX" sz="2000" dirty="0">
                <a:solidFill>
                  <a:srgbClr val="C00000"/>
                </a:solidFill>
              </a:rPr>
              <a:t>La máxima nota obtenida en el curso.</a:t>
            </a:r>
          </a:p>
          <a:p>
            <a:pPr marL="342900" indent="-342900" rtl="0">
              <a:buFont typeface="Arial" panose="020B0604020202020204" pitchFamily="34" charset="0"/>
              <a:buChar char="•"/>
            </a:pPr>
            <a:r>
              <a:rPr lang="es-MX" sz="2000" dirty="0">
                <a:solidFill>
                  <a:srgbClr val="C00000"/>
                </a:solidFill>
              </a:rPr>
              <a:t>La mínima nota obtenida en el curso.</a:t>
            </a:r>
          </a:p>
          <a:p>
            <a:pPr marL="342900" indent="-342900" rtl="0">
              <a:buFont typeface="Arial" panose="020B0604020202020204" pitchFamily="34" charset="0"/>
              <a:buChar char="•"/>
            </a:pPr>
            <a:endParaRPr lang="es-MX" sz="2000" dirty="0">
              <a:solidFill>
                <a:srgbClr val="C00000"/>
              </a:solidFill>
            </a:endParaRPr>
          </a:p>
          <a:p>
            <a:pPr rtl="0"/>
            <a:r>
              <a:rPr lang="es-MX" sz="2000" b="1" dirty="0"/>
              <a:t>Nota</a:t>
            </a:r>
            <a:r>
              <a:rPr lang="es-MX" sz="2000" dirty="0"/>
              <a:t>: Esta es una actualización que se realiza sobre el ejemplo 5.</a:t>
            </a:r>
          </a:p>
        </p:txBody>
      </p:sp>
    </p:spTree>
    <p:extLst>
      <p:ext uri="{BB962C8B-B14F-4D97-AF65-F5344CB8AC3E}">
        <p14:creationId xmlns:p14="http://schemas.microsoft.com/office/powerpoint/2010/main" val="21049652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8459134" cy="710952"/>
          </a:xfrm>
        </p:spPr>
        <p:txBody>
          <a:bodyPr>
            <a:normAutofit/>
          </a:bodyPr>
          <a:lstStyle/>
          <a:p>
            <a:r>
              <a:rPr lang="es-CO" dirty="0"/>
              <a:t>Ciclos: </a:t>
            </a:r>
            <a:r>
              <a:rPr lang="es-MX" dirty="0"/>
              <a:t>Búsqueda de extremos </a:t>
            </a:r>
            <a:endParaRPr lang="es-CO" dirty="0"/>
          </a:p>
        </p:txBody>
      </p:sp>
      <p:sp>
        <p:nvSpPr>
          <p:cNvPr id="13" name="12 Rectángulo"/>
          <p:cNvSpPr/>
          <p:nvPr/>
        </p:nvSpPr>
        <p:spPr>
          <a:xfrm>
            <a:off x="145314" y="846114"/>
            <a:ext cx="8747165" cy="3170099"/>
          </a:xfrm>
          <a:prstGeom prst="rect">
            <a:avLst/>
          </a:prstGeom>
        </p:spPr>
        <p:txBody>
          <a:bodyPr wrap="square">
            <a:spAutoFit/>
          </a:bodyPr>
          <a:lstStyle/>
          <a:p>
            <a:pPr marL="342900" indent="-342900" rtl="0">
              <a:buFont typeface="Arial" panose="020B0604020202020204" pitchFamily="34" charset="0"/>
              <a:buChar char="•"/>
            </a:pPr>
            <a:r>
              <a:rPr lang="es-MX" sz="2000" b="1" dirty="0"/>
              <a:t>Idea central</a:t>
            </a:r>
            <a:r>
              <a:rPr lang="es-MX" sz="2000" dirty="0"/>
              <a:t>: mantener una variable que representa el "</a:t>
            </a:r>
            <a:r>
              <a:rPr lang="es-MX" sz="2000" b="1" dirty="0"/>
              <a:t>mejor</a:t>
            </a:r>
            <a:r>
              <a:rPr lang="es-MX" sz="2000" dirty="0"/>
              <a:t>" valor visto hasta el momento (el máximo, o el mínimo), y en cada iteración compararla contra el nuevo dato.</a:t>
            </a:r>
          </a:p>
          <a:p>
            <a:pPr marL="342900" indent="-342900" rtl="0">
              <a:buFont typeface="Arial" panose="020B0604020202020204" pitchFamily="34" charset="0"/>
              <a:buChar char="•"/>
            </a:pPr>
            <a:r>
              <a:rPr lang="es-MX" sz="2000" dirty="0"/>
              <a:t>Si el nuevo dato "mejora" lo que ya se tiene guardado (es mayor, para el máximo; es menor, para el mínimo), se actualiza esa variable. Si no, se deja igual y se continúa con el siguiente dato.</a:t>
            </a:r>
          </a:p>
          <a:p>
            <a:pPr marL="342900" indent="-342900" rtl="0">
              <a:buFont typeface="Arial" panose="020B0604020202020204" pitchFamily="34" charset="0"/>
              <a:buChar char="•"/>
            </a:pPr>
            <a:r>
              <a:rPr lang="es-MX" sz="2000" dirty="0"/>
              <a:t>A diferencia de los acumuladores, aquí no se combina la información de todos los datos sino que solo se retiene uno: el mejor visto hasta ahora.</a:t>
            </a:r>
          </a:p>
          <a:p>
            <a:pPr marL="342900" indent="-342900" rtl="0">
              <a:buFont typeface="Arial" panose="020B0604020202020204" pitchFamily="34" charset="0"/>
              <a:buChar char="•"/>
            </a:pPr>
            <a:r>
              <a:rPr lang="es-MX" sz="2000" dirty="0"/>
              <a:t>En pseudocódigo, la esencia del patrón es esta (independiente de cómo se recorra la secuencia):</a:t>
            </a:r>
          </a:p>
        </p:txBody>
      </p:sp>
      <p:sp>
        <p:nvSpPr>
          <p:cNvPr id="6" name="CuadroTexto 5">
            <a:extLst>
              <a:ext uri="{FF2B5EF4-FFF2-40B4-BE49-F238E27FC236}">
                <a16:creationId xmlns:a16="http://schemas.microsoft.com/office/drawing/2014/main" id="{6201281D-3BBC-4A12-A85B-EF94FDF4C6C6}"/>
              </a:ext>
            </a:extLst>
          </p:cNvPr>
          <p:cNvSpPr txBox="1"/>
          <p:nvPr/>
        </p:nvSpPr>
        <p:spPr>
          <a:xfrm>
            <a:off x="574983" y="4168293"/>
            <a:ext cx="3797519" cy="2246769"/>
          </a:xfrm>
          <a:prstGeom prst="rect">
            <a:avLst/>
          </a:prstGeom>
          <a:noFill/>
          <a:ln>
            <a:solidFill>
              <a:schemeClr val="tx1"/>
            </a:solidFill>
          </a:ln>
        </p:spPr>
        <p:txBody>
          <a:bodyPr wrap="square">
            <a:spAutoFit/>
          </a:bodyPr>
          <a:lstStyle/>
          <a:p>
            <a:r>
              <a:rPr lang="es-CO" sz="1400" dirty="0">
                <a:solidFill>
                  <a:srgbClr val="C00000"/>
                </a:solidFill>
                <a:latin typeface="Consolas" panose="020B0609020204030204" pitchFamily="49" charset="0"/>
              </a:rPr>
              <a:t>Mientras (i &lt; N) Haga</a:t>
            </a:r>
          </a:p>
          <a:p>
            <a:r>
              <a:rPr lang="es-CO" sz="1400" dirty="0">
                <a:latin typeface="Consolas" panose="020B0609020204030204" pitchFamily="49" charset="0"/>
              </a:rPr>
              <a:t>  </a:t>
            </a:r>
            <a:r>
              <a:rPr lang="es-CO" sz="1400" dirty="0">
                <a:solidFill>
                  <a:schemeClr val="accent4"/>
                </a:solidFill>
                <a:latin typeface="Consolas" panose="020B0609020204030204" pitchFamily="49" charset="0"/>
              </a:rPr>
              <a:t>Leer(elemento)</a:t>
            </a:r>
          </a:p>
          <a:p>
            <a:r>
              <a:rPr lang="es-CO" sz="1400" dirty="0">
                <a:latin typeface="Consolas" panose="020B0609020204030204" pitchFamily="49" charset="0"/>
              </a:rPr>
              <a:t>  </a:t>
            </a:r>
            <a:r>
              <a:rPr lang="es-CO" sz="1400" dirty="0">
                <a:solidFill>
                  <a:srgbClr val="00B050"/>
                </a:solidFill>
                <a:latin typeface="Consolas" panose="020B0609020204030204" pitchFamily="49" charset="0"/>
              </a:rPr>
              <a:t>Si elemento &gt; maximo Entonces</a:t>
            </a:r>
          </a:p>
          <a:p>
            <a:r>
              <a:rPr lang="es-CO" sz="1400" dirty="0">
                <a:solidFill>
                  <a:srgbClr val="00B050"/>
                </a:solidFill>
                <a:latin typeface="Consolas" panose="020B0609020204030204" pitchFamily="49" charset="0"/>
              </a:rPr>
              <a:t>    maximo = elemento</a:t>
            </a:r>
          </a:p>
          <a:p>
            <a:r>
              <a:rPr lang="es-CO" sz="1400" dirty="0">
                <a:solidFill>
                  <a:srgbClr val="00B050"/>
                </a:solidFill>
                <a:latin typeface="Consolas" panose="020B0609020204030204" pitchFamily="49" charset="0"/>
              </a:rPr>
              <a:t>  </a:t>
            </a:r>
            <a:r>
              <a:rPr lang="es-CO" sz="1400" dirty="0" err="1">
                <a:solidFill>
                  <a:srgbClr val="00B050"/>
                </a:solidFill>
                <a:latin typeface="Consolas" panose="020B0609020204030204" pitchFamily="49" charset="0"/>
              </a:rPr>
              <a:t>Fin_Si</a:t>
            </a:r>
            <a:endParaRPr lang="es-CO" sz="1400" dirty="0">
              <a:solidFill>
                <a:srgbClr val="00B050"/>
              </a:solidFill>
              <a:latin typeface="Consolas" panose="020B0609020204030204" pitchFamily="49" charset="0"/>
            </a:endParaRPr>
          </a:p>
          <a:p>
            <a:r>
              <a:rPr lang="es-CO" sz="1400" dirty="0">
                <a:solidFill>
                  <a:srgbClr val="00B050"/>
                </a:solidFill>
                <a:latin typeface="Consolas" panose="020B0609020204030204" pitchFamily="49" charset="0"/>
              </a:rPr>
              <a:t>  Si elemento &lt; minimo Entonces</a:t>
            </a:r>
          </a:p>
          <a:p>
            <a:r>
              <a:rPr lang="es-CO" sz="1400" dirty="0">
                <a:solidFill>
                  <a:srgbClr val="00B050"/>
                </a:solidFill>
                <a:latin typeface="Consolas" panose="020B0609020204030204" pitchFamily="49" charset="0"/>
              </a:rPr>
              <a:t>    minimo = elemento</a:t>
            </a:r>
          </a:p>
          <a:p>
            <a:r>
              <a:rPr lang="es-CO" sz="1400" dirty="0">
                <a:solidFill>
                  <a:srgbClr val="00B050"/>
                </a:solidFill>
                <a:latin typeface="Consolas" panose="020B0609020204030204" pitchFamily="49" charset="0"/>
              </a:rPr>
              <a:t>  </a:t>
            </a:r>
            <a:r>
              <a:rPr lang="es-CO" sz="1400" dirty="0" err="1">
                <a:solidFill>
                  <a:srgbClr val="00B050"/>
                </a:solidFill>
                <a:latin typeface="Consolas" panose="020B0609020204030204" pitchFamily="49" charset="0"/>
              </a:rPr>
              <a:t>Fin_Si</a:t>
            </a:r>
            <a:endParaRPr lang="es-CO" sz="1400" dirty="0">
              <a:solidFill>
                <a:srgbClr val="00B050"/>
              </a:solidFill>
              <a:latin typeface="Consolas" panose="020B0609020204030204" pitchFamily="49" charset="0"/>
            </a:endParaRPr>
          </a:p>
          <a:p>
            <a:r>
              <a:rPr lang="es-CO" sz="1400" dirty="0">
                <a:solidFill>
                  <a:srgbClr val="C00000"/>
                </a:solidFill>
                <a:latin typeface="Consolas" panose="020B0609020204030204" pitchFamily="49" charset="0"/>
              </a:rPr>
              <a:t>  i = i + 1</a:t>
            </a:r>
          </a:p>
          <a:p>
            <a:r>
              <a:rPr lang="es-CO" sz="1400" dirty="0" err="1">
                <a:solidFill>
                  <a:srgbClr val="C00000"/>
                </a:solidFill>
                <a:latin typeface="Consolas" panose="020B0609020204030204" pitchFamily="49" charset="0"/>
              </a:rPr>
              <a:t>Fin_Mientras</a:t>
            </a:r>
            <a:endParaRPr lang="es-CO" sz="1400" dirty="0">
              <a:solidFill>
                <a:srgbClr val="C00000"/>
              </a:solidFill>
              <a:latin typeface="Consolas" panose="020B0609020204030204" pitchFamily="49" charset="0"/>
            </a:endParaRPr>
          </a:p>
        </p:txBody>
      </p:sp>
      <p:sp>
        <p:nvSpPr>
          <p:cNvPr id="7" name="CuadroTexto 6">
            <a:extLst>
              <a:ext uri="{FF2B5EF4-FFF2-40B4-BE49-F238E27FC236}">
                <a16:creationId xmlns:a16="http://schemas.microsoft.com/office/drawing/2014/main" id="{98039A3B-B81E-44C2-BDA5-48AEAF79B40D}"/>
              </a:ext>
            </a:extLst>
          </p:cNvPr>
          <p:cNvSpPr txBox="1"/>
          <p:nvPr/>
        </p:nvSpPr>
        <p:spPr>
          <a:xfrm>
            <a:off x="4916647" y="4276014"/>
            <a:ext cx="3629597" cy="2031325"/>
          </a:xfrm>
          <a:prstGeom prst="rect">
            <a:avLst/>
          </a:prstGeom>
          <a:noFill/>
          <a:ln>
            <a:solidFill>
              <a:schemeClr val="tx1"/>
            </a:solidFill>
          </a:ln>
        </p:spPr>
        <p:txBody>
          <a:bodyPr wrap="square">
            <a:spAutoFit/>
          </a:bodyPr>
          <a:lstStyle/>
          <a:p>
            <a:r>
              <a:rPr lang="es-CO" sz="1400" dirty="0">
                <a:solidFill>
                  <a:srgbClr val="C00000"/>
                </a:solidFill>
                <a:latin typeface="Consolas" panose="020B0609020204030204" pitchFamily="49" charset="0"/>
              </a:rPr>
              <a:t>Para (i = 1,N,1) Haga</a:t>
            </a:r>
          </a:p>
          <a:p>
            <a:r>
              <a:rPr lang="es-CO" sz="1400" dirty="0">
                <a:latin typeface="Consolas" panose="020B0609020204030204" pitchFamily="49" charset="0"/>
              </a:rPr>
              <a:t>  </a:t>
            </a:r>
            <a:r>
              <a:rPr lang="es-CO" sz="1400" dirty="0">
                <a:solidFill>
                  <a:schemeClr val="accent4"/>
                </a:solidFill>
                <a:latin typeface="Consolas" panose="020B0609020204030204" pitchFamily="49" charset="0"/>
              </a:rPr>
              <a:t>Leer(elemento)</a:t>
            </a:r>
          </a:p>
          <a:p>
            <a:r>
              <a:rPr lang="es-CO" sz="1400" dirty="0">
                <a:latin typeface="Consolas" panose="020B0609020204030204" pitchFamily="49" charset="0"/>
              </a:rPr>
              <a:t>  </a:t>
            </a:r>
            <a:r>
              <a:rPr lang="es-CO" sz="1400" dirty="0">
                <a:solidFill>
                  <a:srgbClr val="00B050"/>
                </a:solidFill>
                <a:latin typeface="Consolas" panose="020B0609020204030204" pitchFamily="49" charset="0"/>
              </a:rPr>
              <a:t>Si elemento &gt; maximo Entonces</a:t>
            </a:r>
          </a:p>
          <a:p>
            <a:r>
              <a:rPr lang="es-CO" sz="1400" dirty="0">
                <a:solidFill>
                  <a:srgbClr val="00B050"/>
                </a:solidFill>
                <a:latin typeface="Consolas" panose="020B0609020204030204" pitchFamily="49" charset="0"/>
              </a:rPr>
              <a:t>    maximo = elemento</a:t>
            </a:r>
          </a:p>
          <a:p>
            <a:r>
              <a:rPr lang="es-CO" sz="1400" dirty="0">
                <a:solidFill>
                  <a:srgbClr val="00B050"/>
                </a:solidFill>
                <a:latin typeface="Consolas" panose="020B0609020204030204" pitchFamily="49" charset="0"/>
              </a:rPr>
              <a:t>  </a:t>
            </a:r>
            <a:r>
              <a:rPr lang="es-CO" sz="1400" dirty="0" err="1">
                <a:solidFill>
                  <a:srgbClr val="00B050"/>
                </a:solidFill>
                <a:latin typeface="Consolas" panose="020B0609020204030204" pitchFamily="49" charset="0"/>
              </a:rPr>
              <a:t>Fin_Si</a:t>
            </a:r>
            <a:endParaRPr lang="es-CO" sz="1400" dirty="0">
              <a:solidFill>
                <a:srgbClr val="00B050"/>
              </a:solidFill>
              <a:latin typeface="Consolas" panose="020B0609020204030204" pitchFamily="49" charset="0"/>
            </a:endParaRPr>
          </a:p>
          <a:p>
            <a:r>
              <a:rPr lang="es-CO" sz="1400" dirty="0">
                <a:solidFill>
                  <a:srgbClr val="00B050"/>
                </a:solidFill>
                <a:latin typeface="Consolas" panose="020B0609020204030204" pitchFamily="49" charset="0"/>
              </a:rPr>
              <a:t>  Si elemento &lt; minimo Entonces</a:t>
            </a:r>
          </a:p>
          <a:p>
            <a:r>
              <a:rPr lang="es-CO" sz="1400" dirty="0">
                <a:solidFill>
                  <a:srgbClr val="00B050"/>
                </a:solidFill>
                <a:latin typeface="Consolas" panose="020B0609020204030204" pitchFamily="49" charset="0"/>
              </a:rPr>
              <a:t>    minimo = elemento</a:t>
            </a:r>
          </a:p>
          <a:p>
            <a:r>
              <a:rPr lang="es-CO" sz="1400" dirty="0">
                <a:solidFill>
                  <a:srgbClr val="00B050"/>
                </a:solidFill>
                <a:latin typeface="Consolas" panose="020B0609020204030204" pitchFamily="49" charset="0"/>
              </a:rPr>
              <a:t>  </a:t>
            </a:r>
            <a:r>
              <a:rPr lang="es-CO" sz="1400" dirty="0" err="1">
                <a:solidFill>
                  <a:srgbClr val="00B050"/>
                </a:solidFill>
                <a:latin typeface="Consolas" panose="020B0609020204030204" pitchFamily="49" charset="0"/>
              </a:rPr>
              <a:t>Fin_Si</a:t>
            </a:r>
            <a:endParaRPr lang="es-CO" sz="1400" dirty="0">
              <a:solidFill>
                <a:srgbClr val="00B050"/>
              </a:solidFill>
              <a:latin typeface="Consolas" panose="020B0609020204030204" pitchFamily="49" charset="0"/>
            </a:endParaRPr>
          </a:p>
          <a:p>
            <a:r>
              <a:rPr lang="es-CO" sz="1400" dirty="0" err="1">
                <a:solidFill>
                  <a:srgbClr val="C00000"/>
                </a:solidFill>
                <a:latin typeface="Consolas" panose="020B0609020204030204" pitchFamily="49" charset="0"/>
              </a:rPr>
              <a:t>Fin_Para</a:t>
            </a:r>
            <a:endParaRPr lang="es-CO" sz="1400" dirty="0">
              <a:solidFill>
                <a:srgbClr val="C00000"/>
              </a:solidFill>
              <a:latin typeface="Consolas" panose="020B0609020204030204" pitchFamily="49" charset="0"/>
            </a:endParaRPr>
          </a:p>
        </p:txBody>
      </p:sp>
    </p:spTree>
    <p:extLst>
      <p:ext uri="{BB962C8B-B14F-4D97-AF65-F5344CB8AC3E}">
        <p14:creationId xmlns:p14="http://schemas.microsoft.com/office/powerpoint/2010/main" val="39316388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8853372" cy="710952"/>
          </a:xfrm>
        </p:spPr>
        <p:txBody>
          <a:bodyPr>
            <a:noAutofit/>
          </a:bodyPr>
          <a:lstStyle/>
          <a:p>
            <a:r>
              <a:rPr lang="es-CO" sz="3600" dirty="0"/>
              <a:t>Ciclos: </a:t>
            </a:r>
            <a:r>
              <a:rPr lang="es-MX" sz="3600" dirty="0"/>
              <a:t>Búsqueda de extremos (continuación) </a:t>
            </a:r>
            <a:endParaRPr lang="es-CO" sz="3600" dirty="0"/>
          </a:p>
        </p:txBody>
      </p:sp>
      <p:sp>
        <p:nvSpPr>
          <p:cNvPr id="13" name="12 Rectángulo"/>
          <p:cNvSpPr/>
          <p:nvPr/>
        </p:nvSpPr>
        <p:spPr>
          <a:xfrm>
            <a:off x="145314" y="846114"/>
            <a:ext cx="8747165" cy="2862322"/>
          </a:xfrm>
          <a:prstGeom prst="rect">
            <a:avLst/>
          </a:prstGeom>
        </p:spPr>
        <p:txBody>
          <a:bodyPr wrap="square">
            <a:spAutoFit/>
          </a:bodyPr>
          <a:lstStyle/>
          <a:p>
            <a:pPr marL="342900" indent="-342900" rtl="0">
              <a:buFont typeface="Arial" panose="020B0604020202020204" pitchFamily="34" charset="0"/>
              <a:buChar char="•"/>
            </a:pPr>
            <a:r>
              <a:rPr lang="es-MX" sz="2000" dirty="0"/>
              <a:t>Pregunta clave: ¿con qué valor se inicializan máximo y mínimo antes de la primera comparación?</a:t>
            </a:r>
          </a:p>
          <a:p>
            <a:pPr marL="342900" indent="-342900" rtl="0">
              <a:buFont typeface="Arial" panose="020B0604020202020204" pitchFamily="34" charset="0"/>
              <a:buChar char="•"/>
            </a:pPr>
            <a:r>
              <a:rPr lang="es-MX" sz="2000" dirty="0"/>
              <a:t>Dos posibles respuestas: </a:t>
            </a:r>
          </a:p>
          <a:p>
            <a:pPr marL="800100" lvl="1" indent="-342900">
              <a:buFont typeface="Arial" panose="020B0604020202020204" pitchFamily="34" charset="0"/>
              <a:buChar char="•"/>
            </a:pPr>
            <a:r>
              <a:rPr lang="es-MX" sz="2000" b="1" dirty="0"/>
              <a:t>Opción 1 - valores fijos</a:t>
            </a:r>
            <a:r>
              <a:rPr lang="es-MX" sz="2000" dirty="0"/>
              <a:t>: aprovechar que el dominio de las notas es conocido (0.0 a 5.0) e inicializar </a:t>
            </a:r>
            <a:r>
              <a:rPr lang="es-MX" sz="2000" dirty="0" err="1"/>
              <a:t>maximo</a:t>
            </a:r>
            <a:r>
              <a:rPr lang="es-MX" sz="2000" dirty="0"/>
              <a:t> = 0.0 y </a:t>
            </a:r>
            <a:r>
              <a:rPr lang="es-MX" sz="2000" dirty="0" err="1"/>
              <a:t>minimo</a:t>
            </a:r>
            <a:r>
              <a:rPr lang="es-MX" sz="2000" dirty="0"/>
              <a:t> = 5.0 antes del ciclo.</a:t>
            </a:r>
          </a:p>
          <a:p>
            <a:pPr marL="800100" lvl="1" indent="-342900">
              <a:buFont typeface="Arial" panose="020B0604020202020204" pitchFamily="34" charset="0"/>
              <a:buChar char="•"/>
            </a:pPr>
            <a:r>
              <a:rPr lang="es-MX" sz="2000" b="1" dirty="0"/>
              <a:t>Opción 2 - el primer dato leído</a:t>
            </a:r>
            <a:r>
              <a:rPr lang="es-MX" sz="2000" dirty="0"/>
              <a:t>: inicializar </a:t>
            </a:r>
            <a:r>
              <a:rPr lang="es-MX" sz="2000" dirty="0" err="1"/>
              <a:t>maximo</a:t>
            </a:r>
            <a:r>
              <a:rPr lang="es-MX" sz="2000" dirty="0"/>
              <a:t> y </a:t>
            </a:r>
            <a:r>
              <a:rPr lang="es-MX" sz="2000" dirty="0" err="1"/>
              <a:t>minimo</a:t>
            </a:r>
            <a:r>
              <a:rPr lang="es-MX" sz="2000" dirty="0"/>
              <a:t> con el primer elemento de la secuencia, sin asumir nada sobre el rango de los datos.  </a:t>
            </a:r>
          </a:p>
          <a:p>
            <a:pPr marL="342900" indent="-342900">
              <a:buFont typeface="Arial" panose="020B0604020202020204" pitchFamily="34" charset="0"/>
              <a:buChar char="•"/>
            </a:pPr>
            <a:r>
              <a:rPr lang="es-MX" sz="2000" dirty="0"/>
              <a:t>Analicemos cada una.</a:t>
            </a:r>
          </a:p>
        </p:txBody>
      </p:sp>
    </p:spTree>
    <p:extLst>
      <p:ext uri="{BB962C8B-B14F-4D97-AF65-F5344CB8AC3E}">
        <p14:creationId xmlns:p14="http://schemas.microsoft.com/office/powerpoint/2010/main" val="16683304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135162"/>
            <a:ext cx="8853372" cy="710952"/>
          </a:xfrm>
        </p:spPr>
        <p:txBody>
          <a:bodyPr>
            <a:noAutofit/>
          </a:bodyPr>
          <a:lstStyle/>
          <a:p>
            <a:r>
              <a:rPr lang="es-CO" sz="3600" dirty="0"/>
              <a:t>Opción 1: inicialización fija</a:t>
            </a:r>
          </a:p>
        </p:txBody>
      </p:sp>
      <p:sp>
        <p:nvSpPr>
          <p:cNvPr id="13" name="12 Rectángulo"/>
          <p:cNvSpPr/>
          <p:nvPr/>
        </p:nvSpPr>
        <p:spPr>
          <a:xfrm>
            <a:off x="145314" y="846114"/>
            <a:ext cx="8747165" cy="2246769"/>
          </a:xfrm>
          <a:prstGeom prst="rect">
            <a:avLst/>
          </a:prstGeom>
        </p:spPr>
        <p:txBody>
          <a:bodyPr wrap="square">
            <a:spAutoFit/>
          </a:bodyPr>
          <a:lstStyle/>
          <a:p>
            <a:pPr marL="342900" indent="-342900" rtl="0">
              <a:buFont typeface="Arial" panose="020B0604020202020204" pitchFamily="34" charset="0"/>
              <a:buChar char="•"/>
            </a:pPr>
            <a:r>
              <a:rPr lang="es-MX" sz="2000" dirty="0"/>
              <a:t>Se aprovecha que el dominio de los datos es conocido de antemano (en este caso, notas entre 0.0 y 5.0).</a:t>
            </a:r>
          </a:p>
          <a:p>
            <a:pPr marL="342900" indent="-342900" rtl="0">
              <a:buFont typeface="Arial" panose="020B0604020202020204" pitchFamily="34" charset="0"/>
              <a:buChar char="•"/>
            </a:pPr>
            <a:r>
              <a:rPr lang="es-MX" sz="2000" dirty="0"/>
              <a:t>Antes de iniciar el ciclo, </a:t>
            </a:r>
            <a:r>
              <a:rPr lang="es-MX" sz="2000" b="1" dirty="0" err="1"/>
              <a:t>maximo</a:t>
            </a:r>
            <a:r>
              <a:rPr lang="es-MX" sz="2000" dirty="0"/>
              <a:t> se inicializa con el valor más bajo posible del dominio, y </a:t>
            </a:r>
            <a:r>
              <a:rPr lang="es-MX" sz="2000" b="1" dirty="0" err="1"/>
              <a:t>minimo</a:t>
            </a:r>
            <a:r>
              <a:rPr lang="es-MX" sz="2000" dirty="0"/>
              <a:t> con el más alto — así, el primer dato real siempre "gana" la primera comparación.</a:t>
            </a:r>
          </a:p>
          <a:p>
            <a:pPr marL="342900" indent="-342900" rtl="0">
              <a:buFont typeface="Arial" panose="020B0604020202020204" pitchFamily="34" charset="0"/>
              <a:buChar char="•"/>
            </a:pPr>
            <a:r>
              <a:rPr lang="es-MX" sz="2000" b="1" dirty="0"/>
              <a:t>Es la opción más simple</a:t>
            </a:r>
            <a:r>
              <a:rPr lang="es-MX" sz="2000" dirty="0"/>
              <a:t>: no hay que tratar ninguna iteración de forma especial.</a:t>
            </a:r>
          </a:p>
          <a:p>
            <a:pPr marL="342900" indent="-342900" rtl="0">
              <a:buFont typeface="Arial" panose="020B0604020202020204" pitchFamily="34" charset="0"/>
              <a:buChar char="•"/>
            </a:pPr>
            <a:r>
              <a:rPr lang="es-MX" sz="2000" b="1" dirty="0"/>
              <a:t>Limitación</a:t>
            </a:r>
            <a:r>
              <a:rPr lang="es-MX" sz="2000" dirty="0"/>
              <a:t>: solo funciona si se conoce con certeza el rango válido de los datos.</a:t>
            </a:r>
          </a:p>
        </p:txBody>
      </p:sp>
      <p:sp>
        <p:nvSpPr>
          <p:cNvPr id="7" name="CuadroTexto 6">
            <a:extLst>
              <a:ext uri="{FF2B5EF4-FFF2-40B4-BE49-F238E27FC236}">
                <a16:creationId xmlns:a16="http://schemas.microsoft.com/office/drawing/2014/main" id="{965E2A9A-FBB8-42AC-BBAA-3CDACA417362}"/>
              </a:ext>
            </a:extLst>
          </p:cNvPr>
          <p:cNvSpPr txBox="1"/>
          <p:nvPr/>
        </p:nvSpPr>
        <p:spPr>
          <a:xfrm>
            <a:off x="559947" y="3288568"/>
            <a:ext cx="3797519" cy="3108543"/>
          </a:xfrm>
          <a:prstGeom prst="rect">
            <a:avLst/>
          </a:prstGeom>
          <a:noFill/>
          <a:ln>
            <a:solidFill>
              <a:schemeClr val="tx1"/>
            </a:solidFill>
          </a:ln>
        </p:spPr>
        <p:txBody>
          <a:bodyPr wrap="square">
            <a:spAutoFit/>
          </a:bodyPr>
          <a:lstStyle/>
          <a:p>
            <a:r>
              <a:rPr lang="es-CO" sz="1400" dirty="0">
                <a:latin typeface="Consolas" panose="020B0609020204030204" pitchFamily="49" charset="0"/>
              </a:rPr>
              <a:t>i = 0</a:t>
            </a:r>
          </a:p>
          <a:p>
            <a:r>
              <a:rPr lang="es-CO" sz="1400" dirty="0">
                <a:solidFill>
                  <a:srgbClr val="C00000"/>
                </a:solidFill>
                <a:latin typeface="Consolas" panose="020B0609020204030204" pitchFamily="49" charset="0"/>
              </a:rPr>
              <a:t>maximo = EXTREMO_INFERIOR</a:t>
            </a:r>
          </a:p>
          <a:p>
            <a:r>
              <a:rPr lang="es-CO" sz="1400" dirty="0">
                <a:solidFill>
                  <a:srgbClr val="C00000"/>
                </a:solidFill>
                <a:latin typeface="Consolas" panose="020B0609020204030204" pitchFamily="49" charset="0"/>
              </a:rPr>
              <a:t>minimo = EXTREMO_SUPERIOR</a:t>
            </a:r>
          </a:p>
          <a:p>
            <a:endParaRPr lang="es-CO" sz="1400" dirty="0">
              <a:solidFill>
                <a:srgbClr val="C00000"/>
              </a:solidFill>
              <a:latin typeface="Consolas" panose="020B0609020204030204" pitchFamily="49" charset="0"/>
            </a:endParaRPr>
          </a:p>
          <a:p>
            <a:r>
              <a:rPr lang="es-CO" sz="1400" dirty="0">
                <a:solidFill>
                  <a:srgbClr val="C00000"/>
                </a:solidFill>
                <a:latin typeface="Consolas" panose="020B0609020204030204" pitchFamily="49" charset="0"/>
              </a:rPr>
              <a:t>Mientras (i &lt; N) Haga</a:t>
            </a:r>
          </a:p>
          <a:p>
            <a:r>
              <a:rPr lang="es-CO" sz="1400" dirty="0">
                <a:latin typeface="Consolas" panose="020B0609020204030204" pitchFamily="49" charset="0"/>
              </a:rPr>
              <a:t>  </a:t>
            </a:r>
            <a:r>
              <a:rPr lang="es-CO" sz="1400" dirty="0">
                <a:solidFill>
                  <a:schemeClr val="accent4"/>
                </a:solidFill>
                <a:latin typeface="Consolas" panose="020B0609020204030204" pitchFamily="49" charset="0"/>
              </a:rPr>
              <a:t>Leer(elemento)</a:t>
            </a:r>
          </a:p>
          <a:p>
            <a:r>
              <a:rPr lang="es-CO" sz="1400" dirty="0">
                <a:latin typeface="Consolas" panose="020B0609020204030204" pitchFamily="49" charset="0"/>
              </a:rPr>
              <a:t>  </a:t>
            </a:r>
            <a:r>
              <a:rPr lang="es-CO" sz="1400" dirty="0">
                <a:solidFill>
                  <a:srgbClr val="00B050"/>
                </a:solidFill>
                <a:latin typeface="Consolas" panose="020B0609020204030204" pitchFamily="49" charset="0"/>
              </a:rPr>
              <a:t>Si elemento &gt; maximo Entonces</a:t>
            </a:r>
          </a:p>
          <a:p>
            <a:r>
              <a:rPr lang="es-CO" sz="1400" dirty="0">
                <a:solidFill>
                  <a:srgbClr val="00B050"/>
                </a:solidFill>
                <a:latin typeface="Consolas" panose="020B0609020204030204" pitchFamily="49" charset="0"/>
              </a:rPr>
              <a:t>    maximo = elemento</a:t>
            </a:r>
          </a:p>
          <a:p>
            <a:r>
              <a:rPr lang="es-CO" sz="1400" dirty="0">
                <a:solidFill>
                  <a:srgbClr val="00B050"/>
                </a:solidFill>
                <a:latin typeface="Consolas" panose="020B0609020204030204" pitchFamily="49" charset="0"/>
              </a:rPr>
              <a:t>  </a:t>
            </a:r>
            <a:r>
              <a:rPr lang="es-CO" sz="1400" dirty="0" err="1">
                <a:solidFill>
                  <a:srgbClr val="00B050"/>
                </a:solidFill>
                <a:latin typeface="Consolas" panose="020B0609020204030204" pitchFamily="49" charset="0"/>
              </a:rPr>
              <a:t>Fin_Si</a:t>
            </a:r>
            <a:endParaRPr lang="es-CO" sz="1400" dirty="0">
              <a:solidFill>
                <a:srgbClr val="00B050"/>
              </a:solidFill>
              <a:latin typeface="Consolas" panose="020B0609020204030204" pitchFamily="49" charset="0"/>
            </a:endParaRPr>
          </a:p>
          <a:p>
            <a:r>
              <a:rPr lang="es-CO" sz="1400" dirty="0">
                <a:solidFill>
                  <a:srgbClr val="00B050"/>
                </a:solidFill>
                <a:latin typeface="Consolas" panose="020B0609020204030204" pitchFamily="49" charset="0"/>
              </a:rPr>
              <a:t>  Si elemento &lt; minimo Entonces</a:t>
            </a:r>
          </a:p>
          <a:p>
            <a:r>
              <a:rPr lang="es-CO" sz="1400" dirty="0">
                <a:solidFill>
                  <a:srgbClr val="00B050"/>
                </a:solidFill>
                <a:latin typeface="Consolas" panose="020B0609020204030204" pitchFamily="49" charset="0"/>
              </a:rPr>
              <a:t>    minimo = elemento</a:t>
            </a:r>
          </a:p>
          <a:p>
            <a:r>
              <a:rPr lang="es-CO" sz="1400" dirty="0">
                <a:solidFill>
                  <a:srgbClr val="00B050"/>
                </a:solidFill>
                <a:latin typeface="Consolas" panose="020B0609020204030204" pitchFamily="49" charset="0"/>
              </a:rPr>
              <a:t>  </a:t>
            </a:r>
            <a:r>
              <a:rPr lang="es-CO" sz="1400" dirty="0" err="1">
                <a:solidFill>
                  <a:srgbClr val="00B050"/>
                </a:solidFill>
                <a:latin typeface="Consolas" panose="020B0609020204030204" pitchFamily="49" charset="0"/>
              </a:rPr>
              <a:t>Fin_Si</a:t>
            </a:r>
            <a:endParaRPr lang="es-CO" sz="1400" dirty="0">
              <a:solidFill>
                <a:srgbClr val="00B050"/>
              </a:solidFill>
              <a:latin typeface="Consolas" panose="020B0609020204030204" pitchFamily="49" charset="0"/>
            </a:endParaRPr>
          </a:p>
          <a:p>
            <a:r>
              <a:rPr lang="es-CO" sz="1400" dirty="0">
                <a:solidFill>
                  <a:srgbClr val="C00000"/>
                </a:solidFill>
                <a:latin typeface="Consolas" panose="020B0609020204030204" pitchFamily="49" charset="0"/>
              </a:rPr>
              <a:t>  i = i + 1</a:t>
            </a:r>
          </a:p>
          <a:p>
            <a:r>
              <a:rPr lang="es-CO" sz="1400" dirty="0" err="1">
                <a:solidFill>
                  <a:srgbClr val="C00000"/>
                </a:solidFill>
                <a:latin typeface="Consolas" panose="020B0609020204030204" pitchFamily="49" charset="0"/>
              </a:rPr>
              <a:t>Fin_Mientras</a:t>
            </a:r>
            <a:endParaRPr lang="es-CO" sz="1400" dirty="0">
              <a:solidFill>
                <a:srgbClr val="C00000"/>
              </a:solidFill>
              <a:latin typeface="Consolas" panose="020B0609020204030204" pitchFamily="49" charset="0"/>
            </a:endParaRPr>
          </a:p>
        </p:txBody>
      </p:sp>
      <p:sp>
        <p:nvSpPr>
          <p:cNvPr id="8" name="CuadroTexto 7">
            <a:extLst>
              <a:ext uri="{FF2B5EF4-FFF2-40B4-BE49-F238E27FC236}">
                <a16:creationId xmlns:a16="http://schemas.microsoft.com/office/drawing/2014/main" id="{B9467F5A-EB03-4E1A-9564-6A8B383BCB2C}"/>
              </a:ext>
            </a:extLst>
          </p:cNvPr>
          <p:cNvSpPr txBox="1"/>
          <p:nvPr/>
        </p:nvSpPr>
        <p:spPr>
          <a:xfrm>
            <a:off x="4786534" y="3487648"/>
            <a:ext cx="3797519" cy="2677656"/>
          </a:xfrm>
          <a:prstGeom prst="rect">
            <a:avLst/>
          </a:prstGeom>
          <a:noFill/>
          <a:ln>
            <a:solidFill>
              <a:schemeClr val="tx1"/>
            </a:solidFill>
          </a:ln>
        </p:spPr>
        <p:txBody>
          <a:bodyPr wrap="square">
            <a:spAutoFit/>
          </a:bodyPr>
          <a:lstStyle/>
          <a:p>
            <a:r>
              <a:rPr lang="es-CO" sz="1400" dirty="0">
                <a:solidFill>
                  <a:srgbClr val="C00000"/>
                </a:solidFill>
                <a:latin typeface="Consolas" panose="020B0609020204030204" pitchFamily="49" charset="0"/>
              </a:rPr>
              <a:t>maximo = EXTREMO_INFERIOR</a:t>
            </a:r>
          </a:p>
          <a:p>
            <a:r>
              <a:rPr lang="es-CO" sz="1400" dirty="0">
                <a:solidFill>
                  <a:srgbClr val="C00000"/>
                </a:solidFill>
                <a:latin typeface="Consolas" panose="020B0609020204030204" pitchFamily="49" charset="0"/>
              </a:rPr>
              <a:t>minimo = EXTREMO_SUPERIOR</a:t>
            </a:r>
          </a:p>
          <a:p>
            <a:endParaRPr lang="es-CO" sz="1400" dirty="0">
              <a:solidFill>
                <a:srgbClr val="C00000"/>
              </a:solidFill>
              <a:latin typeface="Consolas" panose="020B0609020204030204" pitchFamily="49" charset="0"/>
            </a:endParaRPr>
          </a:p>
          <a:p>
            <a:r>
              <a:rPr lang="es-CO" sz="1400" dirty="0">
                <a:solidFill>
                  <a:srgbClr val="C00000"/>
                </a:solidFill>
                <a:latin typeface="Consolas" panose="020B0609020204030204" pitchFamily="49" charset="0"/>
              </a:rPr>
              <a:t>Para (i = 0,N - 1,1) Haga</a:t>
            </a:r>
          </a:p>
          <a:p>
            <a:r>
              <a:rPr lang="es-CO" sz="1400" dirty="0">
                <a:latin typeface="Consolas" panose="020B0609020204030204" pitchFamily="49" charset="0"/>
              </a:rPr>
              <a:t>  </a:t>
            </a:r>
            <a:r>
              <a:rPr lang="es-CO" sz="1400" dirty="0">
                <a:solidFill>
                  <a:schemeClr val="accent4"/>
                </a:solidFill>
                <a:latin typeface="Consolas" panose="020B0609020204030204" pitchFamily="49" charset="0"/>
              </a:rPr>
              <a:t>Leer(elemento)</a:t>
            </a:r>
          </a:p>
          <a:p>
            <a:r>
              <a:rPr lang="es-CO" sz="1400" dirty="0">
                <a:latin typeface="Consolas" panose="020B0609020204030204" pitchFamily="49" charset="0"/>
              </a:rPr>
              <a:t>  </a:t>
            </a:r>
            <a:r>
              <a:rPr lang="es-CO" sz="1400" dirty="0">
                <a:solidFill>
                  <a:srgbClr val="00B050"/>
                </a:solidFill>
                <a:latin typeface="Consolas" panose="020B0609020204030204" pitchFamily="49" charset="0"/>
              </a:rPr>
              <a:t>Si elemento &gt; maximo Entonces</a:t>
            </a:r>
          </a:p>
          <a:p>
            <a:r>
              <a:rPr lang="es-CO" sz="1400" dirty="0">
                <a:solidFill>
                  <a:srgbClr val="00B050"/>
                </a:solidFill>
                <a:latin typeface="Consolas" panose="020B0609020204030204" pitchFamily="49" charset="0"/>
              </a:rPr>
              <a:t>    maximo = elemento</a:t>
            </a:r>
          </a:p>
          <a:p>
            <a:r>
              <a:rPr lang="es-CO" sz="1400" dirty="0">
                <a:solidFill>
                  <a:srgbClr val="00B050"/>
                </a:solidFill>
                <a:latin typeface="Consolas" panose="020B0609020204030204" pitchFamily="49" charset="0"/>
              </a:rPr>
              <a:t>  </a:t>
            </a:r>
            <a:r>
              <a:rPr lang="es-CO" sz="1400" dirty="0" err="1">
                <a:solidFill>
                  <a:srgbClr val="00B050"/>
                </a:solidFill>
                <a:latin typeface="Consolas" panose="020B0609020204030204" pitchFamily="49" charset="0"/>
              </a:rPr>
              <a:t>Fin_Si</a:t>
            </a:r>
            <a:endParaRPr lang="es-CO" sz="1400" dirty="0">
              <a:solidFill>
                <a:srgbClr val="00B050"/>
              </a:solidFill>
              <a:latin typeface="Consolas" panose="020B0609020204030204" pitchFamily="49" charset="0"/>
            </a:endParaRPr>
          </a:p>
          <a:p>
            <a:r>
              <a:rPr lang="es-CO" sz="1400" dirty="0">
                <a:solidFill>
                  <a:srgbClr val="00B050"/>
                </a:solidFill>
                <a:latin typeface="Consolas" panose="020B0609020204030204" pitchFamily="49" charset="0"/>
              </a:rPr>
              <a:t>  Si elemento &lt; minimo Entonces</a:t>
            </a:r>
          </a:p>
          <a:p>
            <a:r>
              <a:rPr lang="es-CO" sz="1400" dirty="0">
                <a:solidFill>
                  <a:srgbClr val="00B050"/>
                </a:solidFill>
                <a:latin typeface="Consolas" panose="020B0609020204030204" pitchFamily="49" charset="0"/>
              </a:rPr>
              <a:t>    minimo = elemento</a:t>
            </a:r>
          </a:p>
          <a:p>
            <a:r>
              <a:rPr lang="es-CO" sz="1400" dirty="0">
                <a:solidFill>
                  <a:srgbClr val="00B050"/>
                </a:solidFill>
                <a:latin typeface="Consolas" panose="020B0609020204030204" pitchFamily="49" charset="0"/>
              </a:rPr>
              <a:t>  </a:t>
            </a:r>
            <a:r>
              <a:rPr lang="es-CO" sz="1400" dirty="0" err="1">
                <a:solidFill>
                  <a:srgbClr val="00B050"/>
                </a:solidFill>
                <a:latin typeface="Consolas" panose="020B0609020204030204" pitchFamily="49" charset="0"/>
              </a:rPr>
              <a:t>Fin_Si</a:t>
            </a:r>
            <a:endParaRPr lang="es-CO" sz="1400" dirty="0">
              <a:solidFill>
                <a:srgbClr val="00B050"/>
              </a:solidFill>
              <a:latin typeface="Consolas" panose="020B0609020204030204" pitchFamily="49" charset="0"/>
            </a:endParaRPr>
          </a:p>
          <a:p>
            <a:r>
              <a:rPr lang="es-CO" sz="1400" dirty="0" err="1">
                <a:solidFill>
                  <a:srgbClr val="C00000"/>
                </a:solidFill>
                <a:latin typeface="Consolas" panose="020B0609020204030204" pitchFamily="49" charset="0"/>
              </a:rPr>
              <a:t>Fin_Para</a:t>
            </a:r>
            <a:endParaRPr lang="es-CO" sz="1400" dirty="0">
              <a:solidFill>
                <a:srgbClr val="C00000"/>
              </a:solidFill>
              <a:latin typeface="Consolas" panose="020B0609020204030204" pitchFamily="49" charset="0"/>
            </a:endParaRPr>
          </a:p>
        </p:txBody>
      </p:sp>
    </p:spTree>
    <p:extLst>
      <p:ext uri="{BB962C8B-B14F-4D97-AF65-F5344CB8AC3E}">
        <p14:creationId xmlns:p14="http://schemas.microsoft.com/office/powerpoint/2010/main" val="32919298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4EB46DA0-4F51-4B8C-933C-B01FC5FF0D7D}"/>
              </a:ext>
            </a:extLst>
          </p:cNvPr>
          <p:cNvSpPr txBox="1"/>
          <p:nvPr/>
        </p:nvSpPr>
        <p:spPr>
          <a:xfrm>
            <a:off x="280549" y="908720"/>
            <a:ext cx="4086991" cy="5339923"/>
          </a:xfrm>
          <a:prstGeom prst="rect">
            <a:avLst/>
          </a:prstGeom>
          <a:noFill/>
          <a:ln>
            <a:solidFill>
              <a:schemeClr val="tx1"/>
            </a:solidFill>
          </a:ln>
        </p:spPr>
        <p:txBody>
          <a:bodyPr wrap="square">
            <a:spAutoFit/>
          </a:bodyPr>
          <a:lstStyle/>
          <a:p>
            <a:r>
              <a:rPr lang="es-MX" sz="1100" dirty="0">
                <a:latin typeface="Consolas" panose="020B0609020204030204" pitchFamily="49" charset="0"/>
              </a:rPr>
              <a:t>Inicio</a:t>
            </a:r>
          </a:p>
          <a:p>
            <a:r>
              <a:rPr lang="es-MX" sz="1100" dirty="0">
                <a:latin typeface="Consolas" panose="020B0609020204030204" pitchFamily="49" charset="0"/>
              </a:rPr>
              <a:t>  NOTA_MINIMA = 3.0</a:t>
            </a:r>
          </a:p>
          <a:p>
            <a:r>
              <a:rPr lang="es-MX" sz="1100" dirty="0">
                <a:latin typeface="Consolas" panose="020B0609020204030204" pitchFamily="49" charset="0"/>
              </a:rPr>
              <a:t>  MINIMO_VALIDO = 0.0</a:t>
            </a:r>
          </a:p>
          <a:p>
            <a:r>
              <a:rPr lang="es-MX" sz="1100" dirty="0">
                <a:latin typeface="Consolas" panose="020B0609020204030204" pitchFamily="49" charset="0"/>
              </a:rPr>
              <a:t>  MAXIMO_VALIDO = 5.0</a:t>
            </a:r>
          </a:p>
          <a:p>
            <a:r>
              <a:rPr lang="es-MX" sz="1100" dirty="0">
                <a:latin typeface="Consolas" panose="020B0609020204030204" pitchFamily="49" charset="0"/>
              </a:rPr>
              <a:t>  </a:t>
            </a:r>
            <a:r>
              <a:rPr lang="es-MX" sz="1100" dirty="0" err="1">
                <a:latin typeface="Consolas" panose="020B0609020204030204" pitchFamily="49" charset="0"/>
              </a:rPr>
              <a:t>notas_reprobadas</a:t>
            </a:r>
            <a:r>
              <a:rPr lang="es-MX" sz="1100" dirty="0">
                <a:latin typeface="Consolas" panose="020B0609020204030204" pitchFamily="49" charset="0"/>
              </a:rPr>
              <a:t> = 0</a:t>
            </a:r>
          </a:p>
          <a:p>
            <a:r>
              <a:rPr lang="es-MX" sz="1100" dirty="0">
                <a:latin typeface="Consolas" panose="020B0609020204030204" pitchFamily="49" charset="0"/>
              </a:rPr>
              <a:t>  </a:t>
            </a:r>
            <a:r>
              <a:rPr lang="es-MX" sz="1100" dirty="0" err="1">
                <a:latin typeface="Consolas" panose="020B0609020204030204" pitchFamily="49" charset="0"/>
              </a:rPr>
              <a:t>notas_aprobadas</a:t>
            </a:r>
            <a:r>
              <a:rPr lang="es-MX" sz="1100" dirty="0">
                <a:latin typeface="Consolas" panose="020B0609020204030204" pitchFamily="49" charset="0"/>
              </a:rPr>
              <a:t> = 0</a:t>
            </a:r>
          </a:p>
          <a:p>
            <a:r>
              <a:rPr lang="es-MX" sz="1100" dirty="0">
                <a:latin typeface="Consolas" panose="020B0609020204030204" pitchFamily="49" charset="0"/>
              </a:rPr>
              <a:t>  </a:t>
            </a:r>
            <a:r>
              <a:rPr lang="es-MX" sz="1100" dirty="0" err="1">
                <a:latin typeface="Consolas" panose="020B0609020204030204" pitchFamily="49" charset="0"/>
              </a:rPr>
              <a:t>suma_reprobadas</a:t>
            </a:r>
            <a:r>
              <a:rPr lang="es-MX" sz="1100" dirty="0">
                <a:latin typeface="Consolas" panose="020B0609020204030204" pitchFamily="49" charset="0"/>
              </a:rPr>
              <a:t> = 0</a:t>
            </a:r>
          </a:p>
          <a:p>
            <a:r>
              <a:rPr lang="es-MX" sz="1100" dirty="0">
                <a:latin typeface="Consolas" panose="020B0609020204030204" pitchFamily="49" charset="0"/>
              </a:rPr>
              <a:t>  </a:t>
            </a:r>
            <a:r>
              <a:rPr lang="es-MX" sz="1100" dirty="0" err="1">
                <a:latin typeface="Consolas" panose="020B0609020204030204" pitchFamily="49" charset="0"/>
              </a:rPr>
              <a:t>suma_aprobadas</a:t>
            </a:r>
            <a:r>
              <a:rPr lang="es-MX" sz="1100" dirty="0">
                <a:latin typeface="Consolas" panose="020B0609020204030204" pitchFamily="49" charset="0"/>
              </a:rPr>
              <a:t> = 0</a:t>
            </a:r>
          </a:p>
          <a:p>
            <a:r>
              <a:rPr lang="es-MX" sz="1100" dirty="0">
                <a:solidFill>
                  <a:schemeClr val="accent4"/>
                </a:solidFill>
                <a:latin typeface="Consolas" panose="020B0609020204030204" pitchFamily="49" charset="0"/>
              </a:rPr>
              <a:t>  </a:t>
            </a:r>
            <a:r>
              <a:rPr lang="es-MX" sz="1100" dirty="0" err="1">
                <a:solidFill>
                  <a:schemeClr val="accent4"/>
                </a:solidFill>
                <a:latin typeface="Consolas" panose="020B0609020204030204" pitchFamily="49" charset="0"/>
              </a:rPr>
              <a:t>nota_maxima</a:t>
            </a:r>
            <a:r>
              <a:rPr lang="es-MX" sz="1100" dirty="0">
                <a:solidFill>
                  <a:schemeClr val="accent4"/>
                </a:solidFill>
                <a:latin typeface="Consolas" panose="020B0609020204030204" pitchFamily="49" charset="0"/>
              </a:rPr>
              <a:t> = MINIMO_VALIDO</a:t>
            </a:r>
          </a:p>
          <a:p>
            <a:r>
              <a:rPr lang="es-MX" sz="1100" dirty="0">
                <a:solidFill>
                  <a:schemeClr val="accent4"/>
                </a:solidFill>
                <a:latin typeface="Consolas" panose="020B0609020204030204" pitchFamily="49" charset="0"/>
              </a:rPr>
              <a:t>  </a:t>
            </a:r>
            <a:r>
              <a:rPr lang="es-MX" sz="1100" dirty="0" err="1">
                <a:solidFill>
                  <a:schemeClr val="accent4"/>
                </a:solidFill>
                <a:latin typeface="Consolas" panose="020B0609020204030204" pitchFamily="49" charset="0"/>
              </a:rPr>
              <a:t>nota_minima</a:t>
            </a:r>
            <a:r>
              <a:rPr lang="es-MX" sz="1100" dirty="0">
                <a:solidFill>
                  <a:schemeClr val="accent4"/>
                </a:solidFill>
                <a:latin typeface="Consolas" panose="020B0609020204030204" pitchFamily="49" charset="0"/>
              </a:rPr>
              <a:t> = MAXIMO_VALIDO</a:t>
            </a:r>
          </a:p>
          <a:p>
            <a:r>
              <a:rPr lang="es-MX" sz="1100" dirty="0">
                <a:latin typeface="Consolas" panose="020B0609020204030204" pitchFamily="49" charset="0"/>
              </a:rPr>
              <a:t>  Leer(N)</a:t>
            </a:r>
          </a:p>
          <a:p>
            <a:r>
              <a:rPr lang="es-MX" sz="1100" dirty="0">
                <a:solidFill>
                  <a:srgbClr val="C00000"/>
                </a:solidFill>
                <a:latin typeface="Consolas" panose="020B0609020204030204" pitchFamily="49" charset="0"/>
              </a:rPr>
              <a:t>  Para (i = 0,N - 1,1) Haga    </a:t>
            </a:r>
          </a:p>
          <a:p>
            <a:r>
              <a:rPr lang="es-MX" sz="1100" dirty="0">
                <a:solidFill>
                  <a:srgbClr val="C00000"/>
                </a:solidFill>
                <a:latin typeface="Consolas" panose="020B0609020204030204" pitchFamily="49" charset="0"/>
              </a:rPr>
              <a:t>    Leer(nota)</a:t>
            </a:r>
          </a:p>
          <a:p>
            <a:r>
              <a:rPr lang="es-MX" sz="1100" dirty="0">
                <a:solidFill>
                  <a:srgbClr val="C00000"/>
                </a:solidFill>
                <a:latin typeface="Consolas" panose="020B0609020204030204" pitchFamily="49" charset="0"/>
              </a:rPr>
              <a:t>    </a:t>
            </a:r>
            <a:r>
              <a:rPr lang="es-CO" sz="1100" dirty="0">
                <a:solidFill>
                  <a:schemeClr val="accent4"/>
                </a:solidFill>
                <a:latin typeface="Consolas" panose="020B0609020204030204" pitchFamily="49" charset="0"/>
              </a:rPr>
              <a:t>Si nota &gt; </a:t>
            </a:r>
            <a:r>
              <a:rPr lang="es-CO" sz="1100" dirty="0" err="1">
                <a:solidFill>
                  <a:schemeClr val="accent4"/>
                </a:solidFill>
                <a:latin typeface="Consolas" panose="020B0609020204030204" pitchFamily="49" charset="0"/>
              </a:rPr>
              <a:t>nota_máxima</a:t>
            </a:r>
            <a:r>
              <a:rPr lang="es-CO" sz="1100" dirty="0">
                <a:solidFill>
                  <a:schemeClr val="accent4"/>
                </a:solidFill>
                <a:latin typeface="Consolas" panose="020B0609020204030204" pitchFamily="49" charset="0"/>
              </a:rPr>
              <a:t> Entonces</a:t>
            </a:r>
          </a:p>
          <a:p>
            <a:r>
              <a:rPr lang="es-CO" sz="1100" dirty="0">
                <a:solidFill>
                  <a:schemeClr val="accent4"/>
                </a:solidFill>
                <a:latin typeface="Consolas" panose="020B0609020204030204" pitchFamily="49" charset="0"/>
              </a:rPr>
              <a:t>      </a:t>
            </a:r>
            <a:r>
              <a:rPr lang="es-CO" sz="1100" dirty="0" err="1">
                <a:solidFill>
                  <a:schemeClr val="accent4"/>
                </a:solidFill>
                <a:latin typeface="Consolas" panose="020B0609020204030204" pitchFamily="49" charset="0"/>
              </a:rPr>
              <a:t>nota_maxima</a:t>
            </a:r>
            <a:r>
              <a:rPr lang="es-CO" sz="1100" dirty="0">
                <a:solidFill>
                  <a:schemeClr val="accent4"/>
                </a:solidFill>
                <a:latin typeface="Consolas" panose="020B0609020204030204" pitchFamily="49" charset="0"/>
              </a:rPr>
              <a:t> = nota</a:t>
            </a:r>
          </a:p>
          <a:p>
            <a:r>
              <a:rPr lang="es-CO" sz="1100" dirty="0">
                <a:solidFill>
                  <a:schemeClr val="accent4"/>
                </a:solidFill>
                <a:latin typeface="Consolas" panose="020B0609020204030204" pitchFamily="49" charset="0"/>
              </a:rPr>
              <a:t>    </a:t>
            </a:r>
            <a:r>
              <a:rPr lang="es-CO" sz="1100" dirty="0" err="1">
                <a:solidFill>
                  <a:schemeClr val="accent4"/>
                </a:solidFill>
                <a:latin typeface="Consolas" panose="020B0609020204030204" pitchFamily="49" charset="0"/>
              </a:rPr>
              <a:t>Fin_Si</a:t>
            </a:r>
            <a:endParaRPr lang="es-CO" sz="1100" dirty="0">
              <a:solidFill>
                <a:schemeClr val="accent4"/>
              </a:solidFill>
              <a:latin typeface="Consolas" panose="020B0609020204030204" pitchFamily="49" charset="0"/>
            </a:endParaRPr>
          </a:p>
          <a:p>
            <a:r>
              <a:rPr lang="es-CO" sz="1100" dirty="0">
                <a:solidFill>
                  <a:schemeClr val="accent4"/>
                </a:solidFill>
                <a:latin typeface="Consolas" panose="020B0609020204030204" pitchFamily="49" charset="0"/>
              </a:rPr>
              <a:t>    Si nota &lt; </a:t>
            </a:r>
            <a:r>
              <a:rPr lang="es-CO" sz="1100" dirty="0" err="1">
                <a:solidFill>
                  <a:schemeClr val="accent4"/>
                </a:solidFill>
                <a:latin typeface="Consolas" panose="020B0609020204030204" pitchFamily="49" charset="0"/>
              </a:rPr>
              <a:t>nota_mínima</a:t>
            </a:r>
            <a:r>
              <a:rPr lang="es-CO" sz="1100" dirty="0">
                <a:solidFill>
                  <a:schemeClr val="accent4"/>
                </a:solidFill>
                <a:latin typeface="Consolas" panose="020B0609020204030204" pitchFamily="49" charset="0"/>
              </a:rPr>
              <a:t> Entonces</a:t>
            </a:r>
          </a:p>
          <a:p>
            <a:r>
              <a:rPr lang="es-CO" sz="1100" dirty="0">
                <a:solidFill>
                  <a:schemeClr val="accent4"/>
                </a:solidFill>
                <a:latin typeface="Consolas" panose="020B0609020204030204" pitchFamily="49" charset="0"/>
              </a:rPr>
              <a:t>      </a:t>
            </a:r>
            <a:r>
              <a:rPr lang="es-CO" sz="1100" dirty="0" err="1">
                <a:solidFill>
                  <a:schemeClr val="accent4"/>
                </a:solidFill>
                <a:latin typeface="Consolas" panose="020B0609020204030204" pitchFamily="49" charset="0"/>
              </a:rPr>
              <a:t>nota_minimo</a:t>
            </a:r>
            <a:r>
              <a:rPr lang="es-CO" sz="1100" dirty="0">
                <a:solidFill>
                  <a:schemeClr val="accent4"/>
                </a:solidFill>
                <a:latin typeface="Consolas" panose="020B0609020204030204" pitchFamily="49" charset="0"/>
              </a:rPr>
              <a:t> = nota</a:t>
            </a:r>
          </a:p>
          <a:p>
            <a:r>
              <a:rPr lang="es-CO" sz="1100" dirty="0">
                <a:solidFill>
                  <a:schemeClr val="accent4"/>
                </a:solidFill>
                <a:latin typeface="Consolas" panose="020B0609020204030204" pitchFamily="49" charset="0"/>
              </a:rPr>
              <a:t>    </a:t>
            </a:r>
            <a:r>
              <a:rPr lang="es-CO" sz="1100" dirty="0" err="1">
                <a:solidFill>
                  <a:schemeClr val="accent4"/>
                </a:solidFill>
                <a:latin typeface="Consolas" panose="020B0609020204030204" pitchFamily="49" charset="0"/>
              </a:rPr>
              <a:t>Fin_Si</a:t>
            </a:r>
            <a:r>
              <a:rPr lang="es-MX" sz="1100" dirty="0">
                <a:solidFill>
                  <a:schemeClr val="accent4"/>
                </a:solidFill>
                <a:latin typeface="Consolas" panose="020B0609020204030204" pitchFamily="49" charset="0"/>
              </a:rPr>
              <a:t> </a:t>
            </a:r>
          </a:p>
          <a:p>
            <a:r>
              <a:rPr lang="es-MX" sz="1100" dirty="0">
                <a:solidFill>
                  <a:srgbClr val="00B050"/>
                </a:solidFill>
                <a:latin typeface="Consolas" panose="020B0609020204030204" pitchFamily="49" charset="0"/>
              </a:rPr>
              <a:t>    Si nota &gt;= NOTA_MINIMA Entonces</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notas_aprobadas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notas_aprobadas</a:t>
            </a:r>
            <a:r>
              <a:rPr lang="es-MX" sz="1100" dirty="0">
                <a:solidFill>
                  <a:srgbClr val="00B050"/>
                </a:solidFill>
                <a:latin typeface="Consolas" panose="020B0609020204030204" pitchFamily="49" charset="0"/>
              </a:rPr>
              <a:t> + 1</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suma_aprobadas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suma_aprobadas</a:t>
            </a:r>
            <a:r>
              <a:rPr lang="es-MX" sz="1100" dirty="0">
                <a:solidFill>
                  <a:srgbClr val="00B050"/>
                </a:solidFill>
                <a:latin typeface="Consolas" panose="020B0609020204030204" pitchFamily="49" charset="0"/>
              </a:rPr>
              <a:t> + nota</a:t>
            </a:r>
          </a:p>
          <a:p>
            <a:r>
              <a:rPr lang="es-MX" sz="1100" dirty="0">
                <a:solidFill>
                  <a:srgbClr val="00B050"/>
                </a:solidFill>
                <a:latin typeface="Consolas" panose="020B0609020204030204" pitchFamily="49" charset="0"/>
              </a:rPr>
              <a:t>    Sino</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notas_reprobadas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notas_reprobadas</a:t>
            </a:r>
            <a:r>
              <a:rPr lang="es-MX" sz="1100" dirty="0">
                <a:solidFill>
                  <a:srgbClr val="00B050"/>
                </a:solidFill>
                <a:latin typeface="Consolas" panose="020B0609020204030204" pitchFamily="49" charset="0"/>
              </a:rPr>
              <a:t> + 1</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suma_reprobadas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suma_reprobadas</a:t>
            </a:r>
            <a:r>
              <a:rPr lang="es-MX" sz="1100" dirty="0">
                <a:solidFill>
                  <a:srgbClr val="00B050"/>
                </a:solidFill>
                <a:latin typeface="Consolas" panose="020B0609020204030204" pitchFamily="49" charset="0"/>
              </a:rPr>
              <a:t> + nota</a:t>
            </a:r>
          </a:p>
          <a:p>
            <a:r>
              <a:rPr lang="es-MX" sz="1100" dirty="0">
                <a:solidFill>
                  <a:srgbClr val="00B050"/>
                </a:solidFill>
                <a:latin typeface="Consolas" panose="020B0609020204030204" pitchFamily="49" charset="0"/>
              </a:rPr>
              <a:t>    Fin_Si</a:t>
            </a:r>
          </a:p>
          <a:p>
            <a:r>
              <a:rPr lang="es-MX" sz="1100" dirty="0">
                <a:solidFill>
                  <a:srgbClr val="C00000"/>
                </a:solidFill>
                <a:latin typeface="Consolas" panose="020B0609020204030204" pitchFamily="49" charset="0"/>
              </a:rPr>
              <a:t>  </a:t>
            </a:r>
            <a:r>
              <a:rPr lang="es-MX" sz="1100" dirty="0" err="1">
                <a:solidFill>
                  <a:srgbClr val="C00000"/>
                </a:solidFill>
                <a:latin typeface="Consolas" panose="020B0609020204030204" pitchFamily="49" charset="0"/>
              </a:rPr>
              <a:t>Fin_Para</a:t>
            </a:r>
            <a:endParaRPr lang="es-MX" sz="1100" dirty="0">
              <a:solidFill>
                <a:srgbClr val="C00000"/>
              </a:solidFill>
              <a:latin typeface="Consolas" panose="020B0609020204030204" pitchFamily="49" charset="0"/>
            </a:endParaRPr>
          </a:p>
          <a:p>
            <a:r>
              <a:rPr lang="es-MX" sz="1100" dirty="0">
                <a:latin typeface="Consolas" panose="020B0609020204030204" pitchFamily="49" charset="0"/>
              </a:rPr>
              <a:t>  </a:t>
            </a:r>
            <a:r>
              <a:rPr lang="es-MX" sz="1100" dirty="0" err="1">
                <a:latin typeface="Consolas" panose="020B0609020204030204" pitchFamily="49" charset="0"/>
              </a:rPr>
              <a:t>suma_notas</a:t>
            </a:r>
            <a:r>
              <a:rPr lang="es-MX" sz="1100" dirty="0">
                <a:latin typeface="Consolas" panose="020B0609020204030204" pitchFamily="49" charset="0"/>
              </a:rPr>
              <a:t> = </a:t>
            </a:r>
            <a:r>
              <a:rPr lang="es-MX" sz="1100" dirty="0" err="1">
                <a:latin typeface="Consolas" panose="020B0609020204030204" pitchFamily="49" charset="0"/>
              </a:rPr>
              <a:t>suma_reprobadas</a:t>
            </a:r>
            <a:r>
              <a:rPr lang="es-MX" sz="1100" dirty="0">
                <a:latin typeface="Consolas" panose="020B0609020204030204" pitchFamily="49" charset="0"/>
              </a:rPr>
              <a:t> + </a:t>
            </a:r>
            <a:r>
              <a:rPr lang="es-MX" sz="1100" dirty="0" err="1">
                <a:latin typeface="Consolas" panose="020B0609020204030204" pitchFamily="49" charset="0"/>
              </a:rPr>
              <a:t>suma_aprobadas</a:t>
            </a:r>
            <a:endParaRPr lang="es-MX" sz="1100" dirty="0">
              <a:latin typeface="Consolas" panose="020B0609020204030204" pitchFamily="49" charset="0"/>
            </a:endParaRPr>
          </a:p>
          <a:p>
            <a:r>
              <a:rPr lang="es-MX" sz="1100" dirty="0">
                <a:latin typeface="Consolas" panose="020B0609020204030204" pitchFamily="49" charset="0"/>
              </a:rPr>
              <a:t>  </a:t>
            </a:r>
            <a:r>
              <a:rPr lang="es-MX" sz="1100" dirty="0" err="1">
                <a:latin typeface="Consolas" panose="020B0609020204030204" pitchFamily="49" charset="0"/>
              </a:rPr>
              <a:t>total_notas</a:t>
            </a:r>
            <a:r>
              <a:rPr lang="es-MX" sz="1100" dirty="0">
                <a:latin typeface="Consolas" panose="020B0609020204030204" pitchFamily="49" charset="0"/>
              </a:rPr>
              <a:t> = </a:t>
            </a:r>
            <a:r>
              <a:rPr lang="es-MX" sz="1100" dirty="0" err="1">
                <a:latin typeface="Consolas" panose="020B0609020204030204" pitchFamily="49" charset="0"/>
              </a:rPr>
              <a:t>notas_aprobadas</a:t>
            </a:r>
            <a:r>
              <a:rPr lang="es-MX" sz="1100" dirty="0">
                <a:latin typeface="Consolas" panose="020B0609020204030204" pitchFamily="49" charset="0"/>
              </a:rPr>
              <a:t> + </a:t>
            </a:r>
            <a:r>
              <a:rPr lang="es-MX" sz="1100" dirty="0" err="1">
                <a:latin typeface="Consolas" panose="020B0609020204030204" pitchFamily="49" charset="0"/>
              </a:rPr>
              <a:t>notas_reprobadas</a:t>
            </a:r>
            <a:endParaRPr lang="es-MX" sz="1100" dirty="0">
              <a:latin typeface="Consolas" panose="020B0609020204030204" pitchFamily="49" charset="0"/>
            </a:endParaRPr>
          </a:p>
          <a:p>
            <a:r>
              <a:rPr lang="es-MX" sz="1100" dirty="0">
                <a:latin typeface="Consolas" panose="020B0609020204030204" pitchFamily="49" charset="0"/>
              </a:rPr>
              <a:t>  ...</a:t>
            </a:r>
          </a:p>
          <a:p>
            <a:r>
              <a:rPr lang="es-MX" sz="1100" dirty="0">
                <a:latin typeface="Consolas" panose="020B0609020204030204" pitchFamily="49" charset="0"/>
              </a:rPr>
              <a:t>Fin</a:t>
            </a:r>
            <a:endParaRPr lang="es-CO" sz="1100" dirty="0">
              <a:solidFill>
                <a:srgbClr val="C00000"/>
              </a:solidFill>
              <a:latin typeface="Consolas" panose="020B0609020204030204" pitchFamily="49" charset="0"/>
            </a:endParaRPr>
          </a:p>
        </p:txBody>
      </p:sp>
      <p:sp>
        <p:nvSpPr>
          <p:cNvPr id="10" name="4 Título">
            <a:extLst>
              <a:ext uri="{FF2B5EF4-FFF2-40B4-BE49-F238E27FC236}">
                <a16:creationId xmlns:a16="http://schemas.microsoft.com/office/drawing/2014/main" id="{AE7AE4FE-857D-48EA-8C2E-EFF7E2B785AF}"/>
              </a:ext>
            </a:extLst>
          </p:cNvPr>
          <p:cNvSpPr txBox="1">
            <a:spLocks/>
          </p:cNvSpPr>
          <p:nvPr/>
        </p:nvSpPr>
        <p:spPr>
          <a:xfrm>
            <a:off x="130633" y="76881"/>
            <a:ext cx="8473815" cy="678809"/>
          </a:xfrm>
          <a:prstGeom prst="rect">
            <a:avLst/>
          </a:prstGeom>
        </p:spPr>
        <p:txBody>
          <a:bodyPr vert="horz" lIns="91440" tIns="45720" rIns="91440" bIns="45720" rtlCol="0" anchor="ct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Busqueda de extremos – Ejemplo 9 (Opción 1)</a:t>
            </a:r>
          </a:p>
        </p:txBody>
      </p:sp>
      <p:sp>
        <p:nvSpPr>
          <p:cNvPr id="7" name="CuadroTexto 6">
            <a:extLst>
              <a:ext uri="{FF2B5EF4-FFF2-40B4-BE49-F238E27FC236}">
                <a16:creationId xmlns:a16="http://schemas.microsoft.com/office/drawing/2014/main" id="{88136558-4DB9-472F-B72C-F3B7E28C5F25}"/>
              </a:ext>
            </a:extLst>
          </p:cNvPr>
          <p:cNvSpPr txBox="1"/>
          <p:nvPr/>
        </p:nvSpPr>
        <p:spPr>
          <a:xfrm>
            <a:off x="4572000" y="1197120"/>
            <a:ext cx="4231007" cy="4662815"/>
          </a:xfrm>
          <a:prstGeom prst="rect">
            <a:avLst/>
          </a:prstGeom>
          <a:noFill/>
          <a:ln>
            <a:solidFill>
              <a:schemeClr val="tx1"/>
            </a:solidFill>
          </a:ln>
        </p:spPr>
        <p:txBody>
          <a:bodyPr wrap="square">
            <a:spAutoFit/>
          </a:bodyPr>
          <a:lstStyle/>
          <a:p>
            <a:r>
              <a:rPr lang="es-MX" sz="1100" dirty="0">
                <a:latin typeface="Consolas" panose="020B0609020204030204" pitchFamily="49" charset="0"/>
              </a:rPr>
              <a:t>NOTA_MINIMA = 3.0</a:t>
            </a:r>
          </a:p>
          <a:p>
            <a:r>
              <a:rPr lang="es-MX" sz="1100" dirty="0">
                <a:latin typeface="Consolas" panose="020B0609020204030204" pitchFamily="49" charset="0"/>
              </a:rPr>
              <a:t>MINIMO_VALIDO = 0.0</a:t>
            </a:r>
          </a:p>
          <a:p>
            <a:r>
              <a:rPr lang="es-MX" sz="1100" dirty="0">
                <a:latin typeface="Consolas" panose="020B0609020204030204" pitchFamily="49" charset="0"/>
              </a:rPr>
              <a:t>MAXIMO_VALIDO = 5.0</a:t>
            </a:r>
          </a:p>
          <a:p>
            <a:r>
              <a:rPr lang="es-MX" sz="1100" dirty="0" err="1">
                <a:latin typeface="Consolas" panose="020B0609020204030204" pitchFamily="49" charset="0"/>
              </a:rPr>
              <a:t>notas_reprobadas</a:t>
            </a:r>
            <a:r>
              <a:rPr lang="es-MX" sz="1100" dirty="0">
                <a:latin typeface="Consolas" panose="020B0609020204030204" pitchFamily="49" charset="0"/>
              </a:rPr>
              <a:t> = 0</a:t>
            </a:r>
          </a:p>
          <a:p>
            <a:r>
              <a:rPr lang="es-MX" sz="1100" dirty="0" err="1">
                <a:latin typeface="Consolas" panose="020B0609020204030204" pitchFamily="49" charset="0"/>
              </a:rPr>
              <a:t>notas_aprobadas</a:t>
            </a:r>
            <a:r>
              <a:rPr lang="es-MX" sz="1100" dirty="0">
                <a:latin typeface="Consolas" panose="020B0609020204030204" pitchFamily="49" charset="0"/>
              </a:rPr>
              <a:t> = 0</a:t>
            </a:r>
          </a:p>
          <a:p>
            <a:r>
              <a:rPr lang="es-MX" sz="1100" dirty="0" err="1">
                <a:latin typeface="Consolas" panose="020B0609020204030204" pitchFamily="49" charset="0"/>
              </a:rPr>
              <a:t>suma_reprobadas</a:t>
            </a:r>
            <a:r>
              <a:rPr lang="es-MX" sz="1100" dirty="0">
                <a:latin typeface="Consolas" panose="020B0609020204030204" pitchFamily="49" charset="0"/>
              </a:rPr>
              <a:t> = 0</a:t>
            </a:r>
          </a:p>
          <a:p>
            <a:r>
              <a:rPr lang="es-MX" sz="1100" dirty="0" err="1">
                <a:latin typeface="Consolas" panose="020B0609020204030204" pitchFamily="49" charset="0"/>
              </a:rPr>
              <a:t>suma_aprobadas</a:t>
            </a:r>
            <a:r>
              <a:rPr lang="es-MX" sz="1100" dirty="0">
                <a:latin typeface="Consolas" panose="020B0609020204030204" pitchFamily="49" charset="0"/>
              </a:rPr>
              <a:t> = 0</a:t>
            </a:r>
          </a:p>
          <a:p>
            <a:r>
              <a:rPr lang="es-MX" sz="1100" dirty="0" err="1">
                <a:solidFill>
                  <a:schemeClr val="accent4"/>
                </a:solidFill>
                <a:latin typeface="Consolas" panose="020B0609020204030204" pitchFamily="49" charset="0"/>
              </a:rPr>
              <a:t>nota_maxima</a:t>
            </a:r>
            <a:r>
              <a:rPr lang="es-MX" sz="1100" dirty="0">
                <a:solidFill>
                  <a:schemeClr val="accent4"/>
                </a:solidFill>
                <a:latin typeface="Consolas" panose="020B0609020204030204" pitchFamily="49" charset="0"/>
              </a:rPr>
              <a:t> = MINIMO_VALIDO</a:t>
            </a:r>
          </a:p>
          <a:p>
            <a:r>
              <a:rPr lang="es-MX" sz="1100" dirty="0" err="1">
                <a:solidFill>
                  <a:schemeClr val="accent4"/>
                </a:solidFill>
                <a:latin typeface="Consolas" panose="020B0609020204030204" pitchFamily="49" charset="0"/>
              </a:rPr>
              <a:t>nota_minima</a:t>
            </a:r>
            <a:r>
              <a:rPr lang="es-MX" sz="1100" dirty="0">
                <a:solidFill>
                  <a:schemeClr val="accent4"/>
                </a:solidFill>
                <a:latin typeface="Consolas" panose="020B0609020204030204" pitchFamily="49" charset="0"/>
              </a:rPr>
              <a:t> = MAXIMO_VALIDO</a:t>
            </a:r>
          </a:p>
          <a:p>
            <a:endParaRPr lang="es-MX" sz="1100" dirty="0">
              <a:latin typeface="Consolas" panose="020B0609020204030204" pitchFamily="49" charset="0"/>
            </a:endParaRPr>
          </a:p>
          <a:p>
            <a:r>
              <a:rPr lang="es-MX" sz="1100" b="0" dirty="0">
                <a:effectLst/>
                <a:latin typeface="Consolas" panose="020B0609020204030204" pitchFamily="49" charset="0"/>
              </a:rPr>
              <a:t>N = </a:t>
            </a:r>
            <a:r>
              <a:rPr lang="es-MX" sz="1100" b="0" dirty="0" err="1">
                <a:effectLst/>
                <a:latin typeface="Consolas" panose="020B0609020204030204" pitchFamily="49" charset="0"/>
              </a:rPr>
              <a:t>int</a:t>
            </a:r>
            <a:r>
              <a:rPr lang="es-MX" sz="1100" b="0" dirty="0">
                <a:effectLst/>
                <a:latin typeface="Consolas" panose="020B0609020204030204" pitchFamily="49" charset="0"/>
              </a:rPr>
              <a:t>(input('Ingrese el número de estudiantes: '))</a:t>
            </a:r>
          </a:p>
          <a:p>
            <a:r>
              <a:rPr lang="es-MX" sz="1100" dirty="0">
                <a:solidFill>
                  <a:srgbClr val="C00000"/>
                </a:solidFill>
                <a:latin typeface="Consolas" panose="020B0609020204030204" pitchFamily="49" charset="0"/>
              </a:rPr>
              <a:t>for i in range(N):</a:t>
            </a:r>
          </a:p>
          <a:p>
            <a:r>
              <a:rPr lang="es-MX" sz="1100" dirty="0">
                <a:solidFill>
                  <a:srgbClr val="C00000"/>
                </a:solidFill>
                <a:latin typeface="Consolas" panose="020B0609020204030204" pitchFamily="49" charset="0"/>
              </a:rPr>
              <a:t>  nota = </a:t>
            </a:r>
            <a:r>
              <a:rPr lang="es-MX" sz="1100" dirty="0" err="1">
                <a:solidFill>
                  <a:srgbClr val="C00000"/>
                </a:solidFill>
                <a:latin typeface="Consolas" panose="020B0609020204030204" pitchFamily="49" charset="0"/>
              </a:rPr>
              <a:t>float</a:t>
            </a:r>
            <a:r>
              <a:rPr lang="es-MX" sz="1100" dirty="0">
                <a:solidFill>
                  <a:srgbClr val="C00000"/>
                </a:solidFill>
                <a:latin typeface="Consolas" panose="020B0609020204030204" pitchFamily="49" charset="0"/>
              </a:rPr>
              <a:t>(input('Ingrese la nota: ‘))</a:t>
            </a:r>
          </a:p>
          <a:p>
            <a:r>
              <a:rPr lang="es-MX" sz="1100" dirty="0">
                <a:solidFill>
                  <a:srgbClr val="C00000"/>
                </a:solidFill>
                <a:latin typeface="Consolas" panose="020B0609020204030204" pitchFamily="49" charset="0"/>
              </a:rPr>
              <a:t>  </a:t>
            </a:r>
            <a:r>
              <a:rPr lang="es-CO" sz="1100" dirty="0" err="1">
                <a:solidFill>
                  <a:schemeClr val="accent4"/>
                </a:solidFill>
                <a:latin typeface="Consolas" panose="020B0609020204030204" pitchFamily="49" charset="0"/>
              </a:rPr>
              <a:t>if</a:t>
            </a:r>
            <a:r>
              <a:rPr lang="es-CO" sz="1100" dirty="0">
                <a:solidFill>
                  <a:schemeClr val="accent4"/>
                </a:solidFill>
                <a:latin typeface="Consolas" panose="020B0609020204030204" pitchFamily="49" charset="0"/>
              </a:rPr>
              <a:t> nota &gt; </a:t>
            </a:r>
            <a:r>
              <a:rPr lang="es-CO" sz="1100" dirty="0" err="1">
                <a:solidFill>
                  <a:schemeClr val="accent4"/>
                </a:solidFill>
                <a:latin typeface="Consolas" panose="020B0609020204030204" pitchFamily="49" charset="0"/>
              </a:rPr>
              <a:t>nota_máxima</a:t>
            </a:r>
            <a:r>
              <a:rPr lang="es-CO" sz="1100" dirty="0">
                <a:solidFill>
                  <a:schemeClr val="accent4"/>
                </a:solidFill>
                <a:latin typeface="Consolas" panose="020B0609020204030204" pitchFamily="49" charset="0"/>
              </a:rPr>
              <a:t>:</a:t>
            </a:r>
          </a:p>
          <a:p>
            <a:r>
              <a:rPr lang="es-CO" sz="1100" dirty="0">
                <a:solidFill>
                  <a:schemeClr val="accent4"/>
                </a:solidFill>
                <a:latin typeface="Consolas" panose="020B0609020204030204" pitchFamily="49" charset="0"/>
              </a:rPr>
              <a:t>    nota_maxima = nota</a:t>
            </a:r>
          </a:p>
          <a:p>
            <a:r>
              <a:rPr lang="es-CO" sz="1100" dirty="0">
                <a:solidFill>
                  <a:schemeClr val="accent4"/>
                </a:solidFill>
                <a:latin typeface="Consolas" panose="020B0609020204030204" pitchFamily="49" charset="0"/>
              </a:rPr>
              <a:t>  </a:t>
            </a:r>
            <a:r>
              <a:rPr lang="es-CO" sz="1100" dirty="0" err="1">
                <a:solidFill>
                  <a:schemeClr val="accent4"/>
                </a:solidFill>
                <a:latin typeface="Consolas" panose="020B0609020204030204" pitchFamily="49" charset="0"/>
              </a:rPr>
              <a:t>if</a:t>
            </a:r>
            <a:r>
              <a:rPr lang="es-CO" sz="1100" dirty="0">
                <a:solidFill>
                  <a:schemeClr val="accent4"/>
                </a:solidFill>
                <a:latin typeface="Consolas" panose="020B0609020204030204" pitchFamily="49" charset="0"/>
              </a:rPr>
              <a:t> nota &lt; </a:t>
            </a:r>
            <a:r>
              <a:rPr lang="es-CO" sz="1100" dirty="0" err="1">
                <a:solidFill>
                  <a:schemeClr val="accent4"/>
                </a:solidFill>
                <a:latin typeface="Consolas" panose="020B0609020204030204" pitchFamily="49" charset="0"/>
              </a:rPr>
              <a:t>nota_mínima</a:t>
            </a:r>
            <a:r>
              <a:rPr lang="es-CO" sz="1100" dirty="0">
                <a:solidFill>
                  <a:schemeClr val="accent4"/>
                </a:solidFill>
                <a:latin typeface="Consolas" panose="020B0609020204030204" pitchFamily="49" charset="0"/>
              </a:rPr>
              <a:t>:</a:t>
            </a:r>
          </a:p>
          <a:p>
            <a:r>
              <a:rPr lang="es-CO" sz="1100" dirty="0">
                <a:solidFill>
                  <a:schemeClr val="accent4"/>
                </a:solidFill>
                <a:latin typeface="Consolas" panose="020B0609020204030204" pitchFamily="49" charset="0"/>
              </a:rPr>
              <a:t>    </a:t>
            </a:r>
            <a:r>
              <a:rPr lang="es-CO" sz="1100" dirty="0" err="1">
                <a:solidFill>
                  <a:schemeClr val="accent4"/>
                </a:solidFill>
                <a:latin typeface="Consolas" panose="020B0609020204030204" pitchFamily="49" charset="0"/>
              </a:rPr>
              <a:t>nota_minimo</a:t>
            </a:r>
            <a:r>
              <a:rPr lang="es-CO" sz="1100" dirty="0">
                <a:solidFill>
                  <a:schemeClr val="accent4"/>
                </a:solidFill>
                <a:latin typeface="Consolas" panose="020B0609020204030204" pitchFamily="49" charset="0"/>
              </a:rPr>
              <a:t> = nota</a:t>
            </a:r>
            <a:endParaRPr lang="es-MX" sz="1100" dirty="0">
              <a:solidFill>
                <a:srgbClr val="C00000"/>
              </a:solidFill>
              <a:latin typeface="Consolas" panose="020B0609020204030204" pitchFamily="49" charset="0"/>
            </a:endParaRP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if</a:t>
            </a:r>
            <a:r>
              <a:rPr lang="es-MX" sz="1100" dirty="0">
                <a:solidFill>
                  <a:srgbClr val="00B050"/>
                </a:solidFill>
                <a:latin typeface="Consolas" panose="020B0609020204030204" pitchFamily="49" charset="0"/>
              </a:rPr>
              <a:t> nota &gt;= NOTA_MINIMA:</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notas_aprobadas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notas_aprobadas</a:t>
            </a:r>
            <a:r>
              <a:rPr lang="es-MX" sz="1100" dirty="0">
                <a:solidFill>
                  <a:srgbClr val="00B050"/>
                </a:solidFill>
                <a:latin typeface="Consolas" panose="020B0609020204030204" pitchFamily="49" charset="0"/>
              </a:rPr>
              <a:t> + 1</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suma_aprobadas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suma_aprobadas</a:t>
            </a:r>
            <a:r>
              <a:rPr lang="es-MX" sz="1100" dirty="0">
                <a:solidFill>
                  <a:srgbClr val="00B050"/>
                </a:solidFill>
                <a:latin typeface="Consolas" panose="020B0609020204030204" pitchFamily="49" charset="0"/>
              </a:rPr>
              <a:t> + nota</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else</a:t>
            </a:r>
            <a:r>
              <a:rPr lang="es-MX" sz="1100" dirty="0">
                <a:solidFill>
                  <a:srgbClr val="00B050"/>
                </a:solidFill>
                <a:latin typeface="Consolas" panose="020B0609020204030204" pitchFamily="49" charset="0"/>
              </a:rPr>
              <a:t>:</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notas_reprobadas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notas_reprobadas</a:t>
            </a:r>
            <a:r>
              <a:rPr lang="es-MX" sz="1100" dirty="0">
                <a:solidFill>
                  <a:srgbClr val="00B050"/>
                </a:solidFill>
                <a:latin typeface="Consolas" panose="020B0609020204030204" pitchFamily="49" charset="0"/>
              </a:rPr>
              <a:t> + 1</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suma_reprobadas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suma_reprobadas</a:t>
            </a:r>
            <a:r>
              <a:rPr lang="es-MX" sz="1100" dirty="0">
                <a:solidFill>
                  <a:srgbClr val="00B050"/>
                </a:solidFill>
                <a:latin typeface="Consolas" panose="020B0609020204030204" pitchFamily="49" charset="0"/>
              </a:rPr>
              <a:t> + nota</a:t>
            </a:r>
          </a:p>
          <a:p>
            <a:r>
              <a:rPr lang="es-MX" sz="1100" dirty="0">
                <a:latin typeface="Consolas" panose="020B0609020204030204" pitchFamily="49" charset="0"/>
              </a:rPr>
              <a:t>  </a:t>
            </a:r>
          </a:p>
          <a:p>
            <a:r>
              <a:rPr lang="es-MX" sz="1100" dirty="0" err="1">
                <a:latin typeface="Consolas" panose="020B0609020204030204" pitchFamily="49" charset="0"/>
              </a:rPr>
              <a:t>suma_notas</a:t>
            </a:r>
            <a:r>
              <a:rPr lang="es-MX" sz="1100" dirty="0">
                <a:latin typeface="Consolas" panose="020B0609020204030204" pitchFamily="49" charset="0"/>
              </a:rPr>
              <a:t> = </a:t>
            </a:r>
            <a:r>
              <a:rPr lang="es-MX" sz="1100" dirty="0" err="1">
                <a:latin typeface="Consolas" panose="020B0609020204030204" pitchFamily="49" charset="0"/>
              </a:rPr>
              <a:t>suma_reprobadas</a:t>
            </a:r>
            <a:r>
              <a:rPr lang="es-MX" sz="1100" dirty="0">
                <a:latin typeface="Consolas" panose="020B0609020204030204" pitchFamily="49" charset="0"/>
              </a:rPr>
              <a:t> + </a:t>
            </a:r>
            <a:r>
              <a:rPr lang="es-MX" sz="1100" dirty="0" err="1">
                <a:latin typeface="Consolas" panose="020B0609020204030204" pitchFamily="49" charset="0"/>
              </a:rPr>
              <a:t>suma_aprobadas</a:t>
            </a:r>
            <a:endParaRPr lang="es-MX" sz="1100" dirty="0">
              <a:latin typeface="Consolas" panose="020B0609020204030204" pitchFamily="49" charset="0"/>
            </a:endParaRPr>
          </a:p>
          <a:p>
            <a:r>
              <a:rPr lang="es-MX" sz="1100" dirty="0" err="1">
                <a:latin typeface="Consolas" panose="020B0609020204030204" pitchFamily="49" charset="0"/>
              </a:rPr>
              <a:t>total_notas</a:t>
            </a:r>
            <a:r>
              <a:rPr lang="es-MX" sz="1100" dirty="0">
                <a:latin typeface="Consolas" panose="020B0609020204030204" pitchFamily="49" charset="0"/>
              </a:rPr>
              <a:t> = </a:t>
            </a:r>
            <a:r>
              <a:rPr lang="es-MX" sz="1100" dirty="0" err="1">
                <a:latin typeface="Consolas" panose="020B0609020204030204" pitchFamily="49" charset="0"/>
              </a:rPr>
              <a:t>notas_aprobadas</a:t>
            </a:r>
            <a:r>
              <a:rPr lang="es-MX" sz="1100" dirty="0">
                <a:latin typeface="Consolas" panose="020B0609020204030204" pitchFamily="49" charset="0"/>
              </a:rPr>
              <a:t> + </a:t>
            </a:r>
            <a:r>
              <a:rPr lang="es-MX" sz="1100" dirty="0" err="1">
                <a:latin typeface="Consolas" panose="020B0609020204030204" pitchFamily="49" charset="0"/>
              </a:rPr>
              <a:t>notas_reprobadas</a:t>
            </a:r>
            <a:endParaRPr lang="es-MX" sz="1100" dirty="0">
              <a:latin typeface="Consolas" panose="020B0609020204030204" pitchFamily="49" charset="0"/>
            </a:endParaRPr>
          </a:p>
          <a:p>
            <a:r>
              <a:rPr lang="es-MX" sz="1100" dirty="0">
                <a:latin typeface="Consolas" panose="020B0609020204030204" pitchFamily="49" charset="0"/>
              </a:rPr>
              <a:t>  ...</a:t>
            </a:r>
            <a:endParaRPr lang="es-CO" sz="1100" dirty="0">
              <a:solidFill>
                <a:srgbClr val="C00000"/>
              </a:solidFill>
              <a:latin typeface="Consolas" panose="020B0609020204030204" pitchFamily="49" charset="0"/>
            </a:endParaRPr>
          </a:p>
        </p:txBody>
      </p:sp>
    </p:spTree>
    <p:extLst>
      <p:ext uri="{BB962C8B-B14F-4D97-AF65-F5344CB8AC3E}">
        <p14:creationId xmlns:p14="http://schemas.microsoft.com/office/powerpoint/2010/main" val="11565236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145314" y="44624"/>
            <a:ext cx="8853372" cy="710952"/>
          </a:xfrm>
        </p:spPr>
        <p:txBody>
          <a:bodyPr>
            <a:noAutofit/>
          </a:bodyPr>
          <a:lstStyle/>
          <a:p>
            <a:r>
              <a:rPr lang="es-CO" sz="3600" dirty="0"/>
              <a:t>Opción 2: inicialización con el primer dato</a:t>
            </a:r>
          </a:p>
        </p:txBody>
      </p:sp>
      <p:sp>
        <p:nvSpPr>
          <p:cNvPr id="13" name="12 Rectángulo"/>
          <p:cNvSpPr/>
          <p:nvPr/>
        </p:nvSpPr>
        <p:spPr>
          <a:xfrm>
            <a:off x="145314" y="678175"/>
            <a:ext cx="8747165" cy="2246769"/>
          </a:xfrm>
          <a:prstGeom prst="rect">
            <a:avLst/>
          </a:prstGeom>
        </p:spPr>
        <p:txBody>
          <a:bodyPr wrap="square">
            <a:spAutoFit/>
          </a:bodyPr>
          <a:lstStyle/>
          <a:p>
            <a:pPr marL="342900" indent="-342900" rtl="0">
              <a:buFont typeface="Arial" panose="020B0604020202020204" pitchFamily="34" charset="0"/>
              <a:buChar char="•"/>
            </a:pPr>
            <a:r>
              <a:rPr lang="es-MX" sz="2000" b="1" dirty="0"/>
              <a:t>No asume nada sobre el rango de los datos</a:t>
            </a:r>
            <a:r>
              <a:rPr lang="es-MX" sz="2000" dirty="0"/>
              <a:t>: usa el primer elemento de la secuencia como punto de partida para </a:t>
            </a:r>
            <a:r>
              <a:rPr lang="es-MX" sz="2000" dirty="0" err="1"/>
              <a:t>maximo</a:t>
            </a:r>
            <a:r>
              <a:rPr lang="es-MX" sz="2000" dirty="0"/>
              <a:t> y </a:t>
            </a:r>
            <a:r>
              <a:rPr lang="es-MX" sz="2000" dirty="0" err="1"/>
              <a:t>minimo</a:t>
            </a:r>
            <a:r>
              <a:rPr lang="es-MX" sz="2000" dirty="0"/>
              <a:t>.</a:t>
            </a:r>
          </a:p>
          <a:p>
            <a:pPr marL="342900" indent="-342900" rtl="0">
              <a:buFont typeface="Arial" panose="020B0604020202020204" pitchFamily="34" charset="0"/>
              <a:buChar char="•"/>
            </a:pPr>
            <a:r>
              <a:rPr lang="es-MX" sz="2000" dirty="0"/>
              <a:t>Requiere distinguir la primera iteración de las demás: en la primera, se asignan </a:t>
            </a:r>
            <a:r>
              <a:rPr lang="es-MX" sz="2000" dirty="0" err="1"/>
              <a:t>maximo</a:t>
            </a:r>
            <a:r>
              <a:rPr lang="es-MX" sz="2000" dirty="0"/>
              <a:t> y </a:t>
            </a:r>
            <a:r>
              <a:rPr lang="es-MX" sz="2000" dirty="0" err="1"/>
              <a:t>minimo</a:t>
            </a:r>
            <a:r>
              <a:rPr lang="es-MX" sz="2000" dirty="0"/>
              <a:t> directamente; en las  siguientes, se compara y se actualiza si corresponde.</a:t>
            </a:r>
          </a:p>
          <a:p>
            <a:pPr marL="342900" indent="-342900" rtl="0">
              <a:buFont typeface="Arial" panose="020B0604020202020204" pitchFamily="34" charset="0"/>
              <a:buChar char="•"/>
            </a:pPr>
            <a:r>
              <a:rPr lang="es-MX" sz="2000" b="1" dirty="0"/>
              <a:t>Es más general</a:t>
            </a:r>
            <a:r>
              <a:rPr lang="es-MX" sz="2000" dirty="0"/>
              <a:t>: se puede aplicar a cualquier problema, sin importar el dominio de los datos.</a:t>
            </a:r>
          </a:p>
        </p:txBody>
      </p:sp>
      <p:sp>
        <p:nvSpPr>
          <p:cNvPr id="7" name="CuadroTexto 6">
            <a:extLst>
              <a:ext uri="{FF2B5EF4-FFF2-40B4-BE49-F238E27FC236}">
                <a16:creationId xmlns:a16="http://schemas.microsoft.com/office/drawing/2014/main" id="{965E2A9A-FBB8-42AC-BBAA-3CDACA417362}"/>
              </a:ext>
            </a:extLst>
          </p:cNvPr>
          <p:cNvSpPr txBox="1"/>
          <p:nvPr/>
        </p:nvSpPr>
        <p:spPr>
          <a:xfrm>
            <a:off x="559948" y="3129930"/>
            <a:ext cx="3797519" cy="3539430"/>
          </a:xfrm>
          <a:prstGeom prst="rect">
            <a:avLst/>
          </a:prstGeom>
          <a:noFill/>
          <a:ln>
            <a:solidFill>
              <a:schemeClr val="tx1"/>
            </a:solidFill>
          </a:ln>
        </p:spPr>
        <p:txBody>
          <a:bodyPr wrap="square">
            <a:spAutoFit/>
          </a:bodyPr>
          <a:lstStyle/>
          <a:p>
            <a:r>
              <a:rPr lang="es-CO" sz="1400" dirty="0">
                <a:latin typeface="Consolas" panose="020B0609020204030204" pitchFamily="49" charset="0"/>
              </a:rPr>
              <a:t>i = 0</a:t>
            </a:r>
            <a:endParaRPr lang="es-CO" sz="1400" dirty="0">
              <a:solidFill>
                <a:srgbClr val="C00000"/>
              </a:solidFill>
              <a:latin typeface="Consolas" panose="020B0609020204030204" pitchFamily="49" charset="0"/>
            </a:endParaRPr>
          </a:p>
          <a:p>
            <a:r>
              <a:rPr lang="es-CO" sz="1400" dirty="0">
                <a:solidFill>
                  <a:srgbClr val="C00000"/>
                </a:solidFill>
                <a:latin typeface="Consolas" panose="020B0609020204030204" pitchFamily="49" charset="0"/>
              </a:rPr>
              <a:t>Mientras (i &lt; N) Haga</a:t>
            </a:r>
          </a:p>
          <a:p>
            <a:r>
              <a:rPr lang="es-CO" sz="1400" dirty="0">
                <a:latin typeface="Consolas" panose="020B0609020204030204" pitchFamily="49" charset="0"/>
              </a:rPr>
              <a:t>  </a:t>
            </a:r>
            <a:r>
              <a:rPr lang="es-CO" sz="1400" dirty="0">
                <a:solidFill>
                  <a:schemeClr val="accent4"/>
                </a:solidFill>
                <a:latin typeface="Consolas" panose="020B0609020204030204" pitchFamily="49" charset="0"/>
              </a:rPr>
              <a:t>Leer(elemento)</a:t>
            </a:r>
          </a:p>
          <a:p>
            <a:r>
              <a:rPr lang="es-CO" sz="1400" dirty="0">
                <a:latin typeface="Consolas" panose="020B0609020204030204" pitchFamily="49" charset="0"/>
              </a:rPr>
              <a:t>  </a:t>
            </a:r>
            <a:r>
              <a:rPr lang="es-CO" sz="1400" dirty="0">
                <a:solidFill>
                  <a:srgbClr val="00B050"/>
                </a:solidFill>
                <a:latin typeface="Consolas" panose="020B0609020204030204" pitchFamily="49" charset="0"/>
              </a:rPr>
              <a:t>Si i == 0 Entonces</a:t>
            </a:r>
          </a:p>
          <a:p>
            <a:r>
              <a:rPr lang="es-CO" sz="1400" dirty="0">
                <a:solidFill>
                  <a:srgbClr val="00B050"/>
                </a:solidFill>
                <a:latin typeface="Consolas" panose="020B0609020204030204" pitchFamily="49" charset="0"/>
              </a:rPr>
              <a:t>    maximo = elemento</a:t>
            </a:r>
          </a:p>
          <a:p>
            <a:r>
              <a:rPr lang="es-CO" sz="1400" dirty="0">
                <a:solidFill>
                  <a:srgbClr val="00B050"/>
                </a:solidFill>
                <a:latin typeface="Consolas" panose="020B0609020204030204" pitchFamily="49" charset="0"/>
              </a:rPr>
              <a:t>    minimo = elemento</a:t>
            </a:r>
          </a:p>
          <a:p>
            <a:r>
              <a:rPr lang="es-CO" sz="1400" dirty="0">
                <a:solidFill>
                  <a:srgbClr val="00B050"/>
                </a:solidFill>
                <a:latin typeface="Consolas" panose="020B0609020204030204" pitchFamily="49" charset="0"/>
              </a:rPr>
              <a:t>  Sino</a:t>
            </a:r>
          </a:p>
          <a:p>
            <a:r>
              <a:rPr lang="es-CO" sz="1400" dirty="0">
                <a:solidFill>
                  <a:srgbClr val="00B050"/>
                </a:solidFill>
                <a:latin typeface="Consolas" panose="020B0609020204030204" pitchFamily="49" charset="0"/>
              </a:rPr>
              <a:t>    Si elemento &gt; maximo Entonces</a:t>
            </a:r>
          </a:p>
          <a:p>
            <a:r>
              <a:rPr lang="es-CO" sz="1400" dirty="0">
                <a:solidFill>
                  <a:srgbClr val="00B050"/>
                </a:solidFill>
                <a:latin typeface="Consolas" panose="020B0609020204030204" pitchFamily="49" charset="0"/>
              </a:rPr>
              <a:t>      maximo = elemento</a:t>
            </a:r>
          </a:p>
          <a:p>
            <a:r>
              <a:rPr lang="es-CO" sz="1400" dirty="0">
                <a:solidFill>
                  <a:srgbClr val="00B050"/>
                </a:solidFill>
                <a:latin typeface="Consolas" panose="020B0609020204030204" pitchFamily="49" charset="0"/>
              </a:rPr>
              <a:t>    Fin_Si</a:t>
            </a:r>
          </a:p>
          <a:p>
            <a:r>
              <a:rPr lang="es-CO" sz="1400" dirty="0">
                <a:solidFill>
                  <a:srgbClr val="00B050"/>
                </a:solidFill>
                <a:latin typeface="Consolas" panose="020B0609020204030204" pitchFamily="49" charset="0"/>
              </a:rPr>
              <a:t>    Si elemento &lt; minimo Entonces</a:t>
            </a:r>
          </a:p>
          <a:p>
            <a:r>
              <a:rPr lang="es-CO" sz="1400" dirty="0">
                <a:solidFill>
                  <a:srgbClr val="00B050"/>
                </a:solidFill>
                <a:latin typeface="Consolas" panose="020B0609020204030204" pitchFamily="49" charset="0"/>
              </a:rPr>
              <a:t>      minimo = elemento</a:t>
            </a:r>
          </a:p>
          <a:p>
            <a:r>
              <a:rPr lang="es-CO" sz="1400" dirty="0">
                <a:solidFill>
                  <a:srgbClr val="00B050"/>
                </a:solidFill>
                <a:latin typeface="Consolas" panose="020B0609020204030204" pitchFamily="49" charset="0"/>
              </a:rPr>
              <a:t>    Fin_Si</a:t>
            </a:r>
          </a:p>
          <a:p>
            <a:r>
              <a:rPr lang="es-CO" sz="1400" dirty="0">
                <a:solidFill>
                  <a:srgbClr val="00B050"/>
                </a:solidFill>
                <a:latin typeface="Consolas" panose="020B0609020204030204" pitchFamily="49" charset="0"/>
              </a:rPr>
              <a:t>  Fin_Si</a:t>
            </a:r>
          </a:p>
          <a:p>
            <a:r>
              <a:rPr lang="es-CO" sz="1400" dirty="0">
                <a:solidFill>
                  <a:srgbClr val="C00000"/>
                </a:solidFill>
                <a:latin typeface="Consolas" panose="020B0609020204030204" pitchFamily="49" charset="0"/>
              </a:rPr>
              <a:t>  i = i + 1</a:t>
            </a:r>
          </a:p>
          <a:p>
            <a:r>
              <a:rPr lang="es-CO" sz="1400" dirty="0">
                <a:solidFill>
                  <a:srgbClr val="C00000"/>
                </a:solidFill>
                <a:latin typeface="Consolas" panose="020B0609020204030204" pitchFamily="49" charset="0"/>
              </a:rPr>
              <a:t>Fin_Mientras</a:t>
            </a:r>
          </a:p>
        </p:txBody>
      </p:sp>
      <p:sp>
        <p:nvSpPr>
          <p:cNvPr id="8" name="CuadroTexto 7">
            <a:extLst>
              <a:ext uri="{FF2B5EF4-FFF2-40B4-BE49-F238E27FC236}">
                <a16:creationId xmlns:a16="http://schemas.microsoft.com/office/drawing/2014/main" id="{B9467F5A-EB03-4E1A-9564-6A8B383BCB2C}"/>
              </a:ext>
            </a:extLst>
          </p:cNvPr>
          <p:cNvSpPr txBox="1"/>
          <p:nvPr/>
        </p:nvSpPr>
        <p:spPr>
          <a:xfrm>
            <a:off x="4786533" y="3345373"/>
            <a:ext cx="3797519" cy="3108543"/>
          </a:xfrm>
          <a:prstGeom prst="rect">
            <a:avLst/>
          </a:prstGeom>
          <a:noFill/>
          <a:ln>
            <a:solidFill>
              <a:schemeClr val="tx1"/>
            </a:solidFill>
          </a:ln>
        </p:spPr>
        <p:txBody>
          <a:bodyPr wrap="square">
            <a:spAutoFit/>
          </a:bodyPr>
          <a:lstStyle/>
          <a:p>
            <a:r>
              <a:rPr lang="es-CO" sz="1400" dirty="0">
                <a:solidFill>
                  <a:srgbClr val="C00000"/>
                </a:solidFill>
                <a:latin typeface="Consolas" panose="020B0609020204030204" pitchFamily="49" charset="0"/>
              </a:rPr>
              <a:t>Para (i = 0,N - 1,1) Haga</a:t>
            </a:r>
          </a:p>
          <a:p>
            <a:r>
              <a:rPr lang="es-CO" sz="1400" dirty="0">
                <a:latin typeface="Consolas" panose="020B0609020204030204" pitchFamily="49" charset="0"/>
              </a:rPr>
              <a:t>  </a:t>
            </a:r>
            <a:r>
              <a:rPr lang="es-CO" sz="1400" dirty="0">
                <a:solidFill>
                  <a:schemeClr val="accent4"/>
                </a:solidFill>
                <a:latin typeface="Consolas" panose="020B0609020204030204" pitchFamily="49" charset="0"/>
              </a:rPr>
              <a:t>Leer(elemento)</a:t>
            </a:r>
          </a:p>
          <a:p>
            <a:r>
              <a:rPr lang="es-CO" sz="1400" dirty="0">
                <a:latin typeface="Consolas" panose="020B0609020204030204" pitchFamily="49" charset="0"/>
              </a:rPr>
              <a:t>  </a:t>
            </a:r>
            <a:r>
              <a:rPr lang="es-CO" sz="1400" dirty="0">
                <a:solidFill>
                  <a:srgbClr val="00B050"/>
                </a:solidFill>
                <a:latin typeface="Consolas" panose="020B0609020204030204" pitchFamily="49" charset="0"/>
              </a:rPr>
              <a:t>Si i == 0 Entonces</a:t>
            </a:r>
          </a:p>
          <a:p>
            <a:r>
              <a:rPr lang="es-CO" sz="1400" dirty="0">
                <a:solidFill>
                  <a:srgbClr val="00B050"/>
                </a:solidFill>
                <a:latin typeface="Consolas" panose="020B0609020204030204" pitchFamily="49" charset="0"/>
              </a:rPr>
              <a:t>    maximo = elemento</a:t>
            </a:r>
          </a:p>
          <a:p>
            <a:r>
              <a:rPr lang="es-CO" sz="1400" dirty="0">
                <a:solidFill>
                  <a:srgbClr val="00B050"/>
                </a:solidFill>
                <a:latin typeface="Consolas" panose="020B0609020204030204" pitchFamily="49" charset="0"/>
              </a:rPr>
              <a:t>    minimo = elemento</a:t>
            </a:r>
          </a:p>
          <a:p>
            <a:r>
              <a:rPr lang="es-CO" sz="1400" dirty="0">
                <a:solidFill>
                  <a:srgbClr val="00B050"/>
                </a:solidFill>
                <a:latin typeface="Consolas" panose="020B0609020204030204" pitchFamily="49" charset="0"/>
              </a:rPr>
              <a:t>  Sino</a:t>
            </a:r>
          </a:p>
          <a:p>
            <a:r>
              <a:rPr lang="es-CO" sz="1400" dirty="0">
                <a:solidFill>
                  <a:srgbClr val="00B050"/>
                </a:solidFill>
                <a:latin typeface="Consolas" panose="020B0609020204030204" pitchFamily="49" charset="0"/>
              </a:rPr>
              <a:t>    Si elemento &gt; maximo Entonces</a:t>
            </a:r>
          </a:p>
          <a:p>
            <a:r>
              <a:rPr lang="es-CO" sz="1400" dirty="0">
                <a:solidFill>
                  <a:srgbClr val="00B050"/>
                </a:solidFill>
                <a:latin typeface="Consolas" panose="020B0609020204030204" pitchFamily="49" charset="0"/>
              </a:rPr>
              <a:t>      maximo = elemento</a:t>
            </a:r>
          </a:p>
          <a:p>
            <a:r>
              <a:rPr lang="es-CO" sz="1400" dirty="0">
                <a:solidFill>
                  <a:srgbClr val="00B050"/>
                </a:solidFill>
                <a:latin typeface="Consolas" panose="020B0609020204030204" pitchFamily="49" charset="0"/>
              </a:rPr>
              <a:t>    Fin_Si</a:t>
            </a:r>
          </a:p>
          <a:p>
            <a:r>
              <a:rPr lang="es-CO" sz="1400" dirty="0">
                <a:solidFill>
                  <a:srgbClr val="00B050"/>
                </a:solidFill>
                <a:latin typeface="Consolas" panose="020B0609020204030204" pitchFamily="49" charset="0"/>
              </a:rPr>
              <a:t>    Si elemento &lt; minimo Entonces</a:t>
            </a:r>
          </a:p>
          <a:p>
            <a:r>
              <a:rPr lang="es-CO" sz="1400" dirty="0">
                <a:solidFill>
                  <a:srgbClr val="00B050"/>
                </a:solidFill>
                <a:latin typeface="Consolas" panose="020B0609020204030204" pitchFamily="49" charset="0"/>
              </a:rPr>
              <a:t>      minimo = elemento</a:t>
            </a:r>
          </a:p>
          <a:p>
            <a:r>
              <a:rPr lang="es-CO" sz="1400" dirty="0">
                <a:solidFill>
                  <a:srgbClr val="00B050"/>
                </a:solidFill>
                <a:latin typeface="Consolas" panose="020B0609020204030204" pitchFamily="49" charset="0"/>
              </a:rPr>
              <a:t>    Fin_Si</a:t>
            </a:r>
          </a:p>
          <a:p>
            <a:r>
              <a:rPr lang="es-CO" sz="1400" dirty="0">
                <a:solidFill>
                  <a:srgbClr val="00B050"/>
                </a:solidFill>
                <a:latin typeface="Consolas" panose="020B0609020204030204" pitchFamily="49" charset="0"/>
              </a:rPr>
              <a:t>  Fin_Si</a:t>
            </a:r>
          </a:p>
          <a:p>
            <a:r>
              <a:rPr lang="es-CO" sz="1400" dirty="0" err="1">
                <a:solidFill>
                  <a:srgbClr val="C00000"/>
                </a:solidFill>
                <a:latin typeface="Consolas" panose="020B0609020204030204" pitchFamily="49" charset="0"/>
              </a:rPr>
              <a:t>Fin_Para</a:t>
            </a:r>
            <a:endParaRPr lang="es-CO" sz="1400" dirty="0">
              <a:solidFill>
                <a:srgbClr val="C00000"/>
              </a:solidFill>
              <a:latin typeface="Consolas" panose="020B0609020204030204" pitchFamily="49" charset="0"/>
            </a:endParaRPr>
          </a:p>
        </p:txBody>
      </p:sp>
    </p:spTree>
    <p:extLst>
      <p:ext uri="{BB962C8B-B14F-4D97-AF65-F5344CB8AC3E}">
        <p14:creationId xmlns:p14="http://schemas.microsoft.com/office/powerpoint/2010/main" val="39046792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4EB46DA0-4F51-4B8C-933C-B01FC5FF0D7D}"/>
              </a:ext>
            </a:extLst>
          </p:cNvPr>
          <p:cNvSpPr txBox="1"/>
          <p:nvPr/>
        </p:nvSpPr>
        <p:spPr>
          <a:xfrm>
            <a:off x="280549" y="908720"/>
            <a:ext cx="4086991" cy="5509200"/>
          </a:xfrm>
          <a:prstGeom prst="rect">
            <a:avLst/>
          </a:prstGeom>
          <a:noFill/>
          <a:ln>
            <a:solidFill>
              <a:schemeClr val="tx1"/>
            </a:solidFill>
          </a:ln>
        </p:spPr>
        <p:txBody>
          <a:bodyPr wrap="square">
            <a:spAutoFit/>
          </a:bodyPr>
          <a:lstStyle/>
          <a:p>
            <a:r>
              <a:rPr lang="es-MX" sz="1100" dirty="0">
                <a:latin typeface="Consolas" panose="020B0609020204030204" pitchFamily="49" charset="0"/>
              </a:rPr>
              <a:t>Inicio</a:t>
            </a:r>
          </a:p>
          <a:p>
            <a:r>
              <a:rPr lang="es-MX" sz="1100" dirty="0">
                <a:latin typeface="Consolas" panose="020B0609020204030204" pitchFamily="49" charset="0"/>
              </a:rPr>
              <a:t>  NOTA_MINIMA = 3.0</a:t>
            </a:r>
          </a:p>
          <a:p>
            <a:r>
              <a:rPr lang="es-MX" sz="1100" dirty="0">
                <a:latin typeface="Consolas" panose="020B0609020204030204" pitchFamily="49" charset="0"/>
              </a:rPr>
              <a:t>  </a:t>
            </a:r>
            <a:r>
              <a:rPr lang="es-MX" sz="1100" dirty="0" err="1">
                <a:latin typeface="Consolas" panose="020B0609020204030204" pitchFamily="49" charset="0"/>
              </a:rPr>
              <a:t>notas_reprobadas</a:t>
            </a:r>
            <a:r>
              <a:rPr lang="es-MX" sz="1100" dirty="0">
                <a:latin typeface="Consolas" panose="020B0609020204030204" pitchFamily="49" charset="0"/>
              </a:rPr>
              <a:t> = 0</a:t>
            </a:r>
          </a:p>
          <a:p>
            <a:r>
              <a:rPr lang="es-MX" sz="1100" dirty="0">
                <a:latin typeface="Consolas" panose="020B0609020204030204" pitchFamily="49" charset="0"/>
              </a:rPr>
              <a:t>  </a:t>
            </a:r>
            <a:r>
              <a:rPr lang="es-MX" sz="1100" dirty="0" err="1">
                <a:latin typeface="Consolas" panose="020B0609020204030204" pitchFamily="49" charset="0"/>
              </a:rPr>
              <a:t>notas_aprobadas</a:t>
            </a:r>
            <a:r>
              <a:rPr lang="es-MX" sz="1100" dirty="0">
                <a:latin typeface="Consolas" panose="020B0609020204030204" pitchFamily="49" charset="0"/>
              </a:rPr>
              <a:t> = 0</a:t>
            </a:r>
          </a:p>
          <a:p>
            <a:r>
              <a:rPr lang="es-MX" sz="1100" dirty="0">
                <a:latin typeface="Consolas" panose="020B0609020204030204" pitchFamily="49" charset="0"/>
              </a:rPr>
              <a:t>  </a:t>
            </a:r>
            <a:r>
              <a:rPr lang="es-MX" sz="1100" dirty="0" err="1">
                <a:latin typeface="Consolas" panose="020B0609020204030204" pitchFamily="49" charset="0"/>
              </a:rPr>
              <a:t>suma_reprobadas</a:t>
            </a:r>
            <a:r>
              <a:rPr lang="es-MX" sz="1100" dirty="0">
                <a:latin typeface="Consolas" panose="020B0609020204030204" pitchFamily="49" charset="0"/>
              </a:rPr>
              <a:t> = 0</a:t>
            </a:r>
          </a:p>
          <a:p>
            <a:r>
              <a:rPr lang="es-MX" sz="1100" dirty="0">
                <a:latin typeface="Consolas" panose="020B0609020204030204" pitchFamily="49" charset="0"/>
              </a:rPr>
              <a:t>  </a:t>
            </a:r>
            <a:r>
              <a:rPr lang="es-MX" sz="1100" dirty="0" err="1">
                <a:latin typeface="Consolas" panose="020B0609020204030204" pitchFamily="49" charset="0"/>
              </a:rPr>
              <a:t>suma_aprobadas</a:t>
            </a:r>
            <a:r>
              <a:rPr lang="es-MX" sz="1100" dirty="0">
                <a:latin typeface="Consolas" panose="020B0609020204030204" pitchFamily="49" charset="0"/>
              </a:rPr>
              <a:t> = 0</a:t>
            </a:r>
          </a:p>
          <a:p>
            <a:r>
              <a:rPr lang="es-MX" sz="1100" dirty="0">
                <a:latin typeface="Consolas" panose="020B0609020204030204" pitchFamily="49" charset="0"/>
              </a:rPr>
              <a:t>  Leer(N)</a:t>
            </a:r>
          </a:p>
          <a:p>
            <a:r>
              <a:rPr lang="es-MX" sz="1100" dirty="0">
                <a:solidFill>
                  <a:srgbClr val="C00000"/>
                </a:solidFill>
                <a:latin typeface="Consolas" panose="020B0609020204030204" pitchFamily="49" charset="0"/>
              </a:rPr>
              <a:t>  Para (i = 0,N - 1,1) Haga    </a:t>
            </a:r>
          </a:p>
          <a:p>
            <a:r>
              <a:rPr lang="es-MX" sz="1100" dirty="0">
                <a:solidFill>
                  <a:srgbClr val="C00000"/>
                </a:solidFill>
                <a:latin typeface="Consolas" panose="020B0609020204030204" pitchFamily="49" charset="0"/>
              </a:rPr>
              <a:t>    Leer(nota)</a:t>
            </a:r>
          </a:p>
          <a:p>
            <a:r>
              <a:rPr lang="es-MX" sz="1100" dirty="0">
                <a:solidFill>
                  <a:srgbClr val="C00000"/>
                </a:solidFill>
                <a:latin typeface="Consolas" panose="020B0609020204030204" pitchFamily="49" charset="0"/>
              </a:rPr>
              <a:t>    </a:t>
            </a:r>
            <a:r>
              <a:rPr lang="it-IT" sz="1100" dirty="0">
                <a:solidFill>
                  <a:schemeClr val="accent4"/>
                </a:solidFill>
                <a:latin typeface="Consolas" panose="020B0609020204030204" pitchFamily="49" charset="0"/>
              </a:rPr>
              <a:t>Si i == 0 Entonces      </a:t>
            </a:r>
          </a:p>
          <a:p>
            <a:r>
              <a:rPr lang="it-IT" sz="1100" dirty="0">
                <a:solidFill>
                  <a:schemeClr val="accent4"/>
                </a:solidFill>
                <a:latin typeface="Consolas" panose="020B0609020204030204" pitchFamily="49" charset="0"/>
              </a:rPr>
              <a:t>      nota_maxima = nota      </a:t>
            </a:r>
          </a:p>
          <a:p>
            <a:r>
              <a:rPr lang="it-IT" sz="1100" dirty="0">
                <a:solidFill>
                  <a:schemeClr val="accent4"/>
                </a:solidFill>
                <a:latin typeface="Consolas" panose="020B0609020204030204" pitchFamily="49" charset="0"/>
              </a:rPr>
              <a:t>      nota_minima = nota    </a:t>
            </a:r>
          </a:p>
          <a:p>
            <a:r>
              <a:rPr lang="it-IT" sz="1100" dirty="0">
                <a:solidFill>
                  <a:schemeClr val="accent4"/>
                </a:solidFill>
                <a:latin typeface="Consolas" panose="020B0609020204030204" pitchFamily="49" charset="0"/>
              </a:rPr>
              <a:t>    Sino      </a:t>
            </a:r>
          </a:p>
          <a:p>
            <a:r>
              <a:rPr lang="it-IT" sz="1100" dirty="0">
                <a:solidFill>
                  <a:schemeClr val="accent4"/>
                </a:solidFill>
                <a:latin typeface="Consolas" panose="020B0609020204030204" pitchFamily="49" charset="0"/>
              </a:rPr>
              <a:t>      Si nota &gt; nota_maxima Entonces       </a:t>
            </a:r>
          </a:p>
          <a:p>
            <a:r>
              <a:rPr lang="it-IT" sz="1100" dirty="0">
                <a:solidFill>
                  <a:schemeClr val="accent4"/>
                </a:solidFill>
                <a:latin typeface="Consolas" panose="020B0609020204030204" pitchFamily="49" charset="0"/>
              </a:rPr>
              <a:t>        nota_maxima = nota      </a:t>
            </a:r>
          </a:p>
          <a:p>
            <a:r>
              <a:rPr lang="it-IT" sz="1100" dirty="0">
                <a:solidFill>
                  <a:schemeClr val="accent4"/>
                </a:solidFill>
                <a:latin typeface="Consolas" panose="020B0609020204030204" pitchFamily="49" charset="0"/>
              </a:rPr>
              <a:t>      Fin_Si      </a:t>
            </a:r>
          </a:p>
          <a:p>
            <a:r>
              <a:rPr lang="it-IT" sz="1100" dirty="0">
                <a:solidFill>
                  <a:schemeClr val="accent4"/>
                </a:solidFill>
                <a:latin typeface="Consolas" panose="020B0609020204030204" pitchFamily="49" charset="0"/>
              </a:rPr>
              <a:t>      Si nota &lt; nota_minima Entonces</a:t>
            </a:r>
          </a:p>
          <a:p>
            <a:r>
              <a:rPr lang="it-IT" sz="1100" dirty="0">
                <a:solidFill>
                  <a:schemeClr val="accent4"/>
                </a:solidFill>
                <a:latin typeface="Consolas" panose="020B0609020204030204" pitchFamily="49" charset="0"/>
              </a:rPr>
              <a:t>        nota_minima = nota      </a:t>
            </a:r>
          </a:p>
          <a:p>
            <a:r>
              <a:rPr lang="it-IT" sz="1100" dirty="0">
                <a:solidFill>
                  <a:schemeClr val="accent4"/>
                </a:solidFill>
                <a:latin typeface="Consolas" panose="020B0609020204030204" pitchFamily="49" charset="0"/>
              </a:rPr>
              <a:t>      Fin_Si    </a:t>
            </a:r>
          </a:p>
          <a:p>
            <a:r>
              <a:rPr lang="it-IT" sz="1100" dirty="0">
                <a:solidFill>
                  <a:schemeClr val="accent4"/>
                </a:solidFill>
                <a:latin typeface="Consolas" panose="020B0609020204030204" pitchFamily="49" charset="0"/>
              </a:rPr>
              <a:t>    Fin_Si</a:t>
            </a:r>
            <a:r>
              <a:rPr lang="es-MX" sz="1100" dirty="0">
                <a:solidFill>
                  <a:srgbClr val="00B050"/>
                </a:solidFill>
                <a:latin typeface="Consolas" panose="020B0609020204030204" pitchFamily="49" charset="0"/>
              </a:rPr>
              <a:t>    </a:t>
            </a:r>
          </a:p>
          <a:p>
            <a:r>
              <a:rPr lang="es-MX" sz="1100" dirty="0">
                <a:solidFill>
                  <a:srgbClr val="00B050"/>
                </a:solidFill>
                <a:latin typeface="Consolas" panose="020B0609020204030204" pitchFamily="49" charset="0"/>
              </a:rPr>
              <a:t>    Si nota &gt;= NOTA_MINIMA Entonces</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notas_aprobadas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notas_aprobadas</a:t>
            </a:r>
            <a:r>
              <a:rPr lang="es-MX" sz="1100" dirty="0">
                <a:solidFill>
                  <a:srgbClr val="00B050"/>
                </a:solidFill>
                <a:latin typeface="Consolas" panose="020B0609020204030204" pitchFamily="49" charset="0"/>
              </a:rPr>
              <a:t> + 1</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suma_aprobadas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suma_aprobadas</a:t>
            </a:r>
            <a:r>
              <a:rPr lang="es-MX" sz="1100" dirty="0">
                <a:solidFill>
                  <a:srgbClr val="00B050"/>
                </a:solidFill>
                <a:latin typeface="Consolas" panose="020B0609020204030204" pitchFamily="49" charset="0"/>
              </a:rPr>
              <a:t> + nota</a:t>
            </a:r>
          </a:p>
          <a:p>
            <a:r>
              <a:rPr lang="es-MX" sz="1100" dirty="0">
                <a:solidFill>
                  <a:srgbClr val="00B050"/>
                </a:solidFill>
                <a:latin typeface="Consolas" panose="020B0609020204030204" pitchFamily="49" charset="0"/>
              </a:rPr>
              <a:t>    Sino</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notas_reprobadas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notas_reprobadas</a:t>
            </a:r>
            <a:r>
              <a:rPr lang="es-MX" sz="1100" dirty="0">
                <a:solidFill>
                  <a:srgbClr val="00B050"/>
                </a:solidFill>
                <a:latin typeface="Consolas" panose="020B0609020204030204" pitchFamily="49" charset="0"/>
              </a:rPr>
              <a:t> + 1</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suma_reprobadas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suma_reprobadas</a:t>
            </a:r>
            <a:r>
              <a:rPr lang="es-MX" sz="1100" dirty="0">
                <a:solidFill>
                  <a:srgbClr val="00B050"/>
                </a:solidFill>
                <a:latin typeface="Consolas" panose="020B0609020204030204" pitchFamily="49" charset="0"/>
              </a:rPr>
              <a:t> + nota</a:t>
            </a:r>
          </a:p>
          <a:p>
            <a:r>
              <a:rPr lang="es-MX" sz="1100" dirty="0">
                <a:solidFill>
                  <a:srgbClr val="00B050"/>
                </a:solidFill>
                <a:latin typeface="Consolas" panose="020B0609020204030204" pitchFamily="49" charset="0"/>
              </a:rPr>
              <a:t>    Fin_Si</a:t>
            </a:r>
          </a:p>
          <a:p>
            <a:r>
              <a:rPr lang="es-MX" sz="1100" dirty="0">
                <a:solidFill>
                  <a:srgbClr val="C00000"/>
                </a:solidFill>
                <a:latin typeface="Consolas" panose="020B0609020204030204" pitchFamily="49" charset="0"/>
              </a:rPr>
              <a:t>  </a:t>
            </a:r>
            <a:r>
              <a:rPr lang="es-MX" sz="1100" dirty="0" err="1">
                <a:solidFill>
                  <a:srgbClr val="C00000"/>
                </a:solidFill>
                <a:latin typeface="Consolas" panose="020B0609020204030204" pitchFamily="49" charset="0"/>
              </a:rPr>
              <a:t>Fin_Para</a:t>
            </a:r>
            <a:endParaRPr lang="es-MX" sz="1100" dirty="0">
              <a:solidFill>
                <a:srgbClr val="C00000"/>
              </a:solidFill>
              <a:latin typeface="Consolas" panose="020B0609020204030204" pitchFamily="49" charset="0"/>
            </a:endParaRPr>
          </a:p>
          <a:p>
            <a:r>
              <a:rPr lang="es-MX" sz="1100" dirty="0">
                <a:latin typeface="Consolas" panose="020B0609020204030204" pitchFamily="49" charset="0"/>
              </a:rPr>
              <a:t>  </a:t>
            </a:r>
            <a:r>
              <a:rPr lang="es-MX" sz="1100" dirty="0" err="1">
                <a:latin typeface="Consolas" panose="020B0609020204030204" pitchFamily="49" charset="0"/>
              </a:rPr>
              <a:t>suma_notas</a:t>
            </a:r>
            <a:r>
              <a:rPr lang="es-MX" sz="1100" dirty="0">
                <a:latin typeface="Consolas" panose="020B0609020204030204" pitchFamily="49" charset="0"/>
              </a:rPr>
              <a:t> = </a:t>
            </a:r>
            <a:r>
              <a:rPr lang="es-MX" sz="1100" dirty="0" err="1">
                <a:latin typeface="Consolas" panose="020B0609020204030204" pitchFamily="49" charset="0"/>
              </a:rPr>
              <a:t>suma_reprobadas</a:t>
            </a:r>
            <a:r>
              <a:rPr lang="es-MX" sz="1100" dirty="0">
                <a:latin typeface="Consolas" panose="020B0609020204030204" pitchFamily="49" charset="0"/>
              </a:rPr>
              <a:t> + </a:t>
            </a:r>
            <a:r>
              <a:rPr lang="es-MX" sz="1100" dirty="0" err="1">
                <a:latin typeface="Consolas" panose="020B0609020204030204" pitchFamily="49" charset="0"/>
              </a:rPr>
              <a:t>suma_aprobadas</a:t>
            </a:r>
            <a:endParaRPr lang="es-MX" sz="1100" dirty="0">
              <a:latin typeface="Consolas" panose="020B0609020204030204" pitchFamily="49" charset="0"/>
            </a:endParaRPr>
          </a:p>
          <a:p>
            <a:r>
              <a:rPr lang="es-MX" sz="1100" dirty="0">
                <a:latin typeface="Consolas" panose="020B0609020204030204" pitchFamily="49" charset="0"/>
              </a:rPr>
              <a:t>  </a:t>
            </a:r>
            <a:r>
              <a:rPr lang="es-MX" sz="1100" dirty="0" err="1">
                <a:latin typeface="Consolas" panose="020B0609020204030204" pitchFamily="49" charset="0"/>
              </a:rPr>
              <a:t>total_notas</a:t>
            </a:r>
            <a:r>
              <a:rPr lang="es-MX" sz="1100" dirty="0">
                <a:latin typeface="Consolas" panose="020B0609020204030204" pitchFamily="49" charset="0"/>
              </a:rPr>
              <a:t> = </a:t>
            </a:r>
            <a:r>
              <a:rPr lang="es-MX" sz="1100" dirty="0" err="1">
                <a:latin typeface="Consolas" panose="020B0609020204030204" pitchFamily="49" charset="0"/>
              </a:rPr>
              <a:t>notas_aprobadas</a:t>
            </a:r>
            <a:r>
              <a:rPr lang="es-MX" sz="1100" dirty="0">
                <a:latin typeface="Consolas" panose="020B0609020204030204" pitchFamily="49" charset="0"/>
              </a:rPr>
              <a:t> + </a:t>
            </a:r>
            <a:r>
              <a:rPr lang="es-MX" sz="1100" dirty="0" err="1">
                <a:latin typeface="Consolas" panose="020B0609020204030204" pitchFamily="49" charset="0"/>
              </a:rPr>
              <a:t>notas_reprobadas</a:t>
            </a:r>
            <a:endParaRPr lang="es-MX" sz="1100" dirty="0">
              <a:latin typeface="Consolas" panose="020B0609020204030204" pitchFamily="49" charset="0"/>
            </a:endParaRPr>
          </a:p>
          <a:p>
            <a:r>
              <a:rPr lang="es-MX" sz="1100" dirty="0">
                <a:latin typeface="Consolas" panose="020B0609020204030204" pitchFamily="49" charset="0"/>
              </a:rPr>
              <a:t>  ...</a:t>
            </a:r>
          </a:p>
          <a:p>
            <a:r>
              <a:rPr lang="es-MX" sz="1100" dirty="0">
                <a:latin typeface="Consolas" panose="020B0609020204030204" pitchFamily="49" charset="0"/>
              </a:rPr>
              <a:t>Fin</a:t>
            </a:r>
            <a:endParaRPr lang="es-CO" sz="1100" dirty="0">
              <a:solidFill>
                <a:srgbClr val="C00000"/>
              </a:solidFill>
              <a:latin typeface="Consolas" panose="020B0609020204030204" pitchFamily="49" charset="0"/>
            </a:endParaRPr>
          </a:p>
        </p:txBody>
      </p:sp>
      <p:sp>
        <p:nvSpPr>
          <p:cNvPr id="10" name="4 Título">
            <a:extLst>
              <a:ext uri="{FF2B5EF4-FFF2-40B4-BE49-F238E27FC236}">
                <a16:creationId xmlns:a16="http://schemas.microsoft.com/office/drawing/2014/main" id="{AE7AE4FE-857D-48EA-8C2E-EFF7E2B785AF}"/>
              </a:ext>
            </a:extLst>
          </p:cNvPr>
          <p:cNvSpPr txBox="1">
            <a:spLocks/>
          </p:cNvSpPr>
          <p:nvPr/>
        </p:nvSpPr>
        <p:spPr>
          <a:xfrm>
            <a:off x="130633" y="76881"/>
            <a:ext cx="8473815" cy="678809"/>
          </a:xfrm>
          <a:prstGeom prst="rect">
            <a:avLst/>
          </a:prstGeom>
        </p:spPr>
        <p:txBody>
          <a:bodyPr vert="horz" lIns="91440" tIns="45720" rIns="91440" bIns="45720" rtlCol="0" anchor="ct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Busqueda de extremos – Ejemplo 9 (Opción 2)</a:t>
            </a:r>
          </a:p>
        </p:txBody>
      </p:sp>
      <p:sp>
        <p:nvSpPr>
          <p:cNvPr id="7" name="CuadroTexto 6">
            <a:extLst>
              <a:ext uri="{FF2B5EF4-FFF2-40B4-BE49-F238E27FC236}">
                <a16:creationId xmlns:a16="http://schemas.microsoft.com/office/drawing/2014/main" id="{88136558-4DB9-472F-B72C-F3B7E28C5F25}"/>
              </a:ext>
            </a:extLst>
          </p:cNvPr>
          <p:cNvSpPr txBox="1"/>
          <p:nvPr/>
        </p:nvSpPr>
        <p:spPr>
          <a:xfrm>
            <a:off x="4551428" y="1196752"/>
            <a:ext cx="4231007" cy="4662815"/>
          </a:xfrm>
          <a:prstGeom prst="rect">
            <a:avLst/>
          </a:prstGeom>
          <a:noFill/>
          <a:ln>
            <a:solidFill>
              <a:schemeClr val="tx1"/>
            </a:solidFill>
          </a:ln>
        </p:spPr>
        <p:txBody>
          <a:bodyPr wrap="square">
            <a:spAutoFit/>
          </a:bodyPr>
          <a:lstStyle/>
          <a:p>
            <a:r>
              <a:rPr lang="es-MX" sz="1100" dirty="0">
                <a:latin typeface="Consolas" panose="020B0609020204030204" pitchFamily="49" charset="0"/>
              </a:rPr>
              <a:t>NOTA_MINIMA = 3.0</a:t>
            </a:r>
          </a:p>
          <a:p>
            <a:r>
              <a:rPr lang="es-MX" sz="1100" dirty="0" err="1">
                <a:latin typeface="Consolas" panose="020B0609020204030204" pitchFamily="49" charset="0"/>
              </a:rPr>
              <a:t>notas_reprobadas</a:t>
            </a:r>
            <a:r>
              <a:rPr lang="es-MX" sz="1100" dirty="0">
                <a:latin typeface="Consolas" panose="020B0609020204030204" pitchFamily="49" charset="0"/>
              </a:rPr>
              <a:t> = 0</a:t>
            </a:r>
          </a:p>
          <a:p>
            <a:r>
              <a:rPr lang="es-MX" sz="1100" dirty="0" err="1">
                <a:latin typeface="Consolas" panose="020B0609020204030204" pitchFamily="49" charset="0"/>
              </a:rPr>
              <a:t>notas_aprobadas</a:t>
            </a:r>
            <a:r>
              <a:rPr lang="es-MX" sz="1100" dirty="0">
                <a:latin typeface="Consolas" panose="020B0609020204030204" pitchFamily="49" charset="0"/>
              </a:rPr>
              <a:t> = 0</a:t>
            </a:r>
          </a:p>
          <a:p>
            <a:r>
              <a:rPr lang="es-MX" sz="1100" dirty="0" err="1">
                <a:latin typeface="Consolas" panose="020B0609020204030204" pitchFamily="49" charset="0"/>
              </a:rPr>
              <a:t>suma_reprobadas</a:t>
            </a:r>
            <a:r>
              <a:rPr lang="es-MX" sz="1100" dirty="0">
                <a:latin typeface="Consolas" panose="020B0609020204030204" pitchFamily="49" charset="0"/>
              </a:rPr>
              <a:t> = 0</a:t>
            </a:r>
          </a:p>
          <a:p>
            <a:r>
              <a:rPr lang="es-MX" sz="1100" dirty="0" err="1">
                <a:latin typeface="Consolas" panose="020B0609020204030204" pitchFamily="49" charset="0"/>
              </a:rPr>
              <a:t>suma_aprobadas</a:t>
            </a:r>
            <a:r>
              <a:rPr lang="es-MX" sz="1100" dirty="0">
                <a:latin typeface="Consolas" panose="020B0609020204030204" pitchFamily="49" charset="0"/>
              </a:rPr>
              <a:t> = 0</a:t>
            </a:r>
          </a:p>
          <a:p>
            <a:endParaRPr lang="es-MX" sz="1100" dirty="0">
              <a:latin typeface="Consolas" panose="020B0609020204030204" pitchFamily="49" charset="0"/>
            </a:endParaRPr>
          </a:p>
          <a:p>
            <a:r>
              <a:rPr lang="es-MX" sz="1100" b="0" dirty="0">
                <a:effectLst/>
                <a:latin typeface="Consolas" panose="020B0609020204030204" pitchFamily="49" charset="0"/>
              </a:rPr>
              <a:t>N = </a:t>
            </a:r>
            <a:r>
              <a:rPr lang="es-MX" sz="1100" b="0" dirty="0" err="1">
                <a:effectLst/>
                <a:latin typeface="Consolas" panose="020B0609020204030204" pitchFamily="49" charset="0"/>
              </a:rPr>
              <a:t>int</a:t>
            </a:r>
            <a:r>
              <a:rPr lang="es-MX" sz="1100" b="0" dirty="0">
                <a:effectLst/>
                <a:latin typeface="Consolas" panose="020B0609020204030204" pitchFamily="49" charset="0"/>
              </a:rPr>
              <a:t>(input('Ingrese el número de estudiantes: '))</a:t>
            </a:r>
          </a:p>
          <a:p>
            <a:r>
              <a:rPr lang="es-MX" sz="1100" dirty="0">
                <a:solidFill>
                  <a:srgbClr val="C00000"/>
                </a:solidFill>
                <a:latin typeface="Consolas" panose="020B0609020204030204" pitchFamily="49" charset="0"/>
              </a:rPr>
              <a:t>for i in range(N):</a:t>
            </a:r>
          </a:p>
          <a:p>
            <a:r>
              <a:rPr lang="es-MX" sz="1100" dirty="0">
                <a:solidFill>
                  <a:srgbClr val="C00000"/>
                </a:solidFill>
                <a:latin typeface="Consolas" panose="020B0609020204030204" pitchFamily="49" charset="0"/>
              </a:rPr>
              <a:t>  nota = </a:t>
            </a:r>
            <a:r>
              <a:rPr lang="es-MX" sz="1100" dirty="0" err="1">
                <a:solidFill>
                  <a:srgbClr val="C00000"/>
                </a:solidFill>
                <a:latin typeface="Consolas" panose="020B0609020204030204" pitchFamily="49" charset="0"/>
              </a:rPr>
              <a:t>float</a:t>
            </a:r>
            <a:r>
              <a:rPr lang="es-MX" sz="1100" dirty="0">
                <a:solidFill>
                  <a:srgbClr val="C00000"/>
                </a:solidFill>
                <a:latin typeface="Consolas" panose="020B0609020204030204" pitchFamily="49" charset="0"/>
              </a:rPr>
              <a:t>(input('Ingrese la nota: ‘))</a:t>
            </a:r>
          </a:p>
          <a:p>
            <a:r>
              <a:rPr lang="es-MX" sz="1100" dirty="0">
                <a:solidFill>
                  <a:srgbClr val="C00000"/>
                </a:solidFill>
                <a:latin typeface="Consolas" panose="020B0609020204030204" pitchFamily="49" charset="0"/>
              </a:rPr>
              <a:t>  </a:t>
            </a:r>
            <a:r>
              <a:rPr lang="it-IT" sz="1100" dirty="0">
                <a:solidFill>
                  <a:schemeClr val="accent4"/>
                </a:solidFill>
                <a:latin typeface="Consolas" panose="020B0609020204030204" pitchFamily="49" charset="0"/>
              </a:rPr>
              <a:t>if i == 0:        </a:t>
            </a:r>
          </a:p>
          <a:p>
            <a:r>
              <a:rPr lang="it-IT" sz="1100" dirty="0">
                <a:solidFill>
                  <a:schemeClr val="accent4"/>
                </a:solidFill>
                <a:latin typeface="Consolas" panose="020B0609020204030204" pitchFamily="49" charset="0"/>
              </a:rPr>
              <a:t>    nota_maxima = nota        </a:t>
            </a:r>
          </a:p>
          <a:p>
            <a:r>
              <a:rPr lang="it-IT" sz="1100" dirty="0">
                <a:solidFill>
                  <a:schemeClr val="accent4"/>
                </a:solidFill>
                <a:latin typeface="Consolas" panose="020B0609020204030204" pitchFamily="49" charset="0"/>
              </a:rPr>
              <a:t>    nota_minima = nota    </a:t>
            </a:r>
          </a:p>
          <a:p>
            <a:r>
              <a:rPr lang="it-IT" sz="1100" dirty="0">
                <a:solidFill>
                  <a:schemeClr val="accent4"/>
                </a:solidFill>
                <a:latin typeface="Consolas" panose="020B0609020204030204" pitchFamily="49" charset="0"/>
              </a:rPr>
              <a:t>  else:        </a:t>
            </a:r>
          </a:p>
          <a:p>
            <a:r>
              <a:rPr lang="it-IT" sz="1100" dirty="0">
                <a:solidFill>
                  <a:schemeClr val="accent4"/>
                </a:solidFill>
                <a:latin typeface="Consolas" panose="020B0609020204030204" pitchFamily="49" charset="0"/>
              </a:rPr>
              <a:t>    if nota &gt; nota_maxima:            </a:t>
            </a:r>
          </a:p>
          <a:p>
            <a:r>
              <a:rPr lang="it-IT" sz="1100" dirty="0">
                <a:solidFill>
                  <a:schemeClr val="accent4"/>
                </a:solidFill>
                <a:latin typeface="Consolas" panose="020B0609020204030204" pitchFamily="49" charset="0"/>
              </a:rPr>
              <a:t>      nota_maxima = nota        </a:t>
            </a:r>
          </a:p>
          <a:p>
            <a:r>
              <a:rPr lang="it-IT" sz="1100" dirty="0">
                <a:solidFill>
                  <a:schemeClr val="accent4"/>
                </a:solidFill>
                <a:latin typeface="Consolas" panose="020B0609020204030204" pitchFamily="49" charset="0"/>
              </a:rPr>
              <a:t>    if nota &lt; nota_minima:            </a:t>
            </a:r>
          </a:p>
          <a:p>
            <a:r>
              <a:rPr lang="it-IT" sz="1100" dirty="0">
                <a:solidFill>
                  <a:schemeClr val="accent4"/>
                </a:solidFill>
                <a:latin typeface="Consolas" panose="020B0609020204030204" pitchFamily="49" charset="0"/>
              </a:rPr>
              <a:t>      nota_minima = nota</a:t>
            </a:r>
            <a:r>
              <a:rPr lang="es-MX" sz="1100" dirty="0">
                <a:solidFill>
                  <a:srgbClr val="00B050"/>
                </a:solidFill>
                <a:latin typeface="Consolas" panose="020B0609020204030204" pitchFamily="49" charset="0"/>
              </a:rPr>
              <a:t>  </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if</a:t>
            </a:r>
            <a:r>
              <a:rPr lang="es-MX" sz="1100" dirty="0">
                <a:solidFill>
                  <a:srgbClr val="00B050"/>
                </a:solidFill>
                <a:latin typeface="Consolas" panose="020B0609020204030204" pitchFamily="49" charset="0"/>
              </a:rPr>
              <a:t> nota &gt;= NOTA_MINIMA:</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notas_aprobadas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notas_aprobadas</a:t>
            </a:r>
            <a:r>
              <a:rPr lang="es-MX" sz="1100" dirty="0">
                <a:solidFill>
                  <a:srgbClr val="00B050"/>
                </a:solidFill>
                <a:latin typeface="Consolas" panose="020B0609020204030204" pitchFamily="49" charset="0"/>
              </a:rPr>
              <a:t> + 1</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suma_aprobadas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suma_aprobadas</a:t>
            </a:r>
            <a:r>
              <a:rPr lang="es-MX" sz="1100" dirty="0">
                <a:solidFill>
                  <a:srgbClr val="00B050"/>
                </a:solidFill>
                <a:latin typeface="Consolas" panose="020B0609020204030204" pitchFamily="49" charset="0"/>
              </a:rPr>
              <a:t> + nota</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else</a:t>
            </a:r>
            <a:r>
              <a:rPr lang="es-MX" sz="1100" dirty="0">
                <a:solidFill>
                  <a:srgbClr val="00B050"/>
                </a:solidFill>
                <a:latin typeface="Consolas" panose="020B0609020204030204" pitchFamily="49" charset="0"/>
              </a:rPr>
              <a:t>:</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notas_reprobadas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notas_reprobadas</a:t>
            </a:r>
            <a:r>
              <a:rPr lang="es-MX" sz="1100" dirty="0">
                <a:solidFill>
                  <a:srgbClr val="00B050"/>
                </a:solidFill>
                <a:latin typeface="Consolas" panose="020B0609020204030204" pitchFamily="49" charset="0"/>
              </a:rPr>
              <a:t> + 1</a:t>
            </a:r>
          </a:p>
          <a:p>
            <a:r>
              <a:rPr lang="es-MX" sz="1100" dirty="0">
                <a:solidFill>
                  <a:srgbClr val="00B050"/>
                </a:solidFill>
                <a:latin typeface="Consolas" panose="020B0609020204030204" pitchFamily="49" charset="0"/>
              </a:rPr>
              <a:t>    </a:t>
            </a:r>
            <a:r>
              <a:rPr lang="es-MX" sz="1100" dirty="0" err="1">
                <a:solidFill>
                  <a:srgbClr val="00B050"/>
                </a:solidFill>
                <a:latin typeface="Consolas" panose="020B0609020204030204" pitchFamily="49" charset="0"/>
              </a:rPr>
              <a:t>suma_reprobadas</a:t>
            </a:r>
            <a:r>
              <a:rPr lang="es-MX" sz="1100" dirty="0">
                <a:solidFill>
                  <a:srgbClr val="00B050"/>
                </a:solidFill>
                <a:latin typeface="Consolas" panose="020B0609020204030204" pitchFamily="49" charset="0"/>
              </a:rPr>
              <a:t> = </a:t>
            </a:r>
            <a:r>
              <a:rPr lang="es-MX" sz="1100" dirty="0" err="1">
                <a:solidFill>
                  <a:srgbClr val="00B050"/>
                </a:solidFill>
                <a:latin typeface="Consolas" panose="020B0609020204030204" pitchFamily="49" charset="0"/>
              </a:rPr>
              <a:t>suma_reprobadas</a:t>
            </a:r>
            <a:r>
              <a:rPr lang="es-MX" sz="1100" dirty="0">
                <a:solidFill>
                  <a:srgbClr val="00B050"/>
                </a:solidFill>
                <a:latin typeface="Consolas" panose="020B0609020204030204" pitchFamily="49" charset="0"/>
              </a:rPr>
              <a:t> + nota</a:t>
            </a:r>
          </a:p>
          <a:p>
            <a:r>
              <a:rPr lang="es-MX" sz="1100" dirty="0">
                <a:latin typeface="Consolas" panose="020B0609020204030204" pitchFamily="49" charset="0"/>
              </a:rPr>
              <a:t>  </a:t>
            </a:r>
          </a:p>
          <a:p>
            <a:r>
              <a:rPr lang="es-MX" sz="1100" dirty="0" err="1">
                <a:latin typeface="Consolas" panose="020B0609020204030204" pitchFamily="49" charset="0"/>
              </a:rPr>
              <a:t>suma_notas</a:t>
            </a:r>
            <a:r>
              <a:rPr lang="es-MX" sz="1100" dirty="0">
                <a:latin typeface="Consolas" panose="020B0609020204030204" pitchFamily="49" charset="0"/>
              </a:rPr>
              <a:t> = </a:t>
            </a:r>
            <a:r>
              <a:rPr lang="es-MX" sz="1100" dirty="0" err="1">
                <a:latin typeface="Consolas" panose="020B0609020204030204" pitchFamily="49" charset="0"/>
              </a:rPr>
              <a:t>suma_reprobadas</a:t>
            </a:r>
            <a:r>
              <a:rPr lang="es-MX" sz="1100" dirty="0">
                <a:latin typeface="Consolas" panose="020B0609020204030204" pitchFamily="49" charset="0"/>
              </a:rPr>
              <a:t> + </a:t>
            </a:r>
            <a:r>
              <a:rPr lang="es-MX" sz="1100" dirty="0" err="1">
                <a:latin typeface="Consolas" panose="020B0609020204030204" pitchFamily="49" charset="0"/>
              </a:rPr>
              <a:t>suma_aprobadas</a:t>
            </a:r>
            <a:endParaRPr lang="es-MX" sz="1100" dirty="0">
              <a:latin typeface="Consolas" panose="020B0609020204030204" pitchFamily="49" charset="0"/>
            </a:endParaRPr>
          </a:p>
          <a:p>
            <a:r>
              <a:rPr lang="es-MX" sz="1100" dirty="0" err="1">
                <a:latin typeface="Consolas" panose="020B0609020204030204" pitchFamily="49" charset="0"/>
              </a:rPr>
              <a:t>total_notas</a:t>
            </a:r>
            <a:r>
              <a:rPr lang="es-MX" sz="1100" dirty="0">
                <a:latin typeface="Consolas" panose="020B0609020204030204" pitchFamily="49" charset="0"/>
              </a:rPr>
              <a:t> = </a:t>
            </a:r>
            <a:r>
              <a:rPr lang="es-MX" sz="1100" dirty="0" err="1">
                <a:latin typeface="Consolas" panose="020B0609020204030204" pitchFamily="49" charset="0"/>
              </a:rPr>
              <a:t>notas_aprobadas</a:t>
            </a:r>
            <a:r>
              <a:rPr lang="es-MX" sz="1100" dirty="0">
                <a:latin typeface="Consolas" panose="020B0609020204030204" pitchFamily="49" charset="0"/>
              </a:rPr>
              <a:t> + </a:t>
            </a:r>
            <a:r>
              <a:rPr lang="es-MX" sz="1100" dirty="0" err="1">
                <a:latin typeface="Consolas" panose="020B0609020204030204" pitchFamily="49" charset="0"/>
              </a:rPr>
              <a:t>notas_reprobadas</a:t>
            </a:r>
            <a:endParaRPr lang="es-MX" sz="1100" dirty="0">
              <a:latin typeface="Consolas" panose="020B0609020204030204" pitchFamily="49" charset="0"/>
            </a:endParaRPr>
          </a:p>
          <a:p>
            <a:r>
              <a:rPr lang="es-MX" sz="1100" dirty="0">
                <a:latin typeface="Consolas" panose="020B0609020204030204" pitchFamily="49" charset="0"/>
              </a:rPr>
              <a:t>  ...</a:t>
            </a:r>
            <a:endParaRPr lang="es-CO" sz="1100" dirty="0">
              <a:solidFill>
                <a:srgbClr val="C00000"/>
              </a:solidFill>
              <a:latin typeface="Consolas" panose="020B0609020204030204" pitchFamily="49" charset="0"/>
            </a:endParaRPr>
          </a:p>
        </p:txBody>
      </p:sp>
    </p:spTree>
    <p:extLst>
      <p:ext uri="{BB962C8B-B14F-4D97-AF65-F5344CB8AC3E}">
        <p14:creationId xmlns:p14="http://schemas.microsoft.com/office/powerpoint/2010/main" val="42038432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79512" y="134971"/>
            <a:ext cx="8701428" cy="773749"/>
          </a:xfrm>
        </p:spPr>
        <p:txBody>
          <a:bodyPr>
            <a:normAutofit/>
          </a:bodyPr>
          <a:lstStyle/>
          <a:p>
            <a:r>
              <a:rPr lang="es-MX" dirty="0"/>
              <a:t>Contextualización</a:t>
            </a:r>
            <a:endParaRPr lang="en-US" dirty="0"/>
          </a:p>
        </p:txBody>
      </p:sp>
      <p:sp>
        <p:nvSpPr>
          <p:cNvPr id="23" name="12 Rectángulo">
            <a:extLst>
              <a:ext uri="{FF2B5EF4-FFF2-40B4-BE49-F238E27FC236}">
                <a16:creationId xmlns:a16="http://schemas.microsoft.com/office/drawing/2014/main" id="{7789A76E-CF65-4031-95FC-AF6BE5FC3D10}"/>
              </a:ext>
            </a:extLst>
          </p:cNvPr>
          <p:cNvSpPr/>
          <p:nvPr/>
        </p:nvSpPr>
        <p:spPr>
          <a:xfrm>
            <a:off x="221286" y="948784"/>
            <a:ext cx="8671194" cy="3416320"/>
          </a:xfrm>
          <a:prstGeom prst="rect">
            <a:avLst/>
          </a:prstGeom>
        </p:spPr>
        <p:txBody>
          <a:bodyPr wrap="square">
            <a:spAutoFit/>
          </a:bodyPr>
          <a:lstStyle/>
          <a:p>
            <a:pPr marL="285750" indent="-285750">
              <a:buFont typeface="Arial" panose="020B0604020202020204" pitchFamily="34" charset="0"/>
              <a:buChar char="•"/>
            </a:pPr>
            <a:r>
              <a:rPr lang="es-MX" sz="1800" b="0" i="0" u="none" strike="noStrike" baseline="0" dirty="0"/>
              <a:t>En el Ejemplo anterior se asumió que todas las notas ingresadas son válidas (están dentro del rango permitido).</a:t>
            </a:r>
          </a:p>
          <a:p>
            <a:pPr marL="285750" indent="-285750">
              <a:buFont typeface="Arial" panose="020B0604020202020204" pitchFamily="34" charset="0"/>
              <a:buChar char="•"/>
            </a:pPr>
            <a:r>
              <a:rPr lang="es-MX" sz="1800" b="0" i="0" u="none" strike="noStrike" baseline="0" dirty="0"/>
              <a:t>¿Qué pasa si el usuario digita una nota fuera de rango, por ejemplo -1.0 o 6.0?</a:t>
            </a:r>
          </a:p>
          <a:p>
            <a:pPr marL="285750" indent="-285750">
              <a:buFont typeface="Arial" panose="020B0604020202020204" pitchFamily="34" charset="0"/>
              <a:buChar char="•"/>
            </a:pPr>
            <a:r>
              <a:rPr lang="es-MX" sz="1800" b="0" i="0" u="none" strike="noStrike" baseline="0" dirty="0"/>
              <a:t>Recordemos que en la clase anterior vimos cómo terminar un ciclo por completo antes de que se cumpla su condición natural, usando </a:t>
            </a:r>
            <a:r>
              <a:rPr lang="es-MX" sz="1800" b="1" i="0" u="none" strike="noStrike" baseline="0" dirty="0"/>
              <a:t>Romper</a:t>
            </a:r>
            <a:r>
              <a:rPr lang="es-MX" sz="1800" b="0" i="0" u="none" strike="noStrike" baseline="0" dirty="0"/>
              <a:t> (</a:t>
            </a:r>
            <a:r>
              <a:rPr lang="es-MX" sz="1600" b="1" i="0" u="none" strike="noStrike" baseline="0" dirty="0">
                <a:solidFill>
                  <a:srgbClr val="C00000"/>
                </a:solidFill>
                <a:latin typeface="Consolas" panose="020B0609020204030204" pitchFamily="49" charset="0"/>
              </a:rPr>
              <a:t>break</a:t>
            </a:r>
            <a:r>
              <a:rPr lang="es-MX" sz="1800" b="0" i="0" u="none" strike="noStrike" baseline="0" dirty="0"/>
              <a:t>).</a:t>
            </a:r>
          </a:p>
          <a:p>
            <a:pPr marL="285750" indent="-285750">
              <a:buFont typeface="Arial" panose="020B0604020202020204" pitchFamily="34" charset="0"/>
              <a:buChar char="•"/>
            </a:pPr>
            <a:r>
              <a:rPr lang="es-MX" sz="1800" b="0" i="0" u="none" strike="noStrike" baseline="0" dirty="0"/>
              <a:t>Ahora bien, no siempre queremos salir del ciclo por completo: a veces solo queremos ignorar el dato actual y seguir con el siguiente, sin detener todo el proceso.</a:t>
            </a:r>
          </a:p>
          <a:p>
            <a:pPr marL="285750" indent="-285750">
              <a:buFont typeface="Arial" panose="020B0604020202020204" pitchFamily="34" charset="0"/>
              <a:buChar char="•"/>
            </a:pPr>
            <a:r>
              <a:rPr lang="es-MX" sz="1800" b="0" i="0" u="none" strike="noStrike" baseline="0" dirty="0"/>
              <a:t>Para esto existe una instrucción que salta el resto del cuerpo del ciclo en la iteración actual, sin salir de él: </a:t>
            </a:r>
            <a:r>
              <a:rPr lang="es-MX" sz="1600" b="1" i="0" u="none" strike="noStrike" baseline="0" dirty="0">
                <a:solidFill>
                  <a:srgbClr val="C00000"/>
                </a:solidFill>
                <a:latin typeface="Consolas" panose="020B0609020204030204" pitchFamily="49" charset="0"/>
              </a:rPr>
              <a:t>continue</a:t>
            </a:r>
            <a:r>
              <a:rPr lang="es-MX" sz="1800" b="0" i="0" u="none" strike="noStrike" baseline="0" dirty="0"/>
              <a:t>.</a:t>
            </a:r>
          </a:p>
          <a:p>
            <a:pPr marL="285750" indent="-285750">
              <a:buFont typeface="Arial" panose="020B0604020202020204" pitchFamily="34" charset="0"/>
              <a:buChar char="•"/>
            </a:pPr>
            <a:r>
              <a:rPr lang="es-MX" sz="1800" b="1" i="0" u="none" strike="noStrike" baseline="0" dirty="0"/>
              <a:t>Diferencia clave</a:t>
            </a:r>
            <a:r>
              <a:rPr lang="es-MX" sz="1800" b="0" i="0" u="none" strike="noStrike" baseline="0" dirty="0"/>
              <a:t>: </a:t>
            </a:r>
          </a:p>
          <a:p>
            <a:pPr marL="742950" lvl="1" indent="-285750">
              <a:buFont typeface="Arial" panose="020B0604020202020204" pitchFamily="34" charset="0"/>
              <a:buChar char="•"/>
            </a:pPr>
            <a:r>
              <a:rPr lang="es-MX" b="1" i="0" u="none" strike="noStrike" baseline="0" dirty="0"/>
              <a:t>Romper: </a:t>
            </a:r>
            <a:r>
              <a:rPr lang="es-MX" sz="1600" b="1" i="0" u="none" strike="noStrike" baseline="0" dirty="0">
                <a:solidFill>
                  <a:srgbClr val="C00000"/>
                </a:solidFill>
                <a:latin typeface="Consolas" panose="020B0609020204030204" pitchFamily="49" charset="0"/>
              </a:rPr>
              <a:t>break</a:t>
            </a:r>
            <a:r>
              <a:rPr lang="es-MX" b="0" i="0" u="none" strike="noStrike" baseline="0" dirty="0"/>
              <a:t> termina el ciclo por completo</a:t>
            </a:r>
          </a:p>
          <a:p>
            <a:pPr marL="742950" lvl="1" indent="-285750">
              <a:buFont typeface="Arial" panose="020B0604020202020204" pitchFamily="34" charset="0"/>
              <a:buChar char="•"/>
            </a:pPr>
            <a:r>
              <a:rPr lang="es-MX" b="1" i="0" u="none" strike="noStrike" baseline="0" dirty="0"/>
              <a:t>Continuar: </a:t>
            </a:r>
            <a:r>
              <a:rPr lang="es-MX" sz="1600" b="1" i="0" u="none" strike="noStrike" baseline="0" dirty="0">
                <a:solidFill>
                  <a:srgbClr val="C00000"/>
                </a:solidFill>
                <a:latin typeface="Consolas" panose="020B0609020204030204" pitchFamily="49" charset="0"/>
              </a:rPr>
              <a:t>continue</a:t>
            </a:r>
            <a:r>
              <a:rPr lang="es-MX" b="0" i="0" u="none" strike="noStrike" baseline="0" dirty="0"/>
              <a:t> solo termina la iteración actual y sigue con la siguiente.</a:t>
            </a:r>
          </a:p>
        </p:txBody>
      </p:sp>
      <p:sp>
        <p:nvSpPr>
          <p:cNvPr id="4" name="CuadroTexto 3">
            <a:extLst>
              <a:ext uri="{FF2B5EF4-FFF2-40B4-BE49-F238E27FC236}">
                <a16:creationId xmlns:a16="http://schemas.microsoft.com/office/drawing/2014/main" id="{D0FAF317-9959-4EB1-B8E9-B7733EF086C6}"/>
              </a:ext>
            </a:extLst>
          </p:cNvPr>
          <p:cNvSpPr txBox="1"/>
          <p:nvPr/>
        </p:nvSpPr>
        <p:spPr>
          <a:xfrm>
            <a:off x="395534" y="4842597"/>
            <a:ext cx="4104456" cy="1754326"/>
          </a:xfrm>
          <a:prstGeom prst="rect">
            <a:avLst/>
          </a:prstGeom>
          <a:noFill/>
          <a:ln>
            <a:solidFill>
              <a:schemeClr val="tx1"/>
            </a:solidFill>
          </a:ln>
        </p:spPr>
        <p:txBody>
          <a:bodyPr wrap="square">
            <a:spAutoFit/>
          </a:bodyPr>
          <a:lstStyle/>
          <a:p>
            <a:r>
              <a:rPr lang="es-CO" sz="1200" dirty="0">
                <a:latin typeface="Consolas" panose="020B0609020204030204" pitchFamily="49" charset="0"/>
              </a:rPr>
              <a:t>i = 0</a:t>
            </a:r>
          </a:p>
          <a:p>
            <a:r>
              <a:rPr lang="es-CO" sz="1200" dirty="0">
                <a:latin typeface="Consolas" panose="020B0609020204030204" pitchFamily="49" charset="0"/>
              </a:rPr>
              <a:t>NUM_FINAL = 10</a:t>
            </a:r>
          </a:p>
          <a:p>
            <a:r>
              <a:rPr lang="es-CO" sz="1200" dirty="0" err="1">
                <a:latin typeface="Consolas" panose="020B0609020204030204" pitchFamily="49" charset="0"/>
              </a:rPr>
              <a:t>print</a:t>
            </a:r>
            <a:r>
              <a:rPr lang="es-CO" sz="1200" dirty="0">
                <a:latin typeface="Consolas" panose="020B0609020204030204" pitchFamily="49" charset="0"/>
              </a:rPr>
              <a:t>("----------------")</a:t>
            </a:r>
          </a:p>
          <a:p>
            <a:r>
              <a:rPr lang="es-CO" sz="1200" dirty="0" err="1">
                <a:latin typeface="Consolas" panose="020B0609020204030204" pitchFamily="49" charset="0"/>
              </a:rPr>
              <a:t>while</a:t>
            </a:r>
            <a:r>
              <a:rPr lang="es-CO" sz="1200" dirty="0">
                <a:latin typeface="Consolas" panose="020B0609020204030204" pitchFamily="49" charset="0"/>
              </a:rPr>
              <a:t> i &lt; NUM_FINAL:</a:t>
            </a:r>
          </a:p>
          <a:p>
            <a:r>
              <a:rPr lang="es-CO" sz="1200" dirty="0">
                <a:latin typeface="Consolas" panose="020B0609020204030204" pitchFamily="49" charset="0"/>
              </a:rPr>
              <a:t>  i += 1 </a:t>
            </a:r>
          </a:p>
          <a:p>
            <a:r>
              <a:rPr lang="es-CO" sz="1200" dirty="0">
                <a:latin typeface="Consolas" panose="020B0609020204030204" pitchFamily="49" charset="0"/>
              </a:rPr>
              <a:t>  </a:t>
            </a:r>
            <a:r>
              <a:rPr lang="es-CO" sz="1200" dirty="0" err="1">
                <a:latin typeface="Consolas" panose="020B0609020204030204" pitchFamily="49" charset="0"/>
              </a:rPr>
              <a:t>if</a:t>
            </a:r>
            <a:r>
              <a:rPr lang="es-CO" sz="1200" dirty="0">
                <a:latin typeface="Consolas" panose="020B0609020204030204" pitchFamily="49" charset="0"/>
              </a:rPr>
              <a:t> (i &gt;= 4) and (i &lt;= 7):</a:t>
            </a:r>
          </a:p>
          <a:p>
            <a:r>
              <a:rPr lang="es-CO" sz="1200" dirty="0">
                <a:solidFill>
                  <a:srgbClr val="FF0000"/>
                </a:solidFill>
                <a:latin typeface="Consolas" panose="020B0609020204030204" pitchFamily="49" charset="0"/>
              </a:rPr>
              <a:t>    break</a:t>
            </a:r>
          </a:p>
          <a:p>
            <a:r>
              <a:rPr lang="es-CO" sz="1200" dirty="0">
                <a:solidFill>
                  <a:srgbClr val="FF0000"/>
                </a:solidFill>
                <a:latin typeface="Consolas" panose="020B0609020204030204" pitchFamily="49" charset="0"/>
              </a:rPr>
              <a:t>  </a:t>
            </a:r>
            <a:r>
              <a:rPr lang="es-CO" sz="1200" dirty="0" err="1">
                <a:latin typeface="Consolas" panose="020B0609020204030204" pitchFamily="49" charset="0"/>
              </a:rPr>
              <a:t>print</a:t>
            </a:r>
            <a:r>
              <a:rPr lang="es-CO" sz="1200" dirty="0">
                <a:latin typeface="Consolas" panose="020B0609020204030204" pitchFamily="49" charset="0"/>
              </a:rPr>
              <a:t>("i = " + </a:t>
            </a:r>
            <a:r>
              <a:rPr lang="es-CO" sz="1200" dirty="0" err="1">
                <a:latin typeface="Consolas" panose="020B0609020204030204" pitchFamily="49" charset="0"/>
              </a:rPr>
              <a:t>str</a:t>
            </a:r>
            <a:r>
              <a:rPr lang="es-CO" sz="1200" dirty="0">
                <a:latin typeface="Consolas" panose="020B0609020204030204" pitchFamily="49" charset="0"/>
              </a:rPr>
              <a:t>(i))</a:t>
            </a:r>
          </a:p>
          <a:p>
            <a:r>
              <a:rPr lang="es-CO" sz="1200" dirty="0" err="1">
                <a:latin typeface="Consolas" panose="020B0609020204030204" pitchFamily="49" charset="0"/>
              </a:rPr>
              <a:t>print</a:t>
            </a:r>
            <a:r>
              <a:rPr lang="es-CO" sz="1200" dirty="0">
                <a:latin typeface="Consolas" panose="020B0609020204030204" pitchFamily="49" charset="0"/>
              </a:rPr>
              <a:t>("----------------")</a:t>
            </a:r>
          </a:p>
        </p:txBody>
      </p:sp>
      <p:sp>
        <p:nvSpPr>
          <p:cNvPr id="6" name="CuadroTexto 5">
            <a:extLst>
              <a:ext uri="{FF2B5EF4-FFF2-40B4-BE49-F238E27FC236}">
                <a16:creationId xmlns:a16="http://schemas.microsoft.com/office/drawing/2014/main" id="{867A9D60-B421-4011-9542-4D648A210952}"/>
              </a:ext>
            </a:extLst>
          </p:cNvPr>
          <p:cNvSpPr txBox="1"/>
          <p:nvPr/>
        </p:nvSpPr>
        <p:spPr>
          <a:xfrm>
            <a:off x="4809129" y="4842597"/>
            <a:ext cx="4104456" cy="1754326"/>
          </a:xfrm>
          <a:prstGeom prst="rect">
            <a:avLst/>
          </a:prstGeom>
          <a:noFill/>
          <a:ln>
            <a:solidFill>
              <a:schemeClr val="tx1"/>
            </a:solidFill>
          </a:ln>
        </p:spPr>
        <p:txBody>
          <a:bodyPr wrap="square">
            <a:spAutoFit/>
          </a:bodyPr>
          <a:lstStyle/>
          <a:p>
            <a:r>
              <a:rPr lang="es-CO" sz="1200" dirty="0">
                <a:latin typeface="Consolas" panose="020B0609020204030204" pitchFamily="49" charset="0"/>
              </a:rPr>
              <a:t>i = 0</a:t>
            </a:r>
          </a:p>
          <a:p>
            <a:r>
              <a:rPr lang="es-CO" sz="1200" dirty="0">
                <a:latin typeface="Consolas" panose="020B0609020204030204" pitchFamily="49" charset="0"/>
              </a:rPr>
              <a:t>NUM_FINAL = 10</a:t>
            </a:r>
          </a:p>
          <a:p>
            <a:r>
              <a:rPr lang="es-CO" sz="1200" dirty="0" err="1">
                <a:latin typeface="Consolas" panose="020B0609020204030204" pitchFamily="49" charset="0"/>
              </a:rPr>
              <a:t>print</a:t>
            </a:r>
            <a:r>
              <a:rPr lang="es-CO" sz="1200" dirty="0">
                <a:latin typeface="Consolas" panose="020B0609020204030204" pitchFamily="49" charset="0"/>
              </a:rPr>
              <a:t>("----------------")</a:t>
            </a:r>
          </a:p>
          <a:p>
            <a:r>
              <a:rPr lang="es-CO" sz="1200" dirty="0" err="1">
                <a:latin typeface="Consolas" panose="020B0609020204030204" pitchFamily="49" charset="0"/>
              </a:rPr>
              <a:t>while</a:t>
            </a:r>
            <a:r>
              <a:rPr lang="es-CO" sz="1200" dirty="0">
                <a:latin typeface="Consolas" panose="020B0609020204030204" pitchFamily="49" charset="0"/>
              </a:rPr>
              <a:t> i &lt; NUM_FINAL:</a:t>
            </a:r>
          </a:p>
          <a:p>
            <a:r>
              <a:rPr lang="es-CO" sz="1200" dirty="0">
                <a:latin typeface="Consolas" panose="020B0609020204030204" pitchFamily="49" charset="0"/>
              </a:rPr>
              <a:t>  i += 1    </a:t>
            </a:r>
          </a:p>
          <a:p>
            <a:r>
              <a:rPr lang="es-CO" sz="1200" dirty="0">
                <a:latin typeface="Consolas" panose="020B0609020204030204" pitchFamily="49" charset="0"/>
              </a:rPr>
              <a:t>  </a:t>
            </a:r>
            <a:r>
              <a:rPr lang="es-CO" sz="1200" dirty="0" err="1">
                <a:latin typeface="Consolas" panose="020B0609020204030204" pitchFamily="49" charset="0"/>
              </a:rPr>
              <a:t>if</a:t>
            </a:r>
            <a:r>
              <a:rPr lang="es-CO" sz="1200" dirty="0">
                <a:latin typeface="Consolas" panose="020B0609020204030204" pitchFamily="49" charset="0"/>
              </a:rPr>
              <a:t> (i &gt;= 4) and (i &lt;= 7):</a:t>
            </a:r>
          </a:p>
          <a:p>
            <a:r>
              <a:rPr lang="es-CO" sz="1200" dirty="0">
                <a:latin typeface="Consolas" panose="020B0609020204030204" pitchFamily="49" charset="0"/>
              </a:rPr>
              <a:t>     </a:t>
            </a:r>
            <a:r>
              <a:rPr lang="es-CO" sz="1200" dirty="0" err="1">
                <a:solidFill>
                  <a:srgbClr val="FF0000"/>
                </a:solidFill>
                <a:latin typeface="Consolas" panose="020B0609020204030204" pitchFamily="49" charset="0"/>
              </a:rPr>
              <a:t>continue</a:t>
            </a:r>
            <a:endParaRPr lang="es-CO" sz="1200" dirty="0">
              <a:solidFill>
                <a:srgbClr val="FF0000"/>
              </a:solidFill>
              <a:latin typeface="Consolas" panose="020B0609020204030204" pitchFamily="49" charset="0"/>
            </a:endParaRPr>
          </a:p>
          <a:p>
            <a:r>
              <a:rPr lang="es-CO" sz="1200" dirty="0">
                <a:latin typeface="Consolas" panose="020B0609020204030204" pitchFamily="49" charset="0"/>
              </a:rPr>
              <a:t>  </a:t>
            </a:r>
            <a:r>
              <a:rPr lang="es-CO" sz="1200" dirty="0" err="1">
                <a:latin typeface="Consolas" panose="020B0609020204030204" pitchFamily="49" charset="0"/>
              </a:rPr>
              <a:t>print</a:t>
            </a:r>
            <a:r>
              <a:rPr lang="es-CO" sz="1200" dirty="0">
                <a:latin typeface="Consolas" panose="020B0609020204030204" pitchFamily="49" charset="0"/>
              </a:rPr>
              <a:t>("i = " + </a:t>
            </a:r>
            <a:r>
              <a:rPr lang="es-CO" sz="1200" dirty="0" err="1">
                <a:latin typeface="Consolas" panose="020B0609020204030204" pitchFamily="49" charset="0"/>
              </a:rPr>
              <a:t>str</a:t>
            </a:r>
            <a:r>
              <a:rPr lang="es-CO" sz="1200" dirty="0">
                <a:latin typeface="Consolas" panose="020B0609020204030204" pitchFamily="49" charset="0"/>
              </a:rPr>
              <a:t>(i))</a:t>
            </a:r>
          </a:p>
          <a:p>
            <a:r>
              <a:rPr lang="es-CO" sz="1200" dirty="0" err="1">
                <a:latin typeface="Consolas" panose="020B0609020204030204" pitchFamily="49" charset="0"/>
              </a:rPr>
              <a:t>print</a:t>
            </a:r>
            <a:r>
              <a:rPr lang="es-CO" sz="1200" dirty="0">
                <a:latin typeface="Consolas" panose="020B0609020204030204" pitchFamily="49" charset="0"/>
              </a:rPr>
              <a:t>("----------------")</a:t>
            </a:r>
          </a:p>
        </p:txBody>
      </p:sp>
      <p:sp>
        <p:nvSpPr>
          <p:cNvPr id="2" name="CuadroTexto 1">
            <a:extLst>
              <a:ext uri="{FF2B5EF4-FFF2-40B4-BE49-F238E27FC236}">
                <a16:creationId xmlns:a16="http://schemas.microsoft.com/office/drawing/2014/main" id="{E69098F6-2E96-411E-A4DA-E62475F733D8}"/>
              </a:ext>
            </a:extLst>
          </p:cNvPr>
          <p:cNvSpPr txBox="1"/>
          <p:nvPr/>
        </p:nvSpPr>
        <p:spPr>
          <a:xfrm flipH="1">
            <a:off x="1043605" y="4497294"/>
            <a:ext cx="2592289" cy="369332"/>
          </a:xfrm>
          <a:prstGeom prst="rect">
            <a:avLst/>
          </a:prstGeom>
          <a:noFill/>
        </p:spPr>
        <p:txBody>
          <a:bodyPr wrap="square" rtlCol="0">
            <a:spAutoFit/>
          </a:bodyPr>
          <a:lstStyle/>
          <a:p>
            <a:pPr algn="ctr"/>
            <a:r>
              <a:rPr lang="es-CO" b="1" dirty="0"/>
              <a:t>Caso break</a:t>
            </a:r>
          </a:p>
        </p:txBody>
      </p:sp>
      <p:sp>
        <p:nvSpPr>
          <p:cNvPr id="7" name="CuadroTexto 6">
            <a:extLst>
              <a:ext uri="{FF2B5EF4-FFF2-40B4-BE49-F238E27FC236}">
                <a16:creationId xmlns:a16="http://schemas.microsoft.com/office/drawing/2014/main" id="{222E647C-45D5-40C7-8D51-E2D58217CA81}"/>
              </a:ext>
            </a:extLst>
          </p:cNvPr>
          <p:cNvSpPr txBox="1"/>
          <p:nvPr/>
        </p:nvSpPr>
        <p:spPr>
          <a:xfrm flipH="1">
            <a:off x="5346392" y="4516704"/>
            <a:ext cx="2592289" cy="369332"/>
          </a:xfrm>
          <a:prstGeom prst="rect">
            <a:avLst/>
          </a:prstGeom>
          <a:noFill/>
        </p:spPr>
        <p:txBody>
          <a:bodyPr wrap="square" rtlCol="0">
            <a:spAutoFit/>
          </a:bodyPr>
          <a:lstStyle/>
          <a:p>
            <a:pPr algn="ctr"/>
            <a:r>
              <a:rPr lang="es-CO" b="1" dirty="0"/>
              <a:t>Caso Continue</a:t>
            </a:r>
          </a:p>
        </p:txBody>
      </p:sp>
      <p:sp>
        <p:nvSpPr>
          <p:cNvPr id="8" name="CuadroTexto 7">
            <a:extLst>
              <a:ext uri="{FF2B5EF4-FFF2-40B4-BE49-F238E27FC236}">
                <a16:creationId xmlns:a16="http://schemas.microsoft.com/office/drawing/2014/main" id="{AFCDA2EE-026B-4B81-96ED-20568B449427}"/>
              </a:ext>
            </a:extLst>
          </p:cNvPr>
          <p:cNvSpPr txBox="1"/>
          <p:nvPr/>
        </p:nvSpPr>
        <p:spPr>
          <a:xfrm>
            <a:off x="6067359" y="6619130"/>
            <a:ext cx="1545785" cy="276999"/>
          </a:xfrm>
          <a:prstGeom prst="rect">
            <a:avLst/>
          </a:prstGeom>
          <a:noFill/>
        </p:spPr>
        <p:txBody>
          <a:bodyPr wrap="square" rtlCol="0">
            <a:spAutoFit/>
          </a:bodyPr>
          <a:lstStyle/>
          <a:p>
            <a:pPr algn="ctr"/>
            <a:r>
              <a:rPr lang="es-MX" sz="1200" dirty="0">
                <a:hlinkClick r:id="rId2"/>
              </a:rPr>
              <a:t>Link de ejecución</a:t>
            </a:r>
            <a:endParaRPr lang="es-CO" sz="1200" dirty="0"/>
          </a:p>
        </p:txBody>
      </p:sp>
      <p:sp>
        <p:nvSpPr>
          <p:cNvPr id="9" name="CuadroTexto 8">
            <a:extLst>
              <a:ext uri="{FF2B5EF4-FFF2-40B4-BE49-F238E27FC236}">
                <a16:creationId xmlns:a16="http://schemas.microsoft.com/office/drawing/2014/main" id="{02EF07A2-353C-4071-AFE2-B247FF36450E}"/>
              </a:ext>
            </a:extLst>
          </p:cNvPr>
          <p:cNvSpPr txBox="1"/>
          <p:nvPr/>
        </p:nvSpPr>
        <p:spPr>
          <a:xfrm>
            <a:off x="1674870" y="6575205"/>
            <a:ext cx="1545785" cy="276999"/>
          </a:xfrm>
          <a:prstGeom prst="rect">
            <a:avLst/>
          </a:prstGeom>
          <a:noFill/>
        </p:spPr>
        <p:txBody>
          <a:bodyPr wrap="square" rtlCol="0">
            <a:spAutoFit/>
          </a:bodyPr>
          <a:lstStyle/>
          <a:p>
            <a:pPr algn="ctr"/>
            <a:r>
              <a:rPr lang="es-MX" sz="1200" dirty="0">
                <a:hlinkClick r:id="rId3"/>
              </a:rPr>
              <a:t>Link de ejecución</a:t>
            </a:r>
            <a:endParaRPr lang="es-CO" sz="1200" dirty="0"/>
          </a:p>
        </p:txBody>
      </p:sp>
    </p:spTree>
    <p:extLst>
      <p:ext uri="{BB962C8B-B14F-4D97-AF65-F5344CB8AC3E}">
        <p14:creationId xmlns:p14="http://schemas.microsoft.com/office/powerpoint/2010/main" val="35093593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79512" y="44624"/>
            <a:ext cx="8701428" cy="773749"/>
          </a:xfrm>
        </p:spPr>
        <p:txBody>
          <a:bodyPr>
            <a:normAutofit/>
          </a:bodyPr>
          <a:lstStyle/>
          <a:p>
            <a:r>
              <a:rPr lang="es-MX" dirty="0"/>
              <a:t>Ejemplo 9: Aplicación de continue</a:t>
            </a:r>
            <a:endParaRPr lang="en-US" dirty="0"/>
          </a:p>
        </p:txBody>
      </p:sp>
      <p:sp>
        <p:nvSpPr>
          <p:cNvPr id="4" name="CuadroTexto 3">
            <a:extLst>
              <a:ext uri="{FF2B5EF4-FFF2-40B4-BE49-F238E27FC236}">
                <a16:creationId xmlns:a16="http://schemas.microsoft.com/office/drawing/2014/main" id="{D9D1E809-69E1-4056-AB48-32A197A165C2}"/>
              </a:ext>
            </a:extLst>
          </p:cNvPr>
          <p:cNvSpPr txBox="1"/>
          <p:nvPr/>
        </p:nvSpPr>
        <p:spPr>
          <a:xfrm>
            <a:off x="122882" y="707490"/>
            <a:ext cx="4593134" cy="6070893"/>
          </a:xfrm>
          <a:prstGeom prst="rect">
            <a:avLst/>
          </a:prstGeom>
          <a:noFill/>
          <a:ln>
            <a:solidFill>
              <a:schemeClr val="tx1"/>
            </a:solidFill>
          </a:ln>
        </p:spPr>
        <p:txBody>
          <a:bodyPr wrap="square">
            <a:spAutoFit/>
          </a:bodyPr>
          <a:lstStyle/>
          <a:p>
            <a:r>
              <a:rPr lang="es-MX" sz="1050" dirty="0">
                <a:latin typeface="Consolas" panose="020B0609020204030204" pitchFamily="49" charset="0"/>
              </a:rPr>
              <a:t>Inicio</a:t>
            </a:r>
          </a:p>
          <a:p>
            <a:r>
              <a:rPr lang="es-MX" sz="1050" dirty="0">
                <a:latin typeface="Consolas" panose="020B0609020204030204" pitchFamily="49" charset="0"/>
              </a:rPr>
              <a:t>  NOTA_MINIMA = 3.0</a:t>
            </a:r>
          </a:p>
          <a:p>
            <a:r>
              <a:rPr lang="es-MX" sz="1050" dirty="0">
                <a:latin typeface="Consolas" panose="020B0609020204030204" pitchFamily="49" charset="0"/>
              </a:rPr>
              <a:t>  MINIMO_VALIDO = 0.0</a:t>
            </a:r>
          </a:p>
          <a:p>
            <a:r>
              <a:rPr lang="es-MX" sz="1050" dirty="0">
                <a:latin typeface="Consolas" panose="020B0609020204030204" pitchFamily="49" charset="0"/>
              </a:rPr>
              <a:t>  MAXIMO_VALIDO = 5.0</a:t>
            </a:r>
          </a:p>
          <a:p>
            <a:r>
              <a:rPr lang="es-MX" sz="1050" dirty="0">
                <a:latin typeface="Consolas" panose="020B0609020204030204" pitchFamily="49" charset="0"/>
              </a:rPr>
              <a:t>  </a:t>
            </a:r>
            <a:r>
              <a:rPr lang="es-MX" sz="1050" dirty="0" err="1">
                <a:latin typeface="Consolas" panose="020B0609020204030204" pitchFamily="49" charset="0"/>
              </a:rPr>
              <a:t>notas_reprobadas</a:t>
            </a:r>
            <a:r>
              <a:rPr lang="es-MX" sz="1050" dirty="0">
                <a:latin typeface="Consolas" panose="020B0609020204030204" pitchFamily="49" charset="0"/>
              </a:rPr>
              <a:t> = 0</a:t>
            </a:r>
          </a:p>
          <a:p>
            <a:r>
              <a:rPr lang="es-MX" sz="1050" dirty="0">
                <a:latin typeface="Consolas" panose="020B0609020204030204" pitchFamily="49" charset="0"/>
              </a:rPr>
              <a:t>  </a:t>
            </a:r>
            <a:r>
              <a:rPr lang="es-MX" sz="1050" dirty="0" err="1">
                <a:latin typeface="Consolas" panose="020B0609020204030204" pitchFamily="49" charset="0"/>
              </a:rPr>
              <a:t>notas_aprobadas</a:t>
            </a:r>
            <a:r>
              <a:rPr lang="es-MX" sz="1050" dirty="0">
                <a:latin typeface="Consolas" panose="020B0609020204030204" pitchFamily="49" charset="0"/>
              </a:rPr>
              <a:t> = 0</a:t>
            </a:r>
          </a:p>
          <a:p>
            <a:r>
              <a:rPr lang="es-MX" sz="1050" dirty="0">
                <a:latin typeface="Consolas" panose="020B0609020204030204" pitchFamily="49" charset="0"/>
              </a:rPr>
              <a:t>  </a:t>
            </a:r>
            <a:r>
              <a:rPr lang="es-MX" sz="1050" dirty="0" err="1">
                <a:latin typeface="Consolas" panose="020B0609020204030204" pitchFamily="49" charset="0"/>
              </a:rPr>
              <a:t>suma_reprobadas</a:t>
            </a:r>
            <a:r>
              <a:rPr lang="es-MX" sz="1050" dirty="0">
                <a:latin typeface="Consolas" panose="020B0609020204030204" pitchFamily="49" charset="0"/>
              </a:rPr>
              <a:t> = 0</a:t>
            </a:r>
          </a:p>
          <a:p>
            <a:r>
              <a:rPr lang="es-MX" sz="1050" dirty="0">
                <a:latin typeface="Consolas" panose="020B0609020204030204" pitchFamily="49" charset="0"/>
              </a:rPr>
              <a:t>  </a:t>
            </a:r>
            <a:r>
              <a:rPr lang="es-MX" sz="1050" dirty="0" err="1">
                <a:latin typeface="Consolas" panose="020B0609020204030204" pitchFamily="49" charset="0"/>
              </a:rPr>
              <a:t>suma_aprobadas</a:t>
            </a:r>
            <a:r>
              <a:rPr lang="es-MX" sz="1050" dirty="0">
                <a:latin typeface="Consolas" panose="020B0609020204030204" pitchFamily="49" charset="0"/>
              </a:rPr>
              <a:t> = 0</a:t>
            </a:r>
          </a:p>
          <a:p>
            <a:r>
              <a:rPr lang="es-MX" sz="1050" dirty="0">
                <a:latin typeface="Consolas" panose="020B0609020204030204" pitchFamily="49" charset="0"/>
              </a:rPr>
              <a:t>  </a:t>
            </a:r>
            <a:r>
              <a:rPr lang="es-MX" sz="1050" dirty="0" err="1">
                <a:latin typeface="Consolas" panose="020B0609020204030204" pitchFamily="49" charset="0"/>
              </a:rPr>
              <a:t>notas_validas</a:t>
            </a:r>
            <a:r>
              <a:rPr lang="es-MX" sz="1050" dirty="0">
                <a:latin typeface="Consolas" panose="020B0609020204030204" pitchFamily="49" charset="0"/>
              </a:rPr>
              <a:t> = 0</a:t>
            </a:r>
          </a:p>
          <a:p>
            <a:r>
              <a:rPr lang="es-MX" sz="1050" dirty="0">
                <a:latin typeface="Consolas" panose="020B0609020204030204" pitchFamily="49" charset="0"/>
              </a:rPr>
              <a:t>  Leer(N)</a:t>
            </a:r>
          </a:p>
          <a:p>
            <a:r>
              <a:rPr lang="es-MX" sz="1050" dirty="0">
                <a:solidFill>
                  <a:srgbClr val="C00000"/>
                </a:solidFill>
                <a:latin typeface="Consolas" panose="020B0609020204030204" pitchFamily="49" charset="0"/>
              </a:rPr>
              <a:t>  Para (i = 0,N - 1,1) Haga    </a:t>
            </a:r>
          </a:p>
          <a:p>
            <a:r>
              <a:rPr lang="es-MX" sz="1050" dirty="0">
                <a:solidFill>
                  <a:srgbClr val="C00000"/>
                </a:solidFill>
                <a:latin typeface="Consolas" panose="020B0609020204030204" pitchFamily="49" charset="0"/>
              </a:rPr>
              <a:t>    Leer(nota)</a:t>
            </a:r>
          </a:p>
          <a:p>
            <a:r>
              <a:rPr lang="es-MX" sz="1050" dirty="0">
                <a:latin typeface="Consolas" panose="020B0609020204030204" pitchFamily="49" charset="0"/>
              </a:rPr>
              <a:t>    Si nota &lt; MINIMO_VALIDO </a:t>
            </a:r>
            <a:r>
              <a:rPr lang="es-MX" sz="1050" dirty="0" err="1">
                <a:latin typeface="Consolas" panose="020B0609020204030204" pitchFamily="49" charset="0"/>
              </a:rPr>
              <a:t>or</a:t>
            </a:r>
            <a:r>
              <a:rPr lang="es-MX" sz="1050" dirty="0">
                <a:latin typeface="Consolas" panose="020B0609020204030204" pitchFamily="49" charset="0"/>
              </a:rPr>
              <a:t> nota &gt; MAXIMO_VALIDO Entonces</a:t>
            </a:r>
          </a:p>
          <a:p>
            <a:r>
              <a:rPr lang="es-MX" sz="1050" dirty="0">
                <a:latin typeface="Consolas" panose="020B0609020204030204" pitchFamily="49" charset="0"/>
              </a:rPr>
              <a:t>      Escribir("ERROR: nota fuera de rango")      </a:t>
            </a:r>
          </a:p>
          <a:p>
            <a:r>
              <a:rPr lang="es-MX" sz="1050" dirty="0">
                <a:latin typeface="Consolas" panose="020B0609020204030204" pitchFamily="49" charset="0"/>
              </a:rPr>
              <a:t>      </a:t>
            </a:r>
            <a:r>
              <a:rPr lang="es-MX" sz="1050" dirty="0">
                <a:highlight>
                  <a:srgbClr val="FFFF00"/>
                </a:highlight>
                <a:latin typeface="Consolas" panose="020B0609020204030204" pitchFamily="49" charset="0"/>
              </a:rPr>
              <a:t>Continuar</a:t>
            </a:r>
          </a:p>
          <a:p>
            <a:r>
              <a:rPr lang="es-MX" sz="1050" dirty="0">
                <a:latin typeface="Consolas" panose="020B0609020204030204" pitchFamily="49" charset="0"/>
              </a:rPr>
              <a:t>    </a:t>
            </a:r>
            <a:r>
              <a:rPr lang="es-MX" sz="1050" dirty="0" err="1">
                <a:latin typeface="Consolas" panose="020B0609020204030204" pitchFamily="49" charset="0"/>
              </a:rPr>
              <a:t>Fin_Si</a:t>
            </a:r>
            <a:endParaRPr lang="es-MX" sz="1050" dirty="0">
              <a:latin typeface="Consolas" panose="020B0609020204030204" pitchFamily="49" charset="0"/>
            </a:endParaRPr>
          </a:p>
          <a:p>
            <a:r>
              <a:rPr lang="es-MX" sz="1050" dirty="0">
                <a:solidFill>
                  <a:srgbClr val="C00000"/>
                </a:solidFill>
                <a:latin typeface="Consolas" panose="020B0609020204030204" pitchFamily="49" charset="0"/>
              </a:rPr>
              <a:t>    </a:t>
            </a:r>
            <a:r>
              <a:rPr lang="it-IT" sz="1050" dirty="0">
                <a:solidFill>
                  <a:schemeClr val="accent4"/>
                </a:solidFill>
                <a:latin typeface="Consolas" panose="020B0609020204030204" pitchFamily="49" charset="0"/>
              </a:rPr>
              <a:t>Si notas_validas == 0 Entonces      </a:t>
            </a:r>
          </a:p>
          <a:p>
            <a:r>
              <a:rPr lang="it-IT" sz="1050" dirty="0">
                <a:solidFill>
                  <a:schemeClr val="accent4"/>
                </a:solidFill>
                <a:latin typeface="Consolas" panose="020B0609020204030204" pitchFamily="49" charset="0"/>
              </a:rPr>
              <a:t>      nota_maxima = nota      </a:t>
            </a:r>
          </a:p>
          <a:p>
            <a:r>
              <a:rPr lang="it-IT" sz="1050" dirty="0">
                <a:solidFill>
                  <a:schemeClr val="accent4"/>
                </a:solidFill>
                <a:latin typeface="Consolas" panose="020B0609020204030204" pitchFamily="49" charset="0"/>
              </a:rPr>
              <a:t>      nota_minima = nota    </a:t>
            </a:r>
          </a:p>
          <a:p>
            <a:r>
              <a:rPr lang="it-IT" sz="1050" dirty="0">
                <a:solidFill>
                  <a:schemeClr val="accent4"/>
                </a:solidFill>
                <a:latin typeface="Consolas" panose="020B0609020204030204" pitchFamily="49" charset="0"/>
              </a:rPr>
              <a:t>    Sino      </a:t>
            </a:r>
          </a:p>
          <a:p>
            <a:r>
              <a:rPr lang="it-IT" sz="1050" dirty="0">
                <a:solidFill>
                  <a:schemeClr val="accent4"/>
                </a:solidFill>
                <a:latin typeface="Consolas" panose="020B0609020204030204" pitchFamily="49" charset="0"/>
              </a:rPr>
              <a:t>      Si nota &gt; nota_maxima Entonces        </a:t>
            </a:r>
          </a:p>
          <a:p>
            <a:r>
              <a:rPr lang="it-IT" sz="1050" dirty="0">
                <a:solidFill>
                  <a:schemeClr val="accent4"/>
                </a:solidFill>
                <a:latin typeface="Consolas" panose="020B0609020204030204" pitchFamily="49" charset="0"/>
              </a:rPr>
              <a:t>        nota_maxima = nota      </a:t>
            </a:r>
          </a:p>
          <a:p>
            <a:r>
              <a:rPr lang="it-IT" sz="1050" dirty="0">
                <a:solidFill>
                  <a:schemeClr val="accent4"/>
                </a:solidFill>
                <a:latin typeface="Consolas" panose="020B0609020204030204" pitchFamily="49" charset="0"/>
              </a:rPr>
              <a:t>      Fin_Si      </a:t>
            </a:r>
          </a:p>
          <a:p>
            <a:r>
              <a:rPr lang="it-IT" sz="1050" dirty="0">
                <a:solidFill>
                  <a:schemeClr val="accent4"/>
                </a:solidFill>
                <a:latin typeface="Consolas" panose="020B0609020204030204" pitchFamily="49" charset="0"/>
              </a:rPr>
              <a:t>      Si nota &lt; nota_minima Entonces        </a:t>
            </a:r>
          </a:p>
          <a:p>
            <a:r>
              <a:rPr lang="it-IT" sz="1050" dirty="0">
                <a:solidFill>
                  <a:schemeClr val="accent4"/>
                </a:solidFill>
                <a:latin typeface="Consolas" panose="020B0609020204030204" pitchFamily="49" charset="0"/>
              </a:rPr>
              <a:t>        nota_minima = nota      </a:t>
            </a:r>
          </a:p>
          <a:p>
            <a:r>
              <a:rPr lang="it-IT" sz="1050" dirty="0">
                <a:solidFill>
                  <a:schemeClr val="accent4"/>
                </a:solidFill>
                <a:latin typeface="Consolas" panose="020B0609020204030204" pitchFamily="49" charset="0"/>
              </a:rPr>
              <a:t>      Fin_Si    </a:t>
            </a:r>
          </a:p>
          <a:p>
            <a:r>
              <a:rPr lang="it-IT" sz="1050" dirty="0">
                <a:solidFill>
                  <a:schemeClr val="accent4"/>
                </a:solidFill>
                <a:latin typeface="Consolas" panose="020B0609020204030204" pitchFamily="49" charset="0"/>
              </a:rPr>
              <a:t>    Fin_Si</a:t>
            </a:r>
            <a:r>
              <a:rPr lang="es-MX" sz="1050" dirty="0">
                <a:solidFill>
                  <a:srgbClr val="00B050"/>
                </a:solidFill>
                <a:latin typeface="Consolas" panose="020B0609020204030204" pitchFamily="49" charset="0"/>
              </a:rPr>
              <a:t>  </a:t>
            </a:r>
          </a:p>
          <a:p>
            <a:r>
              <a:rPr lang="es-MX" sz="1050" dirty="0">
                <a:latin typeface="Consolas" panose="020B0609020204030204" pitchFamily="49" charset="0"/>
              </a:rPr>
              <a:t>    </a:t>
            </a:r>
            <a:r>
              <a:rPr lang="es-MX" sz="1050" dirty="0" err="1">
                <a:latin typeface="Consolas" panose="020B0609020204030204" pitchFamily="49" charset="0"/>
              </a:rPr>
              <a:t>notas_validas</a:t>
            </a:r>
            <a:r>
              <a:rPr lang="es-MX" sz="1050" dirty="0">
                <a:latin typeface="Consolas" panose="020B0609020204030204" pitchFamily="49" charset="0"/>
              </a:rPr>
              <a:t> = </a:t>
            </a:r>
            <a:r>
              <a:rPr lang="es-MX" sz="1050" dirty="0" err="1">
                <a:latin typeface="Consolas" panose="020B0609020204030204" pitchFamily="49" charset="0"/>
              </a:rPr>
              <a:t>notas_validas</a:t>
            </a:r>
            <a:r>
              <a:rPr lang="es-MX" sz="1050" dirty="0">
                <a:latin typeface="Consolas" panose="020B0609020204030204" pitchFamily="49" charset="0"/>
              </a:rPr>
              <a:t> + 1</a:t>
            </a:r>
            <a:r>
              <a:rPr lang="es-MX" sz="1050" dirty="0">
                <a:solidFill>
                  <a:srgbClr val="00B050"/>
                </a:solidFill>
                <a:latin typeface="Consolas" panose="020B0609020204030204" pitchFamily="49" charset="0"/>
              </a:rPr>
              <a:t> </a:t>
            </a:r>
          </a:p>
          <a:p>
            <a:r>
              <a:rPr lang="es-MX" sz="1050" dirty="0">
                <a:solidFill>
                  <a:srgbClr val="00B050"/>
                </a:solidFill>
                <a:latin typeface="Consolas" panose="020B0609020204030204" pitchFamily="49" charset="0"/>
              </a:rPr>
              <a:t>    Si nota &gt;= NOTA_MINIMA Entonces</a:t>
            </a:r>
          </a:p>
          <a:p>
            <a:r>
              <a:rPr lang="es-MX" sz="1050" dirty="0">
                <a:solidFill>
                  <a:srgbClr val="00B050"/>
                </a:solidFill>
                <a:latin typeface="Consolas" panose="020B0609020204030204" pitchFamily="49" charset="0"/>
              </a:rPr>
              <a:t>      </a:t>
            </a:r>
            <a:r>
              <a:rPr lang="es-MX" sz="1050" dirty="0" err="1">
                <a:solidFill>
                  <a:srgbClr val="00B050"/>
                </a:solidFill>
                <a:latin typeface="Consolas" panose="020B0609020204030204" pitchFamily="49" charset="0"/>
              </a:rPr>
              <a:t>notas_aprobadas</a:t>
            </a:r>
            <a:r>
              <a:rPr lang="es-MX" sz="1050" dirty="0">
                <a:solidFill>
                  <a:srgbClr val="00B050"/>
                </a:solidFill>
                <a:latin typeface="Consolas" panose="020B0609020204030204" pitchFamily="49" charset="0"/>
              </a:rPr>
              <a:t> = </a:t>
            </a:r>
            <a:r>
              <a:rPr lang="es-MX" sz="1050" dirty="0" err="1">
                <a:solidFill>
                  <a:srgbClr val="00B050"/>
                </a:solidFill>
                <a:latin typeface="Consolas" panose="020B0609020204030204" pitchFamily="49" charset="0"/>
              </a:rPr>
              <a:t>notas_aprobadas</a:t>
            </a:r>
            <a:r>
              <a:rPr lang="es-MX" sz="1050" dirty="0">
                <a:solidFill>
                  <a:srgbClr val="00B050"/>
                </a:solidFill>
                <a:latin typeface="Consolas" panose="020B0609020204030204" pitchFamily="49" charset="0"/>
              </a:rPr>
              <a:t> + 1</a:t>
            </a:r>
          </a:p>
          <a:p>
            <a:r>
              <a:rPr lang="es-MX" sz="1050" dirty="0">
                <a:solidFill>
                  <a:srgbClr val="00B050"/>
                </a:solidFill>
                <a:latin typeface="Consolas" panose="020B0609020204030204" pitchFamily="49" charset="0"/>
              </a:rPr>
              <a:t>      </a:t>
            </a:r>
            <a:r>
              <a:rPr lang="es-MX" sz="1050" dirty="0" err="1">
                <a:solidFill>
                  <a:srgbClr val="00B050"/>
                </a:solidFill>
                <a:latin typeface="Consolas" panose="020B0609020204030204" pitchFamily="49" charset="0"/>
              </a:rPr>
              <a:t>suma_aprobadas</a:t>
            </a:r>
            <a:r>
              <a:rPr lang="es-MX" sz="1050" dirty="0">
                <a:solidFill>
                  <a:srgbClr val="00B050"/>
                </a:solidFill>
                <a:latin typeface="Consolas" panose="020B0609020204030204" pitchFamily="49" charset="0"/>
              </a:rPr>
              <a:t> = </a:t>
            </a:r>
            <a:r>
              <a:rPr lang="es-MX" sz="1050" dirty="0" err="1">
                <a:solidFill>
                  <a:srgbClr val="00B050"/>
                </a:solidFill>
                <a:latin typeface="Consolas" panose="020B0609020204030204" pitchFamily="49" charset="0"/>
              </a:rPr>
              <a:t>suma_aprobadas</a:t>
            </a:r>
            <a:r>
              <a:rPr lang="es-MX" sz="1050" dirty="0">
                <a:solidFill>
                  <a:srgbClr val="00B050"/>
                </a:solidFill>
                <a:latin typeface="Consolas" panose="020B0609020204030204" pitchFamily="49" charset="0"/>
              </a:rPr>
              <a:t> + nota</a:t>
            </a:r>
          </a:p>
          <a:p>
            <a:r>
              <a:rPr lang="es-MX" sz="1050" dirty="0">
                <a:solidFill>
                  <a:srgbClr val="00B050"/>
                </a:solidFill>
                <a:latin typeface="Consolas" panose="020B0609020204030204" pitchFamily="49" charset="0"/>
              </a:rPr>
              <a:t>    Sino</a:t>
            </a:r>
          </a:p>
          <a:p>
            <a:r>
              <a:rPr lang="es-MX" sz="1050" dirty="0">
                <a:solidFill>
                  <a:srgbClr val="00B050"/>
                </a:solidFill>
                <a:latin typeface="Consolas" panose="020B0609020204030204" pitchFamily="49" charset="0"/>
              </a:rPr>
              <a:t>      </a:t>
            </a:r>
            <a:r>
              <a:rPr lang="es-MX" sz="1050" dirty="0" err="1">
                <a:solidFill>
                  <a:srgbClr val="00B050"/>
                </a:solidFill>
                <a:latin typeface="Consolas" panose="020B0609020204030204" pitchFamily="49" charset="0"/>
              </a:rPr>
              <a:t>notas_reprobadas</a:t>
            </a:r>
            <a:r>
              <a:rPr lang="es-MX" sz="1050" dirty="0">
                <a:solidFill>
                  <a:srgbClr val="00B050"/>
                </a:solidFill>
                <a:latin typeface="Consolas" panose="020B0609020204030204" pitchFamily="49" charset="0"/>
              </a:rPr>
              <a:t> = </a:t>
            </a:r>
            <a:r>
              <a:rPr lang="es-MX" sz="1050" dirty="0" err="1">
                <a:solidFill>
                  <a:srgbClr val="00B050"/>
                </a:solidFill>
                <a:latin typeface="Consolas" panose="020B0609020204030204" pitchFamily="49" charset="0"/>
              </a:rPr>
              <a:t>notas_reprobadas</a:t>
            </a:r>
            <a:r>
              <a:rPr lang="es-MX" sz="1050" dirty="0">
                <a:solidFill>
                  <a:srgbClr val="00B050"/>
                </a:solidFill>
                <a:latin typeface="Consolas" panose="020B0609020204030204" pitchFamily="49" charset="0"/>
              </a:rPr>
              <a:t> + 1</a:t>
            </a:r>
          </a:p>
          <a:p>
            <a:r>
              <a:rPr lang="es-MX" sz="1050" dirty="0">
                <a:solidFill>
                  <a:srgbClr val="00B050"/>
                </a:solidFill>
                <a:latin typeface="Consolas" panose="020B0609020204030204" pitchFamily="49" charset="0"/>
              </a:rPr>
              <a:t>      </a:t>
            </a:r>
            <a:r>
              <a:rPr lang="es-MX" sz="1050" dirty="0" err="1">
                <a:solidFill>
                  <a:srgbClr val="00B050"/>
                </a:solidFill>
                <a:latin typeface="Consolas" panose="020B0609020204030204" pitchFamily="49" charset="0"/>
              </a:rPr>
              <a:t>suma_reprobadas</a:t>
            </a:r>
            <a:r>
              <a:rPr lang="es-MX" sz="1050" dirty="0">
                <a:solidFill>
                  <a:srgbClr val="00B050"/>
                </a:solidFill>
                <a:latin typeface="Consolas" panose="020B0609020204030204" pitchFamily="49" charset="0"/>
              </a:rPr>
              <a:t> = </a:t>
            </a:r>
            <a:r>
              <a:rPr lang="es-MX" sz="1050" dirty="0" err="1">
                <a:solidFill>
                  <a:srgbClr val="00B050"/>
                </a:solidFill>
                <a:latin typeface="Consolas" panose="020B0609020204030204" pitchFamily="49" charset="0"/>
              </a:rPr>
              <a:t>suma_reprobadas</a:t>
            </a:r>
            <a:r>
              <a:rPr lang="es-MX" sz="1050" dirty="0">
                <a:solidFill>
                  <a:srgbClr val="00B050"/>
                </a:solidFill>
                <a:latin typeface="Consolas" panose="020B0609020204030204" pitchFamily="49" charset="0"/>
              </a:rPr>
              <a:t> + nota</a:t>
            </a:r>
          </a:p>
          <a:p>
            <a:r>
              <a:rPr lang="es-MX" sz="1050" dirty="0">
                <a:solidFill>
                  <a:srgbClr val="00B050"/>
                </a:solidFill>
                <a:latin typeface="Consolas" panose="020B0609020204030204" pitchFamily="49" charset="0"/>
              </a:rPr>
              <a:t>    Fin_Si</a:t>
            </a:r>
          </a:p>
          <a:p>
            <a:r>
              <a:rPr lang="es-MX" sz="1050" dirty="0">
                <a:solidFill>
                  <a:srgbClr val="C00000"/>
                </a:solidFill>
                <a:latin typeface="Consolas" panose="020B0609020204030204" pitchFamily="49" charset="0"/>
              </a:rPr>
              <a:t>  </a:t>
            </a:r>
            <a:r>
              <a:rPr lang="es-MX" sz="1050" dirty="0" err="1">
                <a:solidFill>
                  <a:srgbClr val="C00000"/>
                </a:solidFill>
                <a:latin typeface="Consolas" panose="020B0609020204030204" pitchFamily="49" charset="0"/>
              </a:rPr>
              <a:t>Fin_Para</a:t>
            </a:r>
            <a:endParaRPr lang="es-MX" sz="1050" dirty="0">
              <a:solidFill>
                <a:srgbClr val="C00000"/>
              </a:solidFill>
              <a:latin typeface="Consolas" panose="020B0609020204030204" pitchFamily="49" charset="0"/>
            </a:endParaRPr>
          </a:p>
          <a:p>
            <a:r>
              <a:rPr lang="es-MX" sz="1050" dirty="0">
                <a:solidFill>
                  <a:srgbClr val="C00000"/>
                </a:solidFill>
                <a:latin typeface="Consolas" panose="020B0609020204030204" pitchFamily="49" charset="0"/>
              </a:rPr>
              <a:t>  ...</a:t>
            </a:r>
          </a:p>
        </p:txBody>
      </p:sp>
      <p:sp>
        <p:nvSpPr>
          <p:cNvPr id="6" name="CuadroTexto 5">
            <a:extLst>
              <a:ext uri="{FF2B5EF4-FFF2-40B4-BE49-F238E27FC236}">
                <a16:creationId xmlns:a16="http://schemas.microsoft.com/office/drawing/2014/main" id="{885D3C10-5AA8-4B91-B09E-7E25CBFF6FBA}"/>
              </a:ext>
            </a:extLst>
          </p:cNvPr>
          <p:cNvSpPr txBox="1"/>
          <p:nvPr/>
        </p:nvSpPr>
        <p:spPr>
          <a:xfrm>
            <a:off x="4790111" y="1063907"/>
            <a:ext cx="4231007" cy="5101397"/>
          </a:xfrm>
          <a:prstGeom prst="rect">
            <a:avLst/>
          </a:prstGeom>
          <a:noFill/>
          <a:ln>
            <a:solidFill>
              <a:schemeClr val="tx1"/>
            </a:solidFill>
          </a:ln>
        </p:spPr>
        <p:txBody>
          <a:bodyPr wrap="square">
            <a:spAutoFit/>
          </a:bodyPr>
          <a:lstStyle/>
          <a:p>
            <a:r>
              <a:rPr lang="es-MX" sz="1050" dirty="0">
                <a:latin typeface="Consolas" panose="020B0609020204030204" pitchFamily="49" charset="0"/>
              </a:rPr>
              <a:t>NOTA_MINIMA = 3.0</a:t>
            </a:r>
          </a:p>
          <a:p>
            <a:r>
              <a:rPr lang="es-MX" sz="1050" dirty="0">
                <a:latin typeface="Consolas" panose="020B0609020204030204" pitchFamily="49" charset="0"/>
              </a:rPr>
              <a:t>MINIMO_VALIDO = 0.0</a:t>
            </a:r>
          </a:p>
          <a:p>
            <a:r>
              <a:rPr lang="es-MX" sz="1050" dirty="0">
                <a:latin typeface="Consolas" panose="020B0609020204030204" pitchFamily="49" charset="0"/>
              </a:rPr>
              <a:t>MAXIMO_VALIDO = 5.0</a:t>
            </a:r>
          </a:p>
          <a:p>
            <a:r>
              <a:rPr lang="es-MX" sz="1050" dirty="0" err="1">
                <a:latin typeface="Consolas" panose="020B0609020204030204" pitchFamily="49" charset="0"/>
              </a:rPr>
              <a:t>notas_reprobadas</a:t>
            </a:r>
            <a:r>
              <a:rPr lang="es-MX" sz="1050" dirty="0">
                <a:latin typeface="Consolas" panose="020B0609020204030204" pitchFamily="49" charset="0"/>
              </a:rPr>
              <a:t> = 0</a:t>
            </a:r>
          </a:p>
          <a:p>
            <a:r>
              <a:rPr lang="es-MX" sz="1050" dirty="0" err="1">
                <a:latin typeface="Consolas" panose="020B0609020204030204" pitchFamily="49" charset="0"/>
              </a:rPr>
              <a:t>notas_aprobadas</a:t>
            </a:r>
            <a:r>
              <a:rPr lang="es-MX" sz="1050" dirty="0">
                <a:latin typeface="Consolas" panose="020B0609020204030204" pitchFamily="49" charset="0"/>
              </a:rPr>
              <a:t> = 0</a:t>
            </a:r>
          </a:p>
          <a:p>
            <a:r>
              <a:rPr lang="es-MX" sz="1050" dirty="0" err="1">
                <a:latin typeface="Consolas" panose="020B0609020204030204" pitchFamily="49" charset="0"/>
              </a:rPr>
              <a:t>suma_reprobadas</a:t>
            </a:r>
            <a:r>
              <a:rPr lang="es-MX" sz="1050" dirty="0">
                <a:latin typeface="Consolas" panose="020B0609020204030204" pitchFamily="49" charset="0"/>
              </a:rPr>
              <a:t> = 0</a:t>
            </a:r>
          </a:p>
          <a:p>
            <a:r>
              <a:rPr lang="es-MX" sz="1050" dirty="0" err="1">
                <a:latin typeface="Consolas" panose="020B0609020204030204" pitchFamily="49" charset="0"/>
              </a:rPr>
              <a:t>suma_aprobadas</a:t>
            </a:r>
            <a:r>
              <a:rPr lang="es-MX" sz="1050" dirty="0">
                <a:latin typeface="Consolas" panose="020B0609020204030204" pitchFamily="49" charset="0"/>
              </a:rPr>
              <a:t> = 0</a:t>
            </a:r>
          </a:p>
          <a:p>
            <a:endParaRPr lang="es-MX" sz="1050" dirty="0">
              <a:latin typeface="Consolas" panose="020B0609020204030204" pitchFamily="49" charset="0"/>
            </a:endParaRPr>
          </a:p>
          <a:p>
            <a:r>
              <a:rPr lang="es-MX" sz="1050" b="0" dirty="0">
                <a:effectLst/>
                <a:latin typeface="Consolas" panose="020B0609020204030204" pitchFamily="49" charset="0"/>
              </a:rPr>
              <a:t>N = </a:t>
            </a:r>
            <a:r>
              <a:rPr lang="es-MX" sz="1050" b="0" dirty="0" err="1">
                <a:effectLst/>
                <a:latin typeface="Consolas" panose="020B0609020204030204" pitchFamily="49" charset="0"/>
              </a:rPr>
              <a:t>int</a:t>
            </a:r>
            <a:r>
              <a:rPr lang="es-MX" sz="1050" b="0" dirty="0">
                <a:effectLst/>
                <a:latin typeface="Consolas" panose="020B0609020204030204" pitchFamily="49" charset="0"/>
              </a:rPr>
              <a:t>(input('Ingrese el número de estudiantes: '))</a:t>
            </a:r>
          </a:p>
          <a:p>
            <a:r>
              <a:rPr lang="es-MX" sz="1050" dirty="0">
                <a:solidFill>
                  <a:srgbClr val="C00000"/>
                </a:solidFill>
                <a:latin typeface="Consolas" panose="020B0609020204030204" pitchFamily="49" charset="0"/>
              </a:rPr>
              <a:t>for i in range(N):</a:t>
            </a:r>
          </a:p>
          <a:p>
            <a:r>
              <a:rPr lang="es-MX" sz="1050" dirty="0">
                <a:solidFill>
                  <a:srgbClr val="C00000"/>
                </a:solidFill>
                <a:latin typeface="Consolas" panose="020B0609020204030204" pitchFamily="49" charset="0"/>
              </a:rPr>
              <a:t>  nota = </a:t>
            </a:r>
            <a:r>
              <a:rPr lang="es-MX" sz="1050" dirty="0" err="1">
                <a:solidFill>
                  <a:srgbClr val="C00000"/>
                </a:solidFill>
                <a:latin typeface="Consolas" panose="020B0609020204030204" pitchFamily="49" charset="0"/>
              </a:rPr>
              <a:t>float</a:t>
            </a:r>
            <a:r>
              <a:rPr lang="es-MX" sz="1050" dirty="0">
                <a:solidFill>
                  <a:srgbClr val="C00000"/>
                </a:solidFill>
                <a:latin typeface="Consolas" panose="020B0609020204030204" pitchFamily="49" charset="0"/>
              </a:rPr>
              <a:t>(input('Ingrese la nota: '))</a:t>
            </a:r>
          </a:p>
          <a:p>
            <a:r>
              <a:rPr lang="es-MX" sz="1050" dirty="0">
                <a:solidFill>
                  <a:srgbClr val="C00000"/>
                </a:solidFill>
                <a:latin typeface="Consolas" panose="020B0609020204030204" pitchFamily="49" charset="0"/>
              </a:rPr>
              <a:t>  </a:t>
            </a:r>
            <a:r>
              <a:rPr lang="es-MX" sz="1050" dirty="0" err="1">
                <a:latin typeface="Consolas" panose="020B0609020204030204" pitchFamily="49" charset="0"/>
              </a:rPr>
              <a:t>if</a:t>
            </a:r>
            <a:r>
              <a:rPr lang="es-MX" sz="1050" dirty="0">
                <a:latin typeface="Consolas" panose="020B0609020204030204" pitchFamily="49" charset="0"/>
              </a:rPr>
              <a:t> nota &lt; MINIMO_VALIDO </a:t>
            </a:r>
            <a:r>
              <a:rPr lang="es-MX" sz="1050" dirty="0" err="1">
                <a:latin typeface="Consolas" panose="020B0609020204030204" pitchFamily="49" charset="0"/>
              </a:rPr>
              <a:t>or</a:t>
            </a:r>
            <a:r>
              <a:rPr lang="es-MX" sz="1050" dirty="0">
                <a:latin typeface="Consolas" panose="020B0609020204030204" pitchFamily="49" charset="0"/>
              </a:rPr>
              <a:t> nota &gt; MAXIMO_VALIDO:</a:t>
            </a:r>
          </a:p>
          <a:p>
            <a:r>
              <a:rPr lang="es-MX" sz="1050" dirty="0">
                <a:latin typeface="Consolas" panose="020B0609020204030204" pitchFamily="49" charset="0"/>
              </a:rPr>
              <a:t>    </a:t>
            </a:r>
            <a:r>
              <a:rPr lang="es-MX" sz="1050" dirty="0" err="1">
                <a:latin typeface="Consolas" panose="020B0609020204030204" pitchFamily="49" charset="0"/>
              </a:rPr>
              <a:t>print</a:t>
            </a:r>
            <a:r>
              <a:rPr lang="es-MX" sz="1050" dirty="0">
                <a:latin typeface="Consolas" panose="020B0609020204030204" pitchFamily="49" charset="0"/>
              </a:rPr>
              <a:t>("ERROR: nota fuera de rango")      </a:t>
            </a:r>
          </a:p>
          <a:p>
            <a:r>
              <a:rPr lang="es-MX" sz="1050" dirty="0">
                <a:latin typeface="Consolas" panose="020B0609020204030204" pitchFamily="49" charset="0"/>
              </a:rPr>
              <a:t>    </a:t>
            </a:r>
            <a:r>
              <a:rPr lang="es-MX" sz="1050" dirty="0">
                <a:highlight>
                  <a:srgbClr val="FFFF00"/>
                </a:highlight>
                <a:latin typeface="Consolas" panose="020B0609020204030204" pitchFamily="49" charset="0"/>
              </a:rPr>
              <a:t>continue</a:t>
            </a:r>
          </a:p>
          <a:p>
            <a:r>
              <a:rPr lang="it-IT" sz="1050" dirty="0">
                <a:solidFill>
                  <a:schemeClr val="accent4"/>
                </a:solidFill>
                <a:latin typeface="Consolas" panose="020B0609020204030204" pitchFamily="49" charset="0"/>
              </a:rPr>
              <a:t>  if notas_validas == 0:      </a:t>
            </a:r>
          </a:p>
          <a:p>
            <a:r>
              <a:rPr lang="it-IT" sz="1050" dirty="0">
                <a:solidFill>
                  <a:schemeClr val="accent4"/>
                </a:solidFill>
                <a:latin typeface="Consolas" panose="020B0609020204030204" pitchFamily="49" charset="0"/>
              </a:rPr>
              <a:t>    nota_maxima = nota      </a:t>
            </a:r>
          </a:p>
          <a:p>
            <a:r>
              <a:rPr lang="it-IT" sz="1050" dirty="0">
                <a:solidFill>
                  <a:schemeClr val="accent4"/>
                </a:solidFill>
                <a:latin typeface="Consolas" panose="020B0609020204030204" pitchFamily="49" charset="0"/>
              </a:rPr>
              <a:t>    nota_minima = nota    </a:t>
            </a:r>
          </a:p>
          <a:p>
            <a:r>
              <a:rPr lang="it-IT" sz="1050" dirty="0">
                <a:solidFill>
                  <a:schemeClr val="accent4"/>
                </a:solidFill>
                <a:latin typeface="Consolas" panose="020B0609020204030204" pitchFamily="49" charset="0"/>
              </a:rPr>
              <a:t>  else:      </a:t>
            </a:r>
          </a:p>
          <a:p>
            <a:r>
              <a:rPr lang="it-IT" sz="1050" dirty="0">
                <a:solidFill>
                  <a:schemeClr val="accent4"/>
                </a:solidFill>
                <a:latin typeface="Consolas" panose="020B0609020204030204" pitchFamily="49" charset="0"/>
              </a:rPr>
              <a:t>    if nota &gt; nota_maxima:        </a:t>
            </a:r>
          </a:p>
          <a:p>
            <a:r>
              <a:rPr lang="it-IT" sz="1050" dirty="0">
                <a:solidFill>
                  <a:schemeClr val="accent4"/>
                </a:solidFill>
                <a:latin typeface="Consolas" panose="020B0609020204030204" pitchFamily="49" charset="0"/>
              </a:rPr>
              <a:t>      nota_maxima = nota      </a:t>
            </a:r>
          </a:p>
          <a:p>
            <a:r>
              <a:rPr lang="it-IT" sz="1050" dirty="0">
                <a:solidFill>
                  <a:schemeClr val="accent4"/>
                </a:solidFill>
                <a:latin typeface="Consolas" panose="020B0609020204030204" pitchFamily="49" charset="0"/>
              </a:rPr>
              <a:t>    if nota &lt; nota_minima:        </a:t>
            </a:r>
          </a:p>
          <a:p>
            <a:r>
              <a:rPr lang="it-IT" sz="1050" dirty="0">
                <a:solidFill>
                  <a:schemeClr val="accent4"/>
                </a:solidFill>
                <a:latin typeface="Consolas" panose="020B0609020204030204" pitchFamily="49" charset="0"/>
              </a:rPr>
              <a:t>      nota_minima = nota      </a:t>
            </a:r>
          </a:p>
          <a:p>
            <a:r>
              <a:rPr lang="es-MX" sz="1050" dirty="0">
                <a:latin typeface="Consolas" panose="020B0609020204030204" pitchFamily="49" charset="0"/>
              </a:rPr>
              <a:t>  </a:t>
            </a:r>
            <a:r>
              <a:rPr lang="es-MX" sz="1050" dirty="0" err="1">
                <a:latin typeface="Consolas" panose="020B0609020204030204" pitchFamily="49" charset="0"/>
              </a:rPr>
              <a:t>notas_validas</a:t>
            </a:r>
            <a:r>
              <a:rPr lang="es-MX" sz="1050" dirty="0">
                <a:latin typeface="Consolas" panose="020B0609020204030204" pitchFamily="49" charset="0"/>
              </a:rPr>
              <a:t> = </a:t>
            </a:r>
            <a:r>
              <a:rPr lang="es-MX" sz="1050" dirty="0" err="1">
                <a:latin typeface="Consolas" panose="020B0609020204030204" pitchFamily="49" charset="0"/>
              </a:rPr>
              <a:t>notas_validas</a:t>
            </a:r>
            <a:r>
              <a:rPr lang="es-MX" sz="1050" dirty="0">
                <a:latin typeface="Consolas" panose="020B0609020204030204" pitchFamily="49" charset="0"/>
              </a:rPr>
              <a:t> + 1</a:t>
            </a:r>
            <a:r>
              <a:rPr lang="es-MX" sz="1050" dirty="0">
                <a:solidFill>
                  <a:srgbClr val="00B050"/>
                </a:solidFill>
                <a:latin typeface="Consolas" panose="020B0609020204030204" pitchFamily="49" charset="0"/>
              </a:rPr>
              <a:t> </a:t>
            </a:r>
          </a:p>
          <a:p>
            <a:r>
              <a:rPr lang="es-MX" sz="1050" dirty="0">
                <a:solidFill>
                  <a:srgbClr val="00B050"/>
                </a:solidFill>
                <a:latin typeface="Consolas" panose="020B0609020204030204" pitchFamily="49" charset="0"/>
              </a:rPr>
              <a:t>  </a:t>
            </a:r>
            <a:r>
              <a:rPr lang="es-MX" sz="1050" dirty="0" err="1">
                <a:solidFill>
                  <a:srgbClr val="00B050"/>
                </a:solidFill>
                <a:latin typeface="Consolas" panose="020B0609020204030204" pitchFamily="49" charset="0"/>
              </a:rPr>
              <a:t>if</a:t>
            </a:r>
            <a:r>
              <a:rPr lang="es-MX" sz="1050" dirty="0">
                <a:solidFill>
                  <a:srgbClr val="00B050"/>
                </a:solidFill>
                <a:latin typeface="Consolas" panose="020B0609020204030204" pitchFamily="49" charset="0"/>
              </a:rPr>
              <a:t> nota &gt;= NOTA_MINIMA:</a:t>
            </a:r>
          </a:p>
          <a:p>
            <a:r>
              <a:rPr lang="es-MX" sz="1050" dirty="0">
                <a:solidFill>
                  <a:srgbClr val="00B050"/>
                </a:solidFill>
                <a:latin typeface="Consolas" panose="020B0609020204030204" pitchFamily="49" charset="0"/>
              </a:rPr>
              <a:t>    </a:t>
            </a:r>
            <a:r>
              <a:rPr lang="es-MX" sz="1050" dirty="0" err="1">
                <a:solidFill>
                  <a:srgbClr val="00B050"/>
                </a:solidFill>
                <a:latin typeface="Consolas" panose="020B0609020204030204" pitchFamily="49" charset="0"/>
              </a:rPr>
              <a:t>notas_aprobadas</a:t>
            </a:r>
            <a:r>
              <a:rPr lang="es-MX" sz="1050" dirty="0">
                <a:solidFill>
                  <a:srgbClr val="00B050"/>
                </a:solidFill>
                <a:latin typeface="Consolas" panose="020B0609020204030204" pitchFamily="49" charset="0"/>
              </a:rPr>
              <a:t> = </a:t>
            </a:r>
            <a:r>
              <a:rPr lang="es-MX" sz="1050" dirty="0" err="1">
                <a:solidFill>
                  <a:srgbClr val="00B050"/>
                </a:solidFill>
                <a:latin typeface="Consolas" panose="020B0609020204030204" pitchFamily="49" charset="0"/>
              </a:rPr>
              <a:t>notas_aprobadas</a:t>
            </a:r>
            <a:r>
              <a:rPr lang="es-MX" sz="1050" dirty="0">
                <a:solidFill>
                  <a:srgbClr val="00B050"/>
                </a:solidFill>
                <a:latin typeface="Consolas" panose="020B0609020204030204" pitchFamily="49" charset="0"/>
              </a:rPr>
              <a:t> + 1</a:t>
            </a:r>
          </a:p>
          <a:p>
            <a:r>
              <a:rPr lang="es-MX" sz="1050" dirty="0">
                <a:solidFill>
                  <a:srgbClr val="00B050"/>
                </a:solidFill>
                <a:latin typeface="Consolas" panose="020B0609020204030204" pitchFamily="49" charset="0"/>
              </a:rPr>
              <a:t>    </a:t>
            </a:r>
            <a:r>
              <a:rPr lang="es-MX" sz="1050" dirty="0" err="1">
                <a:solidFill>
                  <a:srgbClr val="00B050"/>
                </a:solidFill>
                <a:latin typeface="Consolas" panose="020B0609020204030204" pitchFamily="49" charset="0"/>
              </a:rPr>
              <a:t>suma_aprobadas</a:t>
            </a:r>
            <a:r>
              <a:rPr lang="es-MX" sz="1050" dirty="0">
                <a:solidFill>
                  <a:srgbClr val="00B050"/>
                </a:solidFill>
                <a:latin typeface="Consolas" panose="020B0609020204030204" pitchFamily="49" charset="0"/>
              </a:rPr>
              <a:t> = </a:t>
            </a:r>
            <a:r>
              <a:rPr lang="es-MX" sz="1050" dirty="0" err="1">
                <a:solidFill>
                  <a:srgbClr val="00B050"/>
                </a:solidFill>
                <a:latin typeface="Consolas" panose="020B0609020204030204" pitchFamily="49" charset="0"/>
              </a:rPr>
              <a:t>suma_aprobadas</a:t>
            </a:r>
            <a:r>
              <a:rPr lang="es-MX" sz="1050" dirty="0">
                <a:solidFill>
                  <a:srgbClr val="00B050"/>
                </a:solidFill>
                <a:latin typeface="Consolas" panose="020B0609020204030204" pitchFamily="49" charset="0"/>
              </a:rPr>
              <a:t> + nota</a:t>
            </a:r>
          </a:p>
          <a:p>
            <a:r>
              <a:rPr lang="es-MX" sz="1050" dirty="0">
                <a:solidFill>
                  <a:srgbClr val="00B050"/>
                </a:solidFill>
                <a:latin typeface="Consolas" panose="020B0609020204030204" pitchFamily="49" charset="0"/>
              </a:rPr>
              <a:t>  </a:t>
            </a:r>
            <a:r>
              <a:rPr lang="es-MX" sz="1050" dirty="0" err="1">
                <a:solidFill>
                  <a:srgbClr val="00B050"/>
                </a:solidFill>
                <a:latin typeface="Consolas" panose="020B0609020204030204" pitchFamily="49" charset="0"/>
              </a:rPr>
              <a:t>else</a:t>
            </a:r>
            <a:r>
              <a:rPr lang="es-MX" sz="1050" dirty="0">
                <a:solidFill>
                  <a:srgbClr val="00B050"/>
                </a:solidFill>
                <a:latin typeface="Consolas" panose="020B0609020204030204" pitchFamily="49" charset="0"/>
              </a:rPr>
              <a:t>:</a:t>
            </a:r>
          </a:p>
          <a:p>
            <a:r>
              <a:rPr lang="es-MX" sz="1050" dirty="0">
                <a:solidFill>
                  <a:srgbClr val="00B050"/>
                </a:solidFill>
                <a:latin typeface="Consolas" panose="020B0609020204030204" pitchFamily="49" charset="0"/>
              </a:rPr>
              <a:t>    </a:t>
            </a:r>
            <a:r>
              <a:rPr lang="es-MX" sz="1050" dirty="0" err="1">
                <a:solidFill>
                  <a:srgbClr val="00B050"/>
                </a:solidFill>
                <a:latin typeface="Consolas" panose="020B0609020204030204" pitchFamily="49" charset="0"/>
              </a:rPr>
              <a:t>notas_reprobadas</a:t>
            </a:r>
            <a:r>
              <a:rPr lang="es-MX" sz="1050" dirty="0">
                <a:solidFill>
                  <a:srgbClr val="00B050"/>
                </a:solidFill>
                <a:latin typeface="Consolas" panose="020B0609020204030204" pitchFamily="49" charset="0"/>
              </a:rPr>
              <a:t> = </a:t>
            </a:r>
            <a:r>
              <a:rPr lang="es-MX" sz="1050" dirty="0" err="1">
                <a:solidFill>
                  <a:srgbClr val="00B050"/>
                </a:solidFill>
                <a:latin typeface="Consolas" panose="020B0609020204030204" pitchFamily="49" charset="0"/>
              </a:rPr>
              <a:t>notas_reprobadas</a:t>
            </a:r>
            <a:r>
              <a:rPr lang="es-MX" sz="1050" dirty="0">
                <a:solidFill>
                  <a:srgbClr val="00B050"/>
                </a:solidFill>
                <a:latin typeface="Consolas" panose="020B0609020204030204" pitchFamily="49" charset="0"/>
              </a:rPr>
              <a:t> + 1</a:t>
            </a:r>
          </a:p>
          <a:p>
            <a:r>
              <a:rPr lang="es-MX" sz="1050" dirty="0">
                <a:solidFill>
                  <a:srgbClr val="00B050"/>
                </a:solidFill>
                <a:latin typeface="Consolas" panose="020B0609020204030204" pitchFamily="49" charset="0"/>
              </a:rPr>
              <a:t>    </a:t>
            </a:r>
            <a:r>
              <a:rPr lang="es-MX" sz="1050" dirty="0" err="1">
                <a:solidFill>
                  <a:srgbClr val="00B050"/>
                </a:solidFill>
                <a:latin typeface="Consolas" panose="020B0609020204030204" pitchFamily="49" charset="0"/>
              </a:rPr>
              <a:t>suma_reprobadas</a:t>
            </a:r>
            <a:r>
              <a:rPr lang="es-MX" sz="1050" dirty="0">
                <a:solidFill>
                  <a:srgbClr val="00B050"/>
                </a:solidFill>
                <a:latin typeface="Consolas" panose="020B0609020204030204" pitchFamily="49" charset="0"/>
              </a:rPr>
              <a:t> = </a:t>
            </a:r>
            <a:r>
              <a:rPr lang="es-MX" sz="1050" dirty="0" err="1">
                <a:solidFill>
                  <a:srgbClr val="00B050"/>
                </a:solidFill>
                <a:latin typeface="Consolas" panose="020B0609020204030204" pitchFamily="49" charset="0"/>
              </a:rPr>
              <a:t>suma_reprobadas</a:t>
            </a:r>
            <a:r>
              <a:rPr lang="es-MX" sz="1050" dirty="0">
                <a:solidFill>
                  <a:srgbClr val="00B050"/>
                </a:solidFill>
                <a:latin typeface="Consolas" panose="020B0609020204030204" pitchFamily="49" charset="0"/>
              </a:rPr>
              <a:t> + nota</a:t>
            </a:r>
          </a:p>
          <a:p>
            <a:r>
              <a:rPr lang="es-MX" sz="1050" dirty="0">
                <a:latin typeface="Consolas" panose="020B0609020204030204" pitchFamily="49" charset="0"/>
              </a:rPr>
              <a:t>...</a:t>
            </a:r>
            <a:endParaRPr lang="es-CO" sz="1050" dirty="0">
              <a:latin typeface="Consolas" panose="020B0609020204030204" pitchFamily="49" charset="0"/>
            </a:endParaRPr>
          </a:p>
        </p:txBody>
      </p:sp>
    </p:spTree>
    <p:extLst>
      <p:ext uri="{BB962C8B-B14F-4D97-AF65-F5344CB8AC3E}">
        <p14:creationId xmlns:p14="http://schemas.microsoft.com/office/powerpoint/2010/main" val="29019653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4 Título">
            <a:extLst>
              <a:ext uri="{FF2B5EF4-FFF2-40B4-BE49-F238E27FC236}">
                <a16:creationId xmlns:a16="http://schemas.microsoft.com/office/drawing/2014/main" id="{AE7AE4FE-857D-48EA-8C2E-EFF7E2B785AF}"/>
              </a:ext>
            </a:extLst>
          </p:cNvPr>
          <p:cNvSpPr txBox="1">
            <a:spLocks/>
          </p:cNvSpPr>
          <p:nvPr/>
        </p:nvSpPr>
        <p:spPr>
          <a:xfrm>
            <a:off x="74735" y="85895"/>
            <a:ext cx="8817743" cy="67880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Ciclos anidados – Forma general</a:t>
            </a:r>
          </a:p>
        </p:txBody>
      </p:sp>
      <p:sp>
        <p:nvSpPr>
          <p:cNvPr id="11" name="12 Rectángulo">
            <a:extLst>
              <a:ext uri="{FF2B5EF4-FFF2-40B4-BE49-F238E27FC236}">
                <a16:creationId xmlns:a16="http://schemas.microsoft.com/office/drawing/2014/main" id="{5FF517F0-E7A8-4F21-B53D-DBC91CFC2CFA}"/>
              </a:ext>
            </a:extLst>
          </p:cNvPr>
          <p:cNvSpPr/>
          <p:nvPr/>
        </p:nvSpPr>
        <p:spPr>
          <a:xfrm>
            <a:off x="145314" y="762957"/>
            <a:ext cx="8747165" cy="5816977"/>
          </a:xfrm>
          <a:prstGeom prst="rect">
            <a:avLst/>
          </a:prstGeom>
        </p:spPr>
        <p:txBody>
          <a:bodyPr wrap="square">
            <a:spAutoFit/>
          </a:bodyPr>
          <a:lstStyle/>
          <a:p>
            <a:pPr marL="342900" indent="-342900" algn="l">
              <a:buFont typeface="Arial" panose="020B0604020202020204" pitchFamily="34" charset="0"/>
              <a:buChar char="•"/>
            </a:pPr>
            <a:r>
              <a:rPr lang="es-MX" sz="2000" dirty="0"/>
              <a:t>Al igual que las estructuras condicionales, es posible anidar ciclos.</a:t>
            </a:r>
          </a:p>
          <a:p>
            <a:pPr marL="342900" indent="-342900" algn="l">
              <a:buFont typeface="Arial" panose="020B0604020202020204" pitchFamily="34" charset="0"/>
              <a:buChar char="•"/>
            </a:pPr>
            <a:r>
              <a:rPr lang="es-MX" sz="2000" dirty="0"/>
              <a:t>Los ciclos anidados son comúnmente empleados para</a:t>
            </a:r>
            <a:r>
              <a:rPr lang="es-CO" sz="2000" dirty="0"/>
              <a:t> recorrer tablas o matrices (lo veremos luego). Sin embargo, estas no son las únicas aplicaciones de estos. A continuación se listan algunos casos:</a:t>
            </a:r>
          </a:p>
          <a:p>
            <a:pPr marL="800100" lvl="1" indent="-342900">
              <a:buFont typeface="Arial" panose="020B0604020202020204" pitchFamily="34" charset="0"/>
              <a:buChar char="•"/>
            </a:pPr>
            <a:r>
              <a:rPr lang="es-MX" b="1" dirty="0"/>
              <a:t>Programas con menús</a:t>
            </a:r>
            <a:r>
              <a:rPr lang="es-MX" dirty="0"/>
              <a:t>: un ciclo externo mantiene activo el menú hasta que el usuario decide finalizar la ejecución; dentro de una de las opciones puede existir un ciclo interno encargado de realizar una tarea repetitiva independiente (por ejemplo, leer y procesar los datos de N estudiantes antes de retornar al menú).</a:t>
            </a:r>
            <a:r>
              <a:rPr lang="es-CO" dirty="0"/>
              <a:t> </a:t>
            </a:r>
          </a:p>
          <a:p>
            <a:pPr marL="800100" lvl="1" indent="-342900">
              <a:buFont typeface="Arial" panose="020B0604020202020204" pitchFamily="34" charset="0"/>
              <a:buChar char="•"/>
            </a:pPr>
            <a:r>
              <a:rPr lang="es-MX" b="1" dirty="0"/>
              <a:t>Cálculo de series matemáticas</a:t>
            </a:r>
            <a:r>
              <a:rPr lang="es-MX" dirty="0"/>
              <a:t>: la aproximación de funciones como sen(x) mediante una serie requiere un ciclo externo que recorra los términos de dicha serie, y un ciclo interno encargado de calcular el factorial necesario para cada término.</a:t>
            </a:r>
          </a:p>
          <a:p>
            <a:pPr marL="800100" lvl="1" indent="-342900">
              <a:buFont typeface="Arial" panose="020B0604020202020204" pitchFamily="34" charset="0"/>
              <a:buChar char="•"/>
            </a:pPr>
            <a:r>
              <a:rPr lang="es-MX" b="1" dirty="0"/>
              <a:t>Validación de datos con reintentos</a:t>
            </a:r>
            <a:r>
              <a:rPr lang="es-MX" dirty="0"/>
              <a:t>: para cada dato que se requiere leer (ciclo externo), puede existir un ciclo interno que solicite repetidamente el valor hasta que este sea válido, antes de continuar con el siguiente dato.</a:t>
            </a:r>
          </a:p>
          <a:p>
            <a:pPr marL="800100" lvl="1" indent="-342900">
              <a:buFont typeface="Arial" panose="020B0604020202020204" pitchFamily="34" charset="0"/>
              <a:buChar char="•"/>
            </a:pPr>
            <a:r>
              <a:rPr lang="es-MX" b="1" dirty="0"/>
              <a:t>Recorrido de tablas o matrices</a:t>
            </a:r>
            <a:r>
              <a:rPr lang="es-MX" dirty="0"/>
              <a:t>: constituye el caso más ilustrativo (una fila a la vez y, dentro de cada fila, cada columna), aunque no es el único escenario de aplicación.</a:t>
            </a:r>
          </a:p>
          <a:p>
            <a:pPr marL="342900" indent="-342900">
              <a:buFont typeface="Arial" panose="020B0604020202020204" pitchFamily="34" charset="0"/>
              <a:buChar char="•"/>
            </a:pPr>
            <a:r>
              <a:rPr lang="es-MX" sz="2000" dirty="0"/>
              <a:t>En todos los casos anteriores subyace la misma idea: una tarea que requiere repetirse en sí misma, ejecutada de manera reiterada por un proceso externo.</a:t>
            </a:r>
          </a:p>
        </p:txBody>
      </p:sp>
    </p:spTree>
    <p:extLst>
      <p:ext uri="{BB962C8B-B14F-4D97-AF65-F5344CB8AC3E}">
        <p14:creationId xmlns:p14="http://schemas.microsoft.com/office/powerpoint/2010/main" val="19044129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4 Título">
            <a:extLst>
              <a:ext uri="{FF2B5EF4-FFF2-40B4-BE49-F238E27FC236}">
                <a16:creationId xmlns:a16="http://schemas.microsoft.com/office/drawing/2014/main" id="{AE7AE4FE-857D-48EA-8C2E-EFF7E2B785AF}"/>
              </a:ext>
            </a:extLst>
          </p:cNvPr>
          <p:cNvSpPr txBox="1">
            <a:spLocks/>
          </p:cNvSpPr>
          <p:nvPr/>
        </p:nvSpPr>
        <p:spPr>
          <a:xfrm>
            <a:off x="74735" y="85895"/>
            <a:ext cx="8817743" cy="67880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Ciclos anidados: Contextualización</a:t>
            </a:r>
          </a:p>
        </p:txBody>
      </p:sp>
      <p:sp>
        <p:nvSpPr>
          <p:cNvPr id="11" name="12 Rectángulo">
            <a:extLst>
              <a:ext uri="{FF2B5EF4-FFF2-40B4-BE49-F238E27FC236}">
                <a16:creationId xmlns:a16="http://schemas.microsoft.com/office/drawing/2014/main" id="{5FF517F0-E7A8-4F21-B53D-DBC91CFC2CFA}"/>
              </a:ext>
            </a:extLst>
          </p:cNvPr>
          <p:cNvSpPr/>
          <p:nvPr/>
        </p:nvSpPr>
        <p:spPr>
          <a:xfrm>
            <a:off x="145314" y="762957"/>
            <a:ext cx="8747165" cy="2554545"/>
          </a:xfrm>
          <a:prstGeom prst="rect">
            <a:avLst/>
          </a:prstGeom>
        </p:spPr>
        <p:txBody>
          <a:bodyPr wrap="square">
            <a:spAutoFit/>
          </a:bodyPr>
          <a:lstStyle/>
          <a:p>
            <a:pPr marL="342900" indent="-342900" algn="l">
              <a:buFont typeface="Arial" panose="020B0604020202020204" pitchFamily="34" charset="0"/>
              <a:buChar char="•"/>
            </a:pPr>
            <a:r>
              <a:rPr lang="es-MX" sz="2000" dirty="0"/>
              <a:t>El ciclo interno está completamente contenido en el cuerpo del externo, con su propia inicialización, condición y actualización.</a:t>
            </a:r>
          </a:p>
          <a:p>
            <a:pPr marL="342900" indent="-342900" algn="l">
              <a:buFont typeface="Arial" panose="020B0604020202020204" pitchFamily="34" charset="0"/>
              <a:buChar char="•"/>
            </a:pPr>
            <a:r>
              <a:rPr lang="es-MX" sz="2000" dirty="0"/>
              <a:t>Por cada iteración del externo, el interno se ejecuta en su totalidad; si el externo se repite F veces y el interno C veces, el cuerpo más interno se ejecuta F × C veces.</a:t>
            </a:r>
          </a:p>
          <a:p>
            <a:pPr marL="342900" indent="-342900" algn="l">
              <a:buFont typeface="Arial" panose="020B0604020202020204" pitchFamily="34" charset="0"/>
              <a:buChar char="•"/>
            </a:pPr>
            <a:r>
              <a:rPr lang="es-MX" sz="2000" dirty="0"/>
              <a:t>Se usan variables de control distintas (por ejemplo, i y j) para cada nivel de repetición.</a:t>
            </a:r>
          </a:p>
          <a:p>
            <a:pPr marL="342900" indent="-342900" algn="l">
              <a:buFont typeface="Arial" panose="020B0604020202020204" pitchFamily="34" charset="0"/>
              <a:buChar char="•"/>
            </a:pPr>
            <a:r>
              <a:rPr lang="es-MX" sz="2000" dirty="0"/>
              <a:t>A continuación se muestra la forma general empleando el ciclo </a:t>
            </a:r>
            <a:r>
              <a:rPr lang="es-MX" b="1" dirty="0">
                <a:latin typeface="Consolas" panose="020B0609020204030204" pitchFamily="49" charset="0"/>
              </a:rPr>
              <a:t>Para</a:t>
            </a:r>
            <a:r>
              <a:rPr lang="es-MX" sz="2000" dirty="0"/>
              <a:t>:</a:t>
            </a:r>
          </a:p>
        </p:txBody>
      </p:sp>
      <p:sp>
        <p:nvSpPr>
          <p:cNvPr id="6" name="CuadroTexto 5">
            <a:extLst>
              <a:ext uri="{FF2B5EF4-FFF2-40B4-BE49-F238E27FC236}">
                <a16:creationId xmlns:a16="http://schemas.microsoft.com/office/drawing/2014/main" id="{0F34FB31-7567-4E67-95E6-E990C7C084C3}"/>
              </a:ext>
            </a:extLst>
          </p:cNvPr>
          <p:cNvSpPr txBox="1"/>
          <p:nvPr/>
        </p:nvSpPr>
        <p:spPr>
          <a:xfrm>
            <a:off x="2303748" y="3923214"/>
            <a:ext cx="4536504" cy="1169551"/>
          </a:xfrm>
          <a:prstGeom prst="rect">
            <a:avLst/>
          </a:prstGeom>
          <a:noFill/>
          <a:ln>
            <a:solidFill>
              <a:schemeClr val="tx1"/>
            </a:solidFill>
          </a:ln>
        </p:spPr>
        <p:txBody>
          <a:bodyPr wrap="square">
            <a:spAutoFit/>
          </a:bodyPr>
          <a:lstStyle/>
          <a:p>
            <a:r>
              <a:rPr lang="es-CO" sz="1400" dirty="0">
                <a:latin typeface="Consolas" panose="020B0609020204030204" pitchFamily="49" charset="0"/>
              </a:rPr>
              <a:t>Para (i = </a:t>
            </a:r>
            <a:r>
              <a:rPr lang="es-CO" sz="1400" dirty="0" err="1">
                <a:latin typeface="Consolas" panose="020B0609020204030204" pitchFamily="49" charset="0"/>
              </a:rPr>
              <a:t>inicio_ext,fin_ext,act_ext</a:t>
            </a:r>
            <a:r>
              <a:rPr lang="es-CO" sz="1400" dirty="0">
                <a:latin typeface="Consolas" panose="020B0609020204030204" pitchFamily="49" charset="0"/>
              </a:rPr>
              <a:t>) Haga</a:t>
            </a:r>
          </a:p>
          <a:p>
            <a:r>
              <a:rPr lang="es-CO" sz="1400" dirty="0">
                <a:latin typeface="Consolas" panose="020B0609020204030204" pitchFamily="49" charset="0"/>
              </a:rPr>
              <a:t>  Para (j = </a:t>
            </a:r>
            <a:r>
              <a:rPr lang="es-CO" sz="1400" dirty="0" err="1">
                <a:latin typeface="Consolas" panose="020B0609020204030204" pitchFamily="49" charset="0"/>
              </a:rPr>
              <a:t>inicio_int,fin_int,act_int</a:t>
            </a:r>
            <a:r>
              <a:rPr lang="es-CO" sz="1400" dirty="0">
                <a:latin typeface="Consolas" panose="020B0609020204030204" pitchFamily="49" charset="0"/>
              </a:rPr>
              <a:t>) Haga</a:t>
            </a:r>
          </a:p>
          <a:p>
            <a:r>
              <a:rPr lang="es-CO" sz="1400" dirty="0">
                <a:latin typeface="Consolas" panose="020B0609020204030204" pitchFamily="49" charset="0"/>
              </a:rPr>
              <a:t>    ...</a:t>
            </a:r>
          </a:p>
          <a:p>
            <a:r>
              <a:rPr lang="es-CO" sz="1400" dirty="0">
                <a:latin typeface="Consolas" panose="020B0609020204030204" pitchFamily="49" charset="0"/>
              </a:rPr>
              <a:t>  </a:t>
            </a:r>
            <a:r>
              <a:rPr lang="es-CO" sz="1400" dirty="0" err="1">
                <a:latin typeface="Consolas" panose="020B0609020204030204" pitchFamily="49" charset="0"/>
              </a:rPr>
              <a:t>Fin_Para</a:t>
            </a:r>
            <a:endParaRPr lang="es-CO" sz="1400" dirty="0">
              <a:latin typeface="Consolas" panose="020B0609020204030204" pitchFamily="49" charset="0"/>
            </a:endParaRPr>
          </a:p>
          <a:p>
            <a:r>
              <a:rPr lang="es-CO" sz="1400" dirty="0" err="1">
                <a:latin typeface="Consolas" panose="020B0609020204030204" pitchFamily="49" charset="0"/>
              </a:rPr>
              <a:t>Fin_Para</a:t>
            </a:r>
            <a:endParaRPr lang="es-CO" sz="1400" dirty="0">
              <a:latin typeface="Consolas" panose="020B0609020204030204" pitchFamily="49" charset="0"/>
            </a:endParaRPr>
          </a:p>
        </p:txBody>
      </p:sp>
      <p:sp>
        <p:nvSpPr>
          <p:cNvPr id="8" name="CuadroTexto 7">
            <a:extLst>
              <a:ext uri="{FF2B5EF4-FFF2-40B4-BE49-F238E27FC236}">
                <a16:creationId xmlns:a16="http://schemas.microsoft.com/office/drawing/2014/main" id="{300B8BBD-A683-4238-86D4-B74FC143B143}"/>
              </a:ext>
            </a:extLst>
          </p:cNvPr>
          <p:cNvSpPr txBox="1"/>
          <p:nvPr/>
        </p:nvSpPr>
        <p:spPr>
          <a:xfrm>
            <a:off x="2321229" y="5621105"/>
            <a:ext cx="4536504" cy="738664"/>
          </a:xfrm>
          <a:prstGeom prst="rect">
            <a:avLst/>
          </a:prstGeom>
          <a:noFill/>
          <a:ln>
            <a:solidFill>
              <a:schemeClr val="tx1"/>
            </a:solidFill>
          </a:ln>
        </p:spPr>
        <p:txBody>
          <a:bodyPr wrap="square">
            <a:spAutoFit/>
          </a:bodyPr>
          <a:lstStyle/>
          <a:p>
            <a:r>
              <a:rPr lang="es-CO" sz="1400" dirty="0">
                <a:latin typeface="Consolas" panose="020B0609020204030204" pitchFamily="49" charset="0"/>
              </a:rPr>
              <a:t>for i in range(</a:t>
            </a:r>
            <a:r>
              <a:rPr lang="es-CO" sz="1400" dirty="0" err="1">
                <a:latin typeface="Consolas" panose="020B0609020204030204" pitchFamily="49" charset="0"/>
              </a:rPr>
              <a:t>inicio_ext</a:t>
            </a:r>
            <a:r>
              <a:rPr lang="es-CO" sz="1400" dirty="0">
                <a:latin typeface="Consolas" panose="020B0609020204030204" pitchFamily="49" charset="0"/>
              </a:rPr>
              <a:t>, </a:t>
            </a:r>
            <a:r>
              <a:rPr lang="es-CO" sz="1400" dirty="0" err="1">
                <a:latin typeface="Consolas" panose="020B0609020204030204" pitchFamily="49" charset="0"/>
              </a:rPr>
              <a:t>fin_ext</a:t>
            </a:r>
            <a:r>
              <a:rPr lang="es-CO" sz="1400" dirty="0">
                <a:latin typeface="Consolas" panose="020B0609020204030204" pitchFamily="49" charset="0"/>
              </a:rPr>
              <a:t>):</a:t>
            </a:r>
          </a:p>
          <a:p>
            <a:r>
              <a:rPr lang="es-CO" sz="1400" dirty="0">
                <a:latin typeface="Consolas" panose="020B0609020204030204" pitchFamily="49" charset="0"/>
              </a:rPr>
              <a:t>    for j in range(</a:t>
            </a:r>
            <a:r>
              <a:rPr lang="es-CO" sz="1400" dirty="0" err="1">
                <a:latin typeface="Consolas" panose="020B0609020204030204" pitchFamily="49" charset="0"/>
              </a:rPr>
              <a:t>inicio_int</a:t>
            </a:r>
            <a:r>
              <a:rPr lang="es-CO" sz="1400" dirty="0">
                <a:latin typeface="Consolas" panose="020B0609020204030204" pitchFamily="49" charset="0"/>
              </a:rPr>
              <a:t>, </a:t>
            </a:r>
            <a:r>
              <a:rPr lang="es-CO" sz="1400" dirty="0" err="1">
                <a:latin typeface="Consolas" panose="020B0609020204030204" pitchFamily="49" charset="0"/>
              </a:rPr>
              <a:t>fin_int</a:t>
            </a:r>
            <a:r>
              <a:rPr lang="es-CO" sz="1400" dirty="0">
                <a:latin typeface="Consolas" panose="020B0609020204030204" pitchFamily="49" charset="0"/>
              </a:rPr>
              <a:t>):</a:t>
            </a:r>
          </a:p>
          <a:p>
            <a:r>
              <a:rPr lang="es-CO" sz="1400" dirty="0">
                <a:latin typeface="Consolas" panose="020B0609020204030204" pitchFamily="49" charset="0"/>
              </a:rPr>
              <a:t>        ...</a:t>
            </a:r>
          </a:p>
        </p:txBody>
      </p:sp>
      <p:sp>
        <p:nvSpPr>
          <p:cNvPr id="13" name="CuadroTexto 12">
            <a:extLst>
              <a:ext uri="{FF2B5EF4-FFF2-40B4-BE49-F238E27FC236}">
                <a16:creationId xmlns:a16="http://schemas.microsoft.com/office/drawing/2014/main" id="{8470E282-5113-442A-B765-CEABA9D164B1}"/>
              </a:ext>
            </a:extLst>
          </p:cNvPr>
          <p:cNvSpPr txBox="1"/>
          <p:nvPr/>
        </p:nvSpPr>
        <p:spPr>
          <a:xfrm>
            <a:off x="2231740" y="3521740"/>
            <a:ext cx="3354440" cy="400110"/>
          </a:xfrm>
          <a:prstGeom prst="rect">
            <a:avLst/>
          </a:prstGeom>
          <a:noFill/>
        </p:spPr>
        <p:txBody>
          <a:bodyPr wrap="square" rtlCol="0">
            <a:spAutoFit/>
          </a:bodyPr>
          <a:lstStyle/>
          <a:p>
            <a:r>
              <a:rPr lang="es-CO" sz="2000" b="1" dirty="0"/>
              <a:t>Pseudocódigo</a:t>
            </a:r>
          </a:p>
        </p:txBody>
      </p:sp>
      <p:sp>
        <p:nvSpPr>
          <p:cNvPr id="14" name="CuadroTexto 13">
            <a:extLst>
              <a:ext uri="{FF2B5EF4-FFF2-40B4-BE49-F238E27FC236}">
                <a16:creationId xmlns:a16="http://schemas.microsoft.com/office/drawing/2014/main" id="{D2FD6876-C17E-456E-B2DB-CF63941240D1}"/>
              </a:ext>
            </a:extLst>
          </p:cNvPr>
          <p:cNvSpPr txBox="1"/>
          <p:nvPr/>
        </p:nvSpPr>
        <p:spPr>
          <a:xfrm>
            <a:off x="2290963" y="5220995"/>
            <a:ext cx="3354440" cy="400110"/>
          </a:xfrm>
          <a:prstGeom prst="rect">
            <a:avLst/>
          </a:prstGeom>
          <a:noFill/>
        </p:spPr>
        <p:txBody>
          <a:bodyPr wrap="square" rtlCol="0">
            <a:spAutoFit/>
          </a:bodyPr>
          <a:lstStyle/>
          <a:p>
            <a:r>
              <a:rPr lang="es-CO" sz="2000" b="1" dirty="0"/>
              <a:t>Python</a:t>
            </a:r>
          </a:p>
        </p:txBody>
      </p:sp>
    </p:spTree>
    <p:extLst>
      <p:ext uri="{BB962C8B-B14F-4D97-AF65-F5344CB8AC3E}">
        <p14:creationId xmlns:p14="http://schemas.microsoft.com/office/powerpoint/2010/main" val="179685955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4 Título">
            <a:extLst>
              <a:ext uri="{FF2B5EF4-FFF2-40B4-BE49-F238E27FC236}">
                <a16:creationId xmlns:a16="http://schemas.microsoft.com/office/drawing/2014/main" id="{AE7AE4FE-857D-48EA-8C2E-EFF7E2B785AF}"/>
              </a:ext>
            </a:extLst>
          </p:cNvPr>
          <p:cNvSpPr txBox="1">
            <a:spLocks/>
          </p:cNvSpPr>
          <p:nvPr/>
        </p:nvSpPr>
        <p:spPr>
          <a:xfrm>
            <a:off x="145313" y="85895"/>
            <a:ext cx="8747165" cy="67880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4000" dirty="0"/>
              <a:t>Ciclos anidados: Ejercicios</a:t>
            </a:r>
          </a:p>
        </p:txBody>
      </p:sp>
      <mc:AlternateContent xmlns:mc="http://schemas.openxmlformats.org/markup-compatibility/2006">
        <mc:Choice xmlns:a14="http://schemas.microsoft.com/office/drawing/2010/main" Requires="a14">
          <p:sp>
            <p:nvSpPr>
              <p:cNvPr id="11" name="12 Rectángulo">
                <a:extLst>
                  <a:ext uri="{FF2B5EF4-FFF2-40B4-BE49-F238E27FC236}">
                    <a16:creationId xmlns:a16="http://schemas.microsoft.com/office/drawing/2014/main" id="{5FF517F0-E7A8-4F21-B53D-DBC91CFC2CFA}"/>
                  </a:ext>
                </a:extLst>
              </p:cNvPr>
              <p:cNvSpPr/>
              <p:nvPr/>
            </p:nvSpPr>
            <p:spPr>
              <a:xfrm>
                <a:off x="145314" y="762957"/>
                <a:ext cx="8747165" cy="5266955"/>
              </a:xfrm>
              <a:prstGeom prst="rect">
                <a:avLst/>
              </a:prstGeom>
            </p:spPr>
            <p:txBody>
              <a:bodyPr wrap="square">
                <a:spAutoFit/>
              </a:bodyPr>
              <a:lstStyle/>
              <a:p>
                <a:pPr marL="342900" indent="-342900" algn="l">
                  <a:buFont typeface="Arial" panose="020B0604020202020204" pitchFamily="34" charset="0"/>
                  <a:buChar char="•"/>
                </a:pPr>
                <a:r>
                  <a:rPr lang="es-MX" sz="2000" dirty="0"/>
                  <a:t>Cuadro de asteriscos: dado un entero positivo N, imprimir un cuadrado de asteriscos de </a:t>
                </a:r>
                <a:r>
                  <a:rPr lang="es-MX" sz="2000" dirty="0" err="1"/>
                  <a:t>NxN</a:t>
                </a:r>
                <a:r>
                  <a:rPr lang="es-MX" sz="2000" dirty="0"/>
                  <a:t>.</a:t>
                </a:r>
              </a:p>
              <a:p>
                <a:pPr marL="342900" indent="-342900" algn="l">
                  <a:buFont typeface="Arial" panose="020B0604020202020204" pitchFamily="34" charset="0"/>
                  <a:buChar char="•"/>
                </a:pPr>
                <a:r>
                  <a:rPr lang="es-MX" sz="2000" dirty="0"/>
                  <a:t>Cuadro de asteriscos: dado un entero positivo N, imprimir un cuadrado de asteriscos de </a:t>
                </a:r>
                <a:r>
                  <a:rPr lang="es-MX" sz="2000" dirty="0" err="1"/>
                  <a:t>NxN</a:t>
                </a:r>
                <a:r>
                  <a:rPr lang="es-MX" sz="2000" dirty="0"/>
                  <a:t> el cual sea vacío por dentro. Es decir que el borde sea de solo un asterisco.</a:t>
                </a:r>
              </a:p>
              <a:p>
                <a:pPr marL="342900" indent="-342900" algn="l">
                  <a:buFont typeface="Arial" panose="020B0604020202020204" pitchFamily="34" charset="0"/>
                  <a:buChar char="•"/>
                </a:pPr>
                <a:r>
                  <a:rPr lang="es-MX" sz="2000" dirty="0"/>
                  <a:t>Triángulo de asteriscos: dado un entero positivo N, imprimir un triángulo rectángulo de asteriscos de N filas, en el cual la fila i contiene i asteriscos.</a:t>
                </a:r>
              </a:p>
              <a:p>
                <a:pPr marL="342900" indent="-342900">
                  <a:buFont typeface="Arial" panose="020B0604020202020204" pitchFamily="34" charset="0"/>
                  <a:buChar char="•"/>
                </a:pPr>
                <a:r>
                  <a:rPr lang="es-MX" sz="2000" dirty="0"/>
                  <a:t>Hacer un programa muestra la cantidad de números primos hasta un numero ingresado por el usuario.</a:t>
                </a:r>
              </a:p>
              <a:p>
                <a:pPr marL="342900" indent="-342900" algn="l">
                  <a:buFont typeface="Arial" panose="020B0604020202020204" pitchFamily="34" charset="0"/>
                  <a:buChar char="•"/>
                </a:pPr>
                <a:r>
                  <a:rPr lang="es-MX" sz="2000" dirty="0"/>
                  <a:t>Hacer un programa que permita obtener los primeros N números primos.</a:t>
                </a:r>
              </a:p>
              <a:p>
                <a:pPr marL="342900" indent="-342900">
                  <a:buFont typeface="Arial" panose="020B0604020202020204" pitchFamily="34" charset="0"/>
                  <a:buChar char="•"/>
                </a:pPr>
                <a:r>
                  <a:rPr lang="es-MX" sz="2000" dirty="0"/>
                  <a:t>Dados un valor real </a:t>
                </a:r>
                <a14:m>
                  <m:oMath xmlns:m="http://schemas.openxmlformats.org/officeDocument/2006/math">
                    <m:r>
                      <a:rPr lang="es-MX" sz="2000" i="1" dirty="0" smtClean="0">
                        <a:latin typeface="Cambria Math" panose="02040503050406030204" pitchFamily="18" charset="0"/>
                      </a:rPr>
                      <m:t>𝑥</m:t>
                    </m:r>
                  </m:oMath>
                </a14:m>
                <a:r>
                  <a:rPr lang="es-MX" sz="2000" dirty="0"/>
                  <a:t> y un entero N, aproximar </a:t>
                </a:r>
                <a14:m>
                  <m:oMath xmlns:m="http://schemas.openxmlformats.org/officeDocument/2006/math">
                    <m:sSup>
                      <m:sSupPr>
                        <m:ctrlPr>
                          <a:rPr lang="es-MX" sz="2000" b="0" i="1" smtClean="0">
                            <a:latin typeface="Cambria Math" panose="02040503050406030204" pitchFamily="18" charset="0"/>
                          </a:rPr>
                        </m:ctrlPr>
                      </m:sSupPr>
                      <m:e>
                        <m:r>
                          <a:rPr lang="es-MX" sz="2000" b="0" i="1" smtClean="0">
                            <a:latin typeface="Cambria Math" panose="02040503050406030204" pitchFamily="18" charset="0"/>
                          </a:rPr>
                          <m:t>𝑒</m:t>
                        </m:r>
                      </m:e>
                      <m:sup>
                        <m:r>
                          <a:rPr lang="es-MX" sz="2000" b="0" i="1" smtClean="0">
                            <a:latin typeface="Cambria Math" panose="02040503050406030204" pitchFamily="18" charset="0"/>
                          </a:rPr>
                          <m:t>𝑥</m:t>
                        </m:r>
                      </m:sup>
                    </m:sSup>
                  </m:oMath>
                </a14:m>
                <a:r>
                  <a:rPr lang="es-MX" sz="2000" dirty="0"/>
                  <a:t> mediante la serie:</a:t>
                </a:r>
              </a:p>
              <a:p>
                <a:pPr marL="342900" indent="-342900">
                  <a:buFont typeface="Arial" panose="020B0604020202020204" pitchFamily="34" charset="0"/>
                  <a:buChar char="•"/>
                </a:pPr>
                <a:endParaRPr lang="es-MX" sz="2000" dirty="0"/>
              </a:p>
              <a:p>
                <a:pPr algn="ctr"/>
                <a14:m>
                  <m:oMathPara xmlns:m="http://schemas.openxmlformats.org/officeDocument/2006/math">
                    <m:oMathParaPr>
                      <m:jc m:val="centerGroup"/>
                    </m:oMathParaPr>
                    <m:oMath xmlns:m="http://schemas.openxmlformats.org/officeDocument/2006/math">
                      <m:sSup>
                        <m:sSupPr>
                          <m:ctrlPr>
                            <a:rPr lang="es-MX" sz="2000" i="1">
                              <a:latin typeface="Cambria Math" panose="02040503050406030204" pitchFamily="18" charset="0"/>
                            </a:rPr>
                          </m:ctrlPr>
                        </m:sSupPr>
                        <m:e>
                          <m:r>
                            <a:rPr lang="es-MX" sz="2000" i="1">
                              <a:latin typeface="Cambria Math" panose="02040503050406030204" pitchFamily="18" charset="0"/>
                            </a:rPr>
                            <m:t>𝑒</m:t>
                          </m:r>
                        </m:e>
                        <m:sup>
                          <m:r>
                            <a:rPr lang="es-MX" sz="2000" i="1">
                              <a:latin typeface="Cambria Math" panose="02040503050406030204" pitchFamily="18" charset="0"/>
                            </a:rPr>
                            <m:t>𝑥</m:t>
                          </m:r>
                        </m:sup>
                      </m:sSup>
                      <m:r>
                        <a:rPr lang="es-MX" sz="2000" i="1">
                          <a:latin typeface="Cambria Math" panose="02040503050406030204" pitchFamily="18" charset="0"/>
                          <a:ea typeface="Cambria Math" panose="02040503050406030204" pitchFamily="18" charset="0"/>
                        </a:rPr>
                        <m:t>≈</m:t>
                      </m:r>
                      <m:nary>
                        <m:naryPr>
                          <m:chr m:val="∑"/>
                          <m:ctrlPr>
                            <a:rPr lang="es-MX" sz="2000" i="1" smtClean="0">
                              <a:latin typeface="Cambria Math" panose="02040503050406030204" pitchFamily="18" charset="0"/>
                              <a:ea typeface="Cambria Math" panose="02040503050406030204" pitchFamily="18" charset="0"/>
                            </a:rPr>
                          </m:ctrlPr>
                        </m:naryPr>
                        <m:sub>
                          <m:r>
                            <m:rPr>
                              <m:brk m:alnAt="23"/>
                            </m:rPr>
                            <a:rPr lang="es-MX" sz="2000" b="0" i="1" smtClean="0">
                              <a:latin typeface="Cambria Math" panose="02040503050406030204" pitchFamily="18" charset="0"/>
                              <a:ea typeface="Cambria Math" panose="02040503050406030204" pitchFamily="18" charset="0"/>
                            </a:rPr>
                            <m:t>𝑛</m:t>
                          </m:r>
                          <m:r>
                            <a:rPr lang="es-MX" sz="2000" b="0" i="1" smtClean="0">
                              <a:latin typeface="Cambria Math" panose="02040503050406030204" pitchFamily="18" charset="0"/>
                              <a:ea typeface="Cambria Math" panose="02040503050406030204" pitchFamily="18" charset="0"/>
                            </a:rPr>
                            <m:t>=0</m:t>
                          </m:r>
                        </m:sub>
                        <m:sup>
                          <m:r>
                            <a:rPr lang="es-MX" sz="2000" b="0" i="1" smtClean="0">
                              <a:latin typeface="Cambria Math" panose="02040503050406030204" pitchFamily="18" charset="0"/>
                              <a:ea typeface="Cambria Math" panose="02040503050406030204" pitchFamily="18" charset="0"/>
                            </a:rPr>
                            <m:t>𝑁</m:t>
                          </m:r>
                        </m:sup>
                        <m:e>
                          <m:d>
                            <m:dPr>
                              <m:ctrlPr>
                                <a:rPr lang="es-MX" sz="2000" i="1">
                                  <a:latin typeface="Cambria Math" panose="02040503050406030204" pitchFamily="18" charset="0"/>
                                  <a:ea typeface="Cambria Math" panose="02040503050406030204" pitchFamily="18" charset="0"/>
                                </a:rPr>
                              </m:ctrlPr>
                            </m:dPr>
                            <m:e>
                              <m:f>
                                <m:fPr>
                                  <m:ctrlPr>
                                    <a:rPr lang="es-MX" sz="2000" i="1">
                                      <a:latin typeface="Cambria Math" panose="02040503050406030204" pitchFamily="18" charset="0"/>
                                      <a:ea typeface="Cambria Math" panose="02040503050406030204" pitchFamily="18" charset="0"/>
                                    </a:rPr>
                                  </m:ctrlPr>
                                </m:fPr>
                                <m:num>
                                  <m:sSup>
                                    <m:sSupPr>
                                      <m:ctrlPr>
                                        <a:rPr lang="es-MX" sz="2000" i="1">
                                          <a:latin typeface="Cambria Math" panose="02040503050406030204" pitchFamily="18" charset="0"/>
                                          <a:ea typeface="Cambria Math" panose="02040503050406030204" pitchFamily="18" charset="0"/>
                                        </a:rPr>
                                      </m:ctrlPr>
                                    </m:sSupPr>
                                    <m:e>
                                      <m:r>
                                        <a:rPr lang="es-MX" sz="2000" i="1">
                                          <a:latin typeface="Cambria Math" panose="02040503050406030204" pitchFamily="18" charset="0"/>
                                          <a:ea typeface="Cambria Math" panose="02040503050406030204" pitchFamily="18" charset="0"/>
                                        </a:rPr>
                                        <m:t>𝑥</m:t>
                                      </m:r>
                                    </m:e>
                                    <m:sup>
                                      <m:r>
                                        <a:rPr lang="es-MX" sz="2000" i="1">
                                          <a:latin typeface="Cambria Math" panose="02040503050406030204" pitchFamily="18" charset="0"/>
                                          <a:ea typeface="Cambria Math" panose="02040503050406030204" pitchFamily="18" charset="0"/>
                                        </a:rPr>
                                        <m:t>𝑛</m:t>
                                      </m:r>
                                    </m:sup>
                                  </m:sSup>
                                </m:num>
                                <m:den>
                                  <m:r>
                                    <a:rPr lang="es-MX" sz="2000" i="1">
                                      <a:latin typeface="Cambria Math" panose="02040503050406030204" pitchFamily="18" charset="0"/>
                                      <a:ea typeface="Cambria Math" panose="02040503050406030204" pitchFamily="18" charset="0"/>
                                    </a:rPr>
                                    <m:t>𝑛</m:t>
                                  </m:r>
                                  <m:r>
                                    <a:rPr lang="es-MX" sz="2000" i="1">
                                      <a:latin typeface="Cambria Math" panose="02040503050406030204" pitchFamily="18" charset="0"/>
                                      <a:ea typeface="Cambria Math" panose="02040503050406030204" pitchFamily="18" charset="0"/>
                                    </a:rPr>
                                    <m:t>!</m:t>
                                  </m:r>
                                </m:den>
                              </m:f>
                            </m:e>
                          </m:d>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1+</m:t>
                          </m:r>
                          <m:r>
                            <a:rPr lang="es-MX" sz="2000" i="1">
                              <a:latin typeface="Cambria Math" panose="02040503050406030204" pitchFamily="18" charset="0"/>
                              <a:ea typeface="Cambria Math" panose="02040503050406030204" pitchFamily="18" charset="0"/>
                            </a:rPr>
                            <m:t>𝑥</m:t>
                          </m:r>
                          <m:r>
                            <a:rPr lang="es-MX" sz="2000" b="0" i="1" smtClean="0">
                              <a:latin typeface="Cambria Math" panose="02040503050406030204" pitchFamily="18" charset="0"/>
                              <a:ea typeface="Cambria Math" panose="02040503050406030204" pitchFamily="18" charset="0"/>
                            </a:rPr>
                            <m:t>+</m:t>
                          </m:r>
                          <m:f>
                            <m:fPr>
                              <m:ctrlPr>
                                <a:rPr lang="es-MX" sz="2000" b="0" i="1" smtClean="0">
                                  <a:latin typeface="Cambria Math" panose="02040503050406030204" pitchFamily="18" charset="0"/>
                                  <a:ea typeface="Cambria Math" panose="02040503050406030204" pitchFamily="18" charset="0"/>
                                </a:rPr>
                              </m:ctrlPr>
                            </m:fPr>
                            <m:num>
                              <m:sSup>
                                <m:sSupPr>
                                  <m:ctrlPr>
                                    <a:rPr lang="es-MX" sz="2000" b="0" i="1" smtClean="0">
                                      <a:latin typeface="Cambria Math" panose="02040503050406030204" pitchFamily="18" charset="0"/>
                                      <a:ea typeface="Cambria Math" panose="02040503050406030204" pitchFamily="18" charset="0"/>
                                    </a:rPr>
                                  </m:ctrlPr>
                                </m:sSupPr>
                                <m:e>
                                  <m:r>
                                    <a:rPr lang="es-MX" sz="2000" i="1">
                                      <a:latin typeface="Cambria Math" panose="02040503050406030204" pitchFamily="18" charset="0"/>
                                      <a:ea typeface="Cambria Math" panose="02040503050406030204" pitchFamily="18" charset="0"/>
                                    </a:rPr>
                                    <m:t>𝑥</m:t>
                                  </m:r>
                                </m:e>
                                <m:sup>
                                  <m:r>
                                    <a:rPr lang="es-MX" sz="2000" b="0" i="1" smtClean="0">
                                      <a:latin typeface="Cambria Math" panose="02040503050406030204" pitchFamily="18" charset="0"/>
                                      <a:ea typeface="Cambria Math" panose="02040503050406030204" pitchFamily="18" charset="0"/>
                                    </a:rPr>
                                    <m:t>2</m:t>
                                  </m:r>
                                </m:sup>
                              </m:sSup>
                            </m:num>
                            <m:den>
                              <m:r>
                                <a:rPr lang="es-MX" sz="2000" b="0" i="1" smtClean="0">
                                  <a:latin typeface="Cambria Math" panose="02040503050406030204" pitchFamily="18" charset="0"/>
                                  <a:ea typeface="Cambria Math" panose="02040503050406030204" pitchFamily="18" charset="0"/>
                                </a:rPr>
                                <m:t>2!</m:t>
                              </m:r>
                            </m:den>
                          </m:f>
                          <m:r>
                            <a:rPr lang="es-MX" sz="2000" b="0" i="1" smtClean="0">
                              <a:latin typeface="Cambria Math" panose="02040503050406030204" pitchFamily="18" charset="0"/>
                              <a:ea typeface="Cambria Math" panose="02040503050406030204" pitchFamily="18" charset="0"/>
                            </a:rPr>
                            <m:t>+</m:t>
                          </m:r>
                          <m:f>
                            <m:fPr>
                              <m:ctrlPr>
                                <a:rPr lang="es-MX" sz="2000" i="1">
                                  <a:latin typeface="Cambria Math" panose="02040503050406030204" pitchFamily="18" charset="0"/>
                                  <a:ea typeface="Cambria Math" panose="02040503050406030204" pitchFamily="18" charset="0"/>
                                </a:rPr>
                              </m:ctrlPr>
                            </m:fPr>
                            <m:num>
                              <m:sSup>
                                <m:sSupPr>
                                  <m:ctrlPr>
                                    <a:rPr lang="es-MX" sz="2000" i="1">
                                      <a:latin typeface="Cambria Math" panose="02040503050406030204" pitchFamily="18" charset="0"/>
                                      <a:ea typeface="Cambria Math" panose="02040503050406030204" pitchFamily="18" charset="0"/>
                                    </a:rPr>
                                  </m:ctrlPr>
                                </m:sSupPr>
                                <m:e>
                                  <m:r>
                                    <a:rPr lang="es-MX" sz="2000" i="1">
                                      <a:latin typeface="Cambria Math" panose="02040503050406030204" pitchFamily="18" charset="0"/>
                                      <a:ea typeface="Cambria Math" panose="02040503050406030204" pitchFamily="18" charset="0"/>
                                    </a:rPr>
                                    <m:t>𝑥</m:t>
                                  </m:r>
                                </m:e>
                                <m:sup>
                                  <m:r>
                                    <a:rPr lang="es-MX" sz="2000" b="0" i="1" smtClean="0">
                                      <a:latin typeface="Cambria Math" panose="02040503050406030204" pitchFamily="18" charset="0"/>
                                      <a:ea typeface="Cambria Math" panose="02040503050406030204" pitchFamily="18" charset="0"/>
                                    </a:rPr>
                                    <m:t>3</m:t>
                                  </m:r>
                                </m:sup>
                              </m:sSup>
                            </m:num>
                            <m:den>
                              <m:r>
                                <a:rPr lang="es-MX" sz="2000" b="0" i="1" smtClean="0">
                                  <a:latin typeface="Cambria Math" panose="02040503050406030204" pitchFamily="18" charset="0"/>
                                  <a:ea typeface="Cambria Math" panose="02040503050406030204" pitchFamily="18" charset="0"/>
                                </a:rPr>
                                <m:t>3</m:t>
                              </m:r>
                              <m:r>
                                <a:rPr lang="es-MX" sz="2000" i="1">
                                  <a:latin typeface="Cambria Math" panose="02040503050406030204" pitchFamily="18" charset="0"/>
                                  <a:ea typeface="Cambria Math" panose="02040503050406030204" pitchFamily="18" charset="0"/>
                                </a:rPr>
                                <m:t>!</m:t>
                              </m:r>
                            </m:den>
                          </m:f>
                          <m:r>
                            <a:rPr lang="es-MX" sz="2000" b="0" i="1" smtClean="0">
                              <a:latin typeface="Cambria Math" panose="02040503050406030204" pitchFamily="18" charset="0"/>
                              <a:ea typeface="Cambria Math" panose="02040503050406030204" pitchFamily="18" charset="0"/>
                            </a:rPr>
                            <m:t>+…+</m:t>
                          </m:r>
                          <m:f>
                            <m:fPr>
                              <m:ctrlPr>
                                <a:rPr lang="es-MX" sz="2000" i="1">
                                  <a:latin typeface="Cambria Math" panose="02040503050406030204" pitchFamily="18" charset="0"/>
                                  <a:ea typeface="Cambria Math" panose="02040503050406030204" pitchFamily="18" charset="0"/>
                                </a:rPr>
                              </m:ctrlPr>
                            </m:fPr>
                            <m:num>
                              <m:sSup>
                                <m:sSupPr>
                                  <m:ctrlPr>
                                    <a:rPr lang="es-MX" sz="2000" i="1">
                                      <a:latin typeface="Cambria Math" panose="02040503050406030204" pitchFamily="18" charset="0"/>
                                      <a:ea typeface="Cambria Math" panose="02040503050406030204" pitchFamily="18" charset="0"/>
                                    </a:rPr>
                                  </m:ctrlPr>
                                </m:sSupPr>
                                <m:e>
                                  <m:r>
                                    <a:rPr lang="es-MX" sz="2000" i="1">
                                      <a:latin typeface="Cambria Math" panose="02040503050406030204" pitchFamily="18" charset="0"/>
                                      <a:ea typeface="Cambria Math" panose="02040503050406030204" pitchFamily="18" charset="0"/>
                                    </a:rPr>
                                    <m:t>𝑥</m:t>
                                  </m:r>
                                </m:e>
                                <m:sup>
                                  <m:r>
                                    <a:rPr lang="es-MX" sz="2000" b="0" i="1" smtClean="0">
                                      <a:latin typeface="Cambria Math" panose="02040503050406030204" pitchFamily="18" charset="0"/>
                                      <a:ea typeface="Cambria Math" panose="02040503050406030204" pitchFamily="18" charset="0"/>
                                    </a:rPr>
                                    <m:t>𝑛</m:t>
                                  </m:r>
                                </m:sup>
                              </m:sSup>
                            </m:num>
                            <m:den>
                              <m:r>
                                <a:rPr lang="es-MX" sz="2000" b="0" i="1" smtClean="0">
                                  <a:latin typeface="Cambria Math" panose="02040503050406030204" pitchFamily="18" charset="0"/>
                                  <a:ea typeface="Cambria Math" panose="02040503050406030204" pitchFamily="18" charset="0"/>
                                </a:rPr>
                                <m:t>𝑛</m:t>
                              </m:r>
                              <m:r>
                                <a:rPr lang="es-MX" sz="2000" i="1">
                                  <a:latin typeface="Cambria Math" panose="02040503050406030204" pitchFamily="18" charset="0"/>
                                  <a:ea typeface="Cambria Math" panose="02040503050406030204" pitchFamily="18" charset="0"/>
                                </a:rPr>
                                <m:t>!</m:t>
                              </m:r>
                            </m:den>
                          </m:f>
                        </m:e>
                      </m:nary>
                    </m:oMath>
                  </m:oMathPara>
                </a14:m>
                <a:endParaRPr lang="es-MX" sz="2000" dirty="0"/>
              </a:p>
              <a:p>
                <a:pPr algn="ctr"/>
                <a:endParaRPr lang="es-MX" sz="2000" dirty="0"/>
              </a:p>
              <a:p>
                <a:pPr marL="342900" indent="-342900">
                  <a:buFont typeface="Arial" panose="020B0604020202020204" pitchFamily="34" charset="0"/>
                  <a:buChar char="•"/>
                </a:pPr>
                <a:endParaRPr lang="es-MX" sz="2000" dirty="0"/>
              </a:p>
            </p:txBody>
          </p:sp>
        </mc:Choice>
        <mc:Fallback>
          <p:sp>
            <p:nvSpPr>
              <p:cNvPr id="11" name="12 Rectángulo">
                <a:extLst>
                  <a:ext uri="{FF2B5EF4-FFF2-40B4-BE49-F238E27FC236}">
                    <a16:creationId xmlns:a16="http://schemas.microsoft.com/office/drawing/2014/main" id="{5FF517F0-E7A8-4F21-B53D-DBC91CFC2CFA}"/>
                  </a:ext>
                </a:extLst>
              </p:cNvPr>
              <p:cNvSpPr>
                <a:spLocks noRot="1" noChangeAspect="1" noMove="1" noResize="1" noEditPoints="1" noAdjustHandles="1" noChangeArrowheads="1" noChangeShapeType="1" noTextEdit="1"/>
              </p:cNvSpPr>
              <p:nvPr/>
            </p:nvSpPr>
            <p:spPr>
              <a:xfrm>
                <a:off x="145314" y="762957"/>
                <a:ext cx="8747165" cy="5266955"/>
              </a:xfrm>
              <a:prstGeom prst="rect">
                <a:avLst/>
              </a:prstGeom>
              <a:blipFill>
                <a:blip r:embed="rId2"/>
                <a:stretch>
                  <a:fillRect l="-627" t="-579" r="-1045"/>
                </a:stretch>
              </a:blipFill>
            </p:spPr>
            <p:txBody>
              <a:bodyPr/>
              <a:lstStyle/>
              <a:p>
                <a:r>
                  <a:rPr lang="es-CO">
                    <a:noFill/>
                  </a:rPr>
                  <a:t> </a:t>
                </a:r>
              </a:p>
            </p:txBody>
          </p:sp>
        </mc:Fallback>
      </mc:AlternateContent>
    </p:spTree>
    <p:extLst>
      <p:ext uri="{BB962C8B-B14F-4D97-AF65-F5344CB8AC3E}">
        <p14:creationId xmlns:p14="http://schemas.microsoft.com/office/powerpoint/2010/main" val="28168518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07504" y="23817"/>
            <a:ext cx="7886700" cy="812895"/>
          </a:xfrm>
        </p:spPr>
        <p:txBody>
          <a:bodyPr>
            <a:normAutofit/>
          </a:bodyPr>
          <a:lstStyle/>
          <a:p>
            <a:r>
              <a:rPr lang="en-US" sz="4000" dirty="0"/>
              <a:t>Referencias</a:t>
            </a:r>
          </a:p>
        </p:txBody>
      </p:sp>
      <p:sp>
        <p:nvSpPr>
          <p:cNvPr id="2" name="Content Placeholder 1"/>
          <p:cNvSpPr>
            <a:spLocks noGrp="1"/>
          </p:cNvSpPr>
          <p:nvPr>
            <p:ph idx="1"/>
          </p:nvPr>
        </p:nvSpPr>
        <p:spPr>
          <a:xfrm>
            <a:off x="251520" y="1088740"/>
            <a:ext cx="8424936" cy="4680520"/>
          </a:xfrm>
        </p:spPr>
        <p:txBody>
          <a:bodyPr>
            <a:normAutofit lnSpcReduction="10000"/>
          </a:bodyPr>
          <a:lstStyle/>
          <a:p>
            <a:pPr marL="457200" indent="-457200">
              <a:buFont typeface="+mj-lt"/>
              <a:buAutoNum type="arabicPeriod"/>
            </a:pPr>
            <a:r>
              <a:rPr lang="es-CO" sz="2000" dirty="0">
                <a:hlinkClick r:id="rId2"/>
              </a:rPr>
              <a:t>https://ellibrodepython.com/</a:t>
            </a:r>
            <a:endParaRPr lang="es-CO" sz="2000" dirty="0"/>
          </a:p>
          <a:p>
            <a:pPr marL="457200" indent="-457200">
              <a:buFont typeface="+mj-lt"/>
              <a:buAutoNum type="arabicPeriod"/>
            </a:pPr>
            <a:r>
              <a:rPr lang="es-CO" sz="2000" dirty="0">
                <a:hlinkClick r:id="rId3"/>
              </a:rPr>
              <a:t>https://www.w3resource.com/index.php</a:t>
            </a:r>
            <a:endParaRPr lang="es-CO" sz="2000" dirty="0"/>
          </a:p>
          <a:p>
            <a:pPr marL="457200" indent="-457200">
              <a:buFont typeface="+mj-lt"/>
              <a:buAutoNum type="arabicPeriod"/>
            </a:pPr>
            <a:r>
              <a:rPr lang="es-CO" sz="2000" dirty="0">
                <a:hlinkClick r:id="rId4"/>
              </a:rPr>
              <a:t>https://realpython.com/</a:t>
            </a:r>
            <a:endParaRPr lang="es-CO" sz="2000" dirty="0"/>
          </a:p>
          <a:p>
            <a:pPr marL="457200" indent="-457200">
              <a:buFont typeface="+mj-lt"/>
              <a:buAutoNum type="arabicPeriod"/>
            </a:pPr>
            <a:r>
              <a:rPr lang="es-CO" sz="2000" dirty="0">
                <a:hlinkClick r:id="rId5"/>
              </a:rPr>
              <a:t>https://curriculumresources.edu.gh/wp-content/uploads/2025/01/</a:t>
            </a:r>
            <a:endParaRPr lang="es-CO" sz="2000" dirty="0"/>
          </a:p>
          <a:p>
            <a:pPr marL="457200" indent="-457200">
              <a:buFont typeface="+mj-lt"/>
              <a:buAutoNum type="arabicPeriod"/>
            </a:pPr>
            <a:r>
              <a:rPr lang="es-CO" sz="2000" dirty="0">
                <a:hlinkClick r:id="rId6"/>
              </a:rPr>
              <a:t>https://python-course.eu/</a:t>
            </a:r>
            <a:endParaRPr lang="es-CO" sz="2000" dirty="0"/>
          </a:p>
          <a:p>
            <a:pPr marL="457200" indent="-457200">
              <a:buFont typeface="+mj-lt"/>
              <a:buAutoNum type="arabicPeriod"/>
            </a:pPr>
            <a:r>
              <a:rPr lang="es-CO" sz="2000" dirty="0">
                <a:hlinkClick r:id="rId7"/>
              </a:rPr>
              <a:t>https://realpython.com/cheatsheets/python/</a:t>
            </a:r>
            <a:endParaRPr lang="es-CO" sz="2000" dirty="0"/>
          </a:p>
          <a:p>
            <a:pPr marL="457200" indent="-457200">
              <a:buFont typeface="+mj-lt"/>
              <a:buAutoNum type="arabicPeriod"/>
            </a:pPr>
            <a:r>
              <a:rPr lang="es-CO" sz="2000" dirty="0">
                <a:hlinkClick r:id="rId8"/>
              </a:rPr>
              <a:t>https://realpython.com/python-conditional-statements/</a:t>
            </a:r>
            <a:endParaRPr lang="es-CO" sz="2000" dirty="0"/>
          </a:p>
          <a:p>
            <a:pPr marL="457200" indent="-457200">
              <a:buFont typeface="+mj-lt"/>
              <a:buAutoNum type="arabicPeriod"/>
            </a:pPr>
            <a:r>
              <a:rPr lang="es-CO" sz="2000" dirty="0">
                <a:hlinkClick r:id="rId9"/>
              </a:rPr>
              <a:t>https://realpython.com/ref/best-practices/conditionals/</a:t>
            </a:r>
            <a:r>
              <a:rPr lang="es-CO" sz="2000" dirty="0"/>
              <a:t>   </a:t>
            </a:r>
          </a:p>
          <a:p>
            <a:pPr marL="457200" indent="-457200">
              <a:buFont typeface="+mj-lt"/>
              <a:buAutoNum type="arabicPeriod"/>
            </a:pPr>
            <a:r>
              <a:rPr lang="es-CO" sz="2000" dirty="0">
                <a:hlinkClick r:id="rId10"/>
              </a:rPr>
              <a:t>https://makecode.microbit.org/courses/csintro</a:t>
            </a:r>
            <a:r>
              <a:rPr lang="es-CO" sz="2000" dirty="0"/>
              <a:t>   </a:t>
            </a:r>
          </a:p>
          <a:p>
            <a:pPr marL="457200" indent="-457200">
              <a:buFont typeface="+mj-lt"/>
              <a:buAutoNum type="arabicPeriod"/>
            </a:pPr>
            <a:r>
              <a:rPr lang="en-US" sz="2000" dirty="0">
                <a:hlinkClick r:id="rId11"/>
              </a:rPr>
              <a:t>https://makecode.microbit.org/courses</a:t>
            </a:r>
            <a:r>
              <a:rPr lang="en-US" sz="2000" dirty="0"/>
              <a:t> </a:t>
            </a:r>
          </a:p>
          <a:p>
            <a:pPr marL="457200" indent="-457200">
              <a:buFont typeface="+mj-lt"/>
              <a:buAutoNum type="arabicPeriod"/>
            </a:pPr>
            <a:r>
              <a:rPr lang="en-US" sz="2000" dirty="0">
                <a:hlinkClick r:id="rId12"/>
              </a:rPr>
              <a:t>https://realpython.com/python-while-loop/</a:t>
            </a:r>
            <a:endParaRPr lang="en-US" sz="2000" dirty="0"/>
          </a:p>
          <a:p>
            <a:pPr marL="457200" indent="-457200">
              <a:buFont typeface="+mj-lt"/>
              <a:buAutoNum type="arabicPeriod"/>
            </a:pPr>
            <a:r>
              <a:rPr lang="en-US" sz="2000" dirty="0">
                <a:hlinkClick r:id="rId13"/>
              </a:rPr>
              <a:t>https://realpython.com/ref/keywords/while/</a:t>
            </a:r>
            <a:r>
              <a:rPr lang="en-US" sz="2000" dirty="0"/>
              <a:t> </a:t>
            </a:r>
          </a:p>
        </p:txBody>
      </p:sp>
    </p:spTree>
    <p:extLst>
      <p:ext uri="{BB962C8B-B14F-4D97-AF65-F5344CB8AC3E}">
        <p14:creationId xmlns:p14="http://schemas.microsoft.com/office/powerpoint/2010/main" val="102316485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80617"/>
            <a:ext cx="8191822" cy="728103"/>
          </a:xfrm>
        </p:spPr>
        <p:txBody>
          <a:bodyPr/>
          <a:lstStyle/>
          <a:p>
            <a:r>
              <a:rPr lang="es-CO" dirty="0"/>
              <a:t>Eso es todo amigos</a:t>
            </a:r>
            <a:endParaRPr lang="en-US" dirty="0"/>
          </a:p>
        </p:txBody>
      </p:sp>
      <p:pic>
        <p:nvPicPr>
          <p:cNvPr id="4" name="Picture 4">
            <a:extLst>
              <a:ext uri="{FF2B5EF4-FFF2-40B4-BE49-F238E27FC236}">
                <a16:creationId xmlns:a16="http://schemas.microsoft.com/office/drawing/2014/main" id="{7F35EEF4-F126-467F-A5BB-259AA64991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1960" y="912200"/>
            <a:ext cx="4113633" cy="5868856"/>
          </a:xfrm>
          <a:prstGeom prst="rect">
            <a:avLst/>
          </a:prstGeom>
          <a:noFill/>
          <a:extLst>
            <a:ext uri="{909E8E84-426E-40DD-AFC4-6F175D3DCCD1}">
              <a14:hiddenFill xmlns:a14="http://schemas.microsoft.com/office/drawing/2010/main">
                <a:solidFill>
                  <a:srgbClr val="FFFFFF"/>
                </a:solidFill>
              </a14:hiddenFill>
            </a:ext>
          </a:extLst>
        </p:spPr>
      </p:pic>
      <p:sp>
        <p:nvSpPr>
          <p:cNvPr id="5" name="7 Rectángulo">
            <a:extLst>
              <a:ext uri="{FF2B5EF4-FFF2-40B4-BE49-F238E27FC236}">
                <a16:creationId xmlns:a16="http://schemas.microsoft.com/office/drawing/2014/main" id="{27C7AA4C-274E-4F17-B614-41C209AA98D3}"/>
              </a:ext>
            </a:extLst>
          </p:cNvPr>
          <p:cNvSpPr/>
          <p:nvPr/>
        </p:nvSpPr>
        <p:spPr>
          <a:xfrm>
            <a:off x="101021" y="6519446"/>
            <a:ext cx="3678892" cy="261610"/>
          </a:xfrm>
          <a:prstGeom prst="rect">
            <a:avLst/>
          </a:prstGeom>
        </p:spPr>
        <p:txBody>
          <a:bodyPr wrap="square">
            <a:spAutoFit/>
          </a:bodyPr>
          <a:lstStyle/>
          <a:p>
            <a:r>
              <a:rPr lang="es-CO" sz="1100" dirty="0">
                <a:hlinkClick r:id="rId3"/>
              </a:rPr>
              <a:t>https://phdcomics.com/comics/archive.php?comicid=1431</a:t>
            </a:r>
            <a:r>
              <a:rPr lang="es-CO" sz="1100" dirty="0"/>
              <a:t> </a:t>
            </a:r>
          </a:p>
        </p:txBody>
      </p:sp>
      <p:pic>
        <p:nvPicPr>
          <p:cNvPr id="2050" name="Picture 2" descr="Ouch Images – Browse 81,244 Stock Photos, Vectors, and Video | Adobe Stock">
            <a:extLst>
              <a:ext uri="{FF2B5EF4-FFF2-40B4-BE49-F238E27FC236}">
                <a16:creationId xmlns:a16="http://schemas.microsoft.com/office/drawing/2014/main" id="{190AEE93-FCB4-45D0-A740-34697C5E77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451" y="2496793"/>
            <a:ext cx="3563955" cy="24345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4962735"/>
      </p:ext>
    </p:extLst>
  </p:cSld>
  <p:clrMapOvr>
    <a:masterClrMapping/>
  </p:clrMapOvr>
</p:sld>
</file>

<file path=ppt/theme/theme1.xml><?xml version="1.0" encoding="utf-8"?>
<a:theme xmlns:a="http://schemas.openxmlformats.org/drawingml/2006/main" name="Office Theme">
  <a:themeElements>
    <a:clrScheme name="Tema de Offic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12794</TotalTime>
  <Words>9455</Words>
  <Application>Microsoft Office PowerPoint</Application>
  <PresentationFormat>Presentación en pantalla (4:3)</PresentationFormat>
  <Paragraphs>1458</Paragraphs>
  <Slides>69</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69</vt:i4>
      </vt:variant>
    </vt:vector>
  </HeadingPairs>
  <TitlesOfParts>
    <vt:vector size="76" baseType="lpstr">
      <vt:lpstr>Arial</vt:lpstr>
      <vt:lpstr>Calibri</vt:lpstr>
      <vt:lpstr>Calibri Light</vt:lpstr>
      <vt:lpstr>Cambria Math</vt:lpstr>
      <vt:lpstr>Century Gothic</vt:lpstr>
      <vt:lpstr>Consolas</vt:lpstr>
      <vt:lpstr>Office Theme</vt:lpstr>
      <vt:lpstr>Lógica y Representación 1</vt:lpstr>
      <vt:lpstr>Método de Polya - Resumen</vt:lpstr>
      <vt:lpstr>Entrada, procesamiento y salida</vt:lpstr>
      <vt:lpstr>Tabla resumen</vt:lpstr>
      <vt:lpstr>Tabla resumen</vt:lpstr>
      <vt:lpstr>Casos en los problemas de decisión lógica</vt:lpstr>
      <vt:lpstr>Alternativa simple</vt:lpstr>
      <vt:lpstr>Alternativa doble</vt:lpstr>
      <vt:lpstr>Alternativa múltiple – Mismo criterio</vt:lpstr>
      <vt:lpstr>Alternativa múltiple – Mismo criterio</vt:lpstr>
      <vt:lpstr>Alternativa múltiple – Diferente criterio</vt:lpstr>
      <vt:lpstr>Alternativa múltiple – Diferente criterio</vt:lpstr>
      <vt:lpstr>Ciclos</vt:lpstr>
      <vt:lpstr>Ciclos</vt:lpstr>
      <vt:lpstr>Ciclo mientras</vt:lpstr>
      <vt:lpstr>Ciclos - Ejemplo 1</vt:lpstr>
      <vt:lpstr>Tipos de variables útiles en los ciclos</vt:lpstr>
      <vt:lpstr>Recapitulando lo visto</vt:lpstr>
      <vt:lpstr>Ciclos – Problema repaso</vt:lpstr>
      <vt:lpstr>Ciclos – Problema repaso</vt:lpstr>
      <vt:lpstr>Ciclos – Problema repaso</vt:lpstr>
      <vt:lpstr>Ciclo Para</vt:lpstr>
      <vt:lpstr>Ciclo Para - Ejemplo 1</vt:lpstr>
      <vt:lpstr>Ciclo Para – Ejemplo 1</vt:lpstr>
      <vt:lpstr>Ciclos – Ejemplo 2</vt:lpstr>
      <vt:lpstr>Ciclos – Ejemplo 2</vt:lpstr>
      <vt:lpstr>Ciclos – Ejemplo 2</vt:lpstr>
      <vt:lpstr>Ciclos - Ejemplo 3</vt:lpstr>
      <vt:lpstr>Ciclos – Ejemplo 3</vt:lpstr>
      <vt:lpstr>Ciclos – Ejemplo 3</vt:lpstr>
      <vt:lpstr>Ciclos - Ejemplo 4</vt:lpstr>
      <vt:lpstr>Sobre el ciclo para en python</vt:lpstr>
      <vt:lpstr>¿Qué es una secuencia?</vt:lpstr>
      <vt:lpstr>Secuencias: Listas</vt:lpstr>
      <vt:lpstr>Secuencias: Cadenas</vt:lpstr>
      <vt:lpstr>Secuencias: range</vt:lpstr>
      <vt:lpstr>El mismo for para tres secuencias distintas</vt:lpstr>
      <vt:lpstr>El mismo for para tres secuencias distintas</vt:lpstr>
      <vt:lpstr>Ciclos – Ejemplo 5</vt:lpstr>
      <vt:lpstr>Ciclos – Ejemplo 5</vt:lpstr>
      <vt:lpstr>Ciclos – Ejemplo 5</vt:lpstr>
      <vt:lpstr>Presentación de PowerPoint</vt:lpstr>
      <vt:lpstr>Presentación de PowerPoint</vt:lpstr>
      <vt:lpstr>Presentación de PowerPoint</vt:lpstr>
      <vt:lpstr>Presentación de PowerPoint</vt:lpstr>
      <vt:lpstr>Ciclos – Ejemplo 6</vt:lpstr>
      <vt:lpstr>Ciclos – Ejemplo 6</vt:lpstr>
      <vt:lpstr>Ciclos – Ejemplo 7</vt:lpstr>
      <vt:lpstr>Ciclos – Ejemplo 7</vt:lpstr>
      <vt:lpstr>Ciclos – Ejemplo 7 (Otra forma)</vt:lpstr>
      <vt:lpstr>Ciclos – Ejemplo 7 (Otra forma)</vt:lpstr>
      <vt:lpstr>Ciclos – Ejemplo 8</vt:lpstr>
      <vt:lpstr>Ciclos – Ejemplo 8</vt:lpstr>
      <vt:lpstr>Ciclos – Ejemplo 8</vt:lpstr>
      <vt:lpstr>Ciclos: algunos patrones analizados</vt:lpstr>
      <vt:lpstr>Ciclos – Ejemplo 9</vt:lpstr>
      <vt:lpstr>Ciclos: Búsqueda de extremos </vt:lpstr>
      <vt:lpstr>Ciclos: Búsqueda de extremos (continuación) </vt:lpstr>
      <vt:lpstr>Opción 1: inicialización fija</vt:lpstr>
      <vt:lpstr>Presentación de PowerPoint</vt:lpstr>
      <vt:lpstr>Opción 2: inicialización con el primer dato</vt:lpstr>
      <vt:lpstr>Presentación de PowerPoint</vt:lpstr>
      <vt:lpstr>Contextualización</vt:lpstr>
      <vt:lpstr>Ejemplo 9: Aplicación de continue</vt:lpstr>
      <vt:lpstr>Presentación de PowerPoint</vt:lpstr>
      <vt:lpstr>Presentación de PowerPoint</vt:lpstr>
      <vt:lpstr>Presentación de PowerPoint</vt:lpstr>
      <vt:lpstr>Referencias</vt:lpstr>
      <vt:lpstr>Eso es todo amigos</vt:lpstr>
    </vt:vector>
  </TitlesOfParts>
  <Company>Universidad de Antioquia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del curso</dc:title>
  <dc:creator>Apoyo Administrativo Ingeniería</dc:creator>
  <cp:lastModifiedBy>HENRY ALBERTO ARCILA RAMIREZ</cp:lastModifiedBy>
  <cp:revision>247</cp:revision>
  <dcterms:created xsi:type="dcterms:W3CDTF">2015-03-12T20:27:20Z</dcterms:created>
  <dcterms:modified xsi:type="dcterms:W3CDTF">2026-10-04T19:59:40Z</dcterms:modified>
</cp:coreProperties>
</file>